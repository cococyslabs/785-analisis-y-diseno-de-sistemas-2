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8229600" cx="14630400"/>
  <p:notesSz cx="8229600" cy="14630400"/>
  <p:embeddedFontLst>
    <p:embeddedFont>
      <p:font typeface="Quattrocento"/>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JBLI07g/gNQWzH4Voj39khwci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F1E914-5DDF-4A49-A436-CA6ECB1C62CF}">
  <a:tblStyle styleId="{F6F1E914-5DDF-4A49-A436-CA6ECB1C62C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Quattrocento-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Quattrocen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118ec09c7d_0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g3118ec09c7d_0_0: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9"/>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0"/>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1"/>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3"/>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4"/>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6"/>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7"/>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9"/>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1C4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1"/>
          <p:cNvSpPr/>
          <p:nvPr/>
        </p:nvSpPr>
        <p:spPr>
          <a:xfrm>
            <a:off x="0" y="0"/>
            <a:ext cx="14630400" cy="8229600"/>
          </a:xfrm>
          <a:prstGeom prst="rect">
            <a:avLst/>
          </a:prstGeom>
          <a:solidFill>
            <a:srgbClr val="1233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g3118ec09c7d_0_58"/>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sz="1100"/>
            </a:lvl1pPr>
            <a:lvl2pPr lvl="1" algn="l">
              <a:lnSpc>
                <a:spcPct val="100000"/>
              </a:lnSpc>
              <a:spcBef>
                <a:spcPts val="0"/>
              </a:spcBef>
              <a:spcAft>
                <a:spcPts val="0"/>
              </a:spcAft>
              <a:buSzPts val="4500"/>
              <a:buNone/>
              <a:defRPr sz="1100"/>
            </a:lvl2pPr>
            <a:lvl3pPr lvl="2" algn="l">
              <a:lnSpc>
                <a:spcPct val="100000"/>
              </a:lnSpc>
              <a:spcBef>
                <a:spcPts val="0"/>
              </a:spcBef>
              <a:spcAft>
                <a:spcPts val="0"/>
              </a:spcAft>
              <a:buSzPts val="4500"/>
              <a:buNone/>
              <a:defRPr sz="1100"/>
            </a:lvl3pPr>
            <a:lvl4pPr lvl="3" algn="l">
              <a:lnSpc>
                <a:spcPct val="100000"/>
              </a:lnSpc>
              <a:spcBef>
                <a:spcPts val="0"/>
              </a:spcBef>
              <a:spcAft>
                <a:spcPts val="0"/>
              </a:spcAft>
              <a:buSzPts val="4500"/>
              <a:buNone/>
              <a:defRPr sz="1100"/>
            </a:lvl4pPr>
            <a:lvl5pPr lvl="4" algn="l">
              <a:lnSpc>
                <a:spcPct val="100000"/>
              </a:lnSpc>
              <a:spcBef>
                <a:spcPts val="0"/>
              </a:spcBef>
              <a:spcAft>
                <a:spcPts val="0"/>
              </a:spcAft>
              <a:buSzPts val="4500"/>
              <a:buNone/>
              <a:defRPr sz="1100"/>
            </a:lvl5pPr>
            <a:lvl6pPr lvl="5" algn="l">
              <a:lnSpc>
                <a:spcPct val="100000"/>
              </a:lnSpc>
              <a:spcBef>
                <a:spcPts val="0"/>
              </a:spcBef>
              <a:spcAft>
                <a:spcPts val="0"/>
              </a:spcAft>
              <a:buSzPts val="4500"/>
              <a:buNone/>
              <a:defRPr sz="1100"/>
            </a:lvl6pPr>
            <a:lvl7pPr lvl="6" algn="l">
              <a:lnSpc>
                <a:spcPct val="100000"/>
              </a:lnSpc>
              <a:spcBef>
                <a:spcPts val="0"/>
              </a:spcBef>
              <a:spcAft>
                <a:spcPts val="0"/>
              </a:spcAft>
              <a:buSzPts val="4500"/>
              <a:buNone/>
              <a:defRPr sz="1100"/>
            </a:lvl7pPr>
            <a:lvl8pPr lvl="7" algn="l">
              <a:lnSpc>
                <a:spcPct val="100000"/>
              </a:lnSpc>
              <a:spcBef>
                <a:spcPts val="0"/>
              </a:spcBef>
              <a:spcAft>
                <a:spcPts val="0"/>
              </a:spcAft>
              <a:buSzPts val="4500"/>
              <a:buNone/>
              <a:defRPr sz="1100"/>
            </a:lvl8pPr>
            <a:lvl9pPr lvl="8" algn="l">
              <a:lnSpc>
                <a:spcPct val="100000"/>
              </a:lnSpc>
              <a:spcBef>
                <a:spcPts val="0"/>
              </a:spcBef>
              <a:spcAft>
                <a:spcPts val="0"/>
              </a:spcAft>
              <a:buSzPts val="4500"/>
              <a:buNone/>
              <a:defRPr sz="1100"/>
            </a:lvl9pPr>
          </a:lstStyle>
          <a:p/>
        </p:txBody>
      </p:sp>
      <p:sp>
        <p:nvSpPr>
          <p:cNvPr id="58" name="Google Shape;58;g3118ec09c7d_0_58"/>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sz="1100"/>
            </a:lvl1pPr>
            <a:lvl2pPr indent="-368300" lvl="1" marL="914400" algn="l">
              <a:lnSpc>
                <a:spcPct val="115000"/>
              </a:lnSpc>
              <a:spcBef>
                <a:spcPts val="0"/>
              </a:spcBef>
              <a:spcAft>
                <a:spcPts val="0"/>
              </a:spcAft>
              <a:buSzPts val="2200"/>
              <a:buChar char="○"/>
              <a:defRPr sz="1100"/>
            </a:lvl2pPr>
            <a:lvl3pPr indent="-368300" lvl="2" marL="1371600" algn="l">
              <a:lnSpc>
                <a:spcPct val="115000"/>
              </a:lnSpc>
              <a:spcBef>
                <a:spcPts val="0"/>
              </a:spcBef>
              <a:spcAft>
                <a:spcPts val="0"/>
              </a:spcAft>
              <a:buSzPts val="2200"/>
              <a:buChar char="■"/>
              <a:defRPr sz="1100"/>
            </a:lvl3pPr>
            <a:lvl4pPr indent="-368300" lvl="3" marL="1828800" algn="l">
              <a:lnSpc>
                <a:spcPct val="115000"/>
              </a:lnSpc>
              <a:spcBef>
                <a:spcPts val="0"/>
              </a:spcBef>
              <a:spcAft>
                <a:spcPts val="0"/>
              </a:spcAft>
              <a:buSzPts val="2200"/>
              <a:buChar char="●"/>
              <a:defRPr sz="1100"/>
            </a:lvl4pPr>
            <a:lvl5pPr indent="-368300" lvl="4" marL="2286000" algn="l">
              <a:lnSpc>
                <a:spcPct val="115000"/>
              </a:lnSpc>
              <a:spcBef>
                <a:spcPts val="0"/>
              </a:spcBef>
              <a:spcAft>
                <a:spcPts val="0"/>
              </a:spcAft>
              <a:buSzPts val="2200"/>
              <a:buChar char="○"/>
              <a:defRPr sz="1100"/>
            </a:lvl5pPr>
            <a:lvl6pPr indent="-368300" lvl="5" marL="2743200" algn="l">
              <a:lnSpc>
                <a:spcPct val="115000"/>
              </a:lnSpc>
              <a:spcBef>
                <a:spcPts val="0"/>
              </a:spcBef>
              <a:spcAft>
                <a:spcPts val="0"/>
              </a:spcAft>
              <a:buSzPts val="2200"/>
              <a:buChar char="■"/>
              <a:defRPr sz="1100"/>
            </a:lvl6pPr>
            <a:lvl7pPr indent="-368300" lvl="6" marL="3200400" algn="l">
              <a:lnSpc>
                <a:spcPct val="115000"/>
              </a:lnSpc>
              <a:spcBef>
                <a:spcPts val="0"/>
              </a:spcBef>
              <a:spcAft>
                <a:spcPts val="0"/>
              </a:spcAft>
              <a:buSzPts val="2200"/>
              <a:buChar char="●"/>
              <a:defRPr sz="1100"/>
            </a:lvl7pPr>
            <a:lvl8pPr indent="-368300" lvl="7" marL="3657600" algn="l">
              <a:lnSpc>
                <a:spcPct val="115000"/>
              </a:lnSpc>
              <a:spcBef>
                <a:spcPts val="0"/>
              </a:spcBef>
              <a:spcAft>
                <a:spcPts val="0"/>
              </a:spcAft>
              <a:buSzPts val="2200"/>
              <a:buChar char="○"/>
              <a:defRPr sz="1100"/>
            </a:lvl8pPr>
            <a:lvl9pPr indent="-368300" lvl="8" marL="4114800" algn="l">
              <a:lnSpc>
                <a:spcPct val="115000"/>
              </a:lnSpc>
              <a:spcBef>
                <a:spcPts val="0"/>
              </a:spcBef>
              <a:spcAft>
                <a:spcPts val="0"/>
              </a:spcAft>
              <a:buSzPts val="2200"/>
              <a:buChar char="■"/>
              <a:defRPr sz="1100"/>
            </a:lvl9pPr>
          </a:lstStyle>
          <a:p/>
        </p:txBody>
      </p:sp>
      <p:sp>
        <p:nvSpPr>
          <p:cNvPr id="59" name="Google Shape;59;g3118ec09c7d_0_5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7.png"/><Relationship Id="rId4" Type="http://schemas.openxmlformats.org/officeDocument/2006/relationships/image" Target="../media/image4.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40.png"/><Relationship Id="rId6" Type="http://schemas.openxmlformats.org/officeDocument/2006/relationships/image" Target="../media/image1.png"/><Relationship Id="rId7" Type="http://schemas.openxmlformats.org/officeDocument/2006/relationships/image" Target="../media/image22.png"/><Relationship Id="rId8"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41.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36.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2.png"/><Relationship Id="rId7" Type="http://schemas.openxmlformats.org/officeDocument/2006/relationships/image" Target="../media/image42.png"/><Relationship Id="rId8"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34.png"/><Relationship Id="rId5"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g3118ec09c7d_0_0"/>
          <p:cNvPicPr preferRelativeResize="0"/>
          <p:nvPr/>
        </p:nvPicPr>
        <p:blipFill rotWithShape="1">
          <a:blip r:embed="rId3">
            <a:alphaModFix amt="62000"/>
          </a:blip>
          <a:srcRect b="0" l="0" r="0" t="0"/>
          <a:stretch/>
        </p:blipFill>
        <p:spPr>
          <a:xfrm>
            <a:off x="13522" y="0"/>
            <a:ext cx="14603357" cy="8229600"/>
          </a:xfrm>
          <a:prstGeom prst="rect">
            <a:avLst/>
          </a:prstGeom>
          <a:noFill/>
          <a:ln>
            <a:noFill/>
          </a:ln>
        </p:spPr>
      </p:pic>
      <p:graphicFrame>
        <p:nvGraphicFramePr>
          <p:cNvPr id="65" name="Google Shape;65;g3118ec09c7d_0_0"/>
          <p:cNvGraphicFramePr/>
          <p:nvPr/>
        </p:nvGraphicFramePr>
        <p:xfrm>
          <a:off x="8525120" y="1552040"/>
          <a:ext cx="3000000" cy="3000000"/>
        </p:xfrm>
        <a:graphic>
          <a:graphicData uri="http://schemas.openxmlformats.org/drawingml/2006/table">
            <a:tbl>
              <a:tblPr>
                <a:noFill/>
                <a:tableStyleId>{F6F1E914-5DDF-4A49-A436-CA6ECB1C62CF}</a:tableStyleId>
              </a:tblPr>
              <a:tblGrid>
                <a:gridCol w="2429125"/>
                <a:gridCol w="3475800"/>
              </a:tblGrid>
              <a:tr h="515925">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Día, Fecha:</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Día, xx/xx/2025 </a:t>
                      </a:r>
                      <a:endParaRPr sz="2200" u="none" cap="none" strike="noStrike"/>
                    </a:p>
                  </a:txBody>
                  <a:tcPr marT="146275" marB="146275" marR="146275" marL="146275"/>
                </a:tc>
              </a:tr>
              <a:tr h="5809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Hora de inicio:</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xx:xx</a:t>
                      </a:r>
                      <a:endParaRPr sz="2200" u="none" cap="none" strike="noStrike"/>
                    </a:p>
                  </a:txBody>
                  <a:tcPr marT="146275" marB="146275" marR="146275" marL="146275"/>
                </a:tc>
              </a:tr>
            </a:tbl>
          </a:graphicData>
        </a:graphic>
      </p:graphicFrame>
      <p:sp>
        <p:nvSpPr>
          <p:cNvPr id="66" name="Google Shape;66;g3118ec09c7d_0_0"/>
          <p:cNvSpPr txBox="1"/>
          <p:nvPr/>
        </p:nvSpPr>
        <p:spPr>
          <a:xfrm>
            <a:off x="2304280" y="3613280"/>
            <a:ext cx="108672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4000"/>
              <a:buFont typeface="Arial"/>
              <a:buNone/>
            </a:pPr>
            <a:r>
              <a:rPr lang="en-US" sz="4000"/>
              <a:t>Análisis y Diseño de Sistemas 2 </a:t>
            </a:r>
            <a:r>
              <a:rPr b="0" i="0" lang="en-US" sz="4000" u="none" cap="none" strike="noStrike">
                <a:solidFill>
                  <a:srgbClr val="000000"/>
                </a:solidFill>
                <a:latin typeface="Arial"/>
                <a:ea typeface="Arial"/>
                <a:cs typeface="Arial"/>
                <a:sym typeface="Arial"/>
              </a:rPr>
              <a:t>[</a:t>
            </a:r>
            <a:r>
              <a:rPr lang="en-US" sz="4000"/>
              <a:t>SECCIÓN</a:t>
            </a:r>
            <a:r>
              <a:rPr b="0" i="0" lang="en-US" sz="4000" u="none" cap="none" strike="noStrike">
                <a:solidFill>
                  <a:srgbClr val="000000"/>
                </a:solidFill>
                <a:latin typeface="Arial"/>
                <a:ea typeface="Arial"/>
                <a:cs typeface="Arial"/>
                <a:sym typeface="Arial"/>
              </a:rPr>
              <a:t>]</a:t>
            </a:r>
            <a:endParaRPr b="0" i="0" sz="4000" u="none" cap="none" strike="noStrike">
              <a:solidFill>
                <a:srgbClr val="000000"/>
              </a:solidFill>
              <a:latin typeface="Arial"/>
              <a:ea typeface="Arial"/>
              <a:cs typeface="Arial"/>
              <a:sym typeface="Arial"/>
            </a:endParaRPr>
          </a:p>
        </p:txBody>
      </p:sp>
      <p:sp>
        <p:nvSpPr>
          <p:cNvPr id="67" name="Google Shape;67;g3118ec09c7d_0_0"/>
          <p:cNvSpPr txBox="1"/>
          <p:nvPr/>
        </p:nvSpPr>
        <p:spPr>
          <a:xfrm>
            <a:off x="2845920" y="4641200"/>
            <a:ext cx="8938500" cy="788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3200"/>
              <a:buFont typeface="Arial"/>
              <a:buNone/>
            </a:pPr>
            <a:r>
              <a:rPr lang="en-US" sz="3200"/>
              <a:t>Estudiante</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descr="preencoded.png" id="73" name="Google Shape;73;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74" name="Google Shape;74;p1"/>
          <p:cNvPicPr preferRelativeResize="0"/>
          <p:nvPr/>
        </p:nvPicPr>
        <p:blipFill rotWithShape="1">
          <a:blip r:embed="rId4">
            <a:alphaModFix/>
          </a:blip>
          <a:srcRect b="0" l="0" r="0" t="0"/>
          <a:stretch/>
        </p:blipFill>
        <p:spPr>
          <a:xfrm>
            <a:off x="9443204" y="2571036"/>
            <a:ext cx="4887873" cy="3087529"/>
          </a:xfrm>
          <a:prstGeom prst="rect">
            <a:avLst/>
          </a:prstGeom>
          <a:noFill/>
          <a:ln>
            <a:noFill/>
          </a:ln>
        </p:spPr>
      </p:pic>
      <p:sp>
        <p:nvSpPr>
          <p:cNvPr id="75" name="Google Shape;75;p1"/>
          <p:cNvSpPr/>
          <p:nvPr/>
        </p:nvSpPr>
        <p:spPr>
          <a:xfrm>
            <a:off x="837724" y="2121218"/>
            <a:ext cx="7468553" cy="140803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4400"/>
              <a:buFont typeface="Quattrocento"/>
              <a:buNone/>
            </a:pPr>
            <a:r>
              <a:rPr b="0" i="0" lang="en-US" sz="4400" u="none" cap="none" strike="noStrike">
                <a:solidFill>
                  <a:srgbClr val="FFD9BE"/>
                </a:solidFill>
                <a:latin typeface="Quattrocento"/>
                <a:ea typeface="Quattrocento"/>
                <a:cs typeface="Quattrocento"/>
                <a:sym typeface="Quattrocento"/>
              </a:rPr>
              <a:t>Formatos de datos, seguridad y contenedores en DevOps</a:t>
            </a:r>
            <a:endParaRPr b="0" i="0" sz="4400" u="none" cap="none" strike="noStrike"/>
          </a:p>
        </p:txBody>
      </p:sp>
      <p:sp>
        <p:nvSpPr>
          <p:cNvPr id="76" name="Google Shape;76;p1"/>
          <p:cNvSpPr/>
          <p:nvPr/>
        </p:nvSpPr>
        <p:spPr>
          <a:xfrm>
            <a:off x="837724" y="3888224"/>
            <a:ext cx="7468553" cy="153209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b="0" i="0" lang="en-US" sz="1850" u="none" cap="none" strike="noStrike">
                <a:solidFill>
                  <a:srgbClr val="F9EEE7"/>
                </a:solidFill>
                <a:latin typeface="Quattrocento"/>
                <a:ea typeface="Quattrocento"/>
                <a:cs typeface="Quattrocento"/>
                <a:sym typeface="Quattrocento"/>
              </a:rPr>
              <a:t>Exploraremos los formatos de datos más utilizados en el desarrollo de software, cómo se aplican en sistemas distribuidos y entornos de contenedores, así como los aspectos clave de seguridad en el contexto de DevOps.</a:t>
            </a:r>
            <a:endParaRPr b="0" i="0" sz="18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p:nvPr/>
        </p:nvSpPr>
        <p:spPr>
          <a:xfrm>
            <a:off x="820341" y="644485"/>
            <a:ext cx="12989719" cy="1378744"/>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D9BE"/>
              </a:buClr>
              <a:buSzPts val="4300"/>
              <a:buFont typeface="Quattrocento"/>
              <a:buNone/>
            </a:pPr>
            <a:r>
              <a:rPr b="0" i="0" lang="en-US" sz="4300" u="none" cap="none" strike="noStrike">
                <a:solidFill>
                  <a:srgbClr val="FFD9BE"/>
                </a:solidFill>
                <a:latin typeface="Quattrocento"/>
                <a:ea typeface="Quattrocento"/>
                <a:cs typeface="Quattrocento"/>
                <a:sym typeface="Quattrocento"/>
              </a:rPr>
              <a:t>Introducción a formatos de datos: JSON, XML y YAML</a:t>
            </a:r>
            <a:endParaRPr b="0" i="0" sz="4300" u="none" cap="none" strike="noStrike"/>
          </a:p>
        </p:txBody>
      </p:sp>
      <p:pic>
        <p:nvPicPr>
          <p:cNvPr descr="preencoded.png" id="83" name="Google Shape;83;p2"/>
          <p:cNvPicPr preferRelativeResize="0"/>
          <p:nvPr/>
        </p:nvPicPr>
        <p:blipFill rotWithShape="1">
          <a:blip r:embed="rId3">
            <a:alphaModFix/>
          </a:blip>
          <a:srcRect b="0" l="0" r="0" t="0"/>
          <a:stretch/>
        </p:blipFill>
        <p:spPr>
          <a:xfrm>
            <a:off x="820341" y="2491978"/>
            <a:ext cx="4095512" cy="2531150"/>
          </a:xfrm>
          <a:prstGeom prst="rect">
            <a:avLst/>
          </a:prstGeom>
          <a:noFill/>
          <a:ln>
            <a:noFill/>
          </a:ln>
        </p:spPr>
      </p:pic>
      <p:sp>
        <p:nvSpPr>
          <p:cNvPr id="84" name="Google Shape;84;p2"/>
          <p:cNvSpPr/>
          <p:nvPr/>
        </p:nvSpPr>
        <p:spPr>
          <a:xfrm>
            <a:off x="820341" y="5316022"/>
            <a:ext cx="4095512" cy="689372"/>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9EEE7"/>
              </a:buClr>
              <a:buSzPts val="2150"/>
              <a:buFont typeface="Quattrocento"/>
              <a:buNone/>
            </a:pPr>
            <a:r>
              <a:rPr b="0" i="0" lang="en-US" sz="2150" u="none" cap="none" strike="noStrike">
                <a:solidFill>
                  <a:srgbClr val="F9EEE7"/>
                </a:solidFill>
                <a:latin typeface="Quattrocento"/>
                <a:ea typeface="Quattrocento"/>
                <a:cs typeface="Quattrocento"/>
                <a:sym typeface="Quattrocento"/>
              </a:rPr>
              <a:t>JSON (JavaScript Object Notation)</a:t>
            </a:r>
            <a:endParaRPr b="0" i="0" sz="2150" u="none" cap="none" strike="noStrike"/>
          </a:p>
        </p:txBody>
      </p:sp>
      <p:sp>
        <p:nvSpPr>
          <p:cNvPr id="85" name="Google Shape;85;p2"/>
          <p:cNvSpPr/>
          <p:nvPr/>
        </p:nvSpPr>
        <p:spPr>
          <a:xfrm>
            <a:off x="820341" y="6146006"/>
            <a:ext cx="4095512" cy="1500188"/>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F9EEE7"/>
              </a:buClr>
              <a:buSzPts val="1800"/>
              <a:buFont typeface="Quattrocento"/>
              <a:buNone/>
            </a:pPr>
            <a:r>
              <a:rPr b="0" i="0" lang="en-US" sz="1800" u="none" cap="none" strike="noStrike">
                <a:solidFill>
                  <a:srgbClr val="F9EEE7"/>
                </a:solidFill>
                <a:latin typeface="Quattrocento"/>
                <a:ea typeface="Quattrocento"/>
                <a:cs typeface="Quattrocento"/>
                <a:sym typeface="Quattrocento"/>
              </a:rPr>
              <a:t>Formato ligero de intercambio de datos, fácil de leer y escribir. Ampliamente utilizado en servicios web y aplicaciones móviles.</a:t>
            </a:r>
            <a:endParaRPr b="0" i="0" sz="1800" u="none" cap="none" strike="noStrike"/>
          </a:p>
        </p:txBody>
      </p:sp>
      <p:pic>
        <p:nvPicPr>
          <p:cNvPr descr="preencoded.png" id="86" name="Google Shape;86;p2"/>
          <p:cNvPicPr preferRelativeResize="0"/>
          <p:nvPr/>
        </p:nvPicPr>
        <p:blipFill rotWithShape="1">
          <a:blip r:embed="rId4">
            <a:alphaModFix/>
          </a:blip>
          <a:srcRect b="0" l="0" r="0" t="0"/>
          <a:stretch/>
        </p:blipFill>
        <p:spPr>
          <a:xfrm>
            <a:off x="5267325" y="2491978"/>
            <a:ext cx="4095631" cy="2531269"/>
          </a:xfrm>
          <a:prstGeom prst="rect">
            <a:avLst/>
          </a:prstGeom>
          <a:noFill/>
          <a:ln>
            <a:noFill/>
          </a:ln>
        </p:spPr>
      </p:pic>
      <p:sp>
        <p:nvSpPr>
          <p:cNvPr id="87" name="Google Shape;87;p2"/>
          <p:cNvSpPr/>
          <p:nvPr/>
        </p:nvSpPr>
        <p:spPr>
          <a:xfrm>
            <a:off x="5267325" y="5316141"/>
            <a:ext cx="4095631" cy="689372"/>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9EEE7"/>
              </a:buClr>
              <a:buSzPts val="2150"/>
              <a:buFont typeface="Quattrocento"/>
              <a:buNone/>
            </a:pPr>
            <a:r>
              <a:rPr b="0" i="0" lang="en-US" sz="2150" u="none" cap="none" strike="noStrike">
                <a:solidFill>
                  <a:srgbClr val="F9EEE7"/>
                </a:solidFill>
                <a:latin typeface="Quattrocento"/>
                <a:ea typeface="Quattrocento"/>
                <a:cs typeface="Quattrocento"/>
                <a:sym typeface="Quattrocento"/>
              </a:rPr>
              <a:t>XML (Extensible Markup Language)</a:t>
            </a:r>
            <a:endParaRPr b="0" i="0" sz="2150" u="none" cap="none" strike="noStrike"/>
          </a:p>
        </p:txBody>
      </p:sp>
      <p:sp>
        <p:nvSpPr>
          <p:cNvPr id="88" name="Google Shape;88;p2"/>
          <p:cNvSpPr/>
          <p:nvPr/>
        </p:nvSpPr>
        <p:spPr>
          <a:xfrm>
            <a:off x="5267325" y="6146125"/>
            <a:ext cx="4095631" cy="1500188"/>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F9EEE7"/>
              </a:buClr>
              <a:buSzPts val="1800"/>
              <a:buFont typeface="Quattrocento"/>
              <a:buNone/>
            </a:pPr>
            <a:r>
              <a:rPr b="0" i="0" lang="en-US" sz="1800" u="none" cap="none" strike="noStrike">
                <a:solidFill>
                  <a:srgbClr val="F9EEE7"/>
                </a:solidFill>
                <a:latin typeface="Quattrocento"/>
                <a:ea typeface="Quattrocento"/>
                <a:cs typeface="Quattrocento"/>
                <a:sym typeface="Quattrocento"/>
              </a:rPr>
              <a:t>Lenguaje de marcado que permite estructurar la información de manera jerárquica. Usado comúnmente para configuraciones y comunicación.</a:t>
            </a:r>
            <a:endParaRPr b="0" i="0" sz="1800" u="none" cap="none" strike="noStrike"/>
          </a:p>
        </p:txBody>
      </p:sp>
      <p:pic>
        <p:nvPicPr>
          <p:cNvPr descr="preencoded.png" id="89" name="Google Shape;89;p2"/>
          <p:cNvPicPr preferRelativeResize="0"/>
          <p:nvPr/>
        </p:nvPicPr>
        <p:blipFill rotWithShape="1">
          <a:blip r:embed="rId5">
            <a:alphaModFix/>
          </a:blip>
          <a:srcRect b="0" l="0" r="0" t="0"/>
          <a:stretch/>
        </p:blipFill>
        <p:spPr>
          <a:xfrm>
            <a:off x="9714428" y="2491978"/>
            <a:ext cx="4095512" cy="2531150"/>
          </a:xfrm>
          <a:prstGeom prst="rect">
            <a:avLst/>
          </a:prstGeom>
          <a:noFill/>
          <a:ln>
            <a:noFill/>
          </a:ln>
        </p:spPr>
      </p:pic>
      <p:sp>
        <p:nvSpPr>
          <p:cNvPr id="90" name="Google Shape;90;p2"/>
          <p:cNvSpPr/>
          <p:nvPr/>
        </p:nvSpPr>
        <p:spPr>
          <a:xfrm>
            <a:off x="9714428" y="5316022"/>
            <a:ext cx="4095512" cy="689372"/>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9EEE7"/>
              </a:buClr>
              <a:buSzPts val="2150"/>
              <a:buFont typeface="Quattrocento"/>
              <a:buNone/>
            </a:pPr>
            <a:r>
              <a:rPr b="0" i="0" lang="en-US" sz="2150" u="none" cap="none" strike="noStrike">
                <a:solidFill>
                  <a:srgbClr val="F9EEE7"/>
                </a:solidFill>
                <a:latin typeface="Quattrocento"/>
                <a:ea typeface="Quattrocento"/>
                <a:cs typeface="Quattrocento"/>
                <a:sym typeface="Quattrocento"/>
              </a:rPr>
              <a:t>YAML (YAML Ain't Markup Language)</a:t>
            </a:r>
            <a:endParaRPr b="0" i="0" sz="2150" u="none" cap="none" strike="noStrike"/>
          </a:p>
        </p:txBody>
      </p:sp>
      <p:sp>
        <p:nvSpPr>
          <p:cNvPr id="91" name="Google Shape;91;p2"/>
          <p:cNvSpPr/>
          <p:nvPr/>
        </p:nvSpPr>
        <p:spPr>
          <a:xfrm>
            <a:off x="9714428" y="6146006"/>
            <a:ext cx="4095512" cy="1500188"/>
          </a:xfrm>
          <a:prstGeom prst="rect">
            <a:avLst/>
          </a:prstGeom>
          <a:noFill/>
          <a:ln>
            <a:noFill/>
          </a:ln>
        </p:spPr>
        <p:txBody>
          <a:bodyPr anchorCtr="0" anchor="t" bIns="0" lIns="0" spcFirstLastPara="1" rIns="0" wrap="square" tIns="0">
            <a:noAutofit/>
          </a:bodyPr>
          <a:lstStyle/>
          <a:p>
            <a:pPr indent="0" lvl="0" marL="0" marR="0" rtl="0" algn="l">
              <a:lnSpc>
                <a:spcPct val="163888"/>
              </a:lnSpc>
              <a:spcBef>
                <a:spcPts val="0"/>
              </a:spcBef>
              <a:spcAft>
                <a:spcPts val="0"/>
              </a:spcAft>
              <a:buClr>
                <a:srgbClr val="F9EEE7"/>
              </a:buClr>
              <a:buSzPts val="1800"/>
              <a:buFont typeface="Quattrocento"/>
              <a:buNone/>
            </a:pPr>
            <a:r>
              <a:rPr b="0" i="0" lang="en-US" sz="1800" u="none" cap="none" strike="noStrike">
                <a:solidFill>
                  <a:srgbClr val="F9EEE7"/>
                </a:solidFill>
                <a:latin typeface="Quattrocento"/>
                <a:ea typeface="Quattrocento"/>
                <a:cs typeface="Quattrocento"/>
                <a:sym typeface="Quattrocento"/>
              </a:rPr>
              <a:t>Formato de serialización de datos legible por humanos, ideal para la configuración de infraestructura y entornos.</a:t>
            </a:r>
            <a:endParaRPr b="0" i="0" sz="18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p:nvPr/>
        </p:nvSpPr>
        <p:spPr>
          <a:xfrm>
            <a:off x="837724" y="762119"/>
            <a:ext cx="9804202"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4400"/>
              <a:buFont typeface="Quattrocento"/>
              <a:buNone/>
            </a:pPr>
            <a:r>
              <a:rPr b="0" i="0" lang="en-US" sz="4400" u="none" cap="none" strike="noStrike">
                <a:solidFill>
                  <a:srgbClr val="FFD9BE"/>
                </a:solidFill>
                <a:latin typeface="Quattrocento"/>
                <a:ea typeface="Quattrocento"/>
                <a:cs typeface="Quattrocento"/>
                <a:sym typeface="Quattrocento"/>
              </a:rPr>
              <a:t>Usos principales de JSON, XML y YAML</a:t>
            </a:r>
            <a:endParaRPr b="0" i="0" sz="4400" u="none" cap="none" strike="noStrike"/>
          </a:p>
        </p:txBody>
      </p:sp>
      <p:sp>
        <p:nvSpPr>
          <p:cNvPr id="98" name="Google Shape;98;p3"/>
          <p:cNvSpPr/>
          <p:nvPr/>
        </p:nvSpPr>
        <p:spPr>
          <a:xfrm>
            <a:off x="837724" y="2064425"/>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2200"/>
              <a:buFont typeface="Quattrocento"/>
              <a:buNone/>
            </a:pPr>
            <a:r>
              <a:rPr b="0" i="0" lang="en-US" sz="2200" u="none" cap="none" strike="noStrike">
                <a:solidFill>
                  <a:srgbClr val="FFD9BE"/>
                </a:solidFill>
                <a:latin typeface="Quattrocento"/>
                <a:ea typeface="Quattrocento"/>
                <a:cs typeface="Quattrocento"/>
                <a:sym typeface="Quattrocento"/>
              </a:rPr>
              <a:t>JSON</a:t>
            </a:r>
            <a:endParaRPr b="0" i="0" sz="2200" u="none" cap="none" strike="noStrike"/>
          </a:p>
        </p:txBody>
      </p:sp>
      <p:sp>
        <p:nvSpPr>
          <p:cNvPr id="99" name="Google Shape;99;p3"/>
          <p:cNvSpPr/>
          <p:nvPr/>
        </p:nvSpPr>
        <p:spPr>
          <a:xfrm>
            <a:off x="837724" y="2655689"/>
            <a:ext cx="3928586" cy="3064193"/>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b="0" i="0" lang="en-US" sz="1850" u="none" cap="none" strike="noStrike">
                <a:solidFill>
                  <a:srgbClr val="F9EEE7"/>
                </a:solidFill>
                <a:latin typeface="Quattrocento"/>
                <a:ea typeface="Quattrocento"/>
                <a:cs typeface="Quattrocento"/>
                <a:sym typeface="Quattrocento"/>
              </a:rPr>
              <a:t>JSON (JavaScript Object Notation) es un formato popular para el intercambio de datos en aplicaciones web y móviles, especialmente en servicios web y APIs RESTful. Su estructura ligera y legible lo convierte en una opción ideal para la transmisión de datos.</a:t>
            </a:r>
            <a:endParaRPr b="0" i="0" sz="1850" u="none" cap="none" strike="noStrike"/>
          </a:p>
        </p:txBody>
      </p:sp>
      <p:sp>
        <p:nvSpPr>
          <p:cNvPr id="100" name="Google Shape;100;p3"/>
          <p:cNvSpPr/>
          <p:nvPr/>
        </p:nvSpPr>
        <p:spPr>
          <a:xfrm>
            <a:off x="5357813" y="2064425"/>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2200"/>
              <a:buFont typeface="Quattrocento"/>
              <a:buNone/>
            </a:pPr>
            <a:r>
              <a:rPr b="0" i="0" lang="en-US" sz="2200" u="none" cap="none" strike="noStrike">
                <a:solidFill>
                  <a:srgbClr val="FFD9BE"/>
                </a:solidFill>
                <a:latin typeface="Quattrocento"/>
                <a:ea typeface="Quattrocento"/>
                <a:cs typeface="Quattrocento"/>
                <a:sym typeface="Quattrocento"/>
              </a:rPr>
              <a:t>XML</a:t>
            </a:r>
            <a:endParaRPr b="0" i="0" sz="2200" u="none" cap="none" strike="noStrike"/>
          </a:p>
        </p:txBody>
      </p:sp>
      <p:sp>
        <p:nvSpPr>
          <p:cNvPr id="101" name="Google Shape;101;p3"/>
          <p:cNvSpPr/>
          <p:nvPr/>
        </p:nvSpPr>
        <p:spPr>
          <a:xfrm>
            <a:off x="5357813" y="2655689"/>
            <a:ext cx="3928586" cy="383024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b="0" i="0" lang="en-US" sz="1850" u="none" cap="none" strike="noStrike">
                <a:solidFill>
                  <a:srgbClr val="F9EEE7"/>
                </a:solidFill>
                <a:latin typeface="Quattrocento"/>
                <a:ea typeface="Quattrocento"/>
                <a:cs typeface="Quattrocento"/>
                <a:sym typeface="Quattrocento"/>
              </a:rPr>
              <a:t>XML (Extensible Markup Language) se utiliza comúnmente para la configuración de sistemas, la comunicación entre aplicaciones y la representación de datos jerárquicos. Su capacidad para definir esquemas y estructuras de datos lo hace adecuado para entornos empresariales y de integración.</a:t>
            </a:r>
            <a:endParaRPr b="0" i="0" sz="1850" u="none" cap="none" strike="noStrike"/>
          </a:p>
        </p:txBody>
      </p:sp>
      <p:sp>
        <p:nvSpPr>
          <p:cNvPr id="102" name="Google Shape;102;p3"/>
          <p:cNvSpPr/>
          <p:nvPr/>
        </p:nvSpPr>
        <p:spPr>
          <a:xfrm>
            <a:off x="9877901" y="2064425"/>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2200"/>
              <a:buFont typeface="Quattrocento"/>
              <a:buNone/>
            </a:pPr>
            <a:r>
              <a:rPr b="0" i="0" lang="en-US" sz="2200" u="none" cap="none" strike="noStrike">
                <a:solidFill>
                  <a:srgbClr val="FFD9BE"/>
                </a:solidFill>
                <a:latin typeface="Quattrocento"/>
                <a:ea typeface="Quattrocento"/>
                <a:cs typeface="Quattrocento"/>
                <a:sym typeface="Quattrocento"/>
              </a:rPr>
              <a:t>YAML</a:t>
            </a:r>
            <a:endParaRPr b="0" i="0" sz="2200" u="none" cap="none" strike="noStrike"/>
          </a:p>
        </p:txBody>
      </p:sp>
      <p:sp>
        <p:nvSpPr>
          <p:cNvPr id="103" name="Google Shape;103;p3"/>
          <p:cNvSpPr/>
          <p:nvPr/>
        </p:nvSpPr>
        <p:spPr>
          <a:xfrm>
            <a:off x="9877901" y="2655689"/>
            <a:ext cx="3928586" cy="4596289"/>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b="0" i="0" lang="en-US" sz="1850" u="none" cap="none" strike="noStrike">
                <a:solidFill>
                  <a:srgbClr val="F9EEE7"/>
                </a:solidFill>
                <a:latin typeface="Quattrocento"/>
                <a:ea typeface="Quattrocento"/>
                <a:cs typeface="Quattrocento"/>
                <a:sym typeface="Quattrocento"/>
              </a:rPr>
              <a:t>YAML (YAML Ain't Markup Language) es un formato de serialización de datos legible por humanos que se utiliza principalmente para la configuración de infraestructura, como en los archivos de configuración de Kubernetes, Ansible y Docker Compose. Su sintaxis simple y concisa lo hace ideal para la gestión de entornos DevOps.</a:t>
            </a:r>
            <a:endParaRPr b="0" i="0" sz="18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p:nvPr/>
        </p:nvSpPr>
        <p:spPr>
          <a:xfrm>
            <a:off x="735211" y="605433"/>
            <a:ext cx="13159978" cy="1235393"/>
          </a:xfrm>
          <a:prstGeom prst="rect">
            <a:avLst/>
          </a:prstGeom>
          <a:noFill/>
          <a:ln>
            <a:noFill/>
          </a:ln>
        </p:spPr>
        <p:txBody>
          <a:bodyPr anchorCtr="0" anchor="t" bIns="0" lIns="0" spcFirstLastPara="1" rIns="0" wrap="square" tIns="0">
            <a:noAutofit/>
          </a:bodyPr>
          <a:lstStyle/>
          <a:p>
            <a:pPr indent="0" lvl="0" marL="0" marR="0" rtl="0" algn="l">
              <a:lnSpc>
                <a:spcPct val="125974"/>
              </a:lnSpc>
              <a:spcBef>
                <a:spcPts val="0"/>
              </a:spcBef>
              <a:spcAft>
                <a:spcPts val="0"/>
              </a:spcAft>
              <a:buClr>
                <a:srgbClr val="FFD9BE"/>
              </a:buClr>
              <a:buSzPts val="3850"/>
              <a:buFont typeface="Quattrocento"/>
              <a:buNone/>
            </a:pPr>
            <a:r>
              <a:rPr b="0" i="0" lang="en-US" sz="3850" u="none" cap="none" strike="noStrike">
                <a:solidFill>
                  <a:srgbClr val="FFD9BE"/>
                </a:solidFill>
                <a:latin typeface="Quattrocento"/>
                <a:ea typeface="Quattrocento"/>
                <a:cs typeface="Quattrocento"/>
                <a:sym typeface="Quattrocento"/>
              </a:rPr>
              <a:t>JSON en sistemas distribuidos: rol en la comunicación entre servicios</a:t>
            </a:r>
            <a:endParaRPr b="0" i="0" sz="3850" u="none" cap="none" strike="noStrike"/>
          </a:p>
        </p:txBody>
      </p:sp>
      <p:sp>
        <p:nvSpPr>
          <p:cNvPr id="110" name="Google Shape;110;p4"/>
          <p:cNvSpPr/>
          <p:nvPr/>
        </p:nvSpPr>
        <p:spPr>
          <a:xfrm>
            <a:off x="735211" y="2260878"/>
            <a:ext cx="2193250" cy="1190982"/>
          </a:xfrm>
          <a:prstGeom prst="roundRect">
            <a:avLst>
              <a:gd fmla="val 2646"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945237" y="2646283"/>
            <a:ext cx="92988" cy="420053"/>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1</a:t>
            </a:r>
            <a:endParaRPr b="0" i="0" sz="2050" u="none" cap="none" strike="noStrike"/>
          </a:p>
        </p:txBody>
      </p:sp>
      <p:sp>
        <p:nvSpPr>
          <p:cNvPr id="112" name="Google Shape;112;p4"/>
          <p:cNvSpPr/>
          <p:nvPr/>
        </p:nvSpPr>
        <p:spPr>
          <a:xfrm>
            <a:off x="3138488" y="2470904"/>
            <a:ext cx="2655927" cy="30896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9EEE7"/>
              </a:buClr>
              <a:buSzPts val="1900"/>
              <a:buFont typeface="Quattrocento"/>
              <a:buNone/>
            </a:pPr>
            <a:r>
              <a:rPr b="0" i="0" lang="en-US" sz="1900" u="none" cap="none" strike="noStrike">
                <a:solidFill>
                  <a:srgbClr val="F9EEE7"/>
                </a:solidFill>
                <a:latin typeface="Quattrocento"/>
                <a:ea typeface="Quattrocento"/>
                <a:cs typeface="Quattrocento"/>
                <a:sym typeface="Quattrocento"/>
              </a:rPr>
              <a:t>Integración de servicios</a:t>
            </a:r>
            <a:endParaRPr b="0" i="0" sz="1900" u="none" cap="none" strike="noStrike"/>
          </a:p>
        </p:txBody>
      </p:sp>
      <p:sp>
        <p:nvSpPr>
          <p:cNvPr id="113" name="Google Shape;113;p4"/>
          <p:cNvSpPr/>
          <p:nvPr/>
        </p:nvSpPr>
        <p:spPr>
          <a:xfrm>
            <a:off x="3138488" y="2905839"/>
            <a:ext cx="8499991" cy="335994"/>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JSON facilita la interoperabilidad entre diferentes componentes de un sistema distribuido.</a:t>
            </a:r>
            <a:endParaRPr b="0" i="0" sz="1650" u="none" cap="none" strike="noStrike"/>
          </a:p>
        </p:txBody>
      </p:sp>
      <p:sp>
        <p:nvSpPr>
          <p:cNvPr id="114" name="Google Shape;114;p4"/>
          <p:cNvSpPr/>
          <p:nvPr/>
        </p:nvSpPr>
        <p:spPr>
          <a:xfrm>
            <a:off x="3033474" y="3442335"/>
            <a:ext cx="10756702" cy="11430"/>
          </a:xfrm>
          <a:prstGeom prst="roundRect">
            <a:avLst>
              <a:gd fmla="val 275681"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735211" y="3556873"/>
            <a:ext cx="4386620" cy="1190982"/>
          </a:xfrm>
          <a:prstGeom prst="roundRect">
            <a:avLst>
              <a:gd fmla="val 2646"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945237" y="3942278"/>
            <a:ext cx="140732" cy="420053"/>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2</a:t>
            </a:r>
            <a:endParaRPr b="0" i="0" sz="2050" u="none" cap="none" strike="noStrike"/>
          </a:p>
        </p:txBody>
      </p:sp>
      <p:sp>
        <p:nvSpPr>
          <p:cNvPr id="117" name="Google Shape;117;p4"/>
          <p:cNvSpPr/>
          <p:nvPr/>
        </p:nvSpPr>
        <p:spPr>
          <a:xfrm>
            <a:off x="5331857" y="3766899"/>
            <a:ext cx="2471380" cy="30896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9EEE7"/>
              </a:buClr>
              <a:buSzPts val="1900"/>
              <a:buFont typeface="Quattrocento"/>
              <a:buNone/>
            </a:pPr>
            <a:r>
              <a:rPr b="0" i="0" lang="en-US" sz="1900" u="none" cap="none" strike="noStrike">
                <a:solidFill>
                  <a:srgbClr val="F9EEE7"/>
                </a:solidFill>
                <a:latin typeface="Quattrocento"/>
                <a:ea typeface="Quattrocento"/>
                <a:cs typeface="Quattrocento"/>
                <a:sym typeface="Quattrocento"/>
              </a:rPr>
              <a:t>Transmisión de datos</a:t>
            </a:r>
            <a:endParaRPr b="0" i="0" sz="1900" u="none" cap="none" strike="noStrike"/>
          </a:p>
        </p:txBody>
      </p:sp>
      <p:sp>
        <p:nvSpPr>
          <p:cNvPr id="118" name="Google Shape;118;p4"/>
          <p:cNvSpPr/>
          <p:nvPr/>
        </p:nvSpPr>
        <p:spPr>
          <a:xfrm>
            <a:off x="5331857" y="4201835"/>
            <a:ext cx="8077081" cy="335994"/>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JSON permite el envío eficiente de datos estructurados entre servicios en tiempo real.</a:t>
            </a:r>
            <a:endParaRPr b="0" i="0" sz="1650" u="none" cap="none" strike="noStrike"/>
          </a:p>
        </p:txBody>
      </p:sp>
      <p:sp>
        <p:nvSpPr>
          <p:cNvPr id="119" name="Google Shape;119;p4"/>
          <p:cNvSpPr/>
          <p:nvPr/>
        </p:nvSpPr>
        <p:spPr>
          <a:xfrm>
            <a:off x="5226844" y="4738330"/>
            <a:ext cx="8563332" cy="11430"/>
          </a:xfrm>
          <a:prstGeom prst="roundRect">
            <a:avLst>
              <a:gd fmla="val 275681"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735211" y="4852868"/>
            <a:ext cx="6579989" cy="1526977"/>
          </a:xfrm>
          <a:prstGeom prst="roundRect">
            <a:avLst>
              <a:gd fmla="val 2064"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945237" y="5406271"/>
            <a:ext cx="142875" cy="420053"/>
          </a:xfrm>
          <a:prstGeom prst="rect">
            <a:avLst/>
          </a:prstGeom>
          <a:noFill/>
          <a:ln>
            <a:noFill/>
          </a:ln>
        </p:spPr>
        <p:txBody>
          <a:bodyPr anchorCtr="0" anchor="t" bIns="0" lIns="0" spcFirstLastPara="1" rIns="0" wrap="square" tIns="0">
            <a:noAutofit/>
          </a:bodyPr>
          <a:lstStyle/>
          <a:p>
            <a:pPr indent="0" lvl="0" marL="0" marR="0" rtl="0" algn="ctr">
              <a:lnSpc>
                <a:spcPct val="160975"/>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3</a:t>
            </a:r>
            <a:endParaRPr b="0" i="0" sz="2050" u="none" cap="none" strike="noStrike"/>
          </a:p>
        </p:txBody>
      </p:sp>
      <p:sp>
        <p:nvSpPr>
          <p:cNvPr id="122" name="Google Shape;122;p4"/>
          <p:cNvSpPr/>
          <p:nvPr/>
        </p:nvSpPr>
        <p:spPr>
          <a:xfrm>
            <a:off x="7525226" y="5062895"/>
            <a:ext cx="2718911" cy="30896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9EEE7"/>
              </a:buClr>
              <a:buSzPts val="1900"/>
              <a:buFont typeface="Quattrocento"/>
              <a:buNone/>
            </a:pPr>
            <a:r>
              <a:rPr b="0" i="0" lang="en-US" sz="1900" u="none" cap="none" strike="noStrike">
                <a:solidFill>
                  <a:srgbClr val="F9EEE7"/>
                </a:solidFill>
                <a:latin typeface="Quattrocento"/>
                <a:ea typeface="Quattrocento"/>
                <a:cs typeface="Quattrocento"/>
                <a:sym typeface="Quattrocento"/>
              </a:rPr>
              <a:t>Simplicidad y legibilidad</a:t>
            </a:r>
            <a:endParaRPr b="0" i="0" sz="1900" u="none" cap="none" strike="noStrike"/>
          </a:p>
        </p:txBody>
      </p:sp>
      <p:sp>
        <p:nvSpPr>
          <p:cNvPr id="123" name="Google Shape;123;p4"/>
          <p:cNvSpPr/>
          <p:nvPr/>
        </p:nvSpPr>
        <p:spPr>
          <a:xfrm>
            <a:off x="7525226" y="5497830"/>
            <a:ext cx="6159937" cy="671989"/>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El formato JSON es sencillo y fácil de entender, lo que lo hace ideal para la comunicación entre servicios.</a:t>
            </a:r>
            <a:endParaRPr b="0" i="0" sz="1650" u="none" cap="none" strike="noStrike"/>
          </a:p>
        </p:txBody>
      </p:sp>
      <p:sp>
        <p:nvSpPr>
          <p:cNvPr id="124" name="Google Shape;124;p4"/>
          <p:cNvSpPr/>
          <p:nvPr/>
        </p:nvSpPr>
        <p:spPr>
          <a:xfrm>
            <a:off x="735211" y="6616065"/>
            <a:ext cx="13159978" cy="100798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JSON juega un papel clave en la comunicación entre servicios en sistemas distribuidos. Gracias a su estructura de objetos y arrays, JSON facilita la integración y el intercambio de datos entre diferentes componentes de una arquitectura. Además, su simplicidad y legibilidad lo convierten en un formato ideal para la transmisión de información en tiempo real entre servicios.</a:t>
            </a:r>
            <a:endParaRPr b="0" i="0" sz="16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preencoded.png" id="130" name="Google Shape;130;p5"/>
          <p:cNvPicPr preferRelativeResize="0"/>
          <p:nvPr/>
        </p:nvPicPr>
        <p:blipFill rotWithShape="1">
          <a:blip r:embed="rId3">
            <a:alphaModFix/>
          </a:blip>
          <a:srcRect b="0" l="0" r="0" t="0"/>
          <a:stretch/>
        </p:blipFill>
        <p:spPr>
          <a:xfrm>
            <a:off x="0" y="0"/>
            <a:ext cx="14630400" cy="2210872"/>
          </a:xfrm>
          <a:prstGeom prst="rect">
            <a:avLst/>
          </a:prstGeom>
          <a:noFill/>
          <a:ln>
            <a:noFill/>
          </a:ln>
        </p:spPr>
      </p:pic>
      <p:pic>
        <p:nvPicPr>
          <p:cNvPr descr="preencoded.png" id="131" name="Google Shape;131;p5"/>
          <p:cNvPicPr preferRelativeResize="0"/>
          <p:nvPr/>
        </p:nvPicPr>
        <p:blipFill rotWithShape="1">
          <a:blip r:embed="rId4">
            <a:alphaModFix/>
          </a:blip>
          <a:srcRect b="0" l="0" r="0" t="0"/>
          <a:stretch/>
        </p:blipFill>
        <p:spPr>
          <a:xfrm>
            <a:off x="6092428" y="220980"/>
            <a:ext cx="2445425" cy="1768912"/>
          </a:xfrm>
          <a:prstGeom prst="rect">
            <a:avLst/>
          </a:prstGeom>
          <a:noFill/>
          <a:ln>
            <a:noFill/>
          </a:ln>
        </p:spPr>
      </p:pic>
      <p:sp>
        <p:nvSpPr>
          <p:cNvPr id="132" name="Google Shape;132;p5"/>
          <p:cNvSpPr/>
          <p:nvPr/>
        </p:nvSpPr>
        <p:spPr>
          <a:xfrm>
            <a:off x="619006" y="2697956"/>
            <a:ext cx="13392388" cy="1040130"/>
          </a:xfrm>
          <a:prstGeom prst="rect">
            <a:avLst/>
          </a:prstGeom>
          <a:noFill/>
          <a:ln>
            <a:noFill/>
          </a:ln>
        </p:spPr>
        <p:txBody>
          <a:bodyPr anchorCtr="0" anchor="t" bIns="0" lIns="0" spcFirstLastPara="1" rIns="0" wrap="square" tIns="0">
            <a:noAutofit/>
          </a:bodyPr>
          <a:lstStyle/>
          <a:p>
            <a:pPr indent="0" lvl="0" marL="0" marR="0" rtl="0" algn="l">
              <a:lnSpc>
                <a:spcPct val="124615"/>
              </a:lnSpc>
              <a:spcBef>
                <a:spcPts val="0"/>
              </a:spcBef>
              <a:spcAft>
                <a:spcPts val="0"/>
              </a:spcAft>
              <a:buClr>
                <a:srgbClr val="FFD9BE"/>
              </a:buClr>
              <a:buSzPts val="3250"/>
              <a:buFont typeface="Quattrocento"/>
              <a:buNone/>
            </a:pPr>
            <a:r>
              <a:rPr b="0" i="0" lang="en-US" sz="3250" u="none" cap="none" strike="noStrike">
                <a:solidFill>
                  <a:srgbClr val="FFD9BE"/>
                </a:solidFill>
                <a:latin typeface="Quattrocento"/>
                <a:ea typeface="Quattrocento"/>
                <a:cs typeface="Quattrocento"/>
                <a:sym typeface="Quattrocento"/>
              </a:rPr>
              <a:t>XML para configuración y comunicación: aplicabilidad en entornos diversos</a:t>
            </a:r>
            <a:endParaRPr b="0" i="0" sz="3250" u="none" cap="none" strike="noStrike"/>
          </a:p>
        </p:txBody>
      </p:sp>
      <p:sp>
        <p:nvSpPr>
          <p:cNvPr id="133" name="Google Shape;133;p5"/>
          <p:cNvSpPr/>
          <p:nvPr/>
        </p:nvSpPr>
        <p:spPr>
          <a:xfrm>
            <a:off x="619006" y="6014442"/>
            <a:ext cx="13392388" cy="22860"/>
          </a:xfrm>
          <a:prstGeom prst="roundRect">
            <a:avLst>
              <a:gd fmla="val 116057"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3911441" y="5395436"/>
            <a:ext cx="22860" cy="619006"/>
          </a:xfrm>
          <a:prstGeom prst="roundRect">
            <a:avLst>
              <a:gd fmla="val 116057"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3723918" y="5815489"/>
            <a:ext cx="397907" cy="397907"/>
          </a:xfrm>
          <a:prstGeom prst="roundRect">
            <a:avLst>
              <a:gd fmla="val 6668"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3878699" y="5889546"/>
            <a:ext cx="88344" cy="24967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950"/>
              <a:buFont typeface="Quattrocento"/>
              <a:buNone/>
            </a:pPr>
            <a:r>
              <a:rPr b="0" i="0" lang="en-US" sz="1950" u="none" cap="none" strike="noStrike">
                <a:solidFill>
                  <a:srgbClr val="F9EEE7"/>
                </a:solidFill>
                <a:latin typeface="Quattrocento"/>
                <a:ea typeface="Quattrocento"/>
                <a:cs typeface="Quattrocento"/>
                <a:sym typeface="Quattrocento"/>
              </a:rPr>
              <a:t>1</a:t>
            </a:r>
            <a:endParaRPr b="0" i="0" sz="1950" u="none" cap="none" strike="noStrike"/>
          </a:p>
        </p:txBody>
      </p:sp>
      <p:sp>
        <p:nvSpPr>
          <p:cNvPr id="137" name="Google Shape;137;p5"/>
          <p:cNvSpPr/>
          <p:nvPr/>
        </p:nvSpPr>
        <p:spPr>
          <a:xfrm>
            <a:off x="2882503" y="4003358"/>
            <a:ext cx="2080736" cy="260152"/>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Versatilidad de XML</a:t>
            </a:r>
            <a:endParaRPr b="0" i="0" sz="1600" u="none" cap="none" strike="noStrike"/>
          </a:p>
        </p:txBody>
      </p:sp>
      <p:sp>
        <p:nvSpPr>
          <p:cNvPr id="138" name="Google Shape;138;p5"/>
          <p:cNvSpPr/>
          <p:nvPr/>
        </p:nvSpPr>
        <p:spPr>
          <a:xfrm>
            <a:off x="795814" y="4369594"/>
            <a:ext cx="6254115" cy="849035"/>
          </a:xfrm>
          <a:prstGeom prst="rect">
            <a:avLst/>
          </a:prstGeom>
          <a:noFill/>
          <a:ln>
            <a:noFill/>
          </a:ln>
        </p:spPr>
        <p:txBody>
          <a:bodyPr anchorCtr="0" anchor="t" bIns="0" lIns="0" spcFirstLastPara="1" rIns="0" wrap="square" tIns="0">
            <a:noAutofit/>
          </a:bodyPr>
          <a:lstStyle/>
          <a:p>
            <a:pPr indent="0" lvl="0" marL="0" marR="0" rtl="0" algn="ctr">
              <a:lnSpc>
                <a:spcPct val="162962"/>
              </a:lnSpc>
              <a:spcBef>
                <a:spcPts val="0"/>
              </a:spcBef>
              <a:spcAft>
                <a:spcPts val="0"/>
              </a:spcAft>
              <a:buClr>
                <a:srgbClr val="F9EEE7"/>
              </a:buClr>
              <a:buSzPts val="1350"/>
              <a:buFont typeface="Quattrocento"/>
              <a:buNone/>
            </a:pPr>
            <a:r>
              <a:rPr b="0" i="0" lang="en-US" sz="1350" u="none" cap="none" strike="noStrike">
                <a:solidFill>
                  <a:srgbClr val="F9EEE7"/>
                </a:solidFill>
                <a:latin typeface="Quattrocento"/>
                <a:ea typeface="Quattrocento"/>
                <a:cs typeface="Quattrocento"/>
                <a:sym typeface="Quattrocento"/>
              </a:rPr>
              <a:t>XML es un formato versátil que se utiliza para estructurar y transmitir datos en una amplia variedad de entornos, desde configuración de sistemas hasta comunicación entre servicios.</a:t>
            </a:r>
            <a:endParaRPr b="0" i="0" sz="1350" u="none" cap="none" strike="noStrike"/>
          </a:p>
        </p:txBody>
      </p:sp>
      <p:sp>
        <p:nvSpPr>
          <p:cNvPr id="139" name="Google Shape;139;p5"/>
          <p:cNvSpPr/>
          <p:nvPr/>
        </p:nvSpPr>
        <p:spPr>
          <a:xfrm>
            <a:off x="7303651" y="6014442"/>
            <a:ext cx="22860" cy="619006"/>
          </a:xfrm>
          <a:prstGeom prst="roundRect">
            <a:avLst>
              <a:gd fmla="val 116057"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7116128" y="5815489"/>
            <a:ext cx="397907" cy="397907"/>
          </a:xfrm>
          <a:prstGeom prst="roundRect">
            <a:avLst>
              <a:gd fmla="val 6668"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7248168" y="5889546"/>
            <a:ext cx="133826" cy="24967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950"/>
              <a:buFont typeface="Quattrocento"/>
              <a:buNone/>
            </a:pPr>
            <a:r>
              <a:rPr b="0" i="0" lang="en-US" sz="1950" u="none" cap="none" strike="noStrike">
                <a:solidFill>
                  <a:srgbClr val="F9EEE7"/>
                </a:solidFill>
                <a:latin typeface="Quattrocento"/>
                <a:ea typeface="Quattrocento"/>
                <a:cs typeface="Quattrocento"/>
                <a:sym typeface="Quattrocento"/>
              </a:rPr>
              <a:t>2</a:t>
            </a:r>
            <a:endParaRPr b="0" i="0" sz="1950" u="none" cap="none" strike="noStrike"/>
          </a:p>
        </p:txBody>
      </p:sp>
      <p:sp>
        <p:nvSpPr>
          <p:cNvPr id="142" name="Google Shape;142;p5"/>
          <p:cNvSpPr/>
          <p:nvPr/>
        </p:nvSpPr>
        <p:spPr>
          <a:xfrm>
            <a:off x="6274713" y="6810256"/>
            <a:ext cx="2080736" cy="260152"/>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Interoperabilidad</a:t>
            </a:r>
            <a:endParaRPr b="0" i="0" sz="1600" u="none" cap="none" strike="noStrike"/>
          </a:p>
        </p:txBody>
      </p:sp>
      <p:sp>
        <p:nvSpPr>
          <p:cNvPr id="143" name="Google Shape;143;p5"/>
          <p:cNvSpPr/>
          <p:nvPr/>
        </p:nvSpPr>
        <p:spPr>
          <a:xfrm>
            <a:off x="4188023" y="7176492"/>
            <a:ext cx="6254234" cy="566023"/>
          </a:xfrm>
          <a:prstGeom prst="rect">
            <a:avLst/>
          </a:prstGeom>
          <a:noFill/>
          <a:ln>
            <a:noFill/>
          </a:ln>
        </p:spPr>
        <p:txBody>
          <a:bodyPr anchorCtr="0" anchor="t" bIns="0" lIns="0" spcFirstLastPara="1" rIns="0" wrap="square" tIns="0">
            <a:noAutofit/>
          </a:bodyPr>
          <a:lstStyle/>
          <a:p>
            <a:pPr indent="0" lvl="0" marL="0" marR="0" rtl="0" algn="ctr">
              <a:lnSpc>
                <a:spcPct val="162962"/>
              </a:lnSpc>
              <a:spcBef>
                <a:spcPts val="0"/>
              </a:spcBef>
              <a:spcAft>
                <a:spcPts val="0"/>
              </a:spcAft>
              <a:buClr>
                <a:srgbClr val="F9EEE7"/>
              </a:buClr>
              <a:buSzPts val="1350"/>
              <a:buFont typeface="Quattrocento"/>
              <a:buNone/>
            </a:pPr>
            <a:r>
              <a:rPr b="0" i="0" lang="en-US" sz="1350" u="none" cap="none" strike="noStrike">
                <a:solidFill>
                  <a:srgbClr val="F9EEE7"/>
                </a:solidFill>
                <a:latin typeface="Quattrocento"/>
                <a:ea typeface="Quattrocento"/>
                <a:cs typeface="Quattrocento"/>
                <a:sym typeface="Quattrocento"/>
              </a:rPr>
              <a:t>Gracias a su estructura estandarizada, XML facilita la integración y el intercambio de información entre diferentes tecnologías y plataformas.</a:t>
            </a:r>
            <a:endParaRPr b="0" i="0" sz="1350" u="none" cap="none" strike="noStrike"/>
          </a:p>
        </p:txBody>
      </p:sp>
      <p:sp>
        <p:nvSpPr>
          <p:cNvPr id="144" name="Google Shape;144;p5"/>
          <p:cNvSpPr/>
          <p:nvPr/>
        </p:nvSpPr>
        <p:spPr>
          <a:xfrm>
            <a:off x="10695980" y="5395436"/>
            <a:ext cx="22860" cy="619006"/>
          </a:xfrm>
          <a:prstGeom prst="roundRect">
            <a:avLst>
              <a:gd fmla="val 116057"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10508456" y="5815489"/>
            <a:ext cx="397907" cy="397907"/>
          </a:xfrm>
          <a:prstGeom prst="roundRect">
            <a:avLst>
              <a:gd fmla="val 6668"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10639425" y="5889546"/>
            <a:ext cx="135850" cy="24967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950"/>
              <a:buFont typeface="Quattrocento"/>
              <a:buNone/>
            </a:pPr>
            <a:r>
              <a:rPr b="0" i="0" lang="en-US" sz="1950" u="none" cap="none" strike="noStrike">
                <a:solidFill>
                  <a:srgbClr val="F9EEE7"/>
                </a:solidFill>
                <a:latin typeface="Quattrocento"/>
                <a:ea typeface="Quattrocento"/>
                <a:cs typeface="Quattrocento"/>
                <a:sym typeface="Quattrocento"/>
              </a:rPr>
              <a:t>3</a:t>
            </a:r>
            <a:endParaRPr b="0" i="0" sz="1950" u="none" cap="none" strike="noStrike"/>
          </a:p>
        </p:txBody>
      </p:sp>
      <p:sp>
        <p:nvSpPr>
          <p:cNvPr id="147" name="Google Shape;147;p5"/>
          <p:cNvSpPr/>
          <p:nvPr/>
        </p:nvSpPr>
        <p:spPr>
          <a:xfrm>
            <a:off x="9184005" y="4286369"/>
            <a:ext cx="3046809" cy="260152"/>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Documentación y Configuración</a:t>
            </a:r>
            <a:endParaRPr b="0" i="0" sz="1600" u="none" cap="none" strike="noStrike"/>
          </a:p>
        </p:txBody>
      </p:sp>
      <p:sp>
        <p:nvSpPr>
          <p:cNvPr id="148" name="Google Shape;148;p5"/>
          <p:cNvSpPr/>
          <p:nvPr/>
        </p:nvSpPr>
        <p:spPr>
          <a:xfrm>
            <a:off x="7580352" y="4652605"/>
            <a:ext cx="6254234" cy="566023"/>
          </a:xfrm>
          <a:prstGeom prst="rect">
            <a:avLst/>
          </a:prstGeom>
          <a:noFill/>
          <a:ln>
            <a:noFill/>
          </a:ln>
        </p:spPr>
        <p:txBody>
          <a:bodyPr anchorCtr="0" anchor="t" bIns="0" lIns="0" spcFirstLastPara="1" rIns="0" wrap="square" tIns="0">
            <a:noAutofit/>
          </a:bodyPr>
          <a:lstStyle/>
          <a:p>
            <a:pPr indent="0" lvl="0" marL="0" marR="0" rtl="0" algn="ctr">
              <a:lnSpc>
                <a:spcPct val="162962"/>
              </a:lnSpc>
              <a:spcBef>
                <a:spcPts val="0"/>
              </a:spcBef>
              <a:spcAft>
                <a:spcPts val="0"/>
              </a:spcAft>
              <a:buClr>
                <a:srgbClr val="F9EEE7"/>
              </a:buClr>
              <a:buSzPts val="1350"/>
              <a:buFont typeface="Quattrocento"/>
              <a:buNone/>
            </a:pPr>
            <a:r>
              <a:rPr b="0" i="0" lang="en-US" sz="1350" u="none" cap="none" strike="noStrike">
                <a:solidFill>
                  <a:srgbClr val="F9EEE7"/>
                </a:solidFill>
                <a:latin typeface="Quattrocento"/>
                <a:ea typeface="Quattrocento"/>
                <a:cs typeface="Quattrocento"/>
                <a:sym typeface="Quattrocento"/>
              </a:rPr>
              <a:t>XML es ampliamente utilizado para definir la configuración de aplicaciones y sistemas, permitiendo una representación clara y legible de los parámetros.</a:t>
            </a:r>
            <a:endParaRPr b="0" i="0" sz="13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p:nvPr/>
        </p:nvSpPr>
        <p:spPr>
          <a:xfrm>
            <a:off x="782002" y="615910"/>
            <a:ext cx="13066395" cy="1314450"/>
          </a:xfrm>
          <a:prstGeom prst="rect">
            <a:avLst/>
          </a:prstGeom>
          <a:noFill/>
          <a:ln>
            <a:noFill/>
          </a:ln>
        </p:spPr>
        <p:txBody>
          <a:bodyPr anchorCtr="0" anchor="t" bIns="0" lIns="0" spcFirstLastPara="1" rIns="0" wrap="square" tIns="0">
            <a:noAutofit/>
          </a:bodyPr>
          <a:lstStyle/>
          <a:p>
            <a:pPr indent="0" lvl="0" marL="0" marR="0" rtl="0" algn="l">
              <a:lnSpc>
                <a:spcPct val="125609"/>
              </a:lnSpc>
              <a:spcBef>
                <a:spcPts val="0"/>
              </a:spcBef>
              <a:spcAft>
                <a:spcPts val="0"/>
              </a:spcAft>
              <a:buClr>
                <a:srgbClr val="FFD9BE"/>
              </a:buClr>
              <a:buSzPts val="4100"/>
              <a:buFont typeface="Quattrocento"/>
              <a:buNone/>
            </a:pPr>
            <a:r>
              <a:rPr b="0" i="0" lang="en-US" sz="4100" u="none" cap="none" strike="noStrike">
                <a:solidFill>
                  <a:srgbClr val="FFD9BE"/>
                </a:solidFill>
                <a:latin typeface="Quattrocento"/>
                <a:ea typeface="Quattrocento"/>
                <a:cs typeface="Quattrocento"/>
                <a:sym typeface="Quattrocento"/>
              </a:rPr>
              <a:t>YAML para infraestructura: uso en configuración de entornos</a:t>
            </a:r>
            <a:endParaRPr b="0" i="0" sz="4100" u="none" cap="none" strike="noStrike"/>
          </a:p>
        </p:txBody>
      </p:sp>
      <p:pic>
        <p:nvPicPr>
          <p:cNvPr descr="preencoded.png" id="155" name="Google Shape;155;p6"/>
          <p:cNvPicPr preferRelativeResize="0"/>
          <p:nvPr/>
        </p:nvPicPr>
        <p:blipFill rotWithShape="1">
          <a:blip r:embed="rId3">
            <a:alphaModFix/>
          </a:blip>
          <a:srcRect b="0" l="0" r="0" t="0"/>
          <a:stretch/>
        </p:blipFill>
        <p:spPr>
          <a:xfrm>
            <a:off x="2970609" y="2377202"/>
            <a:ext cx="2155865" cy="1266944"/>
          </a:xfrm>
          <a:prstGeom prst="rect">
            <a:avLst/>
          </a:prstGeom>
          <a:noFill/>
          <a:ln>
            <a:noFill/>
          </a:ln>
        </p:spPr>
      </p:pic>
      <p:sp>
        <p:nvSpPr>
          <p:cNvPr id="156" name="Google Shape;156;p6"/>
          <p:cNvSpPr/>
          <p:nvPr/>
        </p:nvSpPr>
        <p:spPr>
          <a:xfrm>
            <a:off x="3999071" y="2943701"/>
            <a:ext cx="98941" cy="446842"/>
          </a:xfrm>
          <a:prstGeom prst="rect">
            <a:avLst/>
          </a:prstGeom>
          <a:noFill/>
          <a:ln>
            <a:noFill/>
          </a:ln>
        </p:spPr>
        <p:txBody>
          <a:bodyPr anchorCtr="0" anchor="t" bIns="0" lIns="0" spcFirstLastPara="1" rIns="0" wrap="square" tIns="0">
            <a:noAutofit/>
          </a:bodyPr>
          <a:lstStyle/>
          <a:p>
            <a:pPr indent="0" lvl="0" marL="0" marR="0" rtl="0" algn="ctr">
              <a:lnSpc>
                <a:spcPct val="162790"/>
              </a:lnSpc>
              <a:spcBef>
                <a:spcPts val="0"/>
              </a:spcBef>
              <a:spcAft>
                <a:spcPts val="0"/>
              </a:spcAft>
              <a:buClr>
                <a:srgbClr val="F9EEE7"/>
              </a:buClr>
              <a:buSzPts val="2150"/>
              <a:buFont typeface="Quattrocento"/>
              <a:buNone/>
            </a:pPr>
            <a:r>
              <a:rPr b="0" i="0" lang="en-US" sz="2150" u="none" cap="none" strike="noStrike">
                <a:solidFill>
                  <a:srgbClr val="F9EEE7"/>
                </a:solidFill>
                <a:latin typeface="Quattrocento"/>
                <a:ea typeface="Quattrocento"/>
                <a:cs typeface="Quattrocento"/>
                <a:sym typeface="Quattrocento"/>
              </a:rPr>
              <a:t>1</a:t>
            </a:r>
            <a:endParaRPr b="0" i="0" sz="2150" u="none" cap="none" strike="noStrike"/>
          </a:p>
        </p:txBody>
      </p:sp>
      <p:sp>
        <p:nvSpPr>
          <p:cNvPr id="157" name="Google Shape;157;p6"/>
          <p:cNvSpPr/>
          <p:nvPr/>
        </p:nvSpPr>
        <p:spPr>
          <a:xfrm>
            <a:off x="5349835" y="2600563"/>
            <a:ext cx="2690336"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Definición de recursos</a:t>
            </a:r>
            <a:endParaRPr b="0" i="0" sz="2050" u="none" cap="none" strike="noStrike"/>
          </a:p>
        </p:txBody>
      </p:sp>
      <p:sp>
        <p:nvSpPr>
          <p:cNvPr id="158" name="Google Shape;158;p6"/>
          <p:cNvSpPr/>
          <p:nvPr/>
        </p:nvSpPr>
        <p:spPr>
          <a:xfrm>
            <a:off x="5349835" y="3063240"/>
            <a:ext cx="4918472" cy="35754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b="0" i="0" lang="en-US" sz="1750" u="none" cap="none" strike="noStrike">
                <a:solidFill>
                  <a:srgbClr val="F9EEE7"/>
                </a:solidFill>
                <a:latin typeface="Quattrocento"/>
                <a:ea typeface="Quattrocento"/>
                <a:cs typeface="Quattrocento"/>
                <a:sym typeface="Quattrocento"/>
              </a:rPr>
              <a:t>Declarar la infraestructura de manera declarativa</a:t>
            </a:r>
            <a:endParaRPr b="0" i="0" sz="1750" u="none" cap="none" strike="noStrike"/>
          </a:p>
        </p:txBody>
      </p:sp>
      <p:sp>
        <p:nvSpPr>
          <p:cNvPr id="159" name="Google Shape;159;p6"/>
          <p:cNvSpPr/>
          <p:nvPr/>
        </p:nvSpPr>
        <p:spPr>
          <a:xfrm>
            <a:off x="5182314" y="3656767"/>
            <a:ext cx="8610243" cy="15240"/>
          </a:xfrm>
          <a:prstGeom prst="roundRect">
            <a:avLst>
              <a:gd fmla="val 219931"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 name="Google Shape;160;p6"/>
          <p:cNvPicPr preferRelativeResize="0"/>
          <p:nvPr/>
        </p:nvPicPr>
        <p:blipFill rotWithShape="1">
          <a:blip r:embed="rId4">
            <a:alphaModFix/>
          </a:blip>
          <a:srcRect b="0" l="0" r="0" t="0"/>
          <a:stretch/>
        </p:blipFill>
        <p:spPr>
          <a:xfrm>
            <a:off x="1892618" y="3699986"/>
            <a:ext cx="4311848" cy="1266944"/>
          </a:xfrm>
          <a:prstGeom prst="rect">
            <a:avLst/>
          </a:prstGeom>
          <a:noFill/>
          <a:ln>
            <a:noFill/>
          </a:ln>
        </p:spPr>
      </p:pic>
      <p:sp>
        <p:nvSpPr>
          <p:cNvPr id="161" name="Google Shape;161;p6"/>
          <p:cNvSpPr/>
          <p:nvPr/>
        </p:nvSpPr>
        <p:spPr>
          <a:xfrm>
            <a:off x="3973592" y="4110038"/>
            <a:ext cx="149662" cy="446842"/>
          </a:xfrm>
          <a:prstGeom prst="rect">
            <a:avLst/>
          </a:prstGeom>
          <a:noFill/>
          <a:ln>
            <a:noFill/>
          </a:ln>
        </p:spPr>
        <p:txBody>
          <a:bodyPr anchorCtr="0" anchor="t" bIns="0" lIns="0" spcFirstLastPara="1" rIns="0" wrap="square" tIns="0">
            <a:noAutofit/>
          </a:bodyPr>
          <a:lstStyle/>
          <a:p>
            <a:pPr indent="0" lvl="0" marL="0" marR="0" rtl="0" algn="ctr">
              <a:lnSpc>
                <a:spcPct val="162790"/>
              </a:lnSpc>
              <a:spcBef>
                <a:spcPts val="0"/>
              </a:spcBef>
              <a:spcAft>
                <a:spcPts val="0"/>
              </a:spcAft>
              <a:buClr>
                <a:srgbClr val="F9EEE7"/>
              </a:buClr>
              <a:buSzPts val="2150"/>
              <a:buFont typeface="Quattrocento"/>
              <a:buNone/>
            </a:pPr>
            <a:r>
              <a:rPr b="0" i="0" lang="en-US" sz="2150" u="none" cap="none" strike="noStrike">
                <a:solidFill>
                  <a:srgbClr val="F9EEE7"/>
                </a:solidFill>
                <a:latin typeface="Quattrocento"/>
                <a:ea typeface="Quattrocento"/>
                <a:cs typeface="Quattrocento"/>
                <a:sym typeface="Quattrocento"/>
              </a:rPr>
              <a:t>2</a:t>
            </a:r>
            <a:endParaRPr b="0" i="0" sz="2150" u="none" cap="none" strike="noStrike"/>
          </a:p>
        </p:txBody>
      </p:sp>
      <p:sp>
        <p:nvSpPr>
          <p:cNvPr id="162" name="Google Shape;162;p6"/>
          <p:cNvSpPr/>
          <p:nvPr/>
        </p:nvSpPr>
        <p:spPr>
          <a:xfrm>
            <a:off x="6427827" y="3923348"/>
            <a:ext cx="2628781"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Portabilidad</a:t>
            </a:r>
            <a:endParaRPr b="0" i="0" sz="2050" u="none" cap="none" strike="noStrike"/>
          </a:p>
        </p:txBody>
      </p:sp>
      <p:sp>
        <p:nvSpPr>
          <p:cNvPr id="163" name="Google Shape;163;p6"/>
          <p:cNvSpPr/>
          <p:nvPr/>
        </p:nvSpPr>
        <p:spPr>
          <a:xfrm>
            <a:off x="6427827" y="4386024"/>
            <a:ext cx="4287917" cy="35754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b="0" i="0" lang="en-US" sz="1750" u="none" cap="none" strike="noStrike">
                <a:solidFill>
                  <a:srgbClr val="F9EEE7"/>
                </a:solidFill>
                <a:latin typeface="Quattrocento"/>
                <a:ea typeface="Quattrocento"/>
                <a:cs typeface="Quattrocento"/>
                <a:sym typeface="Quattrocento"/>
              </a:rPr>
              <a:t>Facilidad de reproducir entornos idénticos</a:t>
            </a:r>
            <a:endParaRPr b="0" i="0" sz="1750" u="none" cap="none" strike="noStrike"/>
          </a:p>
        </p:txBody>
      </p:sp>
      <p:sp>
        <p:nvSpPr>
          <p:cNvPr id="164" name="Google Shape;164;p6"/>
          <p:cNvSpPr/>
          <p:nvPr/>
        </p:nvSpPr>
        <p:spPr>
          <a:xfrm>
            <a:off x="6260306" y="4979551"/>
            <a:ext cx="7532251" cy="15240"/>
          </a:xfrm>
          <a:prstGeom prst="roundRect">
            <a:avLst>
              <a:gd fmla="val 219931"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5" name="Google Shape;165;p6"/>
          <p:cNvPicPr preferRelativeResize="0"/>
          <p:nvPr/>
        </p:nvPicPr>
        <p:blipFill rotWithShape="1">
          <a:blip r:embed="rId5">
            <a:alphaModFix/>
          </a:blip>
          <a:srcRect b="0" l="0" r="0" t="0"/>
          <a:stretch/>
        </p:blipFill>
        <p:spPr>
          <a:xfrm>
            <a:off x="814626" y="5022771"/>
            <a:ext cx="6467832" cy="1266944"/>
          </a:xfrm>
          <a:prstGeom prst="rect">
            <a:avLst/>
          </a:prstGeom>
          <a:noFill/>
          <a:ln>
            <a:noFill/>
          </a:ln>
        </p:spPr>
      </p:pic>
      <p:sp>
        <p:nvSpPr>
          <p:cNvPr id="166" name="Google Shape;166;p6"/>
          <p:cNvSpPr/>
          <p:nvPr/>
        </p:nvSpPr>
        <p:spPr>
          <a:xfrm>
            <a:off x="3972520" y="5432822"/>
            <a:ext cx="151924" cy="446842"/>
          </a:xfrm>
          <a:prstGeom prst="rect">
            <a:avLst/>
          </a:prstGeom>
          <a:noFill/>
          <a:ln>
            <a:noFill/>
          </a:ln>
        </p:spPr>
        <p:txBody>
          <a:bodyPr anchorCtr="0" anchor="t" bIns="0" lIns="0" spcFirstLastPara="1" rIns="0" wrap="square" tIns="0">
            <a:noAutofit/>
          </a:bodyPr>
          <a:lstStyle/>
          <a:p>
            <a:pPr indent="0" lvl="0" marL="0" marR="0" rtl="0" algn="ctr">
              <a:lnSpc>
                <a:spcPct val="162790"/>
              </a:lnSpc>
              <a:spcBef>
                <a:spcPts val="0"/>
              </a:spcBef>
              <a:spcAft>
                <a:spcPts val="0"/>
              </a:spcAft>
              <a:buClr>
                <a:srgbClr val="F9EEE7"/>
              </a:buClr>
              <a:buSzPts val="2150"/>
              <a:buFont typeface="Quattrocento"/>
              <a:buNone/>
            </a:pPr>
            <a:r>
              <a:rPr b="0" i="0" lang="en-US" sz="2150" u="none" cap="none" strike="noStrike">
                <a:solidFill>
                  <a:srgbClr val="F9EEE7"/>
                </a:solidFill>
                <a:latin typeface="Quattrocento"/>
                <a:ea typeface="Quattrocento"/>
                <a:cs typeface="Quattrocento"/>
                <a:sym typeface="Quattrocento"/>
              </a:rPr>
              <a:t>3</a:t>
            </a:r>
            <a:endParaRPr b="0" i="0" sz="2150" u="none" cap="none" strike="noStrike"/>
          </a:p>
        </p:txBody>
      </p:sp>
      <p:sp>
        <p:nvSpPr>
          <p:cNvPr id="167" name="Google Shape;167;p6"/>
          <p:cNvSpPr/>
          <p:nvPr/>
        </p:nvSpPr>
        <p:spPr>
          <a:xfrm>
            <a:off x="7505819" y="5246132"/>
            <a:ext cx="2628781" cy="328613"/>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Automatización</a:t>
            </a:r>
            <a:endParaRPr b="0" i="0" sz="2050" u="none" cap="none" strike="noStrike"/>
          </a:p>
        </p:txBody>
      </p:sp>
      <p:sp>
        <p:nvSpPr>
          <p:cNvPr id="168" name="Google Shape;168;p6"/>
          <p:cNvSpPr/>
          <p:nvPr/>
        </p:nvSpPr>
        <p:spPr>
          <a:xfrm>
            <a:off x="7505819" y="5708809"/>
            <a:ext cx="5247084" cy="35754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b="0" i="0" lang="en-US" sz="1750" u="none" cap="none" strike="noStrike">
                <a:solidFill>
                  <a:srgbClr val="F9EEE7"/>
                </a:solidFill>
                <a:latin typeface="Quattrocento"/>
                <a:ea typeface="Quattrocento"/>
                <a:cs typeface="Quattrocento"/>
                <a:sym typeface="Quattrocento"/>
              </a:rPr>
              <a:t>Simplificar el proceso de despliegue y configuración</a:t>
            </a:r>
            <a:endParaRPr b="0" i="0" sz="1750" u="none" cap="none" strike="noStrike"/>
          </a:p>
        </p:txBody>
      </p:sp>
      <p:sp>
        <p:nvSpPr>
          <p:cNvPr id="169" name="Google Shape;169;p6"/>
          <p:cNvSpPr/>
          <p:nvPr/>
        </p:nvSpPr>
        <p:spPr>
          <a:xfrm>
            <a:off x="782002" y="6541056"/>
            <a:ext cx="13066395" cy="107263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b="0" i="0" lang="en-US" sz="1750" u="none" cap="none" strike="noStrike">
                <a:solidFill>
                  <a:srgbClr val="F9EEE7"/>
                </a:solidFill>
                <a:latin typeface="Quattrocento"/>
                <a:ea typeface="Quattrocento"/>
                <a:cs typeface="Quattrocento"/>
                <a:sym typeface="Quattrocento"/>
              </a:rPr>
              <a:t>YAML se ha convertido en un formato popular para la configuración de la infraestructura en entornos DevOps. Gracias a su sintaxis legible y orientada a objetos, permite definir de manera declarativa los recursos necesarios, facilitando la portabilidad y automatización de los procesos de despliegue y configuración de los entornos.</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preencoded.png" id="175" name="Google Shape;175;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76" name="Google Shape;176;p7"/>
          <p:cNvPicPr preferRelativeResize="0"/>
          <p:nvPr/>
        </p:nvPicPr>
        <p:blipFill rotWithShape="1">
          <a:blip r:embed="rId4">
            <a:alphaModFix/>
          </a:blip>
          <a:srcRect b="0" l="0" r="0" t="0"/>
          <a:stretch/>
        </p:blipFill>
        <p:spPr>
          <a:xfrm>
            <a:off x="9373076" y="2183130"/>
            <a:ext cx="5028128" cy="3863340"/>
          </a:xfrm>
          <a:prstGeom prst="rect">
            <a:avLst/>
          </a:prstGeom>
          <a:noFill/>
          <a:ln>
            <a:noFill/>
          </a:ln>
        </p:spPr>
      </p:pic>
      <p:sp>
        <p:nvSpPr>
          <p:cNvPr id="177" name="Google Shape;177;p7"/>
          <p:cNvSpPr/>
          <p:nvPr/>
        </p:nvSpPr>
        <p:spPr>
          <a:xfrm>
            <a:off x="641628" y="774263"/>
            <a:ext cx="7286268" cy="539115"/>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FFD9BE"/>
              </a:buClr>
              <a:buSzPts val="3350"/>
              <a:buFont typeface="Quattrocento"/>
              <a:buNone/>
            </a:pPr>
            <a:r>
              <a:rPr b="0" i="0" lang="en-US" sz="3350" u="none" cap="none" strike="noStrike">
                <a:solidFill>
                  <a:srgbClr val="FFD9BE"/>
                </a:solidFill>
                <a:latin typeface="Quattrocento"/>
                <a:ea typeface="Quattrocento"/>
                <a:cs typeface="Quattrocento"/>
                <a:sym typeface="Quattrocento"/>
              </a:rPr>
              <a:t>Configuración de entornos con YAML</a:t>
            </a:r>
            <a:endParaRPr b="0" i="0" sz="3350" u="none" cap="none" strike="noStrike"/>
          </a:p>
        </p:txBody>
      </p:sp>
      <p:pic>
        <p:nvPicPr>
          <p:cNvPr descr="preencoded.png" id="178" name="Google Shape;178;p7"/>
          <p:cNvPicPr preferRelativeResize="0"/>
          <p:nvPr/>
        </p:nvPicPr>
        <p:blipFill rotWithShape="1">
          <a:blip r:embed="rId5">
            <a:alphaModFix/>
          </a:blip>
          <a:srcRect b="0" l="0" r="0" t="0"/>
          <a:stretch/>
        </p:blipFill>
        <p:spPr>
          <a:xfrm>
            <a:off x="641628" y="1588294"/>
            <a:ext cx="916662" cy="1466731"/>
          </a:xfrm>
          <a:prstGeom prst="rect">
            <a:avLst/>
          </a:prstGeom>
          <a:noFill/>
          <a:ln>
            <a:noFill/>
          </a:ln>
        </p:spPr>
      </p:pic>
      <p:sp>
        <p:nvSpPr>
          <p:cNvPr id="179" name="Google Shape;179;p7"/>
          <p:cNvSpPr/>
          <p:nvPr/>
        </p:nvSpPr>
        <p:spPr>
          <a:xfrm>
            <a:off x="1833205" y="1771531"/>
            <a:ext cx="2157055" cy="269677"/>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Definir Estructura</a:t>
            </a:r>
            <a:endParaRPr b="0" i="0" sz="1650" u="none" cap="none" strike="noStrike"/>
          </a:p>
        </p:txBody>
      </p:sp>
      <p:sp>
        <p:nvSpPr>
          <p:cNvPr id="180" name="Google Shape;180;p7"/>
          <p:cNvSpPr/>
          <p:nvPr/>
        </p:nvSpPr>
        <p:spPr>
          <a:xfrm>
            <a:off x="1833205" y="2151102"/>
            <a:ext cx="6669167"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F9EEE7"/>
              </a:buClr>
              <a:buSzPts val="1400"/>
              <a:buFont typeface="Quattrocento"/>
              <a:buNone/>
            </a:pPr>
            <a:r>
              <a:rPr b="0" i="0" lang="en-US" sz="1400" u="none" cap="none" strike="noStrike">
                <a:solidFill>
                  <a:srgbClr val="F9EEE7"/>
                </a:solidFill>
                <a:latin typeface="Quattrocento"/>
                <a:ea typeface="Quattrocento"/>
                <a:cs typeface="Quattrocento"/>
                <a:sym typeface="Quattrocento"/>
              </a:rPr>
              <a:t>Organizar los ajustes de configuración en un archivo YAML con una estructura jerárquica clara.</a:t>
            </a:r>
            <a:endParaRPr b="0" i="0" sz="1400" u="none" cap="none" strike="noStrike"/>
          </a:p>
        </p:txBody>
      </p:sp>
      <p:pic>
        <p:nvPicPr>
          <p:cNvPr descr="preencoded.png" id="181" name="Google Shape;181;p7"/>
          <p:cNvPicPr preferRelativeResize="0"/>
          <p:nvPr/>
        </p:nvPicPr>
        <p:blipFill rotWithShape="1">
          <a:blip r:embed="rId6">
            <a:alphaModFix/>
          </a:blip>
          <a:srcRect b="0" l="0" r="0" t="0"/>
          <a:stretch/>
        </p:blipFill>
        <p:spPr>
          <a:xfrm>
            <a:off x="641628" y="3055025"/>
            <a:ext cx="916662" cy="1466731"/>
          </a:xfrm>
          <a:prstGeom prst="rect">
            <a:avLst/>
          </a:prstGeom>
          <a:noFill/>
          <a:ln>
            <a:noFill/>
          </a:ln>
        </p:spPr>
      </p:pic>
      <p:sp>
        <p:nvSpPr>
          <p:cNvPr id="182" name="Google Shape;182;p7"/>
          <p:cNvSpPr/>
          <p:nvPr/>
        </p:nvSpPr>
        <p:spPr>
          <a:xfrm>
            <a:off x="1833205" y="3238262"/>
            <a:ext cx="2219087" cy="269677"/>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Especificar Parámetros</a:t>
            </a:r>
            <a:endParaRPr b="0" i="0" sz="1650" u="none" cap="none" strike="noStrike"/>
          </a:p>
        </p:txBody>
      </p:sp>
      <p:sp>
        <p:nvSpPr>
          <p:cNvPr id="183" name="Google Shape;183;p7"/>
          <p:cNvSpPr/>
          <p:nvPr/>
        </p:nvSpPr>
        <p:spPr>
          <a:xfrm>
            <a:off x="1833205" y="3617833"/>
            <a:ext cx="6669167"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F9EEE7"/>
              </a:buClr>
              <a:buSzPts val="1400"/>
              <a:buFont typeface="Quattrocento"/>
              <a:buNone/>
            </a:pPr>
            <a:r>
              <a:rPr b="0" i="0" lang="en-US" sz="1400" u="none" cap="none" strike="noStrike">
                <a:solidFill>
                  <a:srgbClr val="F9EEE7"/>
                </a:solidFill>
                <a:latin typeface="Quattrocento"/>
                <a:ea typeface="Quattrocento"/>
                <a:cs typeface="Quattrocento"/>
                <a:sym typeface="Quattrocento"/>
              </a:rPr>
              <a:t>Definir los valores de los diferentes componentes de la aplicación, como endpoints, credenciales y opciones de despliegue.</a:t>
            </a:r>
            <a:endParaRPr b="0" i="0" sz="1400" u="none" cap="none" strike="noStrike"/>
          </a:p>
        </p:txBody>
      </p:sp>
      <p:pic>
        <p:nvPicPr>
          <p:cNvPr descr="preencoded.png" id="184" name="Google Shape;184;p7"/>
          <p:cNvPicPr preferRelativeResize="0"/>
          <p:nvPr/>
        </p:nvPicPr>
        <p:blipFill rotWithShape="1">
          <a:blip r:embed="rId7">
            <a:alphaModFix/>
          </a:blip>
          <a:srcRect b="0" l="0" r="0" t="0"/>
          <a:stretch/>
        </p:blipFill>
        <p:spPr>
          <a:xfrm>
            <a:off x="641628" y="4521756"/>
            <a:ext cx="916662" cy="1466731"/>
          </a:xfrm>
          <a:prstGeom prst="rect">
            <a:avLst/>
          </a:prstGeom>
          <a:noFill/>
          <a:ln>
            <a:noFill/>
          </a:ln>
        </p:spPr>
      </p:pic>
      <p:sp>
        <p:nvSpPr>
          <p:cNvPr id="185" name="Google Shape;185;p7"/>
          <p:cNvSpPr/>
          <p:nvPr/>
        </p:nvSpPr>
        <p:spPr>
          <a:xfrm>
            <a:off x="1833205" y="4704993"/>
            <a:ext cx="2157055" cy="269677"/>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Separar Entornos</a:t>
            </a:r>
            <a:endParaRPr b="0" i="0" sz="1650" u="none" cap="none" strike="noStrike"/>
          </a:p>
        </p:txBody>
      </p:sp>
      <p:sp>
        <p:nvSpPr>
          <p:cNvPr id="186" name="Google Shape;186;p7"/>
          <p:cNvSpPr/>
          <p:nvPr/>
        </p:nvSpPr>
        <p:spPr>
          <a:xfrm>
            <a:off x="1833205" y="5084564"/>
            <a:ext cx="6669167"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F9EEE7"/>
              </a:buClr>
              <a:buSzPts val="1400"/>
              <a:buFont typeface="Quattrocento"/>
              <a:buNone/>
            </a:pPr>
            <a:r>
              <a:rPr b="0" i="0" lang="en-US" sz="1400" u="none" cap="none" strike="noStrike">
                <a:solidFill>
                  <a:srgbClr val="F9EEE7"/>
                </a:solidFill>
                <a:latin typeface="Quattrocento"/>
                <a:ea typeface="Quattrocento"/>
                <a:cs typeface="Quattrocento"/>
                <a:sym typeface="Quattrocento"/>
              </a:rPr>
              <a:t>Crear configuraciones específicas para cada entorno (desarrollo, pruebas, producción) y mantenerlas independientes.</a:t>
            </a:r>
            <a:endParaRPr b="0" i="0" sz="1400" u="none" cap="none" strike="noStrike"/>
          </a:p>
        </p:txBody>
      </p:sp>
      <p:pic>
        <p:nvPicPr>
          <p:cNvPr descr="preencoded.png" id="187" name="Google Shape;187;p7"/>
          <p:cNvPicPr preferRelativeResize="0"/>
          <p:nvPr/>
        </p:nvPicPr>
        <p:blipFill rotWithShape="1">
          <a:blip r:embed="rId8">
            <a:alphaModFix/>
          </a:blip>
          <a:srcRect b="0" l="0" r="0" t="0"/>
          <a:stretch/>
        </p:blipFill>
        <p:spPr>
          <a:xfrm>
            <a:off x="641628" y="5988487"/>
            <a:ext cx="916662" cy="1466731"/>
          </a:xfrm>
          <a:prstGeom prst="rect">
            <a:avLst/>
          </a:prstGeom>
          <a:noFill/>
          <a:ln>
            <a:noFill/>
          </a:ln>
        </p:spPr>
      </p:pic>
      <p:sp>
        <p:nvSpPr>
          <p:cNvPr id="188" name="Google Shape;188;p7"/>
          <p:cNvSpPr/>
          <p:nvPr/>
        </p:nvSpPr>
        <p:spPr>
          <a:xfrm>
            <a:off x="1833205" y="6171724"/>
            <a:ext cx="2157055" cy="269677"/>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Aplicar Herencia</a:t>
            </a:r>
            <a:endParaRPr b="0" i="0" sz="1650" u="none" cap="none" strike="noStrike"/>
          </a:p>
        </p:txBody>
      </p:sp>
      <p:sp>
        <p:nvSpPr>
          <p:cNvPr id="189" name="Google Shape;189;p7"/>
          <p:cNvSpPr/>
          <p:nvPr/>
        </p:nvSpPr>
        <p:spPr>
          <a:xfrm>
            <a:off x="1833205" y="6551295"/>
            <a:ext cx="6669167"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F9EEE7"/>
              </a:buClr>
              <a:buSzPts val="1400"/>
              <a:buFont typeface="Quattrocento"/>
              <a:buNone/>
            </a:pPr>
            <a:r>
              <a:rPr b="0" i="0" lang="en-US" sz="1400" u="none" cap="none" strike="noStrike">
                <a:solidFill>
                  <a:srgbClr val="F9EEE7"/>
                </a:solidFill>
                <a:latin typeface="Quattrocento"/>
                <a:ea typeface="Quattrocento"/>
                <a:cs typeface="Quattrocento"/>
                <a:sym typeface="Quattrocento"/>
              </a:rPr>
              <a:t>Aprovechar la capacidad de herencia de YAML para reutilizar y evitar duplicación de configuraciones.</a:t>
            </a:r>
            <a:endParaRPr b="0" i="0" sz="14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preencoded.png" id="195" name="Google Shape;195;p8"/>
          <p:cNvPicPr preferRelativeResize="0"/>
          <p:nvPr/>
        </p:nvPicPr>
        <p:blipFill rotWithShape="1">
          <a:blip r:embed="rId3">
            <a:alphaModFix/>
          </a:blip>
          <a:srcRect b="0" l="0" r="0" t="0"/>
          <a:stretch/>
        </p:blipFill>
        <p:spPr>
          <a:xfrm>
            <a:off x="0" y="0"/>
            <a:ext cx="14630400" cy="2754987"/>
          </a:xfrm>
          <a:prstGeom prst="rect">
            <a:avLst/>
          </a:prstGeom>
          <a:noFill/>
          <a:ln>
            <a:noFill/>
          </a:ln>
        </p:spPr>
      </p:pic>
      <p:pic>
        <p:nvPicPr>
          <p:cNvPr descr="preencoded.png" id="196" name="Google Shape;196;p8"/>
          <p:cNvPicPr preferRelativeResize="0"/>
          <p:nvPr/>
        </p:nvPicPr>
        <p:blipFill rotWithShape="1">
          <a:blip r:embed="rId4">
            <a:alphaModFix/>
          </a:blip>
          <a:srcRect b="0" l="0" r="0" t="0"/>
          <a:stretch/>
        </p:blipFill>
        <p:spPr>
          <a:xfrm>
            <a:off x="5527953" y="275392"/>
            <a:ext cx="3574375" cy="2204204"/>
          </a:xfrm>
          <a:prstGeom prst="rect">
            <a:avLst/>
          </a:prstGeom>
          <a:noFill/>
          <a:ln>
            <a:noFill/>
          </a:ln>
        </p:spPr>
      </p:pic>
      <p:sp>
        <p:nvSpPr>
          <p:cNvPr id="197" name="Google Shape;197;p8"/>
          <p:cNvSpPr/>
          <p:nvPr/>
        </p:nvSpPr>
        <p:spPr>
          <a:xfrm>
            <a:off x="771406" y="3361015"/>
            <a:ext cx="13087588" cy="1296591"/>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FFD9BE"/>
              </a:buClr>
              <a:buSzPts val="4050"/>
              <a:buFont typeface="Quattrocento"/>
              <a:buNone/>
            </a:pPr>
            <a:r>
              <a:rPr b="0" i="0" lang="en-US" sz="4050" u="none" cap="none" strike="noStrike">
                <a:solidFill>
                  <a:srgbClr val="FFD9BE"/>
                </a:solidFill>
                <a:latin typeface="Quattrocento"/>
                <a:ea typeface="Quattrocento"/>
                <a:cs typeface="Quattrocento"/>
                <a:sym typeface="Quattrocento"/>
              </a:rPr>
              <a:t>Logging en contenedores: técnicas para monitorear aplicaciones en contenedores</a:t>
            </a:r>
            <a:endParaRPr b="0" i="0" sz="4050" u="none" cap="none" strike="noStrike"/>
          </a:p>
        </p:txBody>
      </p:sp>
      <p:pic>
        <p:nvPicPr>
          <p:cNvPr descr="preencoded.png" id="198" name="Google Shape;198;p8"/>
          <p:cNvPicPr preferRelativeResize="0"/>
          <p:nvPr/>
        </p:nvPicPr>
        <p:blipFill rotWithShape="1">
          <a:blip r:embed="rId5">
            <a:alphaModFix/>
          </a:blip>
          <a:srcRect b="0" l="0" r="0" t="0"/>
          <a:stretch/>
        </p:blipFill>
        <p:spPr>
          <a:xfrm>
            <a:off x="771406" y="4988123"/>
            <a:ext cx="550902" cy="550902"/>
          </a:xfrm>
          <a:prstGeom prst="rect">
            <a:avLst/>
          </a:prstGeom>
          <a:noFill/>
          <a:ln>
            <a:noFill/>
          </a:ln>
        </p:spPr>
      </p:pic>
      <p:sp>
        <p:nvSpPr>
          <p:cNvPr id="199" name="Google Shape;199;p8"/>
          <p:cNvSpPr/>
          <p:nvPr/>
        </p:nvSpPr>
        <p:spPr>
          <a:xfrm>
            <a:off x="771406" y="5759410"/>
            <a:ext cx="2592943" cy="324088"/>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Recolección de logs</a:t>
            </a:r>
            <a:endParaRPr b="0" i="0" sz="2000" u="none" cap="none" strike="noStrike"/>
          </a:p>
        </p:txBody>
      </p:sp>
      <p:sp>
        <p:nvSpPr>
          <p:cNvPr id="200" name="Google Shape;200;p8"/>
          <p:cNvSpPr/>
          <p:nvPr/>
        </p:nvSpPr>
        <p:spPr>
          <a:xfrm>
            <a:off x="771406" y="6215658"/>
            <a:ext cx="4142184" cy="1057632"/>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F9EEE7"/>
              </a:buClr>
              <a:buSzPts val="1700"/>
              <a:buFont typeface="Quattrocento"/>
              <a:buNone/>
            </a:pPr>
            <a:r>
              <a:rPr b="0" i="0" lang="en-US" sz="1700" u="none" cap="none" strike="noStrike">
                <a:solidFill>
                  <a:srgbClr val="F9EEE7"/>
                </a:solidFill>
                <a:latin typeface="Quattrocento"/>
                <a:ea typeface="Quattrocento"/>
                <a:cs typeface="Quattrocento"/>
                <a:sym typeface="Quattrocento"/>
              </a:rPr>
              <a:t>Sistemas de logging como Fluentd o Filebeat permiten recolectar y centralizar los logs de aplicaciones en contenedores.</a:t>
            </a:r>
            <a:endParaRPr b="0" i="0" sz="1700" u="none" cap="none" strike="noStrike"/>
          </a:p>
        </p:txBody>
      </p:sp>
      <p:pic>
        <p:nvPicPr>
          <p:cNvPr descr="preencoded.png" id="201" name="Google Shape;201;p8"/>
          <p:cNvPicPr preferRelativeResize="0"/>
          <p:nvPr/>
        </p:nvPicPr>
        <p:blipFill rotWithShape="1">
          <a:blip r:embed="rId6">
            <a:alphaModFix/>
          </a:blip>
          <a:srcRect b="0" l="0" r="0" t="0"/>
          <a:stretch/>
        </p:blipFill>
        <p:spPr>
          <a:xfrm>
            <a:off x="5244108" y="4988123"/>
            <a:ext cx="550902" cy="550902"/>
          </a:xfrm>
          <a:prstGeom prst="rect">
            <a:avLst/>
          </a:prstGeom>
          <a:noFill/>
          <a:ln>
            <a:noFill/>
          </a:ln>
        </p:spPr>
      </p:pic>
      <p:sp>
        <p:nvSpPr>
          <p:cNvPr id="202" name="Google Shape;202;p8"/>
          <p:cNvSpPr/>
          <p:nvPr/>
        </p:nvSpPr>
        <p:spPr>
          <a:xfrm>
            <a:off x="5244108" y="5759410"/>
            <a:ext cx="2601873" cy="324088"/>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Visualización de datos</a:t>
            </a:r>
            <a:endParaRPr b="0" i="0" sz="2000" u="none" cap="none" strike="noStrike"/>
          </a:p>
        </p:txBody>
      </p:sp>
      <p:sp>
        <p:nvSpPr>
          <p:cNvPr id="203" name="Google Shape;203;p8"/>
          <p:cNvSpPr/>
          <p:nvPr/>
        </p:nvSpPr>
        <p:spPr>
          <a:xfrm>
            <a:off x="5244108" y="6215658"/>
            <a:ext cx="4142184" cy="141017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F9EEE7"/>
              </a:buClr>
              <a:buSzPts val="1700"/>
              <a:buFont typeface="Quattrocento"/>
              <a:buNone/>
            </a:pPr>
            <a:r>
              <a:rPr b="0" i="0" lang="en-US" sz="1700" u="none" cap="none" strike="noStrike">
                <a:solidFill>
                  <a:srgbClr val="F9EEE7"/>
                </a:solidFill>
                <a:latin typeface="Quattrocento"/>
                <a:ea typeface="Quattrocento"/>
                <a:cs typeface="Quattrocento"/>
                <a:sym typeface="Quattrocento"/>
              </a:rPr>
              <a:t>Herramientas como Grafana o Kibana facilitan el análisis y monitoreo de los logs a través de dashboards personalizados.</a:t>
            </a:r>
            <a:endParaRPr b="0" i="0" sz="1700" u="none" cap="none" strike="noStrike"/>
          </a:p>
        </p:txBody>
      </p:sp>
      <p:pic>
        <p:nvPicPr>
          <p:cNvPr descr="preencoded.png" id="204" name="Google Shape;204;p8"/>
          <p:cNvPicPr preferRelativeResize="0"/>
          <p:nvPr/>
        </p:nvPicPr>
        <p:blipFill rotWithShape="1">
          <a:blip r:embed="rId7">
            <a:alphaModFix/>
          </a:blip>
          <a:srcRect b="0" l="0" r="0" t="0"/>
          <a:stretch/>
        </p:blipFill>
        <p:spPr>
          <a:xfrm>
            <a:off x="9716810" y="4988123"/>
            <a:ext cx="550902" cy="550902"/>
          </a:xfrm>
          <a:prstGeom prst="rect">
            <a:avLst/>
          </a:prstGeom>
          <a:noFill/>
          <a:ln>
            <a:noFill/>
          </a:ln>
        </p:spPr>
      </p:pic>
      <p:sp>
        <p:nvSpPr>
          <p:cNvPr id="205" name="Google Shape;205;p8"/>
          <p:cNvSpPr/>
          <p:nvPr/>
        </p:nvSpPr>
        <p:spPr>
          <a:xfrm>
            <a:off x="9716810" y="5759410"/>
            <a:ext cx="2702719" cy="324088"/>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Alertas y notificaciones</a:t>
            </a:r>
            <a:endParaRPr b="0" i="0" sz="2000" u="none" cap="none" strike="noStrike"/>
          </a:p>
        </p:txBody>
      </p:sp>
      <p:sp>
        <p:nvSpPr>
          <p:cNvPr id="206" name="Google Shape;206;p8"/>
          <p:cNvSpPr/>
          <p:nvPr/>
        </p:nvSpPr>
        <p:spPr>
          <a:xfrm>
            <a:off x="9716810" y="6215658"/>
            <a:ext cx="4142184" cy="1057632"/>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F9EEE7"/>
              </a:buClr>
              <a:buSzPts val="1700"/>
              <a:buFont typeface="Quattrocento"/>
              <a:buNone/>
            </a:pPr>
            <a:r>
              <a:rPr b="0" i="0" lang="en-US" sz="1700" u="none" cap="none" strike="noStrike">
                <a:solidFill>
                  <a:srgbClr val="F9EEE7"/>
                </a:solidFill>
                <a:latin typeface="Quattrocento"/>
                <a:ea typeface="Quattrocento"/>
                <a:cs typeface="Quattrocento"/>
                <a:sym typeface="Quattrocento"/>
              </a:rPr>
              <a:t>Los sistemas de logging permiten configurar alertas que notifican sobre eventos críticos o patrones de interés.</a:t>
            </a:r>
            <a:endParaRPr b="0" i="0" sz="17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descr="preencoded.png" id="212" name="Google Shape;212;p9"/>
          <p:cNvPicPr preferRelativeResize="0"/>
          <p:nvPr/>
        </p:nvPicPr>
        <p:blipFill rotWithShape="1">
          <a:blip r:embed="rId3">
            <a:alphaModFix/>
          </a:blip>
          <a:srcRect b="0" l="0" r="0" t="0"/>
          <a:stretch/>
        </p:blipFill>
        <p:spPr>
          <a:xfrm>
            <a:off x="0" y="0"/>
            <a:ext cx="5486400" cy="8232815"/>
          </a:xfrm>
          <a:prstGeom prst="rect">
            <a:avLst/>
          </a:prstGeom>
          <a:noFill/>
          <a:ln>
            <a:noFill/>
          </a:ln>
        </p:spPr>
      </p:pic>
      <p:pic>
        <p:nvPicPr>
          <p:cNvPr descr="preencoded.png" id="213" name="Google Shape;213;p9"/>
          <p:cNvPicPr preferRelativeResize="0"/>
          <p:nvPr/>
        </p:nvPicPr>
        <p:blipFill rotWithShape="1">
          <a:blip r:embed="rId4">
            <a:alphaModFix/>
          </a:blip>
          <a:srcRect b="0" l="0" r="0" t="0"/>
          <a:stretch/>
        </p:blipFill>
        <p:spPr>
          <a:xfrm>
            <a:off x="270629" y="1064895"/>
            <a:ext cx="4945023" cy="6103025"/>
          </a:xfrm>
          <a:prstGeom prst="rect">
            <a:avLst/>
          </a:prstGeom>
          <a:noFill/>
          <a:ln>
            <a:noFill/>
          </a:ln>
        </p:spPr>
      </p:pic>
      <p:sp>
        <p:nvSpPr>
          <p:cNvPr id="214" name="Google Shape;214;p9"/>
          <p:cNvSpPr/>
          <p:nvPr/>
        </p:nvSpPr>
        <p:spPr>
          <a:xfrm>
            <a:off x="6244233" y="595432"/>
            <a:ext cx="7628334" cy="127349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4000"/>
              <a:buFont typeface="Quattrocento"/>
              <a:buNone/>
            </a:pPr>
            <a:r>
              <a:rPr b="0" i="0" lang="en-US" sz="4000" u="none" cap="none" strike="noStrike">
                <a:solidFill>
                  <a:srgbClr val="FFD9BE"/>
                </a:solidFill>
                <a:latin typeface="Quattrocento"/>
                <a:ea typeface="Quattrocento"/>
                <a:cs typeface="Quattrocento"/>
                <a:sym typeface="Quattrocento"/>
              </a:rPr>
              <a:t>Herramientas de logging para contenedores</a:t>
            </a:r>
            <a:endParaRPr b="0" i="0" sz="4000" u="none" cap="none" strike="noStrike"/>
          </a:p>
        </p:txBody>
      </p:sp>
      <p:sp>
        <p:nvSpPr>
          <p:cNvPr id="215" name="Google Shape;215;p9"/>
          <p:cNvSpPr/>
          <p:nvPr/>
        </p:nvSpPr>
        <p:spPr>
          <a:xfrm>
            <a:off x="6244233" y="2193608"/>
            <a:ext cx="3705939" cy="2613660"/>
          </a:xfrm>
          <a:prstGeom prst="roundRect">
            <a:avLst>
              <a:gd fmla="val 1243"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460688" y="2410063"/>
            <a:ext cx="2547342" cy="31849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Fluentd</a:t>
            </a:r>
            <a:endParaRPr b="0" i="0" sz="2000" u="none" cap="none" strike="noStrike"/>
          </a:p>
        </p:txBody>
      </p:sp>
      <p:sp>
        <p:nvSpPr>
          <p:cNvPr id="217" name="Google Shape;217;p9"/>
          <p:cNvSpPr/>
          <p:nvPr/>
        </p:nvSpPr>
        <p:spPr>
          <a:xfrm>
            <a:off x="6460688" y="2858453"/>
            <a:ext cx="3273028" cy="173235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F9EEE7"/>
              </a:buClr>
              <a:buSzPts val="1700"/>
              <a:buFont typeface="Quattrocento"/>
              <a:buNone/>
            </a:pPr>
            <a:r>
              <a:rPr b="0" i="0" lang="en-US" sz="1700" u="none" cap="none" strike="noStrike">
                <a:solidFill>
                  <a:srgbClr val="F9EEE7"/>
                </a:solidFill>
                <a:latin typeface="Quattrocento"/>
                <a:ea typeface="Quattrocento"/>
                <a:cs typeface="Quattrocento"/>
                <a:sym typeface="Quattrocento"/>
              </a:rPr>
              <a:t>Fluentd es una herramienta de código abierto que recopila y procesa registros de contenedores de manera eficiente.</a:t>
            </a:r>
            <a:endParaRPr b="0" i="0" sz="1700" u="none" cap="none" strike="noStrike"/>
          </a:p>
        </p:txBody>
      </p:sp>
      <p:sp>
        <p:nvSpPr>
          <p:cNvPr id="218" name="Google Shape;218;p9"/>
          <p:cNvSpPr/>
          <p:nvPr/>
        </p:nvSpPr>
        <p:spPr>
          <a:xfrm>
            <a:off x="10166628" y="2193608"/>
            <a:ext cx="3705939" cy="2613660"/>
          </a:xfrm>
          <a:prstGeom prst="roundRect">
            <a:avLst>
              <a:gd fmla="val 1243"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10383083" y="2410063"/>
            <a:ext cx="2547342" cy="31849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Elasticsearch y Kibana</a:t>
            </a:r>
            <a:endParaRPr b="0" i="0" sz="2000" u="none" cap="none" strike="noStrike"/>
          </a:p>
        </p:txBody>
      </p:sp>
      <p:sp>
        <p:nvSpPr>
          <p:cNvPr id="220" name="Google Shape;220;p9"/>
          <p:cNvSpPr/>
          <p:nvPr/>
        </p:nvSpPr>
        <p:spPr>
          <a:xfrm>
            <a:off x="10383083" y="2858453"/>
            <a:ext cx="3273028" cy="1385888"/>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F9EEE7"/>
              </a:buClr>
              <a:buSzPts val="1700"/>
              <a:buFont typeface="Quattrocento"/>
              <a:buNone/>
            </a:pPr>
            <a:r>
              <a:rPr b="0" i="0" lang="en-US" sz="1700" u="none" cap="none" strike="noStrike">
                <a:solidFill>
                  <a:srgbClr val="F9EEE7"/>
                </a:solidFill>
                <a:latin typeface="Quattrocento"/>
                <a:ea typeface="Quattrocento"/>
                <a:cs typeface="Quattrocento"/>
                <a:sym typeface="Quattrocento"/>
              </a:rPr>
              <a:t>Elasticsearch y Kibana proporcionan una solución integral de análisis y visualización de registros de contenedores.</a:t>
            </a:r>
            <a:endParaRPr b="0" i="0" sz="1700" u="none" cap="none" strike="noStrike"/>
          </a:p>
        </p:txBody>
      </p:sp>
      <p:sp>
        <p:nvSpPr>
          <p:cNvPr id="221" name="Google Shape;221;p9"/>
          <p:cNvSpPr/>
          <p:nvPr/>
        </p:nvSpPr>
        <p:spPr>
          <a:xfrm>
            <a:off x="6244233" y="5023723"/>
            <a:ext cx="3705939" cy="2613660"/>
          </a:xfrm>
          <a:prstGeom prst="roundRect">
            <a:avLst>
              <a:gd fmla="val 1243"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6460688" y="5240179"/>
            <a:ext cx="2547342" cy="31849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Splunk</a:t>
            </a:r>
            <a:endParaRPr b="0" i="0" sz="2000" u="none" cap="none" strike="noStrike"/>
          </a:p>
        </p:txBody>
      </p:sp>
      <p:sp>
        <p:nvSpPr>
          <p:cNvPr id="223" name="Google Shape;223;p9"/>
          <p:cNvSpPr/>
          <p:nvPr/>
        </p:nvSpPr>
        <p:spPr>
          <a:xfrm>
            <a:off x="6460688" y="5688568"/>
            <a:ext cx="3273028" cy="173235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F9EEE7"/>
              </a:buClr>
              <a:buSzPts val="1700"/>
              <a:buFont typeface="Quattrocento"/>
              <a:buNone/>
            </a:pPr>
            <a:r>
              <a:rPr b="0" i="0" lang="en-US" sz="1700" u="none" cap="none" strike="noStrike">
                <a:solidFill>
                  <a:srgbClr val="F9EEE7"/>
                </a:solidFill>
                <a:latin typeface="Quattrocento"/>
                <a:ea typeface="Quattrocento"/>
                <a:cs typeface="Quattrocento"/>
                <a:sym typeface="Quattrocento"/>
              </a:rPr>
              <a:t>Splunk es una herramienta avanzada que ofrece funciones de búsqueda, análisis y alertas para los registros de contenedores.</a:t>
            </a:r>
            <a:endParaRPr b="0" i="0" sz="1700" u="none" cap="none" strike="noStrike"/>
          </a:p>
        </p:txBody>
      </p:sp>
      <p:sp>
        <p:nvSpPr>
          <p:cNvPr id="224" name="Google Shape;224;p9"/>
          <p:cNvSpPr/>
          <p:nvPr/>
        </p:nvSpPr>
        <p:spPr>
          <a:xfrm>
            <a:off x="10166628" y="5023723"/>
            <a:ext cx="3705939" cy="2613660"/>
          </a:xfrm>
          <a:prstGeom prst="roundRect">
            <a:avLst>
              <a:gd fmla="val 1243"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10383083" y="5240179"/>
            <a:ext cx="2547342" cy="31849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Datadog</a:t>
            </a:r>
            <a:endParaRPr b="0" i="0" sz="2000" u="none" cap="none" strike="noStrike"/>
          </a:p>
        </p:txBody>
      </p:sp>
      <p:sp>
        <p:nvSpPr>
          <p:cNvPr id="226" name="Google Shape;226;p9"/>
          <p:cNvSpPr/>
          <p:nvPr/>
        </p:nvSpPr>
        <p:spPr>
          <a:xfrm>
            <a:off x="10383083" y="5688568"/>
            <a:ext cx="3273028" cy="173235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F9EEE7"/>
              </a:buClr>
              <a:buSzPts val="1700"/>
              <a:buFont typeface="Quattrocento"/>
              <a:buNone/>
            </a:pPr>
            <a:r>
              <a:rPr b="0" i="0" lang="en-US" sz="1700" u="none" cap="none" strike="noStrike">
                <a:solidFill>
                  <a:srgbClr val="F9EEE7"/>
                </a:solidFill>
                <a:latin typeface="Quattrocento"/>
                <a:ea typeface="Quattrocento"/>
                <a:cs typeface="Quattrocento"/>
                <a:sym typeface="Quattrocento"/>
              </a:rPr>
              <a:t>Datadog es una plataforma de monitoreo que integra registros, métricas y trazas de contenedores en una sola interfaz.</a:t>
            </a:r>
            <a:endParaRPr b="0" i="0" sz="17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descr="preencoded.png" id="232" name="Google Shape;232;p10"/>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33" name="Google Shape;233;p10"/>
          <p:cNvPicPr preferRelativeResize="0"/>
          <p:nvPr/>
        </p:nvPicPr>
        <p:blipFill rotWithShape="1">
          <a:blip r:embed="rId4">
            <a:alphaModFix/>
          </a:blip>
          <a:srcRect b="0" l="0" r="0" t="0"/>
          <a:stretch/>
        </p:blipFill>
        <p:spPr>
          <a:xfrm>
            <a:off x="9443323" y="2742128"/>
            <a:ext cx="4887754" cy="2745343"/>
          </a:xfrm>
          <a:prstGeom prst="rect">
            <a:avLst/>
          </a:prstGeom>
          <a:noFill/>
          <a:ln>
            <a:noFill/>
          </a:ln>
        </p:spPr>
      </p:pic>
      <p:sp>
        <p:nvSpPr>
          <p:cNvPr id="234" name="Google Shape;234;p10"/>
          <p:cNvSpPr/>
          <p:nvPr/>
        </p:nvSpPr>
        <p:spPr>
          <a:xfrm>
            <a:off x="837724" y="2656761"/>
            <a:ext cx="7468553" cy="140803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4400"/>
              <a:buFont typeface="Quattrocento"/>
              <a:buNone/>
            </a:pPr>
            <a:r>
              <a:rPr b="0" i="0" lang="en-US" sz="4400" u="none" cap="none" strike="noStrike">
                <a:solidFill>
                  <a:srgbClr val="FFD9BE"/>
                </a:solidFill>
                <a:latin typeface="Quattrocento"/>
                <a:ea typeface="Quattrocento"/>
                <a:cs typeface="Quattrocento"/>
                <a:sym typeface="Quattrocento"/>
              </a:rPr>
              <a:t>Seguridad en DevOps (DevSecOps)</a:t>
            </a:r>
            <a:endParaRPr b="0" i="0" sz="4400" u="none" cap="none" strike="noStrike"/>
          </a:p>
        </p:txBody>
      </p:sp>
      <p:sp>
        <p:nvSpPr>
          <p:cNvPr id="235" name="Google Shape;235;p10"/>
          <p:cNvSpPr/>
          <p:nvPr/>
        </p:nvSpPr>
        <p:spPr>
          <a:xfrm>
            <a:off x="837724" y="4423767"/>
            <a:ext cx="7468553"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b="0" i="0" lang="en-US" sz="1850" u="none" cap="none" strike="noStrike">
                <a:solidFill>
                  <a:srgbClr val="F9EEE7"/>
                </a:solidFill>
                <a:latin typeface="Quattrocento"/>
                <a:ea typeface="Quattrocento"/>
                <a:cs typeface="Quattrocento"/>
                <a:sym typeface="Quattrocento"/>
              </a:rPr>
              <a:t>La seguridad es un elemento clave en el enfoque DevOps, integrando prácticas de seguridad a lo largo de todo el ciclo de vida de desarrollo y despliegue de aplicaciones.</a:t>
            </a:r>
            <a:endParaRPr b="0" i="0" sz="18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descr="preencoded.png" id="241" name="Google Shape;241;p1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42" name="Google Shape;242;p11"/>
          <p:cNvPicPr preferRelativeResize="0"/>
          <p:nvPr/>
        </p:nvPicPr>
        <p:blipFill rotWithShape="1">
          <a:blip r:embed="rId4">
            <a:alphaModFix/>
          </a:blip>
          <a:srcRect b="0" l="0" r="0" t="0"/>
          <a:stretch/>
        </p:blipFill>
        <p:spPr>
          <a:xfrm>
            <a:off x="9372838" y="2700457"/>
            <a:ext cx="5028724" cy="2828687"/>
          </a:xfrm>
          <a:prstGeom prst="rect">
            <a:avLst/>
          </a:prstGeom>
          <a:noFill/>
          <a:ln>
            <a:noFill/>
          </a:ln>
        </p:spPr>
      </p:pic>
      <p:sp>
        <p:nvSpPr>
          <p:cNvPr id="243" name="Google Shape;243;p11"/>
          <p:cNvSpPr/>
          <p:nvPr/>
        </p:nvSpPr>
        <p:spPr>
          <a:xfrm>
            <a:off x="640556" y="650081"/>
            <a:ext cx="7862888" cy="1076563"/>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FFD9BE"/>
              </a:buClr>
              <a:buSzPts val="3350"/>
              <a:buFont typeface="Quattrocento"/>
              <a:buNone/>
            </a:pPr>
            <a:r>
              <a:rPr b="0" i="0" lang="en-US" sz="3350" u="none" cap="none" strike="noStrike">
                <a:solidFill>
                  <a:srgbClr val="FFD9BE"/>
                </a:solidFill>
                <a:latin typeface="Quattrocento"/>
                <a:ea typeface="Quattrocento"/>
                <a:cs typeface="Quattrocento"/>
                <a:sym typeface="Quattrocento"/>
              </a:rPr>
              <a:t>Integración de seguridad en el ciclo de vida de DevOps</a:t>
            </a:r>
            <a:endParaRPr b="0" i="0" sz="3350" u="none" cap="none" strike="noStrike"/>
          </a:p>
        </p:txBody>
      </p:sp>
      <p:sp>
        <p:nvSpPr>
          <p:cNvPr id="244" name="Google Shape;244;p11"/>
          <p:cNvSpPr/>
          <p:nvPr/>
        </p:nvSpPr>
        <p:spPr>
          <a:xfrm>
            <a:off x="903684" y="2001203"/>
            <a:ext cx="22860" cy="5578316"/>
          </a:xfrm>
          <a:prstGeom prst="roundRect">
            <a:avLst>
              <a:gd fmla="val 120108"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1098173" y="2401491"/>
            <a:ext cx="640556" cy="22860"/>
          </a:xfrm>
          <a:prstGeom prst="roundRect">
            <a:avLst>
              <a:gd fmla="val 120108"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709196" y="2207062"/>
            <a:ext cx="411837" cy="411837"/>
          </a:xfrm>
          <a:prstGeom prst="roundRect">
            <a:avLst>
              <a:gd fmla="val 6667"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869335" y="2283738"/>
            <a:ext cx="91559" cy="2583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1</a:t>
            </a:r>
            <a:endParaRPr b="0" i="0" sz="2000" u="none" cap="none" strike="noStrike"/>
          </a:p>
        </p:txBody>
      </p:sp>
      <p:sp>
        <p:nvSpPr>
          <p:cNvPr id="248" name="Google Shape;248;p11"/>
          <p:cNvSpPr/>
          <p:nvPr/>
        </p:nvSpPr>
        <p:spPr>
          <a:xfrm>
            <a:off x="1921788" y="2184202"/>
            <a:ext cx="2153364" cy="2692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Planificación</a:t>
            </a:r>
            <a:endParaRPr b="0" i="0" sz="1650" u="none" cap="none" strike="noStrike"/>
          </a:p>
        </p:txBody>
      </p:sp>
      <p:sp>
        <p:nvSpPr>
          <p:cNvPr id="249" name="Google Shape;249;p11"/>
          <p:cNvSpPr/>
          <p:nvPr/>
        </p:nvSpPr>
        <p:spPr>
          <a:xfrm>
            <a:off x="1921788" y="2563178"/>
            <a:ext cx="6581656" cy="292775"/>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F9EEE7"/>
              </a:buClr>
              <a:buSzPts val="1400"/>
              <a:buFont typeface="Quattrocento"/>
              <a:buNone/>
            </a:pPr>
            <a:r>
              <a:rPr b="0" i="0" lang="en-US" sz="1400" u="none" cap="none" strike="noStrike">
                <a:solidFill>
                  <a:srgbClr val="F9EEE7"/>
                </a:solidFill>
                <a:latin typeface="Quattrocento"/>
                <a:ea typeface="Quattrocento"/>
                <a:cs typeface="Quattrocento"/>
                <a:sym typeface="Quattrocento"/>
              </a:rPr>
              <a:t>Identificar y definir requisitos de seguridad desde el inicio del proyecto.</a:t>
            </a:r>
            <a:endParaRPr b="0" i="0" sz="1400" u="none" cap="none" strike="noStrike"/>
          </a:p>
        </p:txBody>
      </p:sp>
      <p:sp>
        <p:nvSpPr>
          <p:cNvPr id="250" name="Google Shape;250;p11"/>
          <p:cNvSpPr/>
          <p:nvPr/>
        </p:nvSpPr>
        <p:spPr>
          <a:xfrm>
            <a:off x="1098173" y="3622238"/>
            <a:ext cx="640556" cy="22860"/>
          </a:xfrm>
          <a:prstGeom prst="roundRect">
            <a:avLst>
              <a:gd fmla="val 120108"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709196" y="3427809"/>
            <a:ext cx="411837" cy="411837"/>
          </a:xfrm>
          <a:prstGeom prst="roundRect">
            <a:avLst>
              <a:gd fmla="val 6667"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845760" y="3504486"/>
            <a:ext cx="138589" cy="2583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2</a:t>
            </a:r>
            <a:endParaRPr b="0" i="0" sz="2000" u="none" cap="none" strike="noStrike"/>
          </a:p>
        </p:txBody>
      </p:sp>
      <p:sp>
        <p:nvSpPr>
          <p:cNvPr id="253" name="Google Shape;253;p11"/>
          <p:cNvSpPr/>
          <p:nvPr/>
        </p:nvSpPr>
        <p:spPr>
          <a:xfrm>
            <a:off x="1921788" y="3404949"/>
            <a:ext cx="2153364" cy="2692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Desarrollo Seguro</a:t>
            </a:r>
            <a:endParaRPr b="0" i="0" sz="1650" u="none" cap="none" strike="noStrike"/>
          </a:p>
        </p:txBody>
      </p:sp>
      <p:sp>
        <p:nvSpPr>
          <p:cNvPr id="254" name="Google Shape;254;p11"/>
          <p:cNvSpPr/>
          <p:nvPr/>
        </p:nvSpPr>
        <p:spPr>
          <a:xfrm>
            <a:off x="1921788" y="3783925"/>
            <a:ext cx="6581656" cy="585549"/>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F9EEE7"/>
              </a:buClr>
              <a:buSzPts val="1400"/>
              <a:buFont typeface="Quattrocento"/>
              <a:buNone/>
            </a:pPr>
            <a:r>
              <a:rPr b="0" i="0" lang="en-US" sz="1400" u="none" cap="none" strike="noStrike">
                <a:solidFill>
                  <a:srgbClr val="F9EEE7"/>
                </a:solidFill>
                <a:latin typeface="Quattrocento"/>
                <a:ea typeface="Quattrocento"/>
                <a:cs typeface="Quattrocento"/>
                <a:sym typeface="Quattrocento"/>
              </a:rPr>
              <a:t>Implementar prácticas de codificación segura y realizar análisis de vulnerabilidades.</a:t>
            </a:r>
            <a:endParaRPr b="0" i="0" sz="1400" u="none" cap="none" strike="noStrike"/>
          </a:p>
        </p:txBody>
      </p:sp>
      <p:sp>
        <p:nvSpPr>
          <p:cNvPr id="255" name="Google Shape;255;p11"/>
          <p:cNvSpPr/>
          <p:nvPr/>
        </p:nvSpPr>
        <p:spPr>
          <a:xfrm>
            <a:off x="1098173" y="5135761"/>
            <a:ext cx="640556" cy="22860"/>
          </a:xfrm>
          <a:prstGeom prst="roundRect">
            <a:avLst>
              <a:gd fmla="val 120108"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709196" y="4941332"/>
            <a:ext cx="411837" cy="411837"/>
          </a:xfrm>
          <a:prstGeom prst="roundRect">
            <a:avLst>
              <a:gd fmla="val 6667"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844808" y="5018008"/>
            <a:ext cx="140613" cy="2583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3</a:t>
            </a:r>
            <a:endParaRPr b="0" i="0" sz="2000" u="none" cap="none" strike="noStrike"/>
          </a:p>
        </p:txBody>
      </p:sp>
      <p:sp>
        <p:nvSpPr>
          <p:cNvPr id="258" name="Google Shape;258;p11"/>
          <p:cNvSpPr/>
          <p:nvPr/>
        </p:nvSpPr>
        <p:spPr>
          <a:xfrm>
            <a:off x="1921788" y="4918472"/>
            <a:ext cx="2153364" cy="2692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Automatización</a:t>
            </a:r>
            <a:endParaRPr b="0" i="0" sz="1650" u="none" cap="none" strike="noStrike"/>
          </a:p>
        </p:txBody>
      </p:sp>
      <p:sp>
        <p:nvSpPr>
          <p:cNvPr id="259" name="Google Shape;259;p11"/>
          <p:cNvSpPr/>
          <p:nvPr/>
        </p:nvSpPr>
        <p:spPr>
          <a:xfrm>
            <a:off x="1921788" y="5297448"/>
            <a:ext cx="6581656" cy="585549"/>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F9EEE7"/>
              </a:buClr>
              <a:buSzPts val="1400"/>
              <a:buFont typeface="Quattrocento"/>
              <a:buNone/>
            </a:pPr>
            <a:r>
              <a:rPr b="0" i="0" lang="en-US" sz="1400" u="none" cap="none" strike="noStrike">
                <a:solidFill>
                  <a:srgbClr val="F9EEE7"/>
                </a:solidFill>
                <a:latin typeface="Quattrocento"/>
                <a:ea typeface="Quattrocento"/>
                <a:cs typeface="Quattrocento"/>
                <a:sym typeface="Quattrocento"/>
              </a:rPr>
              <a:t>Integrar pruebas de seguridad en los procesos de integración y despliegue continuos.</a:t>
            </a:r>
            <a:endParaRPr b="0" i="0" sz="1400" u="none" cap="none" strike="noStrike"/>
          </a:p>
        </p:txBody>
      </p:sp>
      <p:sp>
        <p:nvSpPr>
          <p:cNvPr id="260" name="Google Shape;260;p11"/>
          <p:cNvSpPr/>
          <p:nvPr/>
        </p:nvSpPr>
        <p:spPr>
          <a:xfrm>
            <a:off x="1098173" y="6649283"/>
            <a:ext cx="640556" cy="22860"/>
          </a:xfrm>
          <a:prstGeom prst="roundRect">
            <a:avLst>
              <a:gd fmla="val 120108"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709196" y="6454854"/>
            <a:ext cx="411837" cy="411837"/>
          </a:xfrm>
          <a:prstGeom prst="roundRect">
            <a:avLst>
              <a:gd fmla="val 6667"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849451" y="6531531"/>
            <a:ext cx="131326" cy="2583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000"/>
              <a:buFont typeface="Quattrocento"/>
              <a:buNone/>
            </a:pPr>
            <a:r>
              <a:rPr b="0" i="0" lang="en-US" sz="2000" u="none" cap="none" strike="noStrike">
                <a:solidFill>
                  <a:srgbClr val="F9EEE7"/>
                </a:solidFill>
                <a:latin typeface="Quattrocento"/>
                <a:ea typeface="Quattrocento"/>
                <a:cs typeface="Quattrocento"/>
                <a:sym typeface="Quattrocento"/>
              </a:rPr>
              <a:t>4</a:t>
            </a:r>
            <a:endParaRPr b="0" i="0" sz="2000" u="none" cap="none" strike="noStrike"/>
          </a:p>
        </p:txBody>
      </p:sp>
      <p:sp>
        <p:nvSpPr>
          <p:cNvPr id="263" name="Google Shape;263;p11"/>
          <p:cNvSpPr/>
          <p:nvPr/>
        </p:nvSpPr>
        <p:spPr>
          <a:xfrm>
            <a:off x="1921788" y="6431994"/>
            <a:ext cx="2153364" cy="2692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Monitoreo</a:t>
            </a:r>
            <a:endParaRPr b="0" i="0" sz="1650" u="none" cap="none" strike="noStrike"/>
          </a:p>
        </p:txBody>
      </p:sp>
      <p:sp>
        <p:nvSpPr>
          <p:cNvPr id="264" name="Google Shape;264;p11"/>
          <p:cNvSpPr/>
          <p:nvPr/>
        </p:nvSpPr>
        <p:spPr>
          <a:xfrm>
            <a:off x="1921788" y="6810970"/>
            <a:ext cx="6581656" cy="585549"/>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F9EEE7"/>
              </a:buClr>
              <a:buSzPts val="1400"/>
              <a:buFont typeface="Quattrocento"/>
              <a:buNone/>
            </a:pPr>
            <a:r>
              <a:rPr b="0" i="0" lang="en-US" sz="1400" u="none" cap="none" strike="noStrike">
                <a:solidFill>
                  <a:srgbClr val="F9EEE7"/>
                </a:solidFill>
                <a:latin typeface="Quattrocento"/>
                <a:ea typeface="Quattrocento"/>
                <a:cs typeface="Quattrocento"/>
                <a:sym typeface="Quattrocento"/>
              </a:rPr>
              <a:t>Supervisar continuamente el entorno en busca de amenazas y responder rápidamente.</a:t>
            </a:r>
            <a:endParaRPr b="0" i="0" sz="140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2"/>
          <p:cNvSpPr/>
          <p:nvPr/>
        </p:nvSpPr>
        <p:spPr>
          <a:xfrm>
            <a:off x="744736" y="1096089"/>
            <a:ext cx="10334149" cy="625793"/>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FFD9BE"/>
              </a:buClr>
              <a:buSzPts val="3900"/>
              <a:buFont typeface="Quattrocento"/>
              <a:buNone/>
            </a:pPr>
            <a:r>
              <a:rPr b="0" i="0" lang="en-US" sz="3900" u="none" cap="none" strike="noStrike">
                <a:solidFill>
                  <a:srgbClr val="FFD9BE"/>
                </a:solidFill>
                <a:latin typeface="Quattrocento"/>
                <a:ea typeface="Quattrocento"/>
                <a:cs typeface="Quattrocento"/>
                <a:sym typeface="Quattrocento"/>
              </a:rPr>
              <a:t>Escaneo de vulnerabilidades en contenedores</a:t>
            </a:r>
            <a:endParaRPr b="0" i="0" sz="3900" u="none" cap="none" strike="noStrike"/>
          </a:p>
        </p:txBody>
      </p:sp>
      <p:pic>
        <p:nvPicPr>
          <p:cNvPr descr="preencoded.png" id="271" name="Google Shape;271;p12"/>
          <p:cNvPicPr preferRelativeResize="0"/>
          <p:nvPr/>
        </p:nvPicPr>
        <p:blipFill rotWithShape="1">
          <a:blip r:embed="rId3">
            <a:alphaModFix/>
          </a:blip>
          <a:srcRect b="0" l="0" r="0" t="0"/>
          <a:stretch/>
        </p:blipFill>
        <p:spPr>
          <a:xfrm>
            <a:off x="2945725" y="2147411"/>
            <a:ext cx="2168247" cy="1206460"/>
          </a:xfrm>
          <a:prstGeom prst="rect">
            <a:avLst/>
          </a:prstGeom>
          <a:noFill/>
          <a:ln>
            <a:noFill/>
          </a:ln>
        </p:spPr>
      </p:pic>
      <p:sp>
        <p:nvSpPr>
          <p:cNvPr id="272" name="Google Shape;272;p12"/>
          <p:cNvSpPr/>
          <p:nvPr/>
        </p:nvSpPr>
        <p:spPr>
          <a:xfrm>
            <a:off x="3982760" y="2686883"/>
            <a:ext cx="94178" cy="425529"/>
          </a:xfrm>
          <a:prstGeom prst="rect">
            <a:avLst/>
          </a:prstGeom>
          <a:noFill/>
          <a:ln>
            <a:noFill/>
          </a:ln>
        </p:spPr>
        <p:txBody>
          <a:bodyPr anchorCtr="0" anchor="t" bIns="0" lIns="0" spcFirstLastPara="1" rIns="0" wrap="square" tIns="0">
            <a:noAutofit/>
          </a:bodyPr>
          <a:lstStyle/>
          <a:p>
            <a:pPr indent="0" lvl="0" marL="0" marR="0" rtl="0" algn="ctr">
              <a:lnSpc>
                <a:spcPct val="163414"/>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1</a:t>
            </a:r>
            <a:endParaRPr b="0" i="0" sz="2050" u="none" cap="none" strike="noStrike"/>
          </a:p>
        </p:txBody>
      </p:sp>
      <p:sp>
        <p:nvSpPr>
          <p:cNvPr id="273" name="Google Shape;273;p12"/>
          <p:cNvSpPr/>
          <p:nvPr/>
        </p:nvSpPr>
        <p:spPr>
          <a:xfrm>
            <a:off x="5326737" y="2360176"/>
            <a:ext cx="2503289" cy="312896"/>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F9EEE7"/>
              </a:buClr>
              <a:buSzPts val="1950"/>
              <a:buFont typeface="Quattrocento"/>
              <a:buNone/>
            </a:pPr>
            <a:r>
              <a:rPr b="0" i="0" lang="en-US" sz="1950" u="none" cap="none" strike="noStrike">
                <a:solidFill>
                  <a:srgbClr val="F9EEE7"/>
                </a:solidFill>
                <a:latin typeface="Quattrocento"/>
                <a:ea typeface="Quattrocento"/>
                <a:cs typeface="Quattrocento"/>
                <a:sym typeface="Quattrocento"/>
              </a:rPr>
              <a:t>Identificar</a:t>
            </a:r>
            <a:endParaRPr b="0" i="0" sz="1950" u="none" cap="none" strike="noStrike"/>
          </a:p>
        </p:txBody>
      </p:sp>
      <p:sp>
        <p:nvSpPr>
          <p:cNvPr id="274" name="Google Shape;274;p12"/>
          <p:cNvSpPr/>
          <p:nvPr/>
        </p:nvSpPr>
        <p:spPr>
          <a:xfrm>
            <a:off x="5326737" y="2800707"/>
            <a:ext cx="6711315" cy="34040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Detectar vulnerabilidades conocidas en las imágenes de contenedores</a:t>
            </a:r>
            <a:endParaRPr b="0" i="0" sz="1650" u="none" cap="none" strike="noStrike"/>
          </a:p>
        </p:txBody>
      </p:sp>
      <p:sp>
        <p:nvSpPr>
          <p:cNvPr id="275" name="Google Shape;275;p12"/>
          <p:cNvSpPr/>
          <p:nvPr/>
        </p:nvSpPr>
        <p:spPr>
          <a:xfrm>
            <a:off x="5167074" y="3370897"/>
            <a:ext cx="8665488" cy="11430"/>
          </a:xfrm>
          <a:prstGeom prst="roundRect">
            <a:avLst>
              <a:gd fmla="val 279243"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6" name="Google Shape;276;p12"/>
          <p:cNvPicPr preferRelativeResize="0"/>
          <p:nvPr/>
        </p:nvPicPr>
        <p:blipFill rotWithShape="1">
          <a:blip r:embed="rId4">
            <a:alphaModFix/>
          </a:blip>
          <a:srcRect b="0" l="0" r="0" t="0"/>
          <a:stretch/>
        </p:blipFill>
        <p:spPr>
          <a:xfrm>
            <a:off x="1861661" y="3406973"/>
            <a:ext cx="4336494" cy="1206460"/>
          </a:xfrm>
          <a:prstGeom prst="rect">
            <a:avLst/>
          </a:prstGeom>
          <a:noFill/>
          <a:ln>
            <a:noFill/>
          </a:ln>
        </p:spPr>
      </p:pic>
      <p:sp>
        <p:nvSpPr>
          <p:cNvPr id="277" name="Google Shape;277;p12"/>
          <p:cNvSpPr/>
          <p:nvPr/>
        </p:nvSpPr>
        <p:spPr>
          <a:xfrm>
            <a:off x="3958590" y="3797379"/>
            <a:ext cx="142518" cy="425529"/>
          </a:xfrm>
          <a:prstGeom prst="rect">
            <a:avLst/>
          </a:prstGeom>
          <a:noFill/>
          <a:ln>
            <a:noFill/>
          </a:ln>
        </p:spPr>
        <p:txBody>
          <a:bodyPr anchorCtr="0" anchor="t" bIns="0" lIns="0" spcFirstLastPara="1" rIns="0" wrap="square" tIns="0">
            <a:noAutofit/>
          </a:bodyPr>
          <a:lstStyle/>
          <a:p>
            <a:pPr indent="0" lvl="0" marL="0" marR="0" rtl="0" algn="ctr">
              <a:lnSpc>
                <a:spcPct val="163414"/>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2</a:t>
            </a:r>
            <a:endParaRPr b="0" i="0" sz="2050" u="none" cap="none" strike="noStrike"/>
          </a:p>
        </p:txBody>
      </p:sp>
      <p:sp>
        <p:nvSpPr>
          <p:cNvPr id="278" name="Google Shape;278;p12"/>
          <p:cNvSpPr/>
          <p:nvPr/>
        </p:nvSpPr>
        <p:spPr>
          <a:xfrm>
            <a:off x="6410920" y="3619738"/>
            <a:ext cx="2503289" cy="312896"/>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F9EEE7"/>
              </a:buClr>
              <a:buSzPts val="1950"/>
              <a:buFont typeface="Quattrocento"/>
              <a:buNone/>
            </a:pPr>
            <a:r>
              <a:rPr b="0" i="0" lang="en-US" sz="1950" u="none" cap="none" strike="noStrike">
                <a:solidFill>
                  <a:srgbClr val="F9EEE7"/>
                </a:solidFill>
                <a:latin typeface="Quattrocento"/>
                <a:ea typeface="Quattrocento"/>
                <a:cs typeface="Quattrocento"/>
                <a:sym typeface="Quattrocento"/>
              </a:rPr>
              <a:t>Analizar</a:t>
            </a:r>
            <a:endParaRPr b="0" i="0" sz="1950" u="none" cap="none" strike="noStrike"/>
          </a:p>
        </p:txBody>
      </p:sp>
      <p:sp>
        <p:nvSpPr>
          <p:cNvPr id="279" name="Google Shape;279;p12"/>
          <p:cNvSpPr/>
          <p:nvPr/>
        </p:nvSpPr>
        <p:spPr>
          <a:xfrm>
            <a:off x="6410920" y="4060269"/>
            <a:ext cx="5553432" cy="34040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Revisar el historial de cambios e identificar puntos débiles</a:t>
            </a:r>
            <a:endParaRPr b="0" i="0" sz="1650" u="none" cap="none" strike="noStrike"/>
          </a:p>
        </p:txBody>
      </p:sp>
      <p:sp>
        <p:nvSpPr>
          <p:cNvPr id="280" name="Google Shape;280;p12"/>
          <p:cNvSpPr/>
          <p:nvPr/>
        </p:nvSpPr>
        <p:spPr>
          <a:xfrm>
            <a:off x="6251258" y="4630460"/>
            <a:ext cx="7581305" cy="11430"/>
          </a:xfrm>
          <a:prstGeom prst="roundRect">
            <a:avLst>
              <a:gd fmla="val 279243" name="adj"/>
            </a:avLst>
          </a:prstGeom>
          <a:solidFill>
            <a:srgbClr val="4A6B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1" name="Google Shape;281;p12"/>
          <p:cNvPicPr preferRelativeResize="0"/>
          <p:nvPr/>
        </p:nvPicPr>
        <p:blipFill rotWithShape="1">
          <a:blip r:embed="rId5">
            <a:alphaModFix/>
          </a:blip>
          <a:srcRect b="0" l="0" r="0" t="0"/>
          <a:stretch/>
        </p:blipFill>
        <p:spPr>
          <a:xfrm>
            <a:off x="777478" y="4666536"/>
            <a:ext cx="6504742" cy="1206460"/>
          </a:xfrm>
          <a:prstGeom prst="rect">
            <a:avLst/>
          </a:prstGeom>
          <a:noFill/>
          <a:ln>
            <a:noFill/>
          </a:ln>
        </p:spPr>
      </p:pic>
      <p:sp>
        <p:nvSpPr>
          <p:cNvPr id="282" name="Google Shape;282;p12"/>
          <p:cNvSpPr/>
          <p:nvPr/>
        </p:nvSpPr>
        <p:spPr>
          <a:xfrm>
            <a:off x="3957518" y="5056942"/>
            <a:ext cx="144661" cy="425529"/>
          </a:xfrm>
          <a:prstGeom prst="rect">
            <a:avLst/>
          </a:prstGeom>
          <a:noFill/>
          <a:ln>
            <a:noFill/>
          </a:ln>
        </p:spPr>
        <p:txBody>
          <a:bodyPr anchorCtr="0" anchor="t" bIns="0" lIns="0" spcFirstLastPara="1" rIns="0" wrap="square" tIns="0">
            <a:noAutofit/>
          </a:bodyPr>
          <a:lstStyle/>
          <a:p>
            <a:pPr indent="0" lvl="0" marL="0" marR="0" rtl="0" algn="ctr">
              <a:lnSpc>
                <a:spcPct val="163414"/>
              </a:lnSpc>
              <a:spcBef>
                <a:spcPts val="0"/>
              </a:spcBef>
              <a:spcAft>
                <a:spcPts val="0"/>
              </a:spcAft>
              <a:buClr>
                <a:srgbClr val="F9EEE7"/>
              </a:buClr>
              <a:buSzPts val="2050"/>
              <a:buFont typeface="Quattrocento"/>
              <a:buNone/>
            </a:pPr>
            <a:r>
              <a:rPr b="0" i="0" lang="en-US" sz="2050" u="none" cap="none" strike="noStrike">
                <a:solidFill>
                  <a:srgbClr val="F9EEE7"/>
                </a:solidFill>
                <a:latin typeface="Quattrocento"/>
                <a:ea typeface="Quattrocento"/>
                <a:cs typeface="Quattrocento"/>
                <a:sym typeface="Quattrocento"/>
              </a:rPr>
              <a:t>3</a:t>
            </a:r>
            <a:endParaRPr b="0" i="0" sz="2050" u="none" cap="none" strike="noStrike"/>
          </a:p>
        </p:txBody>
      </p:sp>
      <p:sp>
        <p:nvSpPr>
          <p:cNvPr id="283" name="Google Shape;283;p12"/>
          <p:cNvSpPr/>
          <p:nvPr/>
        </p:nvSpPr>
        <p:spPr>
          <a:xfrm>
            <a:off x="7494984" y="4879300"/>
            <a:ext cx="2503289" cy="312896"/>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F9EEE7"/>
              </a:buClr>
              <a:buSzPts val="1950"/>
              <a:buFont typeface="Quattrocento"/>
              <a:buNone/>
            </a:pPr>
            <a:r>
              <a:rPr b="0" i="0" lang="en-US" sz="1950" u="none" cap="none" strike="noStrike">
                <a:solidFill>
                  <a:srgbClr val="F9EEE7"/>
                </a:solidFill>
                <a:latin typeface="Quattrocento"/>
                <a:ea typeface="Quattrocento"/>
                <a:cs typeface="Quattrocento"/>
                <a:sym typeface="Quattrocento"/>
              </a:rPr>
              <a:t>Remediar</a:t>
            </a:r>
            <a:endParaRPr b="0" i="0" sz="1950" u="none" cap="none" strike="noStrike"/>
          </a:p>
        </p:txBody>
      </p:sp>
      <p:sp>
        <p:nvSpPr>
          <p:cNvPr id="284" name="Google Shape;284;p12"/>
          <p:cNvSpPr/>
          <p:nvPr/>
        </p:nvSpPr>
        <p:spPr>
          <a:xfrm>
            <a:off x="7494984" y="5319832"/>
            <a:ext cx="6123146" cy="34040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Aplicar parches y actualizaciones para eliminar vulnerabilidades</a:t>
            </a:r>
            <a:endParaRPr b="0" i="0" sz="1650" u="none" cap="none" strike="noStrike"/>
          </a:p>
        </p:txBody>
      </p:sp>
      <p:sp>
        <p:nvSpPr>
          <p:cNvPr id="285" name="Google Shape;285;p12"/>
          <p:cNvSpPr/>
          <p:nvPr/>
        </p:nvSpPr>
        <p:spPr>
          <a:xfrm>
            <a:off x="744736" y="6112312"/>
            <a:ext cx="13140928" cy="1021199"/>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F9EEE7"/>
              </a:buClr>
              <a:buSzPts val="1650"/>
              <a:buFont typeface="Quattrocento"/>
              <a:buNone/>
            </a:pPr>
            <a:r>
              <a:rPr b="0" i="0" lang="en-US" sz="1650" u="none" cap="none" strike="noStrike">
                <a:solidFill>
                  <a:srgbClr val="F9EEE7"/>
                </a:solidFill>
                <a:latin typeface="Quattrocento"/>
                <a:ea typeface="Quattrocento"/>
                <a:cs typeface="Quattrocento"/>
                <a:sym typeface="Quattrocento"/>
              </a:rPr>
              <a:t>El escaneo de vulnerabilidades en contenedores es fundamental para mantener la seguridad de las aplicaciones en entornos de DevOps. Esto implica identificar y analizar los puntos débiles en las imágenes de contenedores, y luego aplicar las correcciones necesarias para mitigar los riesgos.</a:t>
            </a:r>
            <a:endParaRPr b="0" i="0" sz="16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preencoded.png" id="291" name="Google Shape;291;p13"/>
          <p:cNvPicPr preferRelativeResize="0"/>
          <p:nvPr/>
        </p:nvPicPr>
        <p:blipFill rotWithShape="1">
          <a:blip r:embed="rId3">
            <a:alphaModFix/>
          </a:blip>
          <a:srcRect b="0" l="0" r="0" t="0"/>
          <a:stretch/>
        </p:blipFill>
        <p:spPr>
          <a:xfrm>
            <a:off x="0" y="0"/>
            <a:ext cx="14630400" cy="2616041"/>
          </a:xfrm>
          <a:prstGeom prst="rect">
            <a:avLst/>
          </a:prstGeom>
          <a:noFill/>
          <a:ln>
            <a:noFill/>
          </a:ln>
        </p:spPr>
      </p:pic>
      <p:pic>
        <p:nvPicPr>
          <p:cNvPr descr="preencoded.png" id="292" name="Google Shape;292;p13"/>
          <p:cNvPicPr preferRelativeResize="0"/>
          <p:nvPr/>
        </p:nvPicPr>
        <p:blipFill rotWithShape="1">
          <a:blip r:embed="rId4">
            <a:alphaModFix/>
          </a:blip>
          <a:srcRect b="0" l="0" r="0" t="0"/>
          <a:stretch/>
        </p:blipFill>
        <p:spPr>
          <a:xfrm>
            <a:off x="5415439" y="261580"/>
            <a:ext cx="3799403" cy="2092881"/>
          </a:xfrm>
          <a:prstGeom prst="rect">
            <a:avLst/>
          </a:prstGeom>
          <a:noFill/>
          <a:ln>
            <a:noFill/>
          </a:ln>
        </p:spPr>
      </p:pic>
      <p:sp>
        <p:nvSpPr>
          <p:cNvPr id="293" name="Google Shape;293;p13"/>
          <p:cNvSpPr/>
          <p:nvPr/>
        </p:nvSpPr>
        <p:spPr>
          <a:xfrm>
            <a:off x="732473" y="3515201"/>
            <a:ext cx="11850291" cy="615553"/>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FFD9BE"/>
              </a:buClr>
              <a:buSzPts val="3850"/>
              <a:buFont typeface="Quattrocento"/>
              <a:buNone/>
            </a:pPr>
            <a:r>
              <a:rPr b="0" i="0" lang="en-US" sz="3850" u="none" cap="none" strike="noStrike">
                <a:solidFill>
                  <a:srgbClr val="FFD9BE"/>
                </a:solidFill>
                <a:latin typeface="Quattrocento"/>
                <a:ea typeface="Quattrocento"/>
                <a:cs typeface="Quattrocento"/>
                <a:sym typeface="Quattrocento"/>
              </a:rPr>
              <a:t>Aplicación de políticas de seguridad en contenedores</a:t>
            </a:r>
            <a:endParaRPr b="0" i="0" sz="3850" u="none" cap="none" strike="noStrike"/>
          </a:p>
        </p:txBody>
      </p:sp>
      <p:sp>
        <p:nvSpPr>
          <p:cNvPr id="294" name="Google Shape;294;p13"/>
          <p:cNvSpPr/>
          <p:nvPr/>
        </p:nvSpPr>
        <p:spPr>
          <a:xfrm>
            <a:off x="732473" y="4679990"/>
            <a:ext cx="470892" cy="470892"/>
          </a:xfrm>
          <a:prstGeom prst="roundRect">
            <a:avLst>
              <a:gd fmla="val 6667"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p:nvPr/>
        </p:nvSpPr>
        <p:spPr>
          <a:xfrm>
            <a:off x="915591" y="4767620"/>
            <a:ext cx="104656" cy="2955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300"/>
              <a:buFont typeface="Quattrocento"/>
              <a:buNone/>
            </a:pPr>
            <a:r>
              <a:rPr b="0" i="0" lang="en-US" sz="2300" u="none" cap="none" strike="noStrike">
                <a:solidFill>
                  <a:srgbClr val="F9EEE7"/>
                </a:solidFill>
                <a:latin typeface="Quattrocento"/>
                <a:ea typeface="Quattrocento"/>
                <a:cs typeface="Quattrocento"/>
                <a:sym typeface="Quattrocento"/>
              </a:rPr>
              <a:t>1</a:t>
            </a:r>
            <a:endParaRPr b="0" i="0" sz="2300" u="none" cap="none" strike="noStrike"/>
          </a:p>
        </p:txBody>
      </p:sp>
      <p:sp>
        <p:nvSpPr>
          <p:cNvPr id="296" name="Google Shape;296;p13"/>
          <p:cNvSpPr/>
          <p:nvPr/>
        </p:nvSpPr>
        <p:spPr>
          <a:xfrm>
            <a:off x="1412558" y="4679990"/>
            <a:ext cx="3976568" cy="30777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9EEE7"/>
              </a:buClr>
              <a:buSzPts val="1900"/>
              <a:buFont typeface="Quattrocento"/>
              <a:buNone/>
            </a:pPr>
            <a:r>
              <a:rPr b="0" i="0" lang="en-US" sz="1900" u="none" cap="none" strike="noStrike">
                <a:solidFill>
                  <a:srgbClr val="F9EEE7"/>
                </a:solidFill>
                <a:latin typeface="Quattrocento"/>
                <a:ea typeface="Quattrocento"/>
                <a:cs typeface="Quattrocento"/>
                <a:sym typeface="Quattrocento"/>
              </a:rPr>
              <a:t>Definición de políticas de seguridad</a:t>
            </a:r>
            <a:endParaRPr b="0" i="0" sz="1900" u="none" cap="none" strike="noStrike"/>
          </a:p>
        </p:txBody>
      </p:sp>
      <p:sp>
        <p:nvSpPr>
          <p:cNvPr id="297" name="Google Shape;297;p13"/>
          <p:cNvSpPr/>
          <p:nvPr/>
        </p:nvSpPr>
        <p:spPr>
          <a:xfrm>
            <a:off x="1412558" y="5113258"/>
            <a:ext cx="5798106" cy="66960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Establecer reglas y restricciones para limitar el acceso y las operaciones dentro de los contenedores.</a:t>
            </a:r>
            <a:endParaRPr b="0" i="0" sz="1600" u="none" cap="none" strike="noStrike"/>
          </a:p>
        </p:txBody>
      </p:sp>
      <p:sp>
        <p:nvSpPr>
          <p:cNvPr id="298" name="Google Shape;298;p13"/>
          <p:cNvSpPr/>
          <p:nvPr/>
        </p:nvSpPr>
        <p:spPr>
          <a:xfrm>
            <a:off x="7419856" y="4679990"/>
            <a:ext cx="470892" cy="470892"/>
          </a:xfrm>
          <a:prstGeom prst="roundRect">
            <a:avLst>
              <a:gd fmla="val 6667"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
          <p:cNvSpPr/>
          <p:nvPr/>
        </p:nvSpPr>
        <p:spPr>
          <a:xfrm>
            <a:off x="7576066" y="4767620"/>
            <a:ext cx="158353" cy="2955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300"/>
              <a:buFont typeface="Quattrocento"/>
              <a:buNone/>
            </a:pPr>
            <a:r>
              <a:rPr b="0" i="0" lang="en-US" sz="2300" u="none" cap="none" strike="noStrike">
                <a:solidFill>
                  <a:srgbClr val="F9EEE7"/>
                </a:solidFill>
                <a:latin typeface="Quattrocento"/>
                <a:ea typeface="Quattrocento"/>
                <a:cs typeface="Quattrocento"/>
                <a:sym typeface="Quattrocento"/>
              </a:rPr>
              <a:t>2</a:t>
            </a:r>
            <a:endParaRPr b="0" i="0" sz="2300" u="none" cap="none" strike="noStrike"/>
          </a:p>
        </p:txBody>
      </p:sp>
      <p:sp>
        <p:nvSpPr>
          <p:cNvPr id="300" name="Google Shape;300;p13"/>
          <p:cNvSpPr/>
          <p:nvPr/>
        </p:nvSpPr>
        <p:spPr>
          <a:xfrm>
            <a:off x="8099941" y="4679990"/>
            <a:ext cx="4389001" cy="30777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9EEE7"/>
              </a:buClr>
              <a:buSzPts val="1900"/>
              <a:buFont typeface="Quattrocento"/>
              <a:buNone/>
            </a:pPr>
            <a:r>
              <a:rPr b="0" i="0" lang="en-US" sz="1900" u="none" cap="none" strike="noStrike">
                <a:solidFill>
                  <a:srgbClr val="F9EEE7"/>
                </a:solidFill>
                <a:latin typeface="Quattrocento"/>
                <a:ea typeface="Quattrocento"/>
                <a:cs typeface="Quattrocento"/>
                <a:sym typeface="Quattrocento"/>
              </a:rPr>
              <a:t>Configuración de privilegios y permisos</a:t>
            </a:r>
            <a:endParaRPr b="0" i="0" sz="1900" u="none" cap="none" strike="noStrike"/>
          </a:p>
        </p:txBody>
      </p:sp>
      <p:sp>
        <p:nvSpPr>
          <p:cNvPr id="301" name="Google Shape;301;p13"/>
          <p:cNvSpPr/>
          <p:nvPr/>
        </p:nvSpPr>
        <p:spPr>
          <a:xfrm>
            <a:off x="8099941" y="5113258"/>
            <a:ext cx="5798106" cy="66960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Otorgar los permisos mínimos necesarios para que los contenedores ejecuten sus tareas de manera segura.</a:t>
            </a:r>
            <a:endParaRPr b="0" i="0" sz="1600" u="none" cap="none" strike="noStrike"/>
          </a:p>
        </p:txBody>
      </p:sp>
      <p:sp>
        <p:nvSpPr>
          <p:cNvPr id="302" name="Google Shape;302;p13"/>
          <p:cNvSpPr/>
          <p:nvPr/>
        </p:nvSpPr>
        <p:spPr>
          <a:xfrm>
            <a:off x="732473" y="6227445"/>
            <a:ext cx="470892" cy="470892"/>
          </a:xfrm>
          <a:prstGeom prst="roundRect">
            <a:avLst>
              <a:gd fmla="val 6667"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887492" y="6315075"/>
            <a:ext cx="160734" cy="2955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300"/>
              <a:buFont typeface="Quattrocento"/>
              <a:buNone/>
            </a:pPr>
            <a:r>
              <a:rPr b="0" i="0" lang="en-US" sz="2300" u="none" cap="none" strike="noStrike">
                <a:solidFill>
                  <a:srgbClr val="F9EEE7"/>
                </a:solidFill>
                <a:latin typeface="Quattrocento"/>
                <a:ea typeface="Quattrocento"/>
                <a:cs typeface="Quattrocento"/>
                <a:sym typeface="Quattrocento"/>
              </a:rPr>
              <a:t>3</a:t>
            </a:r>
            <a:endParaRPr b="0" i="0" sz="2300" u="none" cap="none" strike="noStrike"/>
          </a:p>
        </p:txBody>
      </p:sp>
      <p:sp>
        <p:nvSpPr>
          <p:cNvPr id="304" name="Google Shape;304;p13"/>
          <p:cNvSpPr/>
          <p:nvPr/>
        </p:nvSpPr>
        <p:spPr>
          <a:xfrm>
            <a:off x="1412558" y="6227445"/>
            <a:ext cx="4923353" cy="30777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9EEE7"/>
              </a:buClr>
              <a:buSzPts val="1900"/>
              <a:buFont typeface="Quattrocento"/>
              <a:buNone/>
            </a:pPr>
            <a:r>
              <a:rPr b="0" i="0" lang="en-US" sz="1900" u="none" cap="none" strike="noStrike">
                <a:solidFill>
                  <a:srgbClr val="F9EEE7"/>
                </a:solidFill>
                <a:latin typeface="Quattrocento"/>
                <a:ea typeface="Quattrocento"/>
                <a:cs typeface="Quattrocento"/>
                <a:sym typeface="Quattrocento"/>
              </a:rPr>
              <a:t>Implementación de firewalls y redes seguras</a:t>
            </a:r>
            <a:endParaRPr b="0" i="0" sz="1900" u="none" cap="none" strike="noStrike"/>
          </a:p>
        </p:txBody>
      </p:sp>
      <p:sp>
        <p:nvSpPr>
          <p:cNvPr id="305" name="Google Shape;305;p13"/>
          <p:cNvSpPr/>
          <p:nvPr/>
        </p:nvSpPr>
        <p:spPr>
          <a:xfrm>
            <a:off x="1412558" y="6660713"/>
            <a:ext cx="5798106" cy="66960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Proteger el tráfico entre contenedores y el exterior mediante firewalls y redes aisladas.</a:t>
            </a:r>
            <a:endParaRPr b="0" i="0" sz="1600" u="none" cap="none" strike="noStrike"/>
          </a:p>
        </p:txBody>
      </p:sp>
      <p:sp>
        <p:nvSpPr>
          <p:cNvPr id="306" name="Google Shape;306;p13"/>
          <p:cNvSpPr/>
          <p:nvPr/>
        </p:nvSpPr>
        <p:spPr>
          <a:xfrm>
            <a:off x="7419856" y="6227445"/>
            <a:ext cx="470892" cy="470892"/>
          </a:xfrm>
          <a:prstGeom prst="roundRect">
            <a:avLst>
              <a:gd fmla="val 6667" name="adj"/>
            </a:avLst>
          </a:prstGeom>
          <a:solidFill>
            <a:srgbClr val="3152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p:nvPr/>
        </p:nvSpPr>
        <p:spPr>
          <a:xfrm>
            <a:off x="7580233" y="6315075"/>
            <a:ext cx="150138" cy="2955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300"/>
              <a:buFont typeface="Quattrocento"/>
              <a:buNone/>
            </a:pPr>
            <a:r>
              <a:rPr b="0" i="0" lang="en-US" sz="2300" u="none" cap="none" strike="noStrike">
                <a:solidFill>
                  <a:srgbClr val="F9EEE7"/>
                </a:solidFill>
                <a:latin typeface="Quattrocento"/>
                <a:ea typeface="Quattrocento"/>
                <a:cs typeface="Quattrocento"/>
                <a:sym typeface="Quattrocento"/>
              </a:rPr>
              <a:t>4</a:t>
            </a:r>
            <a:endParaRPr b="0" i="0" sz="2300" u="none" cap="none" strike="noStrike"/>
          </a:p>
        </p:txBody>
      </p:sp>
      <p:sp>
        <p:nvSpPr>
          <p:cNvPr id="308" name="Google Shape;308;p13"/>
          <p:cNvSpPr/>
          <p:nvPr/>
        </p:nvSpPr>
        <p:spPr>
          <a:xfrm>
            <a:off x="8099941" y="6227445"/>
            <a:ext cx="3805833" cy="307777"/>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9EEE7"/>
              </a:buClr>
              <a:buSzPts val="1900"/>
              <a:buFont typeface="Quattrocento"/>
              <a:buNone/>
            </a:pPr>
            <a:r>
              <a:rPr b="0" i="0" lang="en-US" sz="1900" u="none" cap="none" strike="noStrike">
                <a:solidFill>
                  <a:srgbClr val="F9EEE7"/>
                </a:solidFill>
                <a:latin typeface="Quattrocento"/>
                <a:ea typeface="Quattrocento"/>
                <a:cs typeface="Quattrocento"/>
                <a:sym typeface="Quattrocento"/>
              </a:rPr>
              <a:t>Monitoreo y auditoría de actividad</a:t>
            </a:r>
            <a:endParaRPr b="0" i="0" sz="1900" u="none" cap="none" strike="noStrike"/>
          </a:p>
        </p:txBody>
      </p:sp>
      <p:sp>
        <p:nvSpPr>
          <p:cNvPr id="309" name="Google Shape;309;p13"/>
          <p:cNvSpPr/>
          <p:nvPr/>
        </p:nvSpPr>
        <p:spPr>
          <a:xfrm>
            <a:off x="8099941" y="6660713"/>
            <a:ext cx="5798106" cy="66960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Supervisar los eventos y actividades dentro de los contenedores para detectar y responder a posibles amenazas.</a:t>
            </a:r>
            <a:endParaRPr b="0" i="0" sz="160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descr="preencoded.png" id="315" name="Google Shape;315;p14"/>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316" name="Google Shape;316;p14"/>
          <p:cNvPicPr preferRelativeResize="0"/>
          <p:nvPr/>
        </p:nvPicPr>
        <p:blipFill rotWithShape="1">
          <a:blip r:embed="rId4">
            <a:alphaModFix/>
          </a:blip>
          <a:srcRect b="0" l="0" r="0" t="0"/>
          <a:stretch/>
        </p:blipFill>
        <p:spPr>
          <a:xfrm>
            <a:off x="220504" y="2695813"/>
            <a:ext cx="5045273" cy="2837974"/>
          </a:xfrm>
          <a:prstGeom prst="rect">
            <a:avLst/>
          </a:prstGeom>
          <a:noFill/>
          <a:ln>
            <a:noFill/>
          </a:ln>
        </p:spPr>
      </p:pic>
      <p:sp>
        <p:nvSpPr>
          <p:cNvPr id="317" name="Google Shape;317;p14"/>
          <p:cNvSpPr/>
          <p:nvPr/>
        </p:nvSpPr>
        <p:spPr>
          <a:xfrm>
            <a:off x="6103977" y="640318"/>
            <a:ext cx="7908846" cy="1037749"/>
          </a:xfrm>
          <a:prstGeom prst="rect">
            <a:avLst/>
          </a:prstGeom>
          <a:noFill/>
          <a:ln>
            <a:noFill/>
          </a:ln>
        </p:spPr>
        <p:txBody>
          <a:bodyPr anchorCtr="0" anchor="t" bIns="0" lIns="0" spcFirstLastPara="1" rIns="0" wrap="square" tIns="0">
            <a:noAutofit/>
          </a:bodyPr>
          <a:lstStyle/>
          <a:p>
            <a:pPr indent="0" lvl="0" marL="0" marR="0" rtl="0" algn="l">
              <a:lnSpc>
                <a:spcPct val="124615"/>
              </a:lnSpc>
              <a:spcBef>
                <a:spcPts val="0"/>
              </a:spcBef>
              <a:spcAft>
                <a:spcPts val="0"/>
              </a:spcAft>
              <a:buClr>
                <a:srgbClr val="FFD9BE"/>
              </a:buClr>
              <a:buSzPts val="3250"/>
              <a:buFont typeface="Quattrocento"/>
              <a:buNone/>
            </a:pPr>
            <a:r>
              <a:rPr b="0" i="0" lang="en-US" sz="3250" u="none" cap="none" strike="noStrike">
                <a:solidFill>
                  <a:srgbClr val="FFD9BE"/>
                </a:solidFill>
                <a:latin typeface="Quattrocento"/>
                <a:ea typeface="Quattrocento"/>
                <a:cs typeface="Quattrocento"/>
                <a:sym typeface="Quattrocento"/>
              </a:rPr>
              <a:t>Monitoreo y respuesta a incidentes de seguridad</a:t>
            </a:r>
            <a:endParaRPr b="0" i="0" sz="3250" u="none" cap="none" strike="noStrike"/>
          </a:p>
        </p:txBody>
      </p:sp>
      <p:pic>
        <p:nvPicPr>
          <p:cNvPr descr="preencoded.png" id="318" name="Google Shape;318;p14"/>
          <p:cNvPicPr preferRelativeResize="0"/>
          <p:nvPr/>
        </p:nvPicPr>
        <p:blipFill rotWithShape="1">
          <a:blip r:embed="rId5">
            <a:alphaModFix/>
          </a:blip>
          <a:srcRect b="0" l="0" r="0" t="0"/>
          <a:stretch/>
        </p:blipFill>
        <p:spPr>
          <a:xfrm>
            <a:off x="6103977" y="1942743"/>
            <a:ext cx="882253" cy="1411605"/>
          </a:xfrm>
          <a:prstGeom prst="rect">
            <a:avLst/>
          </a:prstGeom>
          <a:noFill/>
          <a:ln>
            <a:noFill/>
          </a:ln>
        </p:spPr>
      </p:pic>
      <p:sp>
        <p:nvSpPr>
          <p:cNvPr id="319" name="Google Shape;319;p14"/>
          <p:cNvSpPr/>
          <p:nvPr/>
        </p:nvSpPr>
        <p:spPr>
          <a:xfrm>
            <a:off x="7250906" y="2119193"/>
            <a:ext cx="2270998" cy="2595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Detección de Incidentes</a:t>
            </a:r>
            <a:endParaRPr b="0" i="0" sz="1600" u="none" cap="none" strike="noStrike"/>
          </a:p>
        </p:txBody>
      </p:sp>
      <p:sp>
        <p:nvSpPr>
          <p:cNvPr id="320" name="Google Shape;320;p14"/>
          <p:cNvSpPr/>
          <p:nvPr/>
        </p:nvSpPr>
        <p:spPr>
          <a:xfrm>
            <a:off x="7250906" y="2484596"/>
            <a:ext cx="6761917" cy="56459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F9EEE7"/>
              </a:buClr>
              <a:buSzPts val="1350"/>
              <a:buFont typeface="Quattrocento"/>
              <a:buNone/>
            </a:pPr>
            <a:r>
              <a:rPr b="0" i="0" lang="en-US" sz="1350" u="none" cap="none" strike="noStrike">
                <a:solidFill>
                  <a:srgbClr val="F9EEE7"/>
                </a:solidFill>
                <a:latin typeface="Quattrocento"/>
                <a:ea typeface="Quattrocento"/>
                <a:cs typeface="Quattrocento"/>
                <a:sym typeface="Quattrocento"/>
              </a:rPr>
              <a:t>Implementar herramientas de monitoreo que analicen registros, tráfico de red y actividades sospechosas para detectar rápidamente posibles incidentes de seguridad.</a:t>
            </a:r>
            <a:endParaRPr b="0" i="0" sz="1350" u="none" cap="none" strike="noStrike"/>
          </a:p>
        </p:txBody>
      </p:sp>
      <p:pic>
        <p:nvPicPr>
          <p:cNvPr descr="preencoded.png" id="321" name="Google Shape;321;p14"/>
          <p:cNvPicPr preferRelativeResize="0"/>
          <p:nvPr/>
        </p:nvPicPr>
        <p:blipFill rotWithShape="1">
          <a:blip r:embed="rId6">
            <a:alphaModFix/>
          </a:blip>
          <a:srcRect b="0" l="0" r="0" t="0"/>
          <a:stretch/>
        </p:blipFill>
        <p:spPr>
          <a:xfrm>
            <a:off x="6103977" y="3354348"/>
            <a:ext cx="882253" cy="1411605"/>
          </a:xfrm>
          <a:prstGeom prst="rect">
            <a:avLst/>
          </a:prstGeom>
          <a:noFill/>
          <a:ln>
            <a:noFill/>
          </a:ln>
        </p:spPr>
      </p:pic>
      <p:sp>
        <p:nvSpPr>
          <p:cNvPr id="322" name="Google Shape;322;p14"/>
          <p:cNvSpPr/>
          <p:nvPr/>
        </p:nvSpPr>
        <p:spPr>
          <a:xfrm>
            <a:off x="7250906" y="3530798"/>
            <a:ext cx="2075974" cy="2595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Análisis y Priorización</a:t>
            </a:r>
            <a:endParaRPr b="0" i="0" sz="1600" u="none" cap="none" strike="noStrike"/>
          </a:p>
        </p:txBody>
      </p:sp>
      <p:sp>
        <p:nvSpPr>
          <p:cNvPr id="323" name="Google Shape;323;p14"/>
          <p:cNvSpPr/>
          <p:nvPr/>
        </p:nvSpPr>
        <p:spPr>
          <a:xfrm>
            <a:off x="7250906" y="3896201"/>
            <a:ext cx="6761917" cy="56459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F9EEE7"/>
              </a:buClr>
              <a:buSzPts val="1350"/>
              <a:buFont typeface="Quattrocento"/>
              <a:buNone/>
            </a:pPr>
            <a:r>
              <a:rPr b="0" i="0" lang="en-US" sz="1350" u="none" cap="none" strike="noStrike">
                <a:solidFill>
                  <a:srgbClr val="F9EEE7"/>
                </a:solidFill>
                <a:latin typeface="Quattrocento"/>
                <a:ea typeface="Quattrocento"/>
                <a:cs typeface="Quattrocento"/>
                <a:sym typeface="Quattrocento"/>
              </a:rPr>
              <a:t>Analizar los incidentes detectados, determinar su gravedad y priorizar la respuesta según el riesgo y el impacto potencial.</a:t>
            </a:r>
            <a:endParaRPr b="0" i="0" sz="1350" u="none" cap="none" strike="noStrike"/>
          </a:p>
        </p:txBody>
      </p:sp>
      <p:pic>
        <p:nvPicPr>
          <p:cNvPr descr="preencoded.png" id="324" name="Google Shape;324;p14"/>
          <p:cNvPicPr preferRelativeResize="0"/>
          <p:nvPr/>
        </p:nvPicPr>
        <p:blipFill rotWithShape="1">
          <a:blip r:embed="rId7">
            <a:alphaModFix/>
          </a:blip>
          <a:srcRect b="0" l="0" r="0" t="0"/>
          <a:stretch/>
        </p:blipFill>
        <p:spPr>
          <a:xfrm>
            <a:off x="6103977" y="4765953"/>
            <a:ext cx="882253" cy="1411605"/>
          </a:xfrm>
          <a:prstGeom prst="rect">
            <a:avLst/>
          </a:prstGeom>
          <a:noFill/>
          <a:ln>
            <a:noFill/>
          </a:ln>
        </p:spPr>
      </p:pic>
      <p:sp>
        <p:nvSpPr>
          <p:cNvPr id="325" name="Google Shape;325;p14"/>
          <p:cNvSpPr/>
          <p:nvPr/>
        </p:nvSpPr>
        <p:spPr>
          <a:xfrm>
            <a:off x="7250906" y="4942403"/>
            <a:ext cx="2075974" cy="2595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Respuesta Oportuna</a:t>
            </a:r>
            <a:endParaRPr b="0" i="0" sz="1600" u="none" cap="none" strike="noStrike"/>
          </a:p>
        </p:txBody>
      </p:sp>
      <p:sp>
        <p:nvSpPr>
          <p:cNvPr id="326" name="Google Shape;326;p14"/>
          <p:cNvSpPr/>
          <p:nvPr/>
        </p:nvSpPr>
        <p:spPr>
          <a:xfrm>
            <a:off x="7250906" y="5307806"/>
            <a:ext cx="6761917" cy="56459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F9EEE7"/>
              </a:buClr>
              <a:buSzPts val="1350"/>
              <a:buFont typeface="Quattrocento"/>
              <a:buNone/>
            </a:pPr>
            <a:r>
              <a:rPr b="0" i="0" lang="en-US" sz="1350" u="none" cap="none" strike="noStrike">
                <a:solidFill>
                  <a:srgbClr val="F9EEE7"/>
                </a:solidFill>
                <a:latin typeface="Quattrocento"/>
                <a:ea typeface="Quattrocento"/>
                <a:cs typeface="Quattrocento"/>
                <a:sym typeface="Quattrocento"/>
              </a:rPr>
              <a:t>Implementar procesos y planes de acción para mitigar y contener los incidentes de manera eficaz, minimizando el daño y asegurando la continuidad del negocio.</a:t>
            </a:r>
            <a:endParaRPr b="0" i="0" sz="1350" u="none" cap="none" strike="noStrike"/>
          </a:p>
        </p:txBody>
      </p:sp>
      <p:pic>
        <p:nvPicPr>
          <p:cNvPr descr="preencoded.png" id="327" name="Google Shape;327;p14"/>
          <p:cNvPicPr preferRelativeResize="0"/>
          <p:nvPr/>
        </p:nvPicPr>
        <p:blipFill rotWithShape="1">
          <a:blip r:embed="rId8">
            <a:alphaModFix/>
          </a:blip>
          <a:srcRect b="0" l="0" r="0" t="0"/>
          <a:stretch/>
        </p:blipFill>
        <p:spPr>
          <a:xfrm>
            <a:off x="6103977" y="6177558"/>
            <a:ext cx="882253" cy="1411605"/>
          </a:xfrm>
          <a:prstGeom prst="rect">
            <a:avLst/>
          </a:prstGeom>
          <a:noFill/>
          <a:ln>
            <a:noFill/>
          </a:ln>
        </p:spPr>
      </p:pic>
      <p:sp>
        <p:nvSpPr>
          <p:cNvPr id="328" name="Google Shape;328;p14"/>
          <p:cNvSpPr/>
          <p:nvPr/>
        </p:nvSpPr>
        <p:spPr>
          <a:xfrm>
            <a:off x="7250906" y="6354008"/>
            <a:ext cx="2075974" cy="25955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1600"/>
              <a:buFont typeface="Quattrocento"/>
              <a:buNone/>
            </a:pPr>
            <a:r>
              <a:rPr b="0" i="0" lang="en-US" sz="1600" u="none" cap="none" strike="noStrike">
                <a:solidFill>
                  <a:srgbClr val="F9EEE7"/>
                </a:solidFill>
                <a:latin typeface="Quattrocento"/>
                <a:ea typeface="Quattrocento"/>
                <a:cs typeface="Quattrocento"/>
                <a:sym typeface="Quattrocento"/>
              </a:rPr>
              <a:t>Aprendizaje y Mejora</a:t>
            </a:r>
            <a:endParaRPr b="0" i="0" sz="1600" u="none" cap="none" strike="noStrike"/>
          </a:p>
        </p:txBody>
      </p:sp>
      <p:sp>
        <p:nvSpPr>
          <p:cNvPr id="329" name="Google Shape;329;p14"/>
          <p:cNvSpPr/>
          <p:nvPr/>
        </p:nvSpPr>
        <p:spPr>
          <a:xfrm>
            <a:off x="7250906" y="6719411"/>
            <a:ext cx="6761917" cy="564594"/>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F9EEE7"/>
              </a:buClr>
              <a:buSzPts val="1350"/>
              <a:buFont typeface="Quattrocento"/>
              <a:buNone/>
            </a:pPr>
            <a:r>
              <a:rPr b="0" i="0" lang="en-US" sz="1350" u="none" cap="none" strike="noStrike">
                <a:solidFill>
                  <a:srgbClr val="F9EEE7"/>
                </a:solidFill>
                <a:latin typeface="Quattrocento"/>
                <a:ea typeface="Quattrocento"/>
                <a:cs typeface="Quattrocento"/>
                <a:sym typeface="Quattrocento"/>
              </a:rPr>
              <a:t>Realizar revisiones posteriores a los incidentes, identificar las lecciones aprendidas y actualizar las estrategias de seguridad para prevenir incidentes futuros.</a:t>
            </a:r>
            <a:endParaRPr b="0" i="0" sz="13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5"/>
          <p:cNvSpPr/>
          <p:nvPr/>
        </p:nvSpPr>
        <p:spPr>
          <a:xfrm>
            <a:off x="811530" y="637580"/>
            <a:ext cx="7706320" cy="681871"/>
          </a:xfrm>
          <a:prstGeom prst="rect">
            <a:avLst/>
          </a:prstGeom>
          <a:noFill/>
          <a:ln>
            <a:noFill/>
          </a:ln>
        </p:spPr>
        <p:txBody>
          <a:bodyPr anchorCtr="0" anchor="t" bIns="0" lIns="0" spcFirstLastPara="1" rIns="0" wrap="square" tIns="0">
            <a:noAutofit/>
          </a:bodyPr>
          <a:lstStyle/>
          <a:p>
            <a:pPr indent="0" lvl="0" marL="0" marR="0" rtl="0" algn="l">
              <a:lnSpc>
                <a:spcPct val="125882"/>
              </a:lnSpc>
              <a:spcBef>
                <a:spcPts val="0"/>
              </a:spcBef>
              <a:spcAft>
                <a:spcPts val="0"/>
              </a:spcAft>
              <a:buClr>
                <a:srgbClr val="FFD9BE"/>
              </a:buClr>
              <a:buSzPts val="4250"/>
              <a:buFont typeface="Quattrocento"/>
              <a:buNone/>
            </a:pPr>
            <a:r>
              <a:rPr b="0" i="0" lang="en-US" sz="4250" u="none" cap="none" strike="noStrike">
                <a:solidFill>
                  <a:srgbClr val="FFD9BE"/>
                </a:solidFill>
                <a:latin typeface="Quattrocento"/>
                <a:ea typeface="Quattrocento"/>
                <a:cs typeface="Quattrocento"/>
                <a:sym typeface="Quattrocento"/>
              </a:rPr>
              <a:t>Conclusiones y próximos pasos</a:t>
            </a:r>
            <a:endParaRPr b="0" i="0" sz="4250" u="none" cap="none" strike="noStrike"/>
          </a:p>
        </p:txBody>
      </p:sp>
      <p:pic>
        <p:nvPicPr>
          <p:cNvPr descr="preencoded.png" id="336" name="Google Shape;336;p15"/>
          <p:cNvPicPr preferRelativeResize="0"/>
          <p:nvPr/>
        </p:nvPicPr>
        <p:blipFill rotWithShape="1">
          <a:blip r:embed="rId3">
            <a:alphaModFix/>
          </a:blip>
          <a:srcRect b="0" l="0" r="0" t="0"/>
          <a:stretch/>
        </p:blipFill>
        <p:spPr>
          <a:xfrm>
            <a:off x="811530" y="1783080"/>
            <a:ext cx="4103846" cy="2536269"/>
          </a:xfrm>
          <a:prstGeom prst="rect">
            <a:avLst/>
          </a:prstGeom>
          <a:noFill/>
          <a:ln>
            <a:noFill/>
          </a:ln>
        </p:spPr>
      </p:pic>
      <p:sp>
        <p:nvSpPr>
          <p:cNvPr id="337" name="Google Shape;337;p15"/>
          <p:cNvSpPr/>
          <p:nvPr/>
        </p:nvSpPr>
        <p:spPr>
          <a:xfrm>
            <a:off x="811530" y="4609148"/>
            <a:ext cx="2727841" cy="34087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F9EEE7"/>
              </a:buClr>
              <a:buSzPts val="2100"/>
              <a:buFont typeface="Quattrocento"/>
              <a:buNone/>
            </a:pPr>
            <a:r>
              <a:rPr b="0" i="0" lang="en-US" sz="2100" u="none" cap="none" strike="noStrike">
                <a:solidFill>
                  <a:srgbClr val="F9EEE7"/>
                </a:solidFill>
                <a:latin typeface="Quattrocento"/>
                <a:ea typeface="Quattrocento"/>
                <a:cs typeface="Quattrocento"/>
                <a:sym typeface="Quattrocento"/>
              </a:rPr>
              <a:t>Conclusiones clave</a:t>
            </a:r>
            <a:endParaRPr b="0" i="0" sz="2100" u="none" cap="none" strike="noStrike"/>
          </a:p>
        </p:txBody>
      </p:sp>
      <p:sp>
        <p:nvSpPr>
          <p:cNvPr id="338" name="Google Shape;338;p15"/>
          <p:cNvSpPr/>
          <p:nvPr/>
        </p:nvSpPr>
        <p:spPr>
          <a:xfrm>
            <a:off x="811530" y="5089088"/>
            <a:ext cx="4103846" cy="2596158"/>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F9EEE7"/>
              </a:buClr>
              <a:buSzPts val="1800"/>
              <a:buFont typeface="Quattrocento"/>
              <a:buNone/>
            </a:pPr>
            <a:r>
              <a:rPr b="0" i="0" lang="en-US" sz="1800" u="none" cap="none" strike="noStrike">
                <a:solidFill>
                  <a:srgbClr val="F9EEE7"/>
                </a:solidFill>
                <a:latin typeface="Quattrocento"/>
                <a:ea typeface="Quattrocento"/>
                <a:cs typeface="Quattrocento"/>
                <a:sym typeface="Quattrocento"/>
              </a:rPr>
              <a:t>Hemos explorado los formatos de datos, la seguridad y los contenedores en el contexto de DevOps. Ahora tenemos una comprensión sólida de cómo estas tecnologías se integran para mejorar el desarrollo y la entrega de software.</a:t>
            </a:r>
            <a:endParaRPr b="0" i="0" sz="1800" u="none" cap="none" strike="noStrike"/>
          </a:p>
        </p:txBody>
      </p:sp>
      <p:pic>
        <p:nvPicPr>
          <p:cNvPr descr="preencoded.png" id="339" name="Google Shape;339;p15"/>
          <p:cNvPicPr preferRelativeResize="0"/>
          <p:nvPr/>
        </p:nvPicPr>
        <p:blipFill rotWithShape="1">
          <a:blip r:embed="rId4">
            <a:alphaModFix/>
          </a:blip>
          <a:srcRect b="0" l="0" r="0" t="0"/>
          <a:stretch/>
        </p:blipFill>
        <p:spPr>
          <a:xfrm>
            <a:off x="5263158" y="1783080"/>
            <a:ext cx="4103965" cy="2536388"/>
          </a:xfrm>
          <a:prstGeom prst="rect">
            <a:avLst/>
          </a:prstGeom>
          <a:noFill/>
          <a:ln>
            <a:noFill/>
          </a:ln>
        </p:spPr>
      </p:pic>
      <p:sp>
        <p:nvSpPr>
          <p:cNvPr id="340" name="Google Shape;340;p15"/>
          <p:cNvSpPr/>
          <p:nvPr/>
        </p:nvSpPr>
        <p:spPr>
          <a:xfrm>
            <a:off x="5263158" y="4609267"/>
            <a:ext cx="2727841" cy="34087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F9EEE7"/>
              </a:buClr>
              <a:buSzPts val="2100"/>
              <a:buFont typeface="Quattrocento"/>
              <a:buNone/>
            </a:pPr>
            <a:r>
              <a:rPr b="0" i="0" lang="en-US" sz="2100" u="none" cap="none" strike="noStrike">
                <a:solidFill>
                  <a:srgbClr val="F9EEE7"/>
                </a:solidFill>
                <a:latin typeface="Quattrocento"/>
                <a:ea typeface="Quattrocento"/>
                <a:cs typeface="Quattrocento"/>
                <a:sym typeface="Quattrocento"/>
              </a:rPr>
              <a:t>Próximos pasos</a:t>
            </a:r>
            <a:endParaRPr b="0" i="0" sz="2100" u="none" cap="none" strike="noStrike"/>
          </a:p>
        </p:txBody>
      </p:sp>
      <p:sp>
        <p:nvSpPr>
          <p:cNvPr id="341" name="Google Shape;341;p15"/>
          <p:cNvSpPr/>
          <p:nvPr/>
        </p:nvSpPr>
        <p:spPr>
          <a:xfrm>
            <a:off x="5263158" y="5089208"/>
            <a:ext cx="4103965" cy="2596158"/>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F9EEE7"/>
              </a:buClr>
              <a:buSzPts val="1800"/>
              <a:buFont typeface="Quattrocento"/>
              <a:buNone/>
            </a:pPr>
            <a:r>
              <a:rPr b="0" i="0" lang="en-US" sz="1800" u="none" cap="none" strike="noStrike">
                <a:solidFill>
                  <a:srgbClr val="F9EEE7"/>
                </a:solidFill>
                <a:latin typeface="Quattrocento"/>
                <a:ea typeface="Quattrocento"/>
                <a:cs typeface="Quattrocento"/>
                <a:sym typeface="Quattrocento"/>
              </a:rPr>
              <a:t>El siguiente paso es aplicar estos conceptos en nuestros propios proyectos. Trabajaremos en equipo para implementar soluciones de DevOps que aprovechen los formatos de datos, la seguridad y los contenedores.</a:t>
            </a:r>
            <a:endParaRPr b="0" i="0" sz="1800" u="none" cap="none" strike="noStrike"/>
          </a:p>
        </p:txBody>
      </p:sp>
      <p:pic>
        <p:nvPicPr>
          <p:cNvPr descr="preencoded.png" id="342" name="Google Shape;342;p15"/>
          <p:cNvPicPr preferRelativeResize="0"/>
          <p:nvPr/>
        </p:nvPicPr>
        <p:blipFill rotWithShape="1">
          <a:blip r:embed="rId5">
            <a:alphaModFix/>
          </a:blip>
          <a:srcRect b="0" l="0" r="0" t="0"/>
          <a:stretch/>
        </p:blipFill>
        <p:spPr>
          <a:xfrm>
            <a:off x="9714905" y="1783080"/>
            <a:ext cx="4103846" cy="2536269"/>
          </a:xfrm>
          <a:prstGeom prst="rect">
            <a:avLst/>
          </a:prstGeom>
          <a:noFill/>
          <a:ln>
            <a:noFill/>
          </a:ln>
        </p:spPr>
      </p:pic>
      <p:sp>
        <p:nvSpPr>
          <p:cNvPr id="343" name="Google Shape;343;p15"/>
          <p:cNvSpPr/>
          <p:nvPr/>
        </p:nvSpPr>
        <p:spPr>
          <a:xfrm>
            <a:off x="9714905" y="4609148"/>
            <a:ext cx="3165038" cy="34087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F9EEE7"/>
              </a:buClr>
              <a:buSzPts val="2100"/>
              <a:buFont typeface="Quattrocento"/>
              <a:buNone/>
            </a:pPr>
            <a:r>
              <a:rPr b="0" i="0" lang="en-US" sz="2100" u="none" cap="none" strike="noStrike">
                <a:solidFill>
                  <a:srgbClr val="F9EEE7"/>
                </a:solidFill>
                <a:latin typeface="Quattrocento"/>
                <a:ea typeface="Quattrocento"/>
                <a:cs typeface="Quattrocento"/>
                <a:sym typeface="Quattrocento"/>
              </a:rPr>
              <a:t>Oportunidades de mejora</a:t>
            </a:r>
            <a:endParaRPr b="0" i="0" sz="2100" u="none" cap="none" strike="noStrike"/>
          </a:p>
        </p:txBody>
      </p:sp>
      <p:sp>
        <p:nvSpPr>
          <p:cNvPr id="344" name="Google Shape;344;p15"/>
          <p:cNvSpPr/>
          <p:nvPr/>
        </p:nvSpPr>
        <p:spPr>
          <a:xfrm>
            <a:off x="9714905" y="5089088"/>
            <a:ext cx="4103846" cy="1854398"/>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F9EEE7"/>
              </a:buClr>
              <a:buSzPts val="1800"/>
              <a:buFont typeface="Quattrocento"/>
              <a:buNone/>
            </a:pPr>
            <a:r>
              <a:rPr b="0" i="0" lang="en-US" sz="1800" u="none" cap="none" strike="noStrike">
                <a:solidFill>
                  <a:srgbClr val="F9EEE7"/>
                </a:solidFill>
                <a:latin typeface="Quattrocento"/>
                <a:ea typeface="Quattrocento"/>
                <a:cs typeface="Quattrocento"/>
                <a:sym typeface="Quattrocento"/>
              </a:rPr>
              <a:t>Mantendremos una actitud de mejora continua, explorando nuevas herramientas y técnicas que puedan optimizar aún más nuestros procesos y prácticas de DevOps.</a:t>
            </a:r>
            <a:endParaRPr b="0" i="0" sz="18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2024-11-04T05:34:12Z</dcterms:created>
  <dc:creator>PptxGenJS</dc:creator>
</cp:coreProperties>
</file>