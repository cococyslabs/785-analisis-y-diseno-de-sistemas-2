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Alice"/>
      <p:regular r:id="rId22"/>
    </p:embeddedFont>
    <p:embeddedFont>
      <p:font typeface="Lor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x3wtpaMKmzNhLV7tf0+ggCyKd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25DBA7-E11D-4105-95FA-E632D1524D2B}">
  <a:tblStyle styleId="{7A25DBA7-E11D-4105-95FA-E632D1524D2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lice-regular.fntdata"/><Relationship Id="rId21" Type="http://schemas.openxmlformats.org/officeDocument/2006/relationships/slide" Target="slides/slide16.xml"/><Relationship Id="rId24" Type="http://schemas.openxmlformats.org/officeDocument/2006/relationships/font" Target="fonts/Lora-bold.fntdata"/><Relationship Id="rId23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boldItalic.fntdata"/><Relationship Id="rId25" Type="http://schemas.openxmlformats.org/officeDocument/2006/relationships/font" Target="fonts/Lora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17d27ad1c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117d27ad1c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17d27ad1c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3117d27ad1c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3117d27ad1c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3117d27ad1c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3117d27ad1c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{7A25DBA7-E11D-4105-95FA-E632D1524D2B}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3117d27ad1c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117d27ad1c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474952"/>
            <a:ext cx="4919305" cy="327957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3045976"/>
            <a:ext cx="570547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Tecnologías en la nube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Explore las ventajas y conceptos clave de las tecnologías en la nube, las cuales han transformado la forma en que las organizaciones almacenan, procesan y distribuyen información.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0700" y="2804279"/>
            <a:ext cx="4952881" cy="262092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746760" y="756999"/>
            <a:ext cx="7650480" cy="1333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200"/>
              <a:buFont typeface="Alice"/>
              <a:buNone/>
            </a:pPr>
            <a:r>
              <a:rPr b="0" i="0" lang="en-US" sz="4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Introducción a la computación en la nube</a:t>
            </a:r>
            <a:endParaRPr b="0" i="0" sz="420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746760" y="2410778"/>
            <a:ext cx="3718560" cy="2936200"/>
          </a:xfrm>
          <a:prstGeom prst="roundRect">
            <a:avLst>
              <a:gd fmla="val 109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960120" y="2624137"/>
            <a:ext cx="26673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Definición</a:t>
            </a:r>
            <a:endParaRPr b="0" i="0" sz="21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960120" y="3085505"/>
            <a:ext cx="3291840" cy="204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computación en la nube es un modelo de entrega de servicios informáticos a través de Internet, incluyendo servidores, almacenamiento, bases de datos, redes y software.</a:t>
            </a:r>
            <a:endParaRPr b="0" i="0" sz="165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4678680" y="2410778"/>
            <a:ext cx="3718560" cy="2936200"/>
          </a:xfrm>
          <a:prstGeom prst="roundRect">
            <a:avLst>
              <a:gd fmla="val 1090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4892051" y="2624125"/>
            <a:ext cx="3505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Principales Características</a:t>
            </a:r>
            <a:endParaRPr b="0" i="0" sz="210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4892040" y="3085505"/>
            <a:ext cx="3291840" cy="204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Acceso ubicuo, escalabilidad, flexibilidad, pago por uso y automatización de tareas son algunas de las principales características de la computación en la nube.</a:t>
            </a:r>
            <a:endParaRPr b="0" i="0" sz="165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746760" y="5560338"/>
            <a:ext cx="7650480" cy="1912144"/>
          </a:xfrm>
          <a:prstGeom prst="roundRect">
            <a:avLst>
              <a:gd fmla="val 167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60120" y="5773698"/>
            <a:ext cx="26673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100"/>
              <a:buFont typeface="Alice"/>
              <a:buNone/>
            </a:pPr>
            <a:r>
              <a:rPr b="0" i="0" lang="en-US" sz="21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Beneficios</a:t>
            </a:r>
            <a:endParaRPr b="0" i="0" sz="210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960120" y="6235065"/>
            <a:ext cx="7223760" cy="1024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Reducción de costos de infraestructura, mayor agilidad y rapidez en implementación, y acceso a recursos bajo demanda son algunas de las ventajas clave de la nube.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793790" y="1814155"/>
            <a:ext cx="726352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Principios básicos de la nube</a:t>
            </a:r>
            <a:endParaRPr b="0" i="0" sz="445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Escalabilidad</a:t>
            </a:r>
            <a:endParaRPr b="0" i="0" sz="2200" u="none" cap="none" strike="noStrike"/>
          </a:p>
        </p:txBody>
      </p:sp>
      <p:sp>
        <p:nvSpPr>
          <p:cNvPr id="101" name="Google Shape;101;p3"/>
          <p:cNvSpPr/>
          <p:nvPr/>
        </p:nvSpPr>
        <p:spPr>
          <a:xfrm>
            <a:off x="793790" y="3671054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computación en la nube permite escalar recursos de manera rápida y flexible, adaptándose a las necesidades cambiantes del negocio.</a:t>
            </a:r>
            <a:endParaRPr b="0" i="0" sz="1750" u="none" cap="none" strike="noStrike"/>
          </a:p>
        </p:txBody>
      </p:sp>
      <p:sp>
        <p:nvSpPr>
          <p:cNvPr id="102" name="Google Shape;102;p3"/>
          <p:cNvSpPr/>
          <p:nvPr/>
        </p:nvSpPr>
        <p:spPr>
          <a:xfrm>
            <a:off x="4200406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Pago por uso</a:t>
            </a:r>
            <a:endParaRPr b="0" i="0" sz="220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4200406" y="3671054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usuarios solo pagan por los recursos que utilizan, lo que permite una optimización de costos y una mayor eficiencia.</a:t>
            </a:r>
            <a:endParaRPr b="0" i="0" sz="1750" u="none" cap="none" strike="noStrike"/>
          </a:p>
        </p:txBody>
      </p:sp>
      <p:sp>
        <p:nvSpPr>
          <p:cNvPr id="104" name="Google Shape;104;p3"/>
          <p:cNvSpPr/>
          <p:nvPr/>
        </p:nvSpPr>
        <p:spPr>
          <a:xfrm>
            <a:off x="7607022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Acceso ubicuo</a:t>
            </a:r>
            <a:endParaRPr b="0" i="0" sz="2200" u="none" cap="none" strike="noStrike"/>
          </a:p>
        </p:txBody>
      </p:sp>
      <p:sp>
        <p:nvSpPr>
          <p:cNvPr id="105" name="Google Shape;105;p3"/>
          <p:cNvSpPr/>
          <p:nvPr/>
        </p:nvSpPr>
        <p:spPr>
          <a:xfrm>
            <a:off x="7607022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servicios en la nube pueden ser accedidos desde cualquier lugar y dispositivo con conexión a Internet, favoreciendo la movilidad y la colaboración.</a:t>
            </a:r>
            <a:endParaRPr b="0" i="0" sz="1750" u="none" cap="none" strike="noStrike"/>
          </a:p>
        </p:txBody>
      </p:sp>
      <p:sp>
        <p:nvSpPr>
          <p:cNvPr id="106" name="Google Shape;106;p3"/>
          <p:cNvSpPr/>
          <p:nvPr/>
        </p:nvSpPr>
        <p:spPr>
          <a:xfrm>
            <a:off x="11013638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Mantenimiento de TI</a:t>
            </a:r>
            <a:endParaRPr b="0" i="0" sz="220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11013638" y="3671054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infraestructura y los servicios en la nube son administrados por los proveedores, liberando a los usuarios de tareas de mantenimiento y actualización.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793790" y="1129189"/>
            <a:ext cx="962894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Ventajas de la computación en la nube</a:t>
            </a:r>
            <a:endParaRPr b="0" i="0" sz="4450" u="none" cap="none" strike="noStrike"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91596"/>
            <a:ext cx="3005495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793790" y="44325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Acceso ubicuo</a:t>
            </a:r>
            <a:endParaRPr b="0" i="0" sz="22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793790" y="4922996"/>
            <a:ext cx="3005495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usuarios pueden acceder a los datos y aplicaciones almacenados en la nube desde cualquier dispositivo y ubicación con conexión a Internet.</a:t>
            </a:r>
            <a:endParaRPr b="0" i="0" sz="1750" u="none" cap="none" strike="noStrike"/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9446" y="2291596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4139446" y="44325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Escalabilidad</a:t>
            </a:r>
            <a:endParaRPr b="0" i="0" sz="22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4139446" y="4922996"/>
            <a:ext cx="300561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computación en la nube permite escalar los recursos de forma rápida y flexible, según las necesidades cambiantes del negocio.</a:t>
            </a:r>
            <a:endParaRPr b="0" i="0" sz="1750" u="none" cap="none" strike="noStrike"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5221" y="2291596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7485221" y="44325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Reducción de costos</a:t>
            </a:r>
            <a:endParaRPr b="0" i="0" sz="2200" u="none" cap="none" strike="noStrike"/>
          </a:p>
        </p:txBody>
      </p:sp>
      <p:sp>
        <p:nvSpPr>
          <p:cNvPr id="122" name="Google Shape;122;p4"/>
          <p:cNvSpPr/>
          <p:nvPr/>
        </p:nvSpPr>
        <p:spPr>
          <a:xfrm>
            <a:off x="7485221" y="4922996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nube elimina la necesidad de inversiones iniciales en hardware y software, lo que conlleva un ahorro significativo en los costos de IT.</a:t>
            </a:r>
            <a:endParaRPr b="0" i="0" sz="1750" u="none" cap="none" strike="noStrike"/>
          </a:p>
        </p:txBody>
      </p:sp>
      <p:pic>
        <p:nvPicPr>
          <p:cNvPr descr="preencoded.png" id="123" name="Google Shape;1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0997" y="2291596"/>
            <a:ext cx="3005614" cy="1857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10830997" y="44325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Seguridad</a:t>
            </a:r>
            <a:endParaRPr b="0" i="0" sz="22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10830997" y="4922996"/>
            <a:ext cx="300561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proveedores de servicios en la nube ofrecen mecanismos de seguridad robustos para proteger los datos y las aplicaciones de los usuarios.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318" y="2570678"/>
            <a:ext cx="4967645" cy="308824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6212681" y="703064"/>
            <a:ext cx="7691438" cy="1297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050"/>
              <a:buFont typeface="Alice"/>
              <a:buNone/>
            </a:pPr>
            <a:r>
              <a:rPr b="0" i="0" lang="en-US" sz="40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Modelos de servicio en la nube: IaaS, PaaS, SaaS</a:t>
            </a:r>
            <a:endParaRPr b="0" i="0" sz="405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6212681" y="2544723"/>
            <a:ext cx="466844" cy="46684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379488" y="2622471"/>
            <a:ext cx="133231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50"/>
              <a:buFont typeface="Alice"/>
              <a:buNone/>
            </a:pPr>
            <a:r>
              <a:rPr b="0" i="0" lang="en-US" sz="2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450" u="none" cap="none" strike="noStrike"/>
          </a:p>
        </p:txBody>
      </p:sp>
      <p:sp>
        <p:nvSpPr>
          <p:cNvPr id="136" name="Google Shape;136;p5"/>
          <p:cNvSpPr/>
          <p:nvPr/>
        </p:nvSpPr>
        <p:spPr>
          <a:xfrm>
            <a:off x="6887051" y="2544723"/>
            <a:ext cx="3067645" cy="648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IaaS (Infraestructura como Servicio)</a:t>
            </a:r>
            <a:endParaRPr b="0" i="0" sz="200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6887051" y="3317558"/>
            <a:ext cx="3067645" cy="2323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Proporciona a los usuarios acceso a recursos de computación, almacenamiento y redes a través de Internet, lo que permite a las organizaciones administrar su propia infraestructura virtual.</a:t>
            </a:r>
            <a:endParaRPr b="0" i="0" sz="160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10162223" y="2544723"/>
            <a:ext cx="466844" cy="46684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0319147" y="2622471"/>
            <a:ext cx="152876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50"/>
              <a:buFont typeface="Alice"/>
              <a:buNone/>
            </a:pPr>
            <a:r>
              <a:rPr b="0" i="0" lang="en-US" sz="2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450" u="none" cap="none" strike="noStrike"/>
          </a:p>
        </p:txBody>
      </p:sp>
      <p:sp>
        <p:nvSpPr>
          <p:cNvPr id="140" name="Google Shape;140;p5"/>
          <p:cNvSpPr/>
          <p:nvPr/>
        </p:nvSpPr>
        <p:spPr>
          <a:xfrm>
            <a:off x="10836593" y="2544723"/>
            <a:ext cx="3067645" cy="648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PaaS (Plataforma como Servicio)</a:t>
            </a:r>
            <a:endParaRPr b="0" i="0" sz="200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10836593" y="3317558"/>
            <a:ext cx="3067645" cy="1991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Ofrece una plataforma de desarrollo y ejecución de aplicaciones sin que los usuarios tengan que administrar la infraestructura subyacente.</a:t>
            </a:r>
            <a:endParaRPr b="0" i="0" sz="1600" u="none" cap="none" strike="noStrike"/>
          </a:p>
        </p:txBody>
      </p:sp>
      <p:sp>
        <p:nvSpPr>
          <p:cNvPr id="142" name="Google Shape;142;p5"/>
          <p:cNvSpPr/>
          <p:nvPr/>
        </p:nvSpPr>
        <p:spPr>
          <a:xfrm>
            <a:off x="6212681" y="6082070"/>
            <a:ext cx="466844" cy="46684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70201" y="6159818"/>
            <a:ext cx="151686" cy="31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50"/>
              <a:buFont typeface="Alice"/>
              <a:buNone/>
            </a:pPr>
            <a:r>
              <a:rPr b="0" i="0" lang="en-US" sz="2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450" u="none" cap="none" strike="noStrike"/>
          </a:p>
        </p:txBody>
      </p:sp>
      <p:sp>
        <p:nvSpPr>
          <p:cNvPr id="144" name="Google Shape;144;p5"/>
          <p:cNvSpPr/>
          <p:nvPr/>
        </p:nvSpPr>
        <p:spPr>
          <a:xfrm>
            <a:off x="6887051" y="6082070"/>
            <a:ext cx="3471029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SaaS (Software como Servicio)</a:t>
            </a:r>
            <a:endParaRPr b="0" i="0" sz="2000" u="none" cap="none" strike="noStrike"/>
          </a:p>
        </p:txBody>
      </p:sp>
      <p:sp>
        <p:nvSpPr>
          <p:cNvPr id="145" name="Google Shape;145;p5"/>
          <p:cNvSpPr/>
          <p:nvPr/>
        </p:nvSpPr>
        <p:spPr>
          <a:xfrm>
            <a:off x="6887051" y="6530697"/>
            <a:ext cx="7017068" cy="99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Entrega software y aplicaciones a los usuarios a través de la web, eliminando la necesidad de instalar y mantener software en dispositivos locales.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731163" y="716280"/>
            <a:ext cx="12767548" cy="652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100"/>
              <a:buFont typeface="Alice"/>
              <a:buNone/>
            </a:pPr>
            <a:r>
              <a:rPr b="0" i="0" lang="en-US" sz="41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Características y diferencias de los modelos de servicio</a:t>
            </a:r>
            <a:endParaRPr b="0" i="0" sz="41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731163" y="1786890"/>
            <a:ext cx="2194560" cy="1203603"/>
          </a:xfrm>
          <a:prstGeom prst="roundRect">
            <a:avLst>
              <a:gd fmla="val 2604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939998" y="2179796"/>
            <a:ext cx="111800" cy="41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05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3134558" y="1995726"/>
            <a:ext cx="2611517" cy="3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IaaS</a:t>
            </a:r>
            <a:endParaRPr b="0" i="0" sz="205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3134558" y="2447330"/>
            <a:ext cx="9024223" cy="33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Infraestructura como servicio: proporciona recursos de computación, almacenamiento y red.</a:t>
            </a:r>
            <a:endParaRPr b="0" i="0" sz="160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3030141" y="2980968"/>
            <a:ext cx="10764679" cy="11430"/>
          </a:xfrm>
          <a:prstGeom prst="roundRect">
            <a:avLst>
              <a:gd fmla="val 27418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31163" y="3094911"/>
            <a:ext cx="4389239" cy="1537930"/>
          </a:xfrm>
          <a:prstGeom prst="roundRect">
            <a:avLst>
              <a:gd fmla="val 203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939998" y="3654981"/>
            <a:ext cx="128230" cy="41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05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5329238" y="3303746"/>
            <a:ext cx="2611517" cy="3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PaaS</a:t>
            </a:r>
            <a:endParaRPr b="0" i="0" sz="2050" u="none" cap="none" strike="noStrike"/>
          </a:p>
        </p:txBody>
      </p:sp>
      <p:sp>
        <p:nvSpPr>
          <p:cNvPr id="160" name="Google Shape;160;p6"/>
          <p:cNvSpPr/>
          <p:nvPr/>
        </p:nvSpPr>
        <p:spPr>
          <a:xfrm>
            <a:off x="5329238" y="3755350"/>
            <a:ext cx="8361164" cy="66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Plataforma como servicio: ofrece una plataforma para desarrollar, probar y desplegar aplicaciones.</a:t>
            </a:r>
            <a:endParaRPr b="0" i="0" sz="1600" u="none" cap="none" strike="noStrike"/>
          </a:p>
        </p:txBody>
      </p:sp>
      <p:sp>
        <p:nvSpPr>
          <p:cNvPr id="161" name="Google Shape;161;p6"/>
          <p:cNvSpPr/>
          <p:nvPr/>
        </p:nvSpPr>
        <p:spPr>
          <a:xfrm>
            <a:off x="5224820" y="4623316"/>
            <a:ext cx="8570000" cy="11430"/>
          </a:xfrm>
          <a:prstGeom prst="roundRect">
            <a:avLst>
              <a:gd fmla="val 274185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31163" y="4737259"/>
            <a:ext cx="6584037" cy="1537930"/>
          </a:xfrm>
          <a:prstGeom prst="roundRect">
            <a:avLst>
              <a:gd fmla="val 203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39998" y="5297329"/>
            <a:ext cx="127159" cy="417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050" u="none" cap="none" strike="noStrike"/>
          </a:p>
        </p:txBody>
      </p:sp>
      <p:sp>
        <p:nvSpPr>
          <p:cNvPr id="164" name="Google Shape;164;p6"/>
          <p:cNvSpPr/>
          <p:nvPr/>
        </p:nvSpPr>
        <p:spPr>
          <a:xfrm>
            <a:off x="7524036" y="4946094"/>
            <a:ext cx="2611517" cy="32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SaaS</a:t>
            </a:r>
            <a:endParaRPr b="0" i="0" sz="2050" u="none" cap="none" strike="noStrike"/>
          </a:p>
        </p:txBody>
      </p:sp>
      <p:sp>
        <p:nvSpPr>
          <p:cNvPr id="165" name="Google Shape;165;p6"/>
          <p:cNvSpPr/>
          <p:nvPr/>
        </p:nvSpPr>
        <p:spPr>
          <a:xfrm>
            <a:off x="7524036" y="5397698"/>
            <a:ext cx="6166366" cy="66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Software como servicio: entrega aplicaciones listas para usar a través de la web.</a:t>
            </a:r>
            <a:endParaRPr b="0" i="0" sz="1600" u="none" cap="none" strike="noStrike"/>
          </a:p>
        </p:txBody>
      </p:sp>
      <p:sp>
        <p:nvSpPr>
          <p:cNvPr id="166" name="Google Shape;166;p6"/>
          <p:cNvSpPr/>
          <p:nvPr/>
        </p:nvSpPr>
        <p:spPr>
          <a:xfrm>
            <a:off x="731163" y="6510218"/>
            <a:ext cx="13168074" cy="1002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modelos de servicio en la nube se diferencian en el nivel de abstracción y control que ofrecen. IaaS provee la infraestructura base, PaaS agrega una capa de plataforma, mientras que SaaS entrega aplicaciones completas. Cada uno se adapta a diferentes necesidades y casos de uso de los usuarios.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2149912"/>
            <a:ext cx="4919305" cy="392977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793790" y="2011085"/>
            <a:ext cx="591585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Contenedores y Docker</a:t>
            </a:r>
            <a:endParaRPr b="0" i="0" sz="445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793790" y="3060025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contenedores se han convertido en una herramienta fundamental para el desarrollo y despliegue de aplicaciones en la nube. Docker es la plataforma de contenedores más popular, que permite empaquetar y ejecutar aplicaciones de manera eficiente y portable.</a:t>
            </a:r>
            <a:endParaRPr b="0" i="0" sz="1750" u="none" cap="none" strike="noStrike"/>
          </a:p>
        </p:txBody>
      </p:sp>
      <p:sp>
        <p:nvSpPr>
          <p:cNvPr id="176" name="Google Shape;176;p7"/>
          <p:cNvSpPr/>
          <p:nvPr/>
        </p:nvSpPr>
        <p:spPr>
          <a:xfrm>
            <a:off x="793790" y="4766786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contenedores ofrecen aislamiento, escalabilidad y facilidad de despliegue, lo que los convierte en una solución ideal para entornos en la nube. Docker simplifica el proceso de creación, distribución y ejecución de aplicaciones en diferentes plataformas.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3" name="Google Shape;18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723" y="2858453"/>
            <a:ext cx="4958953" cy="251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6224587" y="589598"/>
            <a:ext cx="7667625" cy="1318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150"/>
              <a:buFont typeface="Alice"/>
              <a:buNone/>
            </a:pPr>
            <a:r>
              <a:rPr b="0" i="0" lang="en-US" sz="41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Uso de contenedores en despliegues de aplicaciones</a:t>
            </a:r>
            <a:endParaRPr b="0" i="0" sz="415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6529507" y="2224207"/>
            <a:ext cx="22860" cy="5415677"/>
          </a:xfrm>
          <a:prstGeom prst="roundRect">
            <a:avLst>
              <a:gd fmla="val 138397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755309" y="2687122"/>
            <a:ext cx="738188" cy="22860"/>
          </a:xfrm>
          <a:prstGeom prst="roundRect">
            <a:avLst>
              <a:gd fmla="val 138397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6303705" y="2461379"/>
            <a:ext cx="474464" cy="47446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473250" y="2540437"/>
            <a:ext cx="135374" cy="316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50"/>
              <a:buFont typeface="Alice"/>
              <a:buNone/>
            </a:pPr>
            <a:r>
              <a:rPr b="0" i="0" lang="en-US" sz="2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45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7700963" y="2435066"/>
            <a:ext cx="3521035" cy="329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Empaquetado de Aplicaciones</a:t>
            </a:r>
            <a:endParaRPr b="0" i="0" sz="205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7700963" y="2890957"/>
            <a:ext cx="6191250" cy="67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contenedores permiten empaquetar aplicaciones y sus dependencias en una unidad estandarizada y portable.</a:t>
            </a:r>
            <a:endParaRPr b="0" i="0" sz="165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6755309" y="4450199"/>
            <a:ext cx="738188" cy="22860"/>
          </a:xfrm>
          <a:prstGeom prst="roundRect">
            <a:avLst>
              <a:gd fmla="val 138397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6303705" y="4224457"/>
            <a:ext cx="474464" cy="47446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6463248" y="4303514"/>
            <a:ext cx="155377" cy="316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50"/>
              <a:buFont typeface="Alice"/>
              <a:buNone/>
            </a:pPr>
            <a:r>
              <a:rPr b="0" i="0" lang="en-US" sz="2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450" u="none" cap="none" strike="noStrike"/>
          </a:p>
        </p:txBody>
      </p:sp>
      <p:sp>
        <p:nvSpPr>
          <p:cNvPr id="194" name="Google Shape;194;p8"/>
          <p:cNvSpPr/>
          <p:nvPr/>
        </p:nvSpPr>
        <p:spPr>
          <a:xfrm>
            <a:off x="7700963" y="4198144"/>
            <a:ext cx="2842260" cy="329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Despliegue Simplificado</a:t>
            </a:r>
            <a:endParaRPr b="0" i="0" sz="205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7700963" y="4654034"/>
            <a:ext cx="6191250" cy="674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Con contenedores, el proceso de despliegue de aplicaciones se vuelve más sencillo y automatizado.</a:t>
            </a:r>
            <a:endParaRPr b="0" i="0" sz="1650" u="none" cap="none" strike="noStrike"/>
          </a:p>
        </p:txBody>
      </p:sp>
      <p:sp>
        <p:nvSpPr>
          <p:cNvPr id="196" name="Google Shape;196;p8"/>
          <p:cNvSpPr/>
          <p:nvPr/>
        </p:nvSpPr>
        <p:spPr>
          <a:xfrm>
            <a:off x="6755309" y="6213277"/>
            <a:ext cx="738188" cy="22860"/>
          </a:xfrm>
          <a:prstGeom prst="roundRect">
            <a:avLst>
              <a:gd fmla="val 138397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303705" y="5987534"/>
            <a:ext cx="474464" cy="474464"/>
          </a:xfrm>
          <a:prstGeom prst="roundRect">
            <a:avLst>
              <a:gd fmla="val 6668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463844" y="6066592"/>
            <a:ext cx="154067" cy="316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450"/>
              <a:buFont typeface="Alice"/>
              <a:buNone/>
            </a:pPr>
            <a:r>
              <a:rPr b="0" i="0" lang="en-US" sz="24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45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7700963" y="5961221"/>
            <a:ext cx="2636401" cy="329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50"/>
              <a:buFont typeface="Alice"/>
              <a:buNone/>
            </a:pPr>
            <a:r>
              <a:rPr b="0" i="0" lang="en-US" sz="20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Escalabilidad Ágil</a:t>
            </a:r>
            <a:endParaRPr b="0" i="0" sz="2050" u="none" cap="none" strike="noStrike"/>
          </a:p>
        </p:txBody>
      </p:sp>
      <p:sp>
        <p:nvSpPr>
          <p:cNvPr id="200" name="Google Shape;200;p8"/>
          <p:cNvSpPr/>
          <p:nvPr/>
        </p:nvSpPr>
        <p:spPr>
          <a:xfrm>
            <a:off x="7700963" y="6417112"/>
            <a:ext cx="6191250" cy="101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50"/>
              <a:buFont typeface="Lora"/>
              <a:buNone/>
            </a:pPr>
            <a:r>
              <a:rPr b="0" i="0" lang="en-US" sz="16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contenedores facilitan la escalabilidad horizontal de aplicaciones al permitir el despliegue rápido de nuevas instancias.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3077" y="2783443"/>
            <a:ext cx="5008126" cy="266271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669369" y="556855"/>
            <a:ext cx="6526887" cy="597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750"/>
              <a:buFont typeface="Alice"/>
              <a:buNone/>
            </a:pPr>
            <a:r>
              <a:rPr b="0" i="0" lang="en-US" sz="37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Portabilidad con contenedores</a:t>
            </a:r>
            <a:endParaRPr b="0" i="0" sz="3750" u="none" cap="none" strike="noStrike"/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369" y="1441371"/>
            <a:ext cx="478155" cy="47815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669369" y="2110740"/>
            <a:ext cx="2465427" cy="298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Despliegue consistente</a:t>
            </a:r>
            <a:endParaRPr b="0" i="0" sz="185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669369" y="2524244"/>
            <a:ext cx="7805261" cy="611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contenedores permiten empaquetar aplicaciones de forma estandarizada, lo que garantiza un despliegue coherente en diferentes entornos.</a:t>
            </a:r>
            <a:endParaRPr b="0" i="0" sz="1500" u="none" cap="none" strike="noStrike"/>
          </a:p>
        </p:txBody>
      </p:sp>
      <p:pic>
        <p:nvPicPr>
          <p:cNvPr descr="preencoded.png" id="212" name="Google Shape;21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9369" y="3709749"/>
            <a:ext cx="478155" cy="47815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669369" y="4379119"/>
            <a:ext cx="3377684" cy="298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Independencia de la plataforma</a:t>
            </a:r>
            <a:endParaRPr b="0" i="0" sz="185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669369" y="4792623"/>
            <a:ext cx="7805261" cy="611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aplicaciones empaquetadas en contenedores son portables y pueden ejecutarse en diferentes sistemas operativos y nubes.</a:t>
            </a:r>
            <a:endParaRPr b="0" i="0" sz="1500" u="none" cap="none" strike="noStrike"/>
          </a:p>
        </p:txBody>
      </p:sp>
      <p:pic>
        <p:nvPicPr>
          <p:cNvPr descr="preencoded.png" id="215" name="Google Shape;21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9369" y="5978128"/>
            <a:ext cx="478155" cy="47815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669369" y="6647498"/>
            <a:ext cx="3323749" cy="298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850"/>
              <a:buFont typeface="Alice"/>
              <a:buNone/>
            </a:pPr>
            <a:r>
              <a:rPr b="0" i="0" lang="en-US" sz="185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Automatización y escalabilidad</a:t>
            </a:r>
            <a:endParaRPr b="0" i="0" sz="185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669369" y="7061002"/>
            <a:ext cx="7805261" cy="611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500"/>
              <a:buFont typeface="Lora"/>
              <a:buNone/>
            </a:pPr>
            <a:r>
              <a:rPr b="0" i="0" lang="en-US" sz="15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contenedores facilitan la automatización de despliegues y la escalabilidad horizontal de las aplicaciones.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793790" y="1600676"/>
            <a:ext cx="884598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CDN y la distribución de contenido</a:t>
            </a:r>
            <a:endParaRPr b="0" i="0" sz="4450" u="none" cap="none" strike="noStrike"/>
          </a:p>
        </p:txBody>
      </p:sp>
      <p:sp>
        <p:nvSpPr>
          <p:cNvPr id="224" name="Google Shape;224;p10"/>
          <p:cNvSpPr/>
          <p:nvPr/>
        </p:nvSpPr>
        <p:spPr>
          <a:xfrm>
            <a:off x="793790" y="2853690"/>
            <a:ext cx="6244709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Redes de Entrega de Contenido (CDN) desempeñan un papel crucial en la distribución eficiente de contenido digital a través de Internet. Estas redes escalables de servidores ubicados estratégicamente en diferentes lugares geográficos, permiten entregar el contenido más cercano al usuario final, reduciendo así la latencia y mejorando la experiencia de usuario.</a:t>
            </a:r>
            <a:endParaRPr b="0" i="0" sz="1750" u="none" cap="none" strike="noStrike"/>
          </a:p>
        </p:txBody>
      </p:sp>
      <p:pic>
        <p:nvPicPr>
          <p:cNvPr descr="preencoded.png"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904768"/>
            <a:ext cx="6244709" cy="3468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1" name="Google Shape;2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84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4319" y="258366"/>
            <a:ext cx="2661642" cy="206728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/>
          <p:nvPr/>
        </p:nvSpPr>
        <p:spPr>
          <a:xfrm>
            <a:off x="723543" y="3319463"/>
            <a:ext cx="10690146" cy="646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050"/>
              <a:buFont typeface="Alice"/>
              <a:buNone/>
            </a:pPr>
            <a:r>
              <a:rPr b="0" i="0" lang="en-US" sz="40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Función de las CDN en la entrega de contenido</a:t>
            </a:r>
            <a:endParaRPr b="0" i="0" sz="4050" u="none" cap="none" strike="noStrike"/>
          </a:p>
        </p:txBody>
      </p:sp>
      <p:sp>
        <p:nvSpPr>
          <p:cNvPr id="234" name="Google Shape;234;p11"/>
          <p:cNvSpPr/>
          <p:nvPr/>
        </p:nvSpPr>
        <p:spPr>
          <a:xfrm>
            <a:off x="723543" y="4508063"/>
            <a:ext cx="361712" cy="361712"/>
          </a:xfrm>
          <a:prstGeom prst="roundRect">
            <a:avLst>
              <a:gd fmla="val 857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1291947" y="4508063"/>
            <a:ext cx="2781895" cy="32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Reducción de la latencia</a:t>
            </a:r>
            <a:endParaRPr b="0" i="0" sz="2000" u="none" cap="none" strike="noStrike"/>
          </a:p>
        </p:txBody>
      </p:sp>
      <p:sp>
        <p:nvSpPr>
          <p:cNvPr id="236" name="Google Shape;236;p11"/>
          <p:cNvSpPr/>
          <p:nvPr/>
        </p:nvSpPr>
        <p:spPr>
          <a:xfrm>
            <a:off x="1291947" y="4954905"/>
            <a:ext cx="5919907" cy="991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CDN acercan el contenido a los usuarios finales, minimizando la distancia geográfica y mejorando los tiempos de carga.</a:t>
            </a:r>
            <a:endParaRPr b="0" i="0" sz="1600" u="none" cap="none" strike="noStrike"/>
          </a:p>
        </p:txBody>
      </p:sp>
      <p:sp>
        <p:nvSpPr>
          <p:cNvPr id="237" name="Google Shape;237;p11"/>
          <p:cNvSpPr/>
          <p:nvPr/>
        </p:nvSpPr>
        <p:spPr>
          <a:xfrm>
            <a:off x="7418546" y="4508063"/>
            <a:ext cx="361712" cy="361712"/>
          </a:xfrm>
          <a:prstGeom prst="roundRect">
            <a:avLst>
              <a:gd fmla="val 857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7986951" y="4508063"/>
            <a:ext cx="3436858" cy="32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Escalabilidad y disponibilidad</a:t>
            </a:r>
            <a:endParaRPr b="0" i="0" sz="2000" u="none" cap="none" strike="noStrike"/>
          </a:p>
        </p:txBody>
      </p:sp>
      <p:sp>
        <p:nvSpPr>
          <p:cNvPr id="239" name="Google Shape;239;p11"/>
          <p:cNvSpPr/>
          <p:nvPr/>
        </p:nvSpPr>
        <p:spPr>
          <a:xfrm>
            <a:off x="7986951" y="4954905"/>
            <a:ext cx="5919907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CDN pueden manejar grandes volúmenes de tráfico y solicitudes simultáneas sin afectar el rendimiento.</a:t>
            </a:r>
            <a:endParaRPr b="0" i="0" sz="1600" u="none" cap="none" strike="noStrike"/>
          </a:p>
        </p:txBody>
      </p:sp>
      <p:sp>
        <p:nvSpPr>
          <p:cNvPr id="240" name="Google Shape;240;p11"/>
          <p:cNvSpPr/>
          <p:nvPr/>
        </p:nvSpPr>
        <p:spPr>
          <a:xfrm>
            <a:off x="723543" y="6386036"/>
            <a:ext cx="361712" cy="361712"/>
          </a:xfrm>
          <a:prstGeom prst="roundRect">
            <a:avLst>
              <a:gd fmla="val 857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1291947" y="6386036"/>
            <a:ext cx="3831908" cy="32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Optimización del ancho de banda</a:t>
            </a:r>
            <a:endParaRPr b="0" i="0" sz="200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1291947" y="6832878"/>
            <a:ext cx="5919907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Al distribuir el contenido a través de múltiples servidores, se reduce la carga en los orígenes y se ahorra ancho de banda.</a:t>
            </a:r>
            <a:endParaRPr b="0" i="0" sz="1600" u="none" cap="none" strike="noStrike"/>
          </a:p>
        </p:txBody>
      </p:sp>
      <p:sp>
        <p:nvSpPr>
          <p:cNvPr id="243" name="Google Shape;243;p11"/>
          <p:cNvSpPr/>
          <p:nvPr/>
        </p:nvSpPr>
        <p:spPr>
          <a:xfrm>
            <a:off x="7418546" y="6386036"/>
            <a:ext cx="361712" cy="361712"/>
          </a:xfrm>
          <a:prstGeom prst="roundRect">
            <a:avLst>
              <a:gd fmla="val 8573" name="adj"/>
            </a:avLst>
          </a:prstGeom>
          <a:solidFill>
            <a:srgbClr val="F0ED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86951" y="6386036"/>
            <a:ext cx="2597944" cy="322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Mejora de la seguridad</a:t>
            </a:r>
            <a:endParaRPr b="0" i="0" sz="2000" u="none" cap="none" strike="noStrike"/>
          </a:p>
        </p:txBody>
      </p:sp>
      <p:sp>
        <p:nvSpPr>
          <p:cNvPr id="245" name="Google Shape;245;p11"/>
          <p:cNvSpPr/>
          <p:nvPr/>
        </p:nvSpPr>
        <p:spPr>
          <a:xfrm>
            <a:off x="7986951" y="6832878"/>
            <a:ext cx="5919907" cy="661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Las CDN pueden proteger el contenido de ataques DDoS y otros intentos de acceso no autorizado.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1" name="Google Shape;2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0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1289" y="2614374"/>
            <a:ext cx="5051822" cy="300168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2"/>
          <p:cNvSpPr/>
          <p:nvPr/>
        </p:nvSpPr>
        <p:spPr>
          <a:xfrm>
            <a:off x="608290" y="477917"/>
            <a:ext cx="7364968" cy="543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3400"/>
              <a:buFont typeface="Alice"/>
              <a:buNone/>
            </a:pPr>
            <a:r>
              <a:rPr b="0" i="0" lang="en-US" sz="34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Análisis y gestión de costos en la nube</a:t>
            </a:r>
            <a:endParaRPr b="0" i="0" sz="3400" u="none" cap="none" strike="noStrike"/>
          </a:p>
        </p:txBody>
      </p:sp>
      <p:sp>
        <p:nvSpPr>
          <p:cNvPr id="254" name="Google Shape;254;p12"/>
          <p:cNvSpPr/>
          <p:nvPr/>
        </p:nvSpPr>
        <p:spPr>
          <a:xfrm>
            <a:off x="608290" y="1368504"/>
            <a:ext cx="7927419" cy="57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500"/>
              <a:buFont typeface="Alice"/>
              <a:buNone/>
            </a:pPr>
            <a:r>
              <a:rPr b="0" i="0" lang="en-US" sz="45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30%</a:t>
            </a:r>
            <a:endParaRPr b="0" i="0" sz="4500" u="none" cap="none" strike="noStrike"/>
          </a:p>
        </p:txBody>
      </p:sp>
      <p:sp>
        <p:nvSpPr>
          <p:cNvPr id="255" name="Google Shape;255;p12"/>
          <p:cNvSpPr/>
          <p:nvPr/>
        </p:nvSpPr>
        <p:spPr>
          <a:xfrm>
            <a:off x="3485674" y="2159079"/>
            <a:ext cx="2172533" cy="271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Alice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Reducción</a:t>
            </a:r>
            <a:endParaRPr b="0" i="0" sz="1700" u="none" cap="none" strike="noStrike"/>
          </a:p>
        </p:txBody>
      </p:sp>
      <p:sp>
        <p:nvSpPr>
          <p:cNvPr id="256" name="Google Shape;256;p12"/>
          <p:cNvSpPr/>
          <p:nvPr/>
        </p:nvSpPr>
        <p:spPr>
          <a:xfrm>
            <a:off x="608290" y="2534841"/>
            <a:ext cx="7927419" cy="5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Lora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Potencial de ahorro de hasta el 30% en costos de TI gracias a la elasticidad y la optimización de recursos en la nube.</a:t>
            </a:r>
            <a:endParaRPr b="0" i="0" sz="1350" u="none" cap="none" strike="noStrike"/>
          </a:p>
        </p:txBody>
      </p:sp>
      <p:sp>
        <p:nvSpPr>
          <p:cNvPr id="257" name="Google Shape;257;p12"/>
          <p:cNvSpPr/>
          <p:nvPr/>
        </p:nvSpPr>
        <p:spPr>
          <a:xfrm>
            <a:off x="608290" y="3699272"/>
            <a:ext cx="7927419" cy="57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500"/>
              <a:buFont typeface="Alice"/>
              <a:buNone/>
            </a:pPr>
            <a:r>
              <a:rPr b="0" i="0" lang="en-US" sz="45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$15M</a:t>
            </a:r>
            <a:endParaRPr b="0" i="0" sz="4500" u="none" cap="none" strike="noStrike"/>
          </a:p>
        </p:txBody>
      </p:sp>
      <p:sp>
        <p:nvSpPr>
          <p:cNvPr id="258" name="Google Shape;258;p12"/>
          <p:cNvSpPr/>
          <p:nvPr/>
        </p:nvSpPr>
        <p:spPr>
          <a:xfrm>
            <a:off x="3485674" y="4489847"/>
            <a:ext cx="2172533" cy="271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Alice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Ahorro</a:t>
            </a:r>
            <a:endParaRPr b="0" i="0" sz="1700" u="none" cap="none" strike="noStrike"/>
          </a:p>
        </p:txBody>
      </p:sp>
      <p:sp>
        <p:nvSpPr>
          <p:cNvPr id="259" name="Google Shape;259;p12"/>
          <p:cNvSpPr/>
          <p:nvPr/>
        </p:nvSpPr>
        <p:spPr>
          <a:xfrm>
            <a:off x="608290" y="4865608"/>
            <a:ext cx="7927419" cy="5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Lora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Empresas líderes han reportado ahorros de más de $15 millones anuales en costos de infraestructura mediante el uso de la nube.</a:t>
            </a:r>
            <a:endParaRPr b="0" i="0" sz="1350" u="none" cap="none" strike="noStrike"/>
          </a:p>
        </p:txBody>
      </p:sp>
      <p:sp>
        <p:nvSpPr>
          <p:cNvPr id="260" name="Google Shape;260;p12"/>
          <p:cNvSpPr/>
          <p:nvPr/>
        </p:nvSpPr>
        <p:spPr>
          <a:xfrm>
            <a:off x="608290" y="6030039"/>
            <a:ext cx="7927419" cy="57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4500"/>
              <a:buFont typeface="Alice"/>
              <a:buNone/>
            </a:pPr>
            <a:r>
              <a:rPr b="0" i="0" lang="en-US" sz="45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85%</a:t>
            </a:r>
            <a:endParaRPr b="0" i="0" sz="4500" u="none" cap="none" strike="noStrike"/>
          </a:p>
        </p:txBody>
      </p:sp>
      <p:sp>
        <p:nvSpPr>
          <p:cNvPr id="261" name="Google Shape;261;p12"/>
          <p:cNvSpPr/>
          <p:nvPr/>
        </p:nvSpPr>
        <p:spPr>
          <a:xfrm>
            <a:off x="3485674" y="6820614"/>
            <a:ext cx="2172533" cy="271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00"/>
              <a:buFont typeface="Alice"/>
              <a:buNone/>
            </a:pPr>
            <a:r>
              <a:rPr b="0" i="0" lang="en-US" sz="17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Transparencia</a:t>
            </a:r>
            <a:endParaRPr b="0" i="0" sz="1700" u="none" cap="none" strike="noStrike"/>
          </a:p>
        </p:txBody>
      </p:sp>
      <p:sp>
        <p:nvSpPr>
          <p:cNvPr id="262" name="Google Shape;262;p12"/>
          <p:cNvSpPr/>
          <p:nvPr/>
        </p:nvSpPr>
        <p:spPr>
          <a:xfrm>
            <a:off x="608290" y="7196376"/>
            <a:ext cx="7927419" cy="5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350"/>
              <a:buFont typeface="Lora"/>
              <a:buNone/>
            </a:pPr>
            <a:r>
              <a:rPr b="0" i="0" lang="en-US" sz="13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Hasta el 85% de las organizaciones afirman tener mayor visibilidad y control sobre sus costos de TI en la nube.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793790" y="788789"/>
            <a:ext cx="864524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Optimización de costos en la nube</a:t>
            </a:r>
            <a:endParaRPr b="0" i="0" sz="4450" u="none" cap="none" strike="noStrike"/>
          </a:p>
        </p:txBody>
      </p:sp>
      <p:pic>
        <p:nvPicPr>
          <p:cNvPr descr="preencoded.png"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51196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793790" y="4781431"/>
            <a:ext cx="38813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Monitoreo y Análisis de Gastos</a:t>
            </a:r>
            <a:endParaRPr b="0" i="0" sz="2200" u="none" cap="none" strike="noStrike"/>
          </a:p>
        </p:txBody>
      </p:sp>
      <p:sp>
        <p:nvSpPr>
          <p:cNvPr id="271" name="Google Shape;271;p13"/>
          <p:cNvSpPr/>
          <p:nvPr/>
        </p:nvSpPr>
        <p:spPr>
          <a:xfrm>
            <a:off x="793790" y="5271849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Implementar herramientas de monitoreo y análisis de gastos en la nube permite identificar áreas de optimización y tomar decisiones informadas para reducir costos.</a:t>
            </a:r>
            <a:endParaRPr b="0" i="0" sz="1750" u="none" cap="none" strike="noStrike"/>
          </a:p>
        </p:txBody>
      </p:sp>
      <p:pic>
        <p:nvPicPr>
          <p:cNvPr descr="preencoded.png" id="272" name="Google Shape;2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1951196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5254704" y="4781550"/>
            <a:ext cx="374332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Dimensionamiento Adecuado</a:t>
            </a:r>
            <a:endParaRPr b="0" i="0" sz="2200" u="none" cap="none" strike="noStrike"/>
          </a:p>
        </p:txBody>
      </p:sp>
      <p:sp>
        <p:nvSpPr>
          <p:cNvPr id="274" name="Google Shape;274;p13"/>
          <p:cNvSpPr/>
          <p:nvPr/>
        </p:nvSpPr>
        <p:spPr>
          <a:xfrm>
            <a:off x="5254704" y="5271968"/>
            <a:ext cx="412087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Seleccionar instancias de tamaño apropiado para las necesidades reales, evitando sobredimensionar o subutilizar recursos, contribuye a la optimización de costos.</a:t>
            </a:r>
            <a:endParaRPr b="0" i="0" sz="1750" u="none" cap="none" strike="noStrike"/>
          </a:p>
        </p:txBody>
      </p:sp>
      <p:pic>
        <p:nvPicPr>
          <p:cNvPr descr="preencoded.png" id="275" name="Google Shape;27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1951196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/>
          <p:nvPr/>
        </p:nvSpPr>
        <p:spPr>
          <a:xfrm>
            <a:off x="9715738" y="4781431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Automatización y Apagado Programado</a:t>
            </a:r>
            <a:endParaRPr b="0" i="0" sz="2200" u="none" cap="none" strike="noStrike"/>
          </a:p>
        </p:txBody>
      </p:sp>
      <p:sp>
        <p:nvSpPr>
          <p:cNvPr id="277" name="Google Shape;277;p13"/>
          <p:cNvSpPr/>
          <p:nvPr/>
        </p:nvSpPr>
        <p:spPr>
          <a:xfrm>
            <a:off x="9715738" y="5626179"/>
            <a:ext cx="4120753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Implementar soluciones que apaguen automáticamente recursos cuando no se están utilizando puede generar ahorros significativos en la factura de la nube.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714018" y="561023"/>
            <a:ext cx="9932551" cy="637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000"/>
              <a:buFont typeface="Alice"/>
              <a:buNone/>
            </a:pPr>
            <a:r>
              <a:rPr b="0" i="0" lang="en-US" sz="400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Infraestructura como código con Terraform</a:t>
            </a:r>
            <a:endParaRPr b="0" i="0" sz="4000" u="none" cap="none" strike="noStrike"/>
          </a:p>
        </p:txBody>
      </p:sp>
      <p:pic>
        <p:nvPicPr>
          <p:cNvPr descr="preencoded.png" id="284" name="Google Shape;2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7662" y="1606629"/>
            <a:ext cx="1633776" cy="117550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/>
          <p:nvPr/>
        </p:nvSpPr>
        <p:spPr>
          <a:xfrm>
            <a:off x="3959900" y="2136100"/>
            <a:ext cx="109180" cy="4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2000" u="none" cap="none" strike="noStrike"/>
          </a:p>
        </p:txBody>
      </p:sp>
      <p:sp>
        <p:nvSpPr>
          <p:cNvPr id="286" name="Google Shape;286;p14"/>
          <p:cNvSpPr/>
          <p:nvPr/>
        </p:nvSpPr>
        <p:spPr>
          <a:xfrm>
            <a:off x="5035391" y="1810583"/>
            <a:ext cx="2550438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Definir</a:t>
            </a:r>
            <a:endParaRPr b="0" i="0" sz="2000" u="none" cap="none" strike="noStrike"/>
          </a:p>
        </p:txBody>
      </p:sp>
      <p:sp>
        <p:nvSpPr>
          <p:cNvPr id="287" name="Google Shape;287;p14"/>
          <p:cNvSpPr/>
          <p:nvPr/>
        </p:nvSpPr>
        <p:spPr>
          <a:xfrm>
            <a:off x="5035391" y="2251710"/>
            <a:ext cx="5314712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Describir la infraestructura mediante código declarativo</a:t>
            </a:r>
            <a:endParaRPr b="0" i="0" sz="1600" u="none" cap="none" strike="noStrike"/>
          </a:p>
        </p:txBody>
      </p:sp>
      <p:sp>
        <p:nvSpPr>
          <p:cNvPr id="288" name="Google Shape;288;p14"/>
          <p:cNvSpPr/>
          <p:nvPr/>
        </p:nvSpPr>
        <p:spPr>
          <a:xfrm>
            <a:off x="4882396" y="2798088"/>
            <a:ext cx="8983028" cy="11430"/>
          </a:xfrm>
          <a:prstGeom prst="roundRect">
            <a:avLst>
              <a:gd fmla="val 267763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0774" y="2833092"/>
            <a:ext cx="3267551" cy="117550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3951923" y="3216831"/>
            <a:ext cx="125254" cy="4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2000" u="none" cap="none" strike="noStrike"/>
          </a:p>
        </p:txBody>
      </p:sp>
      <p:sp>
        <p:nvSpPr>
          <p:cNvPr id="291" name="Google Shape;291;p14"/>
          <p:cNvSpPr/>
          <p:nvPr/>
        </p:nvSpPr>
        <p:spPr>
          <a:xfrm>
            <a:off x="5852279" y="3037046"/>
            <a:ext cx="2550438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Planificar</a:t>
            </a:r>
            <a:endParaRPr b="0" i="0" sz="2000" u="none" cap="none" strike="noStrike"/>
          </a:p>
        </p:txBody>
      </p:sp>
      <p:sp>
        <p:nvSpPr>
          <p:cNvPr id="292" name="Google Shape;292;p14"/>
          <p:cNvSpPr/>
          <p:nvPr/>
        </p:nvSpPr>
        <p:spPr>
          <a:xfrm>
            <a:off x="5852279" y="3478173"/>
            <a:ext cx="4188619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Previsualizar los cambios antes de aplicarlos</a:t>
            </a:r>
            <a:endParaRPr b="0" i="0" sz="1600" u="none" cap="none" strike="noStrike"/>
          </a:p>
        </p:txBody>
      </p:sp>
      <p:sp>
        <p:nvSpPr>
          <p:cNvPr id="293" name="Google Shape;293;p14"/>
          <p:cNvSpPr/>
          <p:nvPr/>
        </p:nvSpPr>
        <p:spPr>
          <a:xfrm>
            <a:off x="5699284" y="4024551"/>
            <a:ext cx="8166140" cy="11430"/>
          </a:xfrm>
          <a:prstGeom prst="roundRect">
            <a:avLst>
              <a:gd fmla="val 267763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3886" y="4059555"/>
            <a:ext cx="4901327" cy="117550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/>
          <p:nvPr/>
        </p:nvSpPr>
        <p:spPr>
          <a:xfrm>
            <a:off x="3952280" y="4443293"/>
            <a:ext cx="124301" cy="4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2000" u="none" cap="none" strike="noStrike"/>
          </a:p>
        </p:txBody>
      </p:sp>
      <p:sp>
        <p:nvSpPr>
          <p:cNvPr id="296" name="Google Shape;296;p14"/>
          <p:cNvSpPr/>
          <p:nvPr/>
        </p:nvSpPr>
        <p:spPr>
          <a:xfrm>
            <a:off x="6669167" y="4263509"/>
            <a:ext cx="2550438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Aplicar</a:t>
            </a:r>
            <a:endParaRPr b="0" i="0" sz="2000" u="none" cap="none" strike="noStrike"/>
          </a:p>
        </p:txBody>
      </p:sp>
      <p:sp>
        <p:nvSpPr>
          <p:cNvPr id="297" name="Google Shape;297;p14"/>
          <p:cNvSpPr/>
          <p:nvPr/>
        </p:nvSpPr>
        <p:spPr>
          <a:xfrm>
            <a:off x="6669167" y="4704636"/>
            <a:ext cx="4639151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Crear y modificar los recursos de infraestructura</a:t>
            </a:r>
            <a:endParaRPr b="0" i="0" sz="1600" u="none" cap="none" strike="noStrike"/>
          </a:p>
        </p:txBody>
      </p:sp>
      <p:sp>
        <p:nvSpPr>
          <p:cNvPr id="298" name="Google Shape;298;p14"/>
          <p:cNvSpPr/>
          <p:nvPr/>
        </p:nvSpPr>
        <p:spPr>
          <a:xfrm>
            <a:off x="6516172" y="5251013"/>
            <a:ext cx="7349252" cy="11430"/>
          </a:xfrm>
          <a:prstGeom prst="roundRect">
            <a:avLst>
              <a:gd fmla="val 267763" name="adj"/>
            </a:avLst>
          </a:prstGeom>
          <a:solidFill>
            <a:srgbClr val="D6D3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998" y="5286018"/>
            <a:ext cx="6535103" cy="117550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4"/>
          <p:cNvSpPr/>
          <p:nvPr/>
        </p:nvSpPr>
        <p:spPr>
          <a:xfrm>
            <a:off x="3951208" y="5669756"/>
            <a:ext cx="126563" cy="40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2000" u="none" cap="none" strike="noStrike"/>
          </a:p>
        </p:txBody>
      </p:sp>
      <p:sp>
        <p:nvSpPr>
          <p:cNvPr id="301" name="Google Shape;301;p14"/>
          <p:cNvSpPr/>
          <p:nvPr/>
        </p:nvSpPr>
        <p:spPr>
          <a:xfrm>
            <a:off x="7486055" y="5489972"/>
            <a:ext cx="2550438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000"/>
              <a:buFont typeface="Alice"/>
              <a:buNone/>
            </a:pPr>
            <a:r>
              <a:rPr b="0" i="0" lang="en-US" sz="20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Versionado</a:t>
            </a:r>
            <a:endParaRPr b="0" i="0" sz="2000" u="none" cap="none" strike="noStrike"/>
          </a:p>
        </p:txBody>
      </p:sp>
      <p:sp>
        <p:nvSpPr>
          <p:cNvPr id="302" name="Google Shape;302;p14"/>
          <p:cNvSpPr/>
          <p:nvPr/>
        </p:nvSpPr>
        <p:spPr>
          <a:xfrm>
            <a:off x="7486055" y="5931098"/>
            <a:ext cx="4072414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Controlar los cambios en la infraestructura</a:t>
            </a:r>
            <a:endParaRPr b="0" i="0" sz="1600" u="none" cap="none" strike="noStrike"/>
          </a:p>
        </p:txBody>
      </p:sp>
      <p:sp>
        <p:nvSpPr>
          <p:cNvPr id="303" name="Google Shape;303;p14"/>
          <p:cNvSpPr/>
          <p:nvPr/>
        </p:nvSpPr>
        <p:spPr>
          <a:xfrm>
            <a:off x="714018" y="6690955"/>
            <a:ext cx="13202364" cy="979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600"/>
              <a:buFont typeface="Lora"/>
              <a:buNone/>
            </a:pPr>
            <a:r>
              <a:rPr b="0" i="0" lang="en-US" sz="160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Terraform permite definir la infraestructura como código, lo que facilita la automatización, la colaboración y la trazabilidad de los cambios. Esta herramienta ofrece un flujo de trabajo intuitivo y eficiente para administrar la infraestructura de manera declarativa, permitiendo planificar y aplicar los cambios de manera segura y reproducible.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9" name="Google Shape;3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8404" y="283488"/>
            <a:ext cx="3973592" cy="226826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5"/>
          <p:cNvSpPr/>
          <p:nvPr/>
        </p:nvSpPr>
        <p:spPr>
          <a:xfrm>
            <a:off x="793790" y="3639979"/>
            <a:ext cx="1199042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33E32"/>
              </a:buClr>
              <a:buSzPts val="4450"/>
              <a:buFont typeface="Alice"/>
              <a:buNone/>
            </a:pPr>
            <a:r>
              <a:rPr b="0" i="0" lang="en-US" sz="4450" u="none" cap="none" strike="noStrike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Módulos y reutilización de código en Terraform</a:t>
            </a:r>
            <a:endParaRPr b="0" i="0" sz="4450" u="none" cap="none" strike="noStrike"/>
          </a:p>
        </p:txBody>
      </p:sp>
      <p:pic>
        <p:nvPicPr>
          <p:cNvPr descr="preencoded.png" id="312" name="Google Shape;3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68891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5"/>
          <p:cNvSpPr/>
          <p:nvPr/>
        </p:nvSpPr>
        <p:spPr>
          <a:xfrm>
            <a:off x="793790" y="5482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Módulos Terraform</a:t>
            </a:r>
            <a:endParaRPr b="0" i="0" sz="2200" u="none" cap="none" strike="noStrike"/>
          </a:p>
        </p:txBody>
      </p:sp>
      <p:sp>
        <p:nvSpPr>
          <p:cNvPr id="314" name="Google Shape;314;p15"/>
          <p:cNvSpPr/>
          <p:nvPr/>
        </p:nvSpPr>
        <p:spPr>
          <a:xfrm>
            <a:off x="793790" y="5973128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Los módulos permiten encapsular y reutilizar código Terraform de forma eficiente, mejorando la legibilidad y mantenibilidad de los proyectos.</a:t>
            </a:r>
            <a:endParaRPr b="0" i="0" sz="1750" u="none" cap="none" strike="noStrike"/>
          </a:p>
        </p:txBody>
      </p:sp>
      <p:pic>
        <p:nvPicPr>
          <p:cNvPr descr="preencoded.png" id="315" name="Google Shape;3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4704" y="468891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5254704" y="5482709"/>
            <a:ext cx="299073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Repositorio de Módulos</a:t>
            </a:r>
            <a:endParaRPr b="0" i="0" sz="2200" u="none" cap="none" strike="noStrike"/>
          </a:p>
        </p:txBody>
      </p:sp>
      <p:sp>
        <p:nvSpPr>
          <p:cNvPr id="317" name="Google Shape;317;p15"/>
          <p:cNvSpPr/>
          <p:nvPr/>
        </p:nvSpPr>
        <p:spPr>
          <a:xfrm>
            <a:off x="5254704" y="5973128"/>
            <a:ext cx="412087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Terraform dispone de un registro público de módulos que facilita el acceso a componentes ya desarrollados y probados.</a:t>
            </a:r>
            <a:endParaRPr b="0" i="0" sz="1750" u="none" cap="none" strike="noStrike"/>
          </a:p>
        </p:txBody>
      </p:sp>
      <p:pic>
        <p:nvPicPr>
          <p:cNvPr descr="preencoded.png" id="318" name="Google Shape;3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738" y="468891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5"/>
          <p:cNvSpPr/>
          <p:nvPr/>
        </p:nvSpPr>
        <p:spPr>
          <a:xfrm>
            <a:off x="9715738" y="5482709"/>
            <a:ext cx="319111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2200"/>
              <a:buFont typeface="Alice"/>
              <a:buNone/>
            </a:pPr>
            <a:r>
              <a:rPr b="0" i="0" lang="en-US" sz="2200" u="none" cap="none" strike="noStrike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Colaboración en Módulos</a:t>
            </a:r>
            <a:endParaRPr b="0" i="0" sz="2200" u="none" cap="none" strike="noStrike"/>
          </a:p>
        </p:txBody>
      </p:sp>
      <p:sp>
        <p:nvSpPr>
          <p:cNvPr id="320" name="Google Shape;320;p15"/>
          <p:cNvSpPr/>
          <p:nvPr/>
        </p:nvSpPr>
        <p:spPr>
          <a:xfrm>
            <a:off x="9715738" y="5973128"/>
            <a:ext cx="412075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821"/>
              </a:buClr>
              <a:buSzPts val="1750"/>
              <a:buFont typeface="Lora"/>
              <a:buNone/>
            </a:pPr>
            <a:r>
              <a:rPr b="0" i="0" lang="en-US" sz="1750" u="none" cap="none" strike="noStrike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La reutilización de módulos fomenta la colaboración entre equipos y la estandarización de prácticas de infraestructura como código.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2024-11-04T05:04:38Z</dcterms:created>
  <dc:creator>PptxGenJS</dc:creator>
</cp:coreProperties>
</file>