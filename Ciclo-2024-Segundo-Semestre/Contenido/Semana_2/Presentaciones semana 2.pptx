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8229600" cx="14630400"/>
  <p:notesSz cx="8229600" cy="14630400"/>
  <p:embeddedFontLst>
    <p:embeddedFont>
      <p:font typeface="Bitter Medium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57EeyTCPlw34iOjBLI3t1zGAq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8D5F527-65E9-48E4-92A5-540C9975FF03}">
  <a:tblStyle styleId="{18D5F527-65E9-48E4-92A5-540C9975FF0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BitterMedium-regular.fntdata"/><Relationship Id="rId21" Type="http://schemas.openxmlformats.org/officeDocument/2006/relationships/slide" Target="slides/slide16.xml"/><Relationship Id="rId24" Type="http://schemas.openxmlformats.org/officeDocument/2006/relationships/font" Target="fonts/BitterMedium-italic.fntdata"/><Relationship Id="rId23" Type="http://schemas.openxmlformats.org/officeDocument/2006/relationships/font" Target="fonts/BitterMediu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BitterMedium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d529b617c5_0_0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2d529b617c5_0_0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529b617c5_0_58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9pPr>
          </a:lstStyle>
          <a:p/>
        </p:txBody>
      </p:sp>
      <p:sp>
        <p:nvSpPr>
          <p:cNvPr id="58" name="Google Shape;58;g2d529b617c5_0_58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 sz="1100"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1100"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1100"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9pPr>
          </a:lstStyle>
          <a:p/>
        </p:txBody>
      </p:sp>
      <p:sp>
        <p:nvSpPr>
          <p:cNvPr id="59" name="Google Shape;59;g2d529b617c5_0_58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Relationship Id="rId7" Type="http://schemas.openxmlformats.org/officeDocument/2006/relationships/image" Target="../media/image33.png"/><Relationship Id="rId8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image" Target="../media/image34.png"/><Relationship Id="rId8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g2d529b617c5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3522" y="0"/>
            <a:ext cx="14603357" cy="8229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" name="Google Shape;65;g2d529b617c5_0_0"/>
          <p:cNvGraphicFramePr/>
          <p:nvPr/>
        </p:nvGraphicFramePr>
        <p:xfrm>
          <a:off x="8525120" y="1552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{18D5F527-65E9-48E4-92A5-540C9975FF03}</a:tableStyleId>
              </a:tblPr>
              <a:tblGrid>
                <a:gridCol w="2429125"/>
                <a:gridCol w="3475800"/>
              </a:tblGrid>
              <a:tr h="51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46275" marB="146275" marR="146275" marL="1462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/>
                        <a:t>Día, xx/xx/2025 </a:t>
                      </a:r>
                      <a:endParaRPr sz="2200" u="none" cap="none" strike="noStrike"/>
                    </a:p>
                  </a:txBody>
                  <a:tcPr marT="146275" marB="146275" marR="146275" marL="146275"/>
                </a:tc>
              </a:tr>
              <a:tr h="58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46275" marB="146275" marR="146275" marL="1462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/>
                        <a:t>xx:xx</a:t>
                      </a:r>
                      <a:endParaRPr sz="2200" u="none" cap="none" strike="noStrike"/>
                    </a:p>
                  </a:txBody>
                  <a:tcPr marT="146275" marB="146275" marR="146275" marL="146275"/>
                </a:tc>
              </a:tr>
            </a:tbl>
          </a:graphicData>
        </a:graphic>
      </p:graphicFrame>
      <p:sp>
        <p:nvSpPr>
          <p:cNvPr id="66" name="Google Shape;66;g2d529b617c5_0_0"/>
          <p:cNvSpPr txBox="1"/>
          <p:nvPr/>
        </p:nvSpPr>
        <p:spPr>
          <a:xfrm>
            <a:off x="2304280" y="3613280"/>
            <a:ext cx="108672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/>
              <a:t>Análisis y Diseño de Sistemas 2 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4000"/>
              <a:t>SECCIÓN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2d529b617c5_0_0"/>
          <p:cNvSpPr txBox="1"/>
          <p:nvPr/>
        </p:nvSpPr>
        <p:spPr>
          <a:xfrm>
            <a:off x="2845920" y="4641200"/>
            <a:ext cx="89385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/>
              <a:t>Estudiante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3" name="Google Shape;7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79518" y="2473523"/>
            <a:ext cx="4815245" cy="328243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"/>
          <p:cNvSpPr/>
          <p:nvPr/>
        </p:nvSpPr>
        <p:spPr>
          <a:xfrm>
            <a:off x="939525" y="775800"/>
            <a:ext cx="7815600" cy="3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5250"/>
              <a:buFont typeface="Bitter Medium"/>
              <a:buNone/>
            </a:pPr>
            <a:r>
              <a:rPr b="0" i="0" lang="en-US" sz="52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Patrones de diseño: una herramienta esencial para el desarrollo de software</a:t>
            </a:r>
            <a:endParaRPr b="0" i="0" sz="5250" u="none" cap="none" strike="noStrike"/>
          </a:p>
        </p:txBody>
      </p:sp>
      <p:sp>
        <p:nvSpPr>
          <p:cNvPr id="76" name="Google Shape;76;p1"/>
          <p:cNvSpPr/>
          <p:nvPr/>
        </p:nvSpPr>
        <p:spPr>
          <a:xfrm>
            <a:off x="939522" y="4534138"/>
            <a:ext cx="7264956" cy="2147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100"/>
              <a:buFont typeface="Open Sans"/>
              <a:buNone/>
            </a:pPr>
            <a:r>
              <a:rPr b="0" i="0" lang="en-US" sz="2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patrones de diseño son soluciones probadas a problemas comunes de diseño de software. Proporcionan un marco estructurado para abordar desafíos recurrentes, mejorando la calidad, flexibilidad y mantenibilidad del código.</a:t>
            </a:r>
            <a:endParaRPr b="0" i="0" sz="2100" u="none" cap="none" strike="noStrike"/>
          </a:p>
        </p:txBody>
      </p:sp>
      <p:sp>
        <p:nvSpPr>
          <p:cNvPr id="77" name="Google Shape;77;p1"/>
          <p:cNvSpPr/>
          <p:nvPr/>
        </p:nvSpPr>
        <p:spPr>
          <a:xfrm>
            <a:off x="939522" y="7003971"/>
            <a:ext cx="429458" cy="429458"/>
          </a:xfrm>
          <a:prstGeom prst="roundRect">
            <a:avLst>
              <a:gd fmla="val 21289825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/>
          <p:nvPr/>
        </p:nvSpPr>
        <p:spPr>
          <a:xfrm>
            <a:off x="812375" y="1021550"/>
            <a:ext cx="136494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74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4550"/>
              <a:buFont typeface="Bitter Medium"/>
              <a:buNone/>
            </a:pPr>
            <a:r>
              <a:rPr b="0" i="0" lang="en-US" sz="45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Definición de patrones de diseño: conceptos clave</a:t>
            </a:r>
            <a:endParaRPr b="0" i="0" sz="4550" u="none" cap="none" strike="noStrike"/>
          </a:p>
        </p:txBody>
      </p:sp>
      <p:sp>
        <p:nvSpPr>
          <p:cNvPr id="84" name="Google Shape;84;p2"/>
          <p:cNvSpPr/>
          <p:nvPr/>
        </p:nvSpPr>
        <p:spPr>
          <a:xfrm>
            <a:off x="812363" y="2327077"/>
            <a:ext cx="2826663" cy="725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250"/>
              <a:buFont typeface="Bitter Medium"/>
              <a:buNone/>
            </a:pPr>
            <a:r>
              <a:rPr b="0" i="0" lang="en-US" sz="22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¿Qué son los patrones de diseño?</a:t>
            </a:r>
            <a:endParaRPr b="0" i="0" sz="2250" u="none" cap="none" strike="noStrike"/>
          </a:p>
        </p:txBody>
      </p:sp>
      <p:sp>
        <p:nvSpPr>
          <p:cNvPr id="85" name="Google Shape;85;p2"/>
          <p:cNvSpPr/>
          <p:nvPr/>
        </p:nvSpPr>
        <p:spPr>
          <a:xfrm>
            <a:off x="812363" y="3284458"/>
            <a:ext cx="2826663" cy="3343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800"/>
              <a:buFont typeface="Open Sans"/>
              <a:buNone/>
            </a:pPr>
            <a:r>
              <a:rPr b="0" i="0" lang="en-US" sz="18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patrones de diseño son soluciones probadas y efectivas a problemas comunes que surgen en el diseño de software. Representan buenas prácticas que han demostrado su eficacia a lo largo del tiempo.</a:t>
            </a:r>
            <a:endParaRPr b="0" i="0" sz="1800" u="none" cap="none" strike="noStrike"/>
          </a:p>
        </p:txBody>
      </p:sp>
      <p:sp>
        <p:nvSpPr>
          <p:cNvPr id="86" name="Google Shape;86;p2"/>
          <p:cNvSpPr/>
          <p:nvPr/>
        </p:nvSpPr>
        <p:spPr>
          <a:xfrm>
            <a:off x="4212908" y="2327077"/>
            <a:ext cx="2826663" cy="725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250"/>
              <a:buFont typeface="Bitter Medium"/>
              <a:buNone/>
            </a:pPr>
            <a:r>
              <a:rPr b="0" i="0" lang="en-US" sz="22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Propósito de los patrones</a:t>
            </a:r>
            <a:endParaRPr b="0" i="0" sz="2250" u="none" cap="none" strike="noStrike"/>
          </a:p>
        </p:txBody>
      </p:sp>
      <p:sp>
        <p:nvSpPr>
          <p:cNvPr id="87" name="Google Shape;87;p2"/>
          <p:cNvSpPr/>
          <p:nvPr/>
        </p:nvSpPr>
        <p:spPr>
          <a:xfrm>
            <a:off x="4212908" y="3284458"/>
            <a:ext cx="2826663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800"/>
              <a:buFont typeface="Open Sans"/>
              <a:buNone/>
            </a:pPr>
            <a:r>
              <a:rPr b="0" i="0" lang="en-US" sz="18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Su objetivo es proporcionar un lenguaje común y estructurado para comunicar soluciones de diseño efectivas entre desarrolladores. Ayudan a resolver problemas recurrentes de una manera elegante y reutilizable.</a:t>
            </a:r>
            <a:endParaRPr b="0" i="0" sz="1800" u="none" cap="none" strike="noStrike"/>
          </a:p>
        </p:txBody>
      </p:sp>
      <p:sp>
        <p:nvSpPr>
          <p:cNvPr id="88" name="Google Shape;88;p2"/>
          <p:cNvSpPr/>
          <p:nvPr/>
        </p:nvSpPr>
        <p:spPr>
          <a:xfrm>
            <a:off x="7613452" y="2327077"/>
            <a:ext cx="2826663" cy="725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250"/>
              <a:buFont typeface="Bitter Medium"/>
              <a:buNone/>
            </a:pPr>
            <a:r>
              <a:rPr b="0" i="0" lang="en-US" sz="22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Clasificación de patrones</a:t>
            </a:r>
            <a:endParaRPr b="0" i="0" sz="2250" u="none" cap="none" strike="noStrike"/>
          </a:p>
        </p:txBody>
      </p:sp>
      <p:sp>
        <p:nvSpPr>
          <p:cNvPr id="89" name="Google Shape;89;p2"/>
          <p:cNvSpPr/>
          <p:nvPr/>
        </p:nvSpPr>
        <p:spPr>
          <a:xfrm>
            <a:off x="7613452" y="3284458"/>
            <a:ext cx="2826663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800"/>
              <a:buFont typeface="Open Sans"/>
              <a:buNone/>
            </a:pPr>
            <a:r>
              <a:rPr b="0" i="0" lang="en-US" sz="18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Existen diferentes categorías de patrones de diseño, como creacionales, estructurales y de comportamiento, cada una abordando desafíos específicos en el diseño de software.</a:t>
            </a:r>
            <a:endParaRPr b="0" i="0" sz="1800" u="none" cap="none" strike="noStrike"/>
          </a:p>
        </p:txBody>
      </p:sp>
      <p:sp>
        <p:nvSpPr>
          <p:cNvPr id="90" name="Google Shape;90;p2"/>
          <p:cNvSpPr/>
          <p:nvPr/>
        </p:nvSpPr>
        <p:spPr>
          <a:xfrm>
            <a:off x="11013996" y="2327077"/>
            <a:ext cx="2826663" cy="362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250"/>
              <a:buFont typeface="Bitter Medium"/>
              <a:buNone/>
            </a:pPr>
            <a:r>
              <a:rPr b="0" i="0" lang="en-US" sz="22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Beneficios clave</a:t>
            </a:r>
            <a:endParaRPr b="0" i="0" sz="2250" u="none" cap="none" strike="noStrike"/>
          </a:p>
        </p:txBody>
      </p:sp>
      <p:sp>
        <p:nvSpPr>
          <p:cNvPr id="91" name="Google Shape;91;p2"/>
          <p:cNvSpPr/>
          <p:nvPr/>
        </p:nvSpPr>
        <p:spPr>
          <a:xfrm>
            <a:off x="11013996" y="2921794"/>
            <a:ext cx="2826663" cy="2600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800"/>
              <a:buFont typeface="Open Sans"/>
              <a:buNone/>
            </a:pPr>
            <a:r>
              <a:rPr b="0" i="0" lang="en-US" sz="18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patrones de diseño mejoran la claridad, mantenibilidad y escalabilidad del código, al tiempo que facilitan la comunicación y el trabajo en equipo.</a:t>
            </a:r>
            <a:endParaRPr b="0" i="0" sz="18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923198" y="725450"/>
            <a:ext cx="117987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42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5150"/>
              <a:buFont typeface="Bitter Medium"/>
              <a:buNone/>
            </a:pPr>
            <a:r>
              <a:rPr b="0" i="0" lang="en-US" sz="51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Propósito de los patrones de diseño</a:t>
            </a:r>
            <a:endParaRPr b="0" i="0" sz="5150" u="none" cap="none" strike="noStrike"/>
          </a:p>
        </p:txBody>
      </p:sp>
      <p:pic>
        <p:nvPicPr>
          <p:cNvPr descr="preencoded.png"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211" y="2077283"/>
            <a:ext cx="3997523" cy="247054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/>
          <p:nvPr/>
        </p:nvSpPr>
        <p:spPr>
          <a:xfrm>
            <a:off x="923198" y="4877525"/>
            <a:ext cx="42825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550"/>
              <a:buFont typeface="Bitter Medium"/>
              <a:buNone/>
            </a:pPr>
            <a:r>
              <a:rPr b="0" i="0" lang="en-US" sz="25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Resolución de Problemas</a:t>
            </a:r>
            <a:endParaRPr b="0" i="0" sz="2550" u="none" cap="none" strike="noStrike"/>
          </a:p>
        </p:txBody>
      </p:sp>
      <p:sp>
        <p:nvSpPr>
          <p:cNvPr id="100" name="Google Shape;100;p3"/>
          <p:cNvSpPr/>
          <p:nvPr/>
        </p:nvSpPr>
        <p:spPr>
          <a:xfrm>
            <a:off x="923211" y="5447943"/>
            <a:ext cx="3997523" cy="2110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975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050"/>
              <a:buFont typeface="Open Sans"/>
              <a:buNone/>
            </a:pPr>
            <a:r>
              <a:rPr b="0" i="0" lang="en-US" sz="20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patrones de diseño ofrecen soluciones probadas a problemas comunes de diseño de software, ahorrando tiempo y esfuerzo en el desarrollo.</a:t>
            </a:r>
            <a:endParaRPr b="0" i="0" sz="2050" u="none" cap="none" strike="noStrike"/>
          </a:p>
        </p:txBody>
      </p:sp>
      <p:pic>
        <p:nvPicPr>
          <p:cNvPr descr="preencoded.png" id="101" name="Google Shape;10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6379" y="2077283"/>
            <a:ext cx="3997523" cy="24705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5316374" y="4877525"/>
            <a:ext cx="43932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550"/>
              <a:buFont typeface="Bitter Medium"/>
              <a:buNone/>
            </a:pPr>
            <a:r>
              <a:rPr b="0" i="0" lang="en-US" sz="25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Adoptar Mejores Prácticas</a:t>
            </a:r>
            <a:endParaRPr b="0" i="0" sz="2550" u="none" cap="none" strike="noStrike"/>
          </a:p>
        </p:txBody>
      </p:sp>
      <p:sp>
        <p:nvSpPr>
          <p:cNvPr id="103" name="Google Shape;103;p3"/>
          <p:cNvSpPr/>
          <p:nvPr/>
        </p:nvSpPr>
        <p:spPr>
          <a:xfrm>
            <a:off x="5316379" y="5447943"/>
            <a:ext cx="3997523" cy="2110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975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050"/>
              <a:buFont typeface="Open Sans"/>
              <a:buNone/>
            </a:pPr>
            <a:r>
              <a:rPr b="0" i="0" lang="en-US" sz="20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patrones de diseño capturan el conocimiento y la experiencia de desarrolladores expertos, permitiendo a los equipos aplicar soluciones probadas.</a:t>
            </a:r>
            <a:endParaRPr b="0" i="0" sz="2050" u="none" cap="none" strike="noStrike"/>
          </a:p>
        </p:txBody>
      </p:sp>
      <p:pic>
        <p:nvPicPr>
          <p:cNvPr descr="preencoded.png" id="104" name="Google Shape;10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09547" y="2077283"/>
            <a:ext cx="3997523" cy="247054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/>
          <p:nvPr/>
        </p:nvSpPr>
        <p:spPr>
          <a:xfrm>
            <a:off x="9709551" y="4877525"/>
            <a:ext cx="43932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550"/>
              <a:buFont typeface="Bitter Medium"/>
              <a:buNone/>
            </a:pPr>
            <a:r>
              <a:rPr b="0" i="0" lang="en-US" sz="25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Reutilización de Código</a:t>
            </a:r>
            <a:endParaRPr b="0" i="0" sz="2550" u="none" cap="none" strike="noStrike"/>
          </a:p>
        </p:txBody>
      </p:sp>
      <p:sp>
        <p:nvSpPr>
          <p:cNvPr id="106" name="Google Shape;106;p3"/>
          <p:cNvSpPr/>
          <p:nvPr/>
        </p:nvSpPr>
        <p:spPr>
          <a:xfrm>
            <a:off x="9709547" y="5447943"/>
            <a:ext cx="3997523" cy="2110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975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050"/>
              <a:buFont typeface="Open Sans"/>
              <a:buNone/>
            </a:pPr>
            <a:r>
              <a:rPr b="0" i="0" lang="en-US" sz="20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patrones de diseño facilitan la reutilización de componentes de software, lo que aumenta la eficiencia y reduce los costos de desarrollo.</a:t>
            </a:r>
            <a:endParaRPr b="0" i="0" sz="20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2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95" y="2679383"/>
            <a:ext cx="5109210" cy="287393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6014451" y="414825"/>
            <a:ext cx="7751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23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950"/>
              <a:buFont typeface="Bitter Medium"/>
              <a:buNone/>
            </a:pPr>
            <a:r>
              <a:rPr b="0" i="0" lang="en-US" sz="29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Beneficios de aplicar patrones de diseño</a:t>
            </a:r>
            <a:endParaRPr b="0" i="0" sz="2950" u="none" cap="none" strike="noStrike"/>
          </a:p>
        </p:txBody>
      </p:sp>
      <p:pic>
        <p:nvPicPr>
          <p:cNvPr descr="preencoded.png" id="115" name="Google Shape;11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4442" y="1112520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/>
          <p:nvPr/>
        </p:nvSpPr>
        <p:spPr>
          <a:xfrm>
            <a:off x="6014442" y="1640562"/>
            <a:ext cx="1885950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50"/>
              <a:buFont typeface="Bitter Medium"/>
              <a:buNone/>
            </a:pPr>
            <a:r>
              <a:rPr b="0" i="0" lang="en-US" sz="14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Ahorro de tiempo</a:t>
            </a:r>
            <a:endParaRPr b="0" i="0" sz="1450" u="none" cap="none" strike="noStrike"/>
          </a:p>
        </p:txBody>
      </p:sp>
      <p:sp>
        <p:nvSpPr>
          <p:cNvPr id="117" name="Google Shape;117;p4"/>
          <p:cNvSpPr/>
          <p:nvPr/>
        </p:nvSpPr>
        <p:spPr>
          <a:xfrm>
            <a:off x="6014442" y="1966793"/>
            <a:ext cx="8087916" cy="482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patrones de diseño proporcionan soluciones probadas y reutilizables, lo que reduce el tiempo y esfuerzo necesarios para resolver problemas de diseño comunes.</a:t>
            </a:r>
            <a:endParaRPr b="0" i="0" sz="1150" u="none" cap="none" strike="noStrike"/>
          </a:p>
        </p:txBody>
      </p:sp>
      <p:pic>
        <p:nvPicPr>
          <p:cNvPr descr="preencoded.png" id="118" name="Google Shape;11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4442" y="2902029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6014442" y="3430072"/>
            <a:ext cx="1885950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50"/>
              <a:buFont typeface="Bitter Medium"/>
              <a:buNone/>
            </a:pPr>
            <a:r>
              <a:rPr b="0" i="0" lang="en-US" sz="14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Mejora de calidad</a:t>
            </a:r>
            <a:endParaRPr b="0" i="0" sz="1450" u="none" cap="none" strike="noStrike"/>
          </a:p>
        </p:txBody>
      </p:sp>
      <p:sp>
        <p:nvSpPr>
          <p:cNvPr id="120" name="Google Shape;120;p4"/>
          <p:cNvSpPr/>
          <p:nvPr/>
        </p:nvSpPr>
        <p:spPr>
          <a:xfrm>
            <a:off x="6014442" y="3756303"/>
            <a:ext cx="8087916" cy="482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Al aplicar patrones de diseño, se obtienen diseños más robustos, flexibles y escalables, lo que se traduce en software de mayor calidad.</a:t>
            </a:r>
            <a:endParaRPr b="0" i="0" sz="1150" u="none" cap="none" strike="noStrike"/>
          </a:p>
        </p:txBody>
      </p:sp>
      <p:pic>
        <p:nvPicPr>
          <p:cNvPr descr="preencoded.png" id="121" name="Google Shape;12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14442" y="4691539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6014442" y="5219581"/>
            <a:ext cx="1885950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50"/>
              <a:buFont typeface="Bitter Medium"/>
              <a:buNone/>
            </a:pPr>
            <a:r>
              <a:rPr b="0" i="0" lang="en-US" sz="14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Mejor comunicación</a:t>
            </a:r>
            <a:endParaRPr b="0" i="0" sz="1450" u="none" cap="none" strike="noStrike"/>
          </a:p>
        </p:txBody>
      </p:sp>
      <p:sp>
        <p:nvSpPr>
          <p:cNvPr id="123" name="Google Shape;123;p4"/>
          <p:cNvSpPr/>
          <p:nvPr/>
        </p:nvSpPr>
        <p:spPr>
          <a:xfrm>
            <a:off x="6014442" y="5545812"/>
            <a:ext cx="8087916" cy="482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patrones de diseño permiten que los desarrolladores se entiendan mejor entre sí y con los demás miembros del equipo, facilitando la colaboración.</a:t>
            </a:r>
            <a:endParaRPr b="0" i="0" sz="1150" u="none" cap="none" strike="noStrike"/>
          </a:p>
        </p:txBody>
      </p:sp>
      <p:pic>
        <p:nvPicPr>
          <p:cNvPr descr="preencoded.png" id="124" name="Google Shape;12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14442" y="6481048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/>
          <p:nvPr/>
        </p:nvSpPr>
        <p:spPr>
          <a:xfrm>
            <a:off x="6014442" y="7009090"/>
            <a:ext cx="1885950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50"/>
              <a:buFont typeface="Bitter Medium"/>
              <a:buNone/>
            </a:pPr>
            <a:r>
              <a:rPr b="0" i="0" lang="en-US" sz="14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Aprendizaje continuo</a:t>
            </a:r>
            <a:endParaRPr b="0" i="0" sz="1450" u="none" cap="none" strike="noStrike"/>
          </a:p>
        </p:txBody>
      </p:sp>
      <p:sp>
        <p:nvSpPr>
          <p:cNvPr id="126" name="Google Shape;126;p4"/>
          <p:cNvSpPr/>
          <p:nvPr/>
        </p:nvSpPr>
        <p:spPr>
          <a:xfrm>
            <a:off x="6014442" y="7335322"/>
            <a:ext cx="8087916" cy="482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El estudio y aplicación de patrones de diseño ayuda a los desarrolladores a ampliar sus conocimientos y habilidades en diseño de software.</a:t>
            </a:r>
            <a:endParaRPr b="0" i="0" sz="11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79518" y="1105138"/>
            <a:ext cx="4815364" cy="601920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/>
          <p:nvPr/>
        </p:nvSpPr>
        <p:spPr>
          <a:xfrm>
            <a:off x="939525" y="785825"/>
            <a:ext cx="7937400" cy="25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5250"/>
              <a:buFont typeface="Bitter Medium"/>
              <a:buNone/>
            </a:pPr>
            <a:r>
              <a:rPr b="0" i="0" lang="en-US" sz="52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Importancia de los patrones de diseño en el desarrollo de software</a:t>
            </a:r>
            <a:endParaRPr b="0" i="0" sz="5250" u="none" cap="none" strike="noStrike"/>
          </a:p>
        </p:txBody>
      </p:sp>
      <p:sp>
        <p:nvSpPr>
          <p:cNvPr id="135" name="Google Shape;135;p5"/>
          <p:cNvSpPr/>
          <p:nvPr/>
        </p:nvSpPr>
        <p:spPr>
          <a:xfrm>
            <a:off x="939522" y="3705225"/>
            <a:ext cx="7264956" cy="171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100"/>
              <a:buFont typeface="Open Sans"/>
              <a:buNone/>
            </a:pPr>
            <a:r>
              <a:rPr b="0" i="0" lang="en-US" sz="2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patrones de diseño son fundamentales en el desarrollo de software moderno. Proporcionan soluciones probadas a problemas comunes de diseño, lo que permite a los equipos crear aplicaciones más robustas, escalables y mantenibles.</a:t>
            </a:r>
            <a:endParaRPr b="0" i="0" sz="2100" u="none" cap="none" strike="noStrike"/>
          </a:p>
        </p:txBody>
      </p:sp>
      <p:sp>
        <p:nvSpPr>
          <p:cNvPr id="136" name="Google Shape;136;p5"/>
          <p:cNvSpPr/>
          <p:nvPr/>
        </p:nvSpPr>
        <p:spPr>
          <a:xfrm>
            <a:off x="939522" y="6143052"/>
            <a:ext cx="7265100" cy="17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100"/>
              <a:buFont typeface="Open Sans"/>
              <a:buNone/>
            </a:pPr>
            <a:r>
              <a:rPr b="0" i="0" lang="en-US" sz="2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Al adoptar patrones de diseño, los desarrolladores pueden aprovechar décadas de experiencia y buenas prácticas, lo que acelera el proceso de desarrollo y reduce el riesgo de errores.</a:t>
            </a:r>
            <a:endParaRPr b="0" i="0" sz="21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3" name="Google Shape;14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8554" y="2185868"/>
            <a:ext cx="4997172" cy="385786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684848" y="686991"/>
            <a:ext cx="7774305" cy="1223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75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3850"/>
              <a:buFont typeface="Bitter Medium"/>
              <a:buNone/>
            </a:pPr>
            <a:r>
              <a:rPr b="0" i="0" lang="en-US" sz="38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Momentos clave para utilizar patrones de diseño</a:t>
            </a:r>
            <a:endParaRPr b="0" i="0" sz="3850" u="none" cap="none" strike="noStrike"/>
          </a:p>
        </p:txBody>
      </p:sp>
      <p:sp>
        <p:nvSpPr>
          <p:cNvPr id="145" name="Google Shape;145;p6"/>
          <p:cNvSpPr/>
          <p:nvPr/>
        </p:nvSpPr>
        <p:spPr>
          <a:xfrm>
            <a:off x="966907" y="2203490"/>
            <a:ext cx="22860" cy="5339120"/>
          </a:xfrm>
          <a:prstGeom prst="roundRect">
            <a:avLst>
              <a:gd fmla="val 359520" name="adj"/>
            </a:avLst>
          </a:prstGeom>
          <a:solidFill>
            <a:srgbClr val="E2C8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1175564" y="2632115"/>
            <a:ext cx="684848" cy="22860"/>
          </a:xfrm>
          <a:prstGeom prst="roundRect">
            <a:avLst>
              <a:gd fmla="val 359520" name="adj"/>
            </a:avLst>
          </a:prstGeom>
          <a:solidFill>
            <a:srgbClr val="E2C8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758250" y="2423517"/>
            <a:ext cx="440174" cy="440174"/>
          </a:xfrm>
          <a:prstGeom prst="roundRect">
            <a:avLst>
              <a:gd fmla="val 18671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921722" y="2496860"/>
            <a:ext cx="113109" cy="293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300"/>
              <a:buFont typeface="Bitter Medium"/>
              <a:buNone/>
            </a:pPr>
            <a:r>
              <a:rPr b="0" i="0" lang="en-US" sz="23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1</a:t>
            </a:r>
            <a:endParaRPr b="0" i="0" sz="2300" u="none" cap="none" strike="noStrike"/>
          </a:p>
        </p:txBody>
      </p:sp>
      <p:sp>
        <p:nvSpPr>
          <p:cNvPr id="149" name="Google Shape;149;p6"/>
          <p:cNvSpPr/>
          <p:nvPr/>
        </p:nvSpPr>
        <p:spPr>
          <a:xfrm>
            <a:off x="2054543" y="2399109"/>
            <a:ext cx="2446020" cy="305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Bitter Medium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Fase de diseño inicial</a:t>
            </a:r>
            <a:endParaRPr b="0" i="0" sz="1900" u="none" cap="none" strike="noStrike"/>
          </a:p>
        </p:txBody>
      </p:sp>
      <p:sp>
        <p:nvSpPr>
          <p:cNvPr id="150" name="Google Shape;150;p6"/>
          <p:cNvSpPr/>
          <p:nvPr/>
        </p:nvSpPr>
        <p:spPr>
          <a:xfrm>
            <a:off x="2054543" y="2822138"/>
            <a:ext cx="6404610" cy="93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patrones de diseño son particularmente útiles en las etapas tempranas del desarrollo de software, cuando se está definiendo la arquitectura y estructura general del sistema.</a:t>
            </a:r>
            <a:endParaRPr b="0" i="0" sz="1500" u="none" cap="none" strike="noStrike"/>
          </a:p>
        </p:txBody>
      </p:sp>
      <p:sp>
        <p:nvSpPr>
          <p:cNvPr id="151" name="Google Shape;151;p6"/>
          <p:cNvSpPr/>
          <p:nvPr/>
        </p:nvSpPr>
        <p:spPr>
          <a:xfrm>
            <a:off x="1175564" y="4581406"/>
            <a:ext cx="684848" cy="22860"/>
          </a:xfrm>
          <a:prstGeom prst="roundRect">
            <a:avLst>
              <a:gd fmla="val 359520" name="adj"/>
            </a:avLst>
          </a:prstGeom>
          <a:solidFill>
            <a:srgbClr val="E2C8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758250" y="4372808"/>
            <a:ext cx="440174" cy="440174"/>
          </a:xfrm>
          <a:prstGeom prst="roundRect">
            <a:avLst>
              <a:gd fmla="val 18671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901958" y="4446151"/>
            <a:ext cx="152638" cy="293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300"/>
              <a:buFont typeface="Bitter Medium"/>
              <a:buNone/>
            </a:pPr>
            <a:r>
              <a:rPr b="0" i="0" lang="en-US" sz="23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2</a:t>
            </a:r>
            <a:endParaRPr b="0" i="0" sz="2300" u="none" cap="none" strike="noStrike"/>
          </a:p>
        </p:txBody>
      </p:sp>
      <p:sp>
        <p:nvSpPr>
          <p:cNvPr id="154" name="Google Shape;154;p6"/>
          <p:cNvSpPr/>
          <p:nvPr/>
        </p:nvSpPr>
        <p:spPr>
          <a:xfrm>
            <a:off x="2054553" y="4348400"/>
            <a:ext cx="36384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Bitter Medium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Problemas recurrentes</a:t>
            </a:r>
            <a:endParaRPr b="0" i="0" sz="1900" u="none" cap="none" strike="noStrike"/>
          </a:p>
        </p:txBody>
      </p:sp>
      <p:sp>
        <p:nvSpPr>
          <p:cNvPr id="155" name="Google Shape;155;p6"/>
          <p:cNvSpPr/>
          <p:nvPr/>
        </p:nvSpPr>
        <p:spPr>
          <a:xfrm>
            <a:off x="2054543" y="4771430"/>
            <a:ext cx="6404610" cy="626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Cuando se identifica un problema de diseño que se repite a lo largo del proyecto, los patrones pueden ofrecer soluciones probadas y eficaces.</a:t>
            </a:r>
            <a:endParaRPr b="0" i="0" sz="1500" u="none" cap="none" strike="noStrike"/>
          </a:p>
        </p:txBody>
      </p:sp>
      <p:sp>
        <p:nvSpPr>
          <p:cNvPr id="156" name="Google Shape;156;p6"/>
          <p:cNvSpPr/>
          <p:nvPr/>
        </p:nvSpPr>
        <p:spPr>
          <a:xfrm>
            <a:off x="1175564" y="6217563"/>
            <a:ext cx="684848" cy="22860"/>
          </a:xfrm>
          <a:prstGeom prst="roundRect">
            <a:avLst>
              <a:gd fmla="val 359520" name="adj"/>
            </a:avLst>
          </a:prstGeom>
          <a:solidFill>
            <a:srgbClr val="E2C8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758250" y="6008965"/>
            <a:ext cx="440174" cy="440174"/>
          </a:xfrm>
          <a:prstGeom prst="roundRect">
            <a:avLst>
              <a:gd fmla="val 18671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898743" y="6082308"/>
            <a:ext cx="159187" cy="293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300"/>
              <a:buFont typeface="Bitter Medium"/>
              <a:buNone/>
            </a:pPr>
            <a:r>
              <a:rPr b="0" i="0" lang="en-US" sz="23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3</a:t>
            </a:r>
            <a:endParaRPr b="0" i="0" sz="2300" u="none" cap="none" strike="noStrike"/>
          </a:p>
        </p:txBody>
      </p:sp>
      <p:sp>
        <p:nvSpPr>
          <p:cNvPr id="159" name="Google Shape;159;p6"/>
          <p:cNvSpPr/>
          <p:nvPr/>
        </p:nvSpPr>
        <p:spPr>
          <a:xfrm>
            <a:off x="2054554" y="5984550"/>
            <a:ext cx="45084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Bitter Medium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Mantenimiento y evolución</a:t>
            </a:r>
            <a:endParaRPr b="0" i="0" sz="1900" u="none" cap="none" strike="noStrike"/>
          </a:p>
        </p:txBody>
      </p:sp>
      <p:sp>
        <p:nvSpPr>
          <p:cNvPr id="160" name="Google Shape;160;p6"/>
          <p:cNvSpPr/>
          <p:nvPr/>
        </p:nvSpPr>
        <p:spPr>
          <a:xfrm>
            <a:off x="2054543" y="6407587"/>
            <a:ext cx="6404610" cy="93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patrones de diseño facilitan el mantenimiento y la evolución del software a lo largo del tiempo, al proporcionar una estructura modular y coherente.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6" name="Google Shape;1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7" name="Google Shape;1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9979" y="2025610"/>
            <a:ext cx="5054322" cy="417826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/>
          <p:nvPr/>
        </p:nvSpPr>
        <p:spPr>
          <a:xfrm>
            <a:off x="604957" y="610672"/>
            <a:ext cx="7934087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3400"/>
              <a:buFont typeface="Bitter Medium"/>
              <a:buNone/>
            </a:pPr>
            <a:r>
              <a:rPr b="0" i="0" lang="en-US" sz="34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Notaciones comunes en patrones de diseño</a:t>
            </a:r>
            <a:endParaRPr b="0" i="0" sz="3400" u="none" cap="none" strike="noStrike"/>
          </a:p>
        </p:txBody>
      </p:sp>
      <p:sp>
        <p:nvSpPr>
          <p:cNvPr id="169" name="Google Shape;169;p7"/>
          <p:cNvSpPr/>
          <p:nvPr/>
        </p:nvSpPr>
        <p:spPr>
          <a:xfrm>
            <a:off x="604957" y="1950006"/>
            <a:ext cx="7934087" cy="1287661"/>
          </a:xfrm>
          <a:prstGeom prst="roundRect">
            <a:avLst>
              <a:gd fmla="val 5638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785336" y="2130385"/>
            <a:ext cx="2160627" cy="27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Bitter Medium"/>
              <a:buNone/>
            </a:pPr>
            <a:r>
              <a:rPr b="0" i="0" lang="en-US" sz="17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Diagramas UML</a:t>
            </a:r>
            <a:endParaRPr b="0" i="0" sz="1700" u="none" cap="none" strike="noStrike"/>
          </a:p>
        </p:txBody>
      </p:sp>
      <p:sp>
        <p:nvSpPr>
          <p:cNvPr id="171" name="Google Shape;171;p7"/>
          <p:cNvSpPr/>
          <p:nvPr/>
        </p:nvSpPr>
        <p:spPr>
          <a:xfrm>
            <a:off x="785336" y="2504123"/>
            <a:ext cx="7573327" cy="553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350"/>
              <a:buFont typeface="Open Sans"/>
              <a:buNone/>
            </a:pPr>
            <a:r>
              <a:rPr b="0" i="0" lang="en-US" sz="13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diagramas de Lenguaje de Modelado Unificado (UML) son ampliamente utilizados para representar visualmente la estructura y el comportamiento de los patrones de diseño.</a:t>
            </a:r>
            <a:endParaRPr b="0" i="0" sz="1350" u="none" cap="none" strike="noStrike"/>
          </a:p>
        </p:txBody>
      </p:sp>
      <p:sp>
        <p:nvSpPr>
          <p:cNvPr id="172" name="Google Shape;172;p7"/>
          <p:cNvSpPr/>
          <p:nvPr/>
        </p:nvSpPr>
        <p:spPr>
          <a:xfrm>
            <a:off x="604957" y="3410426"/>
            <a:ext cx="7934087" cy="1287661"/>
          </a:xfrm>
          <a:prstGeom prst="roundRect">
            <a:avLst>
              <a:gd fmla="val 5638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785318" y="3590800"/>
            <a:ext cx="38463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Bitter Medium"/>
              <a:buNone/>
            </a:pPr>
            <a:r>
              <a:rPr b="0" i="0" lang="en-US" sz="17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Descripciones Textuales</a:t>
            </a:r>
            <a:endParaRPr b="0" i="0" sz="1700" u="none" cap="none" strike="noStrike"/>
          </a:p>
        </p:txBody>
      </p:sp>
      <p:sp>
        <p:nvSpPr>
          <p:cNvPr id="174" name="Google Shape;174;p7"/>
          <p:cNvSpPr/>
          <p:nvPr/>
        </p:nvSpPr>
        <p:spPr>
          <a:xfrm>
            <a:off x="785336" y="3964543"/>
            <a:ext cx="7573327" cy="553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350"/>
              <a:buFont typeface="Open Sans"/>
              <a:buNone/>
            </a:pPr>
            <a:r>
              <a:rPr b="0" i="0" lang="en-US" sz="13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Las descripciones textuales detalladas ayudan a comprender los componentes clave, las responsabilidades y las interacciones de los patrones de diseño.</a:t>
            </a:r>
            <a:endParaRPr b="0" i="0" sz="1350" u="none" cap="none" strike="noStrike"/>
          </a:p>
        </p:txBody>
      </p:sp>
      <p:sp>
        <p:nvSpPr>
          <p:cNvPr id="175" name="Google Shape;175;p7"/>
          <p:cNvSpPr/>
          <p:nvPr/>
        </p:nvSpPr>
        <p:spPr>
          <a:xfrm>
            <a:off x="604957" y="4870847"/>
            <a:ext cx="7934087" cy="1287661"/>
          </a:xfrm>
          <a:prstGeom prst="roundRect">
            <a:avLst>
              <a:gd fmla="val 5638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785336" y="5051227"/>
            <a:ext cx="2160627" cy="27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Bitter Medium"/>
              <a:buNone/>
            </a:pPr>
            <a:r>
              <a:rPr b="0" i="0" lang="en-US" sz="17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Ejemplos de Código</a:t>
            </a:r>
            <a:endParaRPr b="0" i="0" sz="1700" u="none" cap="none" strike="noStrike"/>
          </a:p>
        </p:txBody>
      </p:sp>
      <p:sp>
        <p:nvSpPr>
          <p:cNvPr id="177" name="Google Shape;177;p7"/>
          <p:cNvSpPr/>
          <p:nvPr/>
        </p:nvSpPr>
        <p:spPr>
          <a:xfrm>
            <a:off x="785336" y="5424964"/>
            <a:ext cx="7573327" cy="553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350"/>
              <a:buFont typeface="Open Sans"/>
              <a:buNone/>
            </a:pPr>
            <a:r>
              <a:rPr b="0" i="0" lang="en-US" sz="13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Fragmentos de código de muestra ilustran cómo implementar y aplicar los patrones de diseño en un contexto de programación.</a:t>
            </a:r>
            <a:endParaRPr b="0" i="0" sz="1350" u="none" cap="none" strike="noStrike"/>
          </a:p>
        </p:txBody>
      </p:sp>
      <p:sp>
        <p:nvSpPr>
          <p:cNvPr id="178" name="Google Shape;178;p7"/>
          <p:cNvSpPr/>
          <p:nvPr/>
        </p:nvSpPr>
        <p:spPr>
          <a:xfrm>
            <a:off x="604957" y="6331268"/>
            <a:ext cx="7934087" cy="1287661"/>
          </a:xfrm>
          <a:prstGeom prst="roundRect">
            <a:avLst>
              <a:gd fmla="val 5638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785320" y="6511650"/>
            <a:ext cx="33939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Bitter Medium"/>
              <a:buNone/>
            </a:pPr>
            <a:r>
              <a:rPr b="0" i="0" lang="en-US" sz="17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Diagramas de Secuencia</a:t>
            </a:r>
            <a:endParaRPr b="0" i="0" sz="1700" u="none" cap="none" strike="noStrike"/>
          </a:p>
        </p:txBody>
      </p:sp>
      <p:sp>
        <p:nvSpPr>
          <p:cNvPr id="180" name="Google Shape;180;p7"/>
          <p:cNvSpPr/>
          <p:nvPr/>
        </p:nvSpPr>
        <p:spPr>
          <a:xfrm>
            <a:off x="785336" y="6885384"/>
            <a:ext cx="7573327" cy="553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350"/>
              <a:buFont typeface="Open Sans"/>
              <a:buNone/>
            </a:pPr>
            <a:r>
              <a:rPr b="0" i="0" lang="en-US" sz="13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diagramas de secuencia muestran el flujo de ejecución y la comunicación entre los objetos involucrados en un patrón de diseño.</a:t>
            </a:r>
            <a:endParaRPr b="0" i="0" sz="13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/>
          <p:nvPr/>
        </p:nvSpPr>
        <p:spPr>
          <a:xfrm>
            <a:off x="939525" y="826050"/>
            <a:ext cx="132090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5250"/>
              <a:buFont typeface="Bitter Medium"/>
              <a:buNone/>
            </a:pPr>
            <a:r>
              <a:rPr b="0" i="0" lang="en-US" sz="52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Descripción de las notaciones de patrones</a:t>
            </a:r>
            <a:endParaRPr b="0" i="0" sz="5250" u="none" cap="none" strike="noStrike"/>
          </a:p>
        </p:txBody>
      </p:sp>
      <p:sp>
        <p:nvSpPr>
          <p:cNvPr id="187" name="Google Shape;187;p8"/>
          <p:cNvSpPr/>
          <p:nvPr/>
        </p:nvSpPr>
        <p:spPr>
          <a:xfrm>
            <a:off x="939522" y="2201823"/>
            <a:ext cx="12751356" cy="1288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100"/>
              <a:buFont typeface="Open Sans"/>
              <a:buNone/>
            </a:pPr>
            <a:r>
              <a:rPr b="0" i="0" lang="en-US" sz="2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patrones de diseño se representan utilizando notaciones estandarizadas que permiten comunicar de manera clara y concisa la estructura y comportamiento de un patrón. Algunas de las notaciones más comunes incluyen diagramas de clases UML, diagramas de secuencia y diagramas de estructura.</a:t>
            </a:r>
            <a:endParaRPr b="0" i="0" sz="2100" u="none" cap="none" strike="noStrike"/>
          </a:p>
        </p:txBody>
      </p:sp>
      <p:sp>
        <p:nvSpPr>
          <p:cNvPr id="188" name="Google Shape;188;p8"/>
          <p:cNvSpPr/>
          <p:nvPr/>
        </p:nvSpPr>
        <p:spPr>
          <a:xfrm>
            <a:off x="939522" y="3792498"/>
            <a:ext cx="12751356" cy="859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100"/>
              <a:buFont typeface="Open Sans"/>
              <a:buNone/>
            </a:pPr>
            <a:r>
              <a:rPr b="1" i="0" lang="en-US" sz="2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Diagramas de clases UML:</a:t>
            </a:r>
            <a:r>
              <a:rPr b="0" i="0" lang="en-US" sz="2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Estos diagramas muestran las clases involucradas en un patrón y las relaciones entre ellas, como herencia, composición y agregación.</a:t>
            </a:r>
            <a:endParaRPr b="0" i="0" sz="2100" u="none" cap="none" strike="noStrike"/>
          </a:p>
        </p:txBody>
      </p:sp>
      <p:sp>
        <p:nvSpPr>
          <p:cNvPr id="189" name="Google Shape;189;p8"/>
          <p:cNvSpPr/>
          <p:nvPr/>
        </p:nvSpPr>
        <p:spPr>
          <a:xfrm>
            <a:off x="939522" y="4953595"/>
            <a:ext cx="12751356" cy="859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100"/>
              <a:buFont typeface="Open Sans"/>
              <a:buNone/>
            </a:pPr>
            <a:r>
              <a:rPr b="0" i="1" lang="en-US" sz="2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Diagramas de secuencia:</a:t>
            </a:r>
            <a:r>
              <a:rPr b="0" i="0" lang="en-US" sz="2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Ilustran la interacción entre los objetos a lo largo del tiempo, capturando el flujo de mensajes y la cronología de las acciones.</a:t>
            </a:r>
            <a:endParaRPr b="0" i="0" sz="2100" u="none" cap="none" strike="noStrike"/>
          </a:p>
        </p:txBody>
      </p:sp>
      <p:sp>
        <p:nvSpPr>
          <p:cNvPr id="190" name="Google Shape;190;p8"/>
          <p:cNvSpPr/>
          <p:nvPr/>
        </p:nvSpPr>
        <p:spPr>
          <a:xfrm>
            <a:off x="939522" y="6114693"/>
            <a:ext cx="12751356" cy="1288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100"/>
              <a:buFont typeface="Open Sans"/>
              <a:buNone/>
            </a:pPr>
            <a:r>
              <a:rPr b="0" i="0" lang="en-US" sz="2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Las </a:t>
            </a:r>
            <a:r>
              <a:rPr b="1" i="0" lang="en-US" sz="2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notaciones de patrones</a:t>
            </a:r>
            <a:r>
              <a:rPr b="0" i="0" lang="en-US" sz="2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permiten representar de manera estandarizada y comprensible los elementos clave de un patrón de diseño, facilitando su documentación, enseñanza y aplicación en proyectos de software.</a:t>
            </a:r>
            <a:endParaRPr b="0" i="0" sz="21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/>
          <p:nvPr/>
        </p:nvSpPr>
        <p:spPr>
          <a:xfrm>
            <a:off x="650452" y="807950"/>
            <a:ext cx="124542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57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3650"/>
              <a:buFont typeface="Bitter Medium"/>
              <a:buNone/>
            </a:pPr>
            <a:r>
              <a:rPr b="0" i="0" lang="en-US" sz="36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Contexto de diseño: cuándo y cómo aplicar patrones</a:t>
            </a:r>
            <a:endParaRPr b="0" i="0" sz="3650" u="none" cap="none" strike="noStrike"/>
          </a:p>
        </p:txBody>
      </p:sp>
      <p:sp>
        <p:nvSpPr>
          <p:cNvPr id="197" name="Google Shape;197;p9"/>
          <p:cNvSpPr/>
          <p:nvPr/>
        </p:nvSpPr>
        <p:spPr>
          <a:xfrm>
            <a:off x="650438" y="1760220"/>
            <a:ext cx="1666161" cy="1070491"/>
          </a:xfrm>
          <a:prstGeom prst="roundRect">
            <a:avLst>
              <a:gd fmla="val 7291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843796" y="2109668"/>
            <a:ext cx="89416" cy="371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800"/>
              <a:buFont typeface="Bitter Medium"/>
              <a:buNone/>
            </a:pPr>
            <a:r>
              <a:rPr b="0" i="0" lang="en-US" sz="18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1</a:t>
            </a:r>
            <a:endParaRPr b="0" i="0" sz="1800" u="none" cap="none" strike="noStrike"/>
          </a:p>
        </p:txBody>
      </p:sp>
      <p:sp>
        <p:nvSpPr>
          <p:cNvPr id="199" name="Google Shape;199;p9"/>
          <p:cNvSpPr/>
          <p:nvPr/>
        </p:nvSpPr>
        <p:spPr>
          <a:xfrm>
            <a:off x="2502317" y="1945950"/>
            <a:ext cx="42171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800"/>
              <a:buFont typeface="Bitter Medium"/>
              <a:buNone/>
            </a:pPr>
            <a:r>
              <a:rPr b="0" i="0" lang="en-US" sz="18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Evaluación del problema</a:t>
            </a:r>
            <a:endParaRPr b="0" i="0" sz="1800" u="none" cap="none" strike="noStrike"/>
          </a:p>
        </p:txBody>
      </p:sp>
      <p:sp>
        <p:nvSpPr>
          <p:cNvPr id="200" name="Google Shape;200;p9"/>
          <p:cNvSpPr/>
          <p:nvPr/>
        </p:nvSpPr>
        <p:spPr>
          <a:xfrm>
            <a:off x="2502337" y="2347674"/>
            <a:ext cx="6186368" cy="29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Analizar detenidamente el problema a resolver y entender su complejidad.</a:t>
            </a:r>
            <a:endParaRPr b="0" i="0" sz="1450" u="none" cap="none" strike="noStrike"/>
          </a:p>
        </p:txBody>
      </p:sp>
      <p:sp>
        <p:nvSpPr>
          <p:cNvPr id="201" name="Google Shape;201;p9"/>
          <p:cNvSpPr/>
          <p:nvPr/>
        </p:nvSpPr>
        <p:spPr>
          <a:xfrm>
            <a:off x="2409468" y="2821186"/>
            <a:ext cx="11477625" cy="11430"/>
          </a:xfrm>
          <a:prstGeom prst="roundRect">
            <a:avLst>
              <a:gd fmla="val 682878" name="adj"/>
            </a:avLst>
          </a:prstGeom>
          <a:solidFill>
            <a:srgbClr val="E2C8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650438" y="2923580"/>
            <a:ext cx="3332321" cy="1070491"/>
          </a:xfrm>
          <a:prstGeom prst="roundRect">
            <a:avLst>
              <a:gd fmla="val 7291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843796" y="3273028"/>
            <a:ext cx="120729" cy="371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800"/>
              <a:buFont typeface="Bitter Medium"/>
              <a:buNone/>
            </a:pPr>
            <a:r>
              <a:rPr b="0" i="0" lang="en-US" sz="18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2</a:t>
            </a:r>
            <a:endParaRPr b="0" i="0" sz="1800" u="none" cap="none" strike="noStrike"/>
          </a:p>
        </p:txBody>
      </p:sp>
      <p:sp>
        <p:nvSpPr>
          <p:cNvPr id="204" name="Google Shape;204;p9"/>
          <p:cNvSpPr/>
          <p:nvPr/>
        </p:nvSpPr>
        <p:spPr>
          <a:xfrm>
            <a:off x="4168503" y="3109325"/>
            <a:ext cx="46215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800"/>
              <a:buFont typeface="Bitter Medium"/>
              <a:buNone/>
            </a:pPr>
            <a:r>
              <a:rPr b="0" i="0" lang="en-US" sz="18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Selección de patrones</a:t>
            </a:r>
            <a:endParaRPr b="0" i="0" sz="1800" u="none" cap="none" strike="noStrike"/>
          </a:p>
        </p:txBody>
      </p:sp>
      <p:sp>
        <p:nvSpPr>
          <p:cNvPr id="205" name="Google Shape;205;p9"/>
          <p:cNvSpPr/>
          <p:nvPr/>
        </p:nvSpPr>
        <p:spPr>
          <a:xfrm>
            <a:off x="4168497" y="3511034"/>
            <a:ext cx="5964793" cy="29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Elegir los patrones de diseño más adecuados para abordar el problema.</a:t>
            </a:r>
            <a:endParaRPr b="0" i="0" sz="1450" u="none" cap="none" strike="noStrike"/>
          </a:p>
        </p:txBody>
      </p:sp>
      <p:sp>
        <p:nvSpPr>
          <p:cNvPr id="206" name="Google Shape;206;p9"/>
          <p:cNvSpPr/>
          <p:nvPr/>
        </p:nvSpPr>
        <p:spPr>
          <a:xfrm>
            <a:off x="4075628" y="3984546"/>
            <a:ext cx="9811464" cy="11430"/>
          </a:xfrm>
          <a:prstGeom prst="roundRect">
            <a:avLst>
              <a:gd fmla="val 682878" name="adj"/>
            </a:avLst>
          </a:prstGeom>
          <a:solidFill>
            <a:srgbClr val="E2C8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650438" y="4086939"/>
            <a:ext cx="4998482" cy="1070491"/>
          </a:xfrm>
          <a:prstGeom prst="roundRect">
            <a:avLst>
              <a:gd fmla="val 7291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843796" y="4436388"/>
            <a:ext cx="125849" cy="371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800"/>
              <a:buFont typeface="Bitter Medium"/>
              <a:buNone/>
            </a:pPr>
            <a:r>
              <a:rPr b="0" i="0" lang="en-US" sz="18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3</a:t>
            </a:r>
            <a:endParaRPr b="0" i="0" sz="1800" u="none" cap="none" strike="noStrike"/>
          </a:p>
        </p:txBody>
      </p:sp>
      <p:sp>
        <p:nvSpPr>
          <p:cNvPr id="209" name="Google Shape;209;p9"/>
          <p:cNvSpPr/>
          <p:nvPr/>
        </p:nvSpPr>
        <p:spPr>
          <a:xfrm>
            <a:off x="5834644" y="4272675"/>
            <a:ext cx="40164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800"/>
              <a:buFont typeface="Bitter Medium"/>
              <a:buNone/>
            </a:pPr>
            <a:r>
              <a:rPr b="0" i="0" lang="en-US" sz="18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Aplicación de patrones</a:t>
            </a:r>
            <a:endParaRPr b="0" i="0" sz="1800" u="none" cap="none" strike="noStrike"/>
          </a:p>
        </p:txBody>
      </p:sp>
      <p:sp>
        <p:nvSpPr>
          <p:cNvPr id="210" name="Google Shape;210;p9"/>
          <p:cNvSpPr/>
          <p:nvPr/>
        </p:nvSpPr>
        <p:spPr>
          <a:xfrm>
            <a:off x="5834658" y="4674394"/>
            <a:ext cx="6040755" cy="29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Implementar los patrones de manera efectiva en la solución de software.</a:t>
            </a:r>
            <a:endParaRPr b="0" i="0" sz="1450" u="none" cap="none" strike="noStrike"/>
          </a:p>
        </p:txBody>
      </p:sp>
      <p:sp>
        <p:nvSpPr>
          <p:cNvPr id="211" name="Google Shape;211;p9"/>
          <p:cNvSpPr/>
          <p:nvPr/>
        </p:nvSpPr>
        <p:spPr>
          <a:xfrm>
            <a:off x="5741789" y="5147905"/>
            <a:ext cx="8145304" cy="11430"/>
          </a:xfrm>
          <a:prstGeom prst="roundRect">
            <a:avLst>
              <a:gd fmla="val 682878" name="adj"/>
            </a:avLst>
          </a:prstGeom>
          <a:solidFill>
            <a:srgbClr val="E2C8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650438" y="5250299"/>
            <a:ext cx="6664762" cy="1070491"/>
          </a:xfrm>
          <a:prstGeom prst="roundRect">
            <a:avLst>
              <a:gd fmla="val 7291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843796" y="5599748"/>
            <a:ext cx="130493" cy="371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800"/>
              <a:buFont typeface="Bitter Medium"/>
              <a:buNone/>
            </a:pPr>
            <a:r>
              <a:rPr b="0" i="0" lang="en-US" sz="18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4</a:t>
            </a:r>
            <a:endParaRPr b="0" i="0" sz="1800" u="none" cap="none" strike="noStrike"/>
          </a:p>
        </p:txBody>
      </p:sp>
      <p:sp>
        <p:nvSpPr>
          <p:cNvPr id="214" name="Google Shape;214;p9"/>
          <p:cNvSpPr/>
          <p:nvPr/>
        </p:nvSpPr>
        <p:spPr>
          <a:xfrm>
            <a:off x="7500963" y="5436025"/>
            <a:ext cx="54645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800"/>
              <a:buFont typeface="Bitter Medium"/>
              <a:buNone/>
            </a:pPr>
            <a:r>
              <a:rPr b="0" i="0" lang="en-US" sz="18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Validación y refinamiento</a:t>
            </a:r>
            <a:endParaRPr b="0" i="0" sz="1800" u="none" cap="none" strike="noStrike"/>
          </a:p>
        </p:txBody>
      </p:sp>
      <p:sp>
        <p:nvSpPr>
          <p:cNvPr id="215" name="Google Shape;215;p9"/>
          <p:cNvSpPr/>
          <p:nvPr/>
        </p:nvSpPr>
        <p:spPr>
          <a:xfrm>
            <a:off x="7500938" y="5837753"/>
            <a:ext cx="5949315" cy="29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Evaluar la efectividad de los patrones aplicados y ajustar si es necesario.</a:t>
            </a:r>
            <a:endParaRPr b="0" i="0" sz="1450" u="none" cap="none" strike="noStrike"/>
          </a:p>
        </p:txBody>
      </p:sp>
      <p:sp>
        <p:nvSpPr>
          <p:cNvPr id="216" name="Google Shape;216;p9"/>
          <p:cNvSpPr/>
          <p:nvPr/>
        </p:nvSpPr>
        <p:spPr>
          <a:xfrm>
            <a:off x="650438" y="6529745"/>
            <a:ext cx="13329523" cy="891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La aplicación efectiva de patrones de diseño requiere un enfoque estructurado. Primero, es crucial entender a fondo el problema que se está resolviendo. Luego, seleccionar los patrones más apropiados que se alineen con los requisitos y la arquitectura del sistema. Durante la implementación, es importante aplicar los patrones de manera correcta y coherente. Finalmente, validar los resultados y refinar el diseño si es necesario.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2" name="Google Shape;2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3" name="Google Shape;22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7721" y="2708791"/>
            <a:ext cx="4998839" cy="281189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/>
          <p:nvPr/>
        </p:nvSpPr>
        <p:spPr>
          <a:xfrm>
            <a:off x="682466" y="537448"/>
            <a:ext cx="7779068" cy="1218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3800"/>
              <a:buFont typeface="Bitter Medium"/>
              <a:buNone/>
            </a:pPr>
            <a:r>
              <a:rPr b="0" i="0" lang="en-US" sz="38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Principios de diseño de software guía</a:t>
            </a:r>
            <a:endParaRPr b="0" i="0" sz="3800" u="none" cap="none" strike="noStrike"/>
          </a:p>
        </p:txBody>
      </p:sp>
      <p:sp>
        <p:nvSpPr>
          <p:cNvPr id="225" name="Google Shape;225;p10"/>
          <p:cNvSpPr/>
          <p:nvPr/>
        </p:nvSpPr>
        <p:spPr>
          <a:xfrm>
            <a:off x="682466" y="2267903"/>
            <a:ext cx="438745" cy="438745"/>
          </a:xfrm>
          <a:prstGeom prst="roundRect">
            <a:avLst>
              <a:gd fmla="val 18668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845463" y="2341007"/>
            <a:ext cx="112633" cy="292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300"/>
              <a:buFont typeface="Bitter Medium"/>
              <a:buNone/>
            </a:pPr>
            <a:r>
              <a:rPr b="0" i="0" lang="en-US" sz="23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1</a:t>
            </a:r>
            <a:endParaRPr b="0" i="0" sz="2300" u="none" cap="none" strike="noStrike"/>
          </a:p>
        </p:txBody>
      </p:sp>
      <p:sp>
        <p:nvSpPr>
          <p:cNvPr id="227" name="Google Shape;227;p10"/>
          <p:cNvSpPr/>
          <p:nvPr/>
        </p:nvSpPr>
        <p:spPr>
          <a:xfrm>
            <a:off x="1316117" y="2267903"/>
            <a:ext cx="2437567" cy="304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Bitter Medium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Simplicidad</a:t>
            </a:r>
            <a:endParaRPr b="0" i="0" sz="1900" u="none" cap="none" strike="noStrike"/>
          </a:p>
        </p:txBody>
      </p:sp>
      <p:sp>
        <p:nvSpPr>
          <p:cNvPr id="228" name="Google Shape;228;p10"/>
          <p:cNvSpPr/>
          <p:nvPr/>
        </p:nvSpPr>
        <p:spPr>
          <a:xfrm>
            <a:off x="1316117" y="2689384"/>
            <a:ext cx="7145417" cy="623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Diseñar soluciones simples y legibles que sean fáciles de mantener y modificar a lo largo del tiempo.</a:t>
            </a:r>
            <a:endParaRPr b="0" i="0" sz="1500" u="none" cap="none" strike="noStrike"/>
          </a:p>
        </p:txBody>
      </p:sp>
      <p:sp>
        <p:nvSpPr>
          <p:cNvPr id="229" name="Google Shape;229;p10"/>
          <p:cNvSpPr/>
          <p:nvPr/>
        </p:nvSpPr>
        <p:spPr>
          <a:xfrm>
            <a:off x="682466" y="3727490"/>
            <a:ext cx="438745" cy="438745"/>
          </a:xfrm>
          <a:prstGeom prst="roundRect">
            <a:avLst>
              <a:gd fmla="val 18668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825698" y="3800594"/>
            <a:ext cx="152162" cy="292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300"/>
              <a:buFont typeface="Bitter Medium"/>
              <a:buNone/>
            </a:pPr>
            <a:r>
              <a:rPr b="0" i="0" lang="en-US" sz="23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2</a:t>
            </a:r>
            <a:endParaRPr b="0" i="0" sz="2300" u="none" cap="none" strike="noStrike"/>
          </a:p>
        </p:txBody>
      </p:sp>
      <p:sp>
        <p:nvSpPr>
          <p:cNvPr id="231" name="Google Shape;231;p10"/>
          <p:cNvSpPr/>
          <p:nvPr/>
        </p:nvSpPr>
        <p:spPr>
          <a:xfrm>
            <a:off x="1316128" y="3727500"/>
            <a:ext cx="51075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Bitter Medium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Separación de Responsabilidades</a:t>
            </a:r>
            <a:endParaRPr b="0" i="0" sz="1900" u="none" cap="none" strike="noStrike"/>
          </a:p>
        </p:txBody>
      </p:sp>
      <p:sp>
        <p:nvSpPr>
          <p:cNvPr id="232" name="Google Shape;232;p10"/>
          <p:cNvSpPr/>
          <p:nvPr/>
        </p:nvSpPr>
        <p:spPr>
          <a:xfrm>
            <a:off x="1316117" y="4148971"/>
            <a:ext cx="7145417" cy="623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Dividir el sistema en componentes con funciones y responsabilidades bien definidas para promover la modularidad.</a:t>
            </a:r>
            <a:endParaRPr b="0" i="0" sz="1500" u="none" cap="none" strike="noStrike"/>
          </a:p>
        </p:txBody>
      </p:sp>
      <p:sp>
        <p:nvSpPr>
          <p:cNvPr id="233" name="Google Shape;233;p10"/>
          <p:cNvSpPr/>
          <p:nvPr/>
        </p:nvSpPr>
        <p:spPr>
          <a:xfrm>
            <a:off x="682466" y="5187077"/>
            <a:ext cx="438745" cy="438745"/>
          </a:xfrm>
          <a:prstGeom prst="roundRect">
            <a:avLst>
              <a:gd fmla="val 18668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822484" y="5260181"/>
            <a:ext cx="158591" cy="292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300"/>
              <a:buFont typeface="Bitter Medium"/>
              <a:buNone/>
            </a:pPr>
            <a:r>
              <a:rPr b="0" i="0" lang="en-US" sz="23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3</a:t>
            </a:r>
            <a:endParaRPr b="0" i="0" sz="2300" u="none" cap="none" strike="noStrike"/>
          </a:p>
        </p:txBody>
      </p:sp>
      <p:sp>
        <p:nvSpPr>
          <p:cNvPr id="235" name="Google Shape;235;p10"/>
          <p:cNvSpPr/>
          <p:nvPr/>
        </p:nvSpPr>
        <p:spPr>
          <a:xfrm>
            <a:off x="1316117" y="5187077"/>
            <a:ext cx="2437567" cy="304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Bitter Medium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Abstracción</a:t>
            </a:r>
            <a:endParaRPr b="0" i="0" sz="1900" u="none" cap="none" strike="noStrike"/>
          </a:p>
        </p:txBody>
      </p:sp>
      <p:sp>
        <p:nvSpPr>
          <p:cNvPr id="236" name="Google Shape;236;p10"/>
          <p:cNvSpPr/>
          <p:nvPr/>
        </p:nvSpPr>
        <p:spPr>
          <a:xfrm>
            <a:off x="1316117" y="5608558"/>
            <a:ext cx="7145417" cy="623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Ocultar detalles de implementación no esenciales y exponer solo la funcionalidad necesaria a través de interfaces claras.</a:t>
            </a:r>
            <a:endParaRPr b="0" i="0" sz="1500" u="none" cap="none" strike="noStrike"/>
          </a:p>
        </p:txBody>
      </p:sp>
      <p:sp>
        <p:nvSpPr>
          <p:cNvPr id="237" name="Google Shape;237;p10"/>
          <p:cNvSpPr/>
          <p:nvPr/>
        </p:nvSpPr>
        <p:spPr>
          <a:xfrm>
            <a:off x="682466" y="6646664"/>
            <a:ext cx="438745" cy="438745"/>
          </a:xfrm>
          <a:prstGeom prst="roundRect">
            <a:avLst>
              <a:gd fmla="val 18668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819626" y="6719768"/>
            <a:ext cx="164425" cy="292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300"/>
              <a:buFont typeface="Bitter Medium"/>
              <a:buNone/>
            </a:pPr>
            <a:r>
              <a:rPr b="0" i="0" lang="en-US" sz="23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4</a:t>
            </a:r>
            <a:endParaRPr b="0" i="0" sz="2300" u="none" cap="none" strike="noStrike"/>
          </a:p>
        </p:txBody>
      </p:sp>
      <p:sp>
        <p:nvSpPr>
          <p:cNvPr id="239" name="Google Shape;239;p10"/>
          <p:cNvSpPr/>
          <p:nvPr/>
        </p:nvSpPr>
        <p:spPr>
          <a:xfrm>
            <a:off x="1316117" y="6646664"/>
            <a:ext cx="2437567" cy="304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Bitter Medium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Cohesión</a:t>
            </a:r>
            <a:endParaRPr b="0" i="0" sz="1900" u="none" cap="none" strike="noStrike"/>
          </a:p>
        </p:txBody>
      </p:sp>
      <p:sp>
        <p:nvSpPr>
          <p:cNvPr id="240" name="Google Shape;240;p10"/>
          <p:cNvSpPr/>
          <p:nvPr/>
        </p:nvSpPr>
        <p:spPr>
          <a:xfrm>
            <a:off x="1316117" y="7068145"/>
            <a:ext cx="7145417" cy="623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Lograr que los componentes se enfoquen en realizar una sola tarea de manera eficiente y efectiva.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6" name="Google Shape;24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7" name="Google Shape;24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409" y="2065615"/>
            <a:ext cx="5031581" cy="409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1"/>
          <p:cNvSpPr/>
          <p:nvPr/>
        </p:nvSpPr>
        <p:spPr>
          <a:xfrm>
            <a:off x="6122908" y="500182"/>
            <a:ext cx="7870984" cy="113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3550"/>
              <a:buFont typeface="Bitter Medium"/>
              <a:buNone/>
            </a:pPr>
            <a:r>
              <a:rPr b="0" i="0" lang="en-US" sz="35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Aplicación de principios de diseño en patrones</a:t>
            </a:r>
            <a:endParaRPr b="0" i="0" sz="3550" u="none" cap="none" strike="noStrike"/>
          </a:p>
        </p:txBody>
      </p:sp>
      <p:pic>
        <p:nvPicPr>
          <p:cNvPr descr="preencoded.png" id="249" name="Google Shape;24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2908" y="1909524"/>
            <a:ext cx="909280" cy="145494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/>
          <p:nvPr/>
        </p:nvSpPr>
        <p:spPr>
          <a:xfrm>
            <a:off x="7304961" y="2091333"/>
            <a:ext cx="2273379" cy="284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Bitter Medium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Simplicidad</a:t>
            </a:r>
            <a:endParaRPr b="0" i="0" sz="1750" u="none" cap="none" strike="noStrike"/>
          </a:p>
        </p:txBody>
      </p:sp>
      <p:sp>
        <p:nvSpPr>
          <p:cNvPr id="251" name="Google Shape;251;p11"/>
          <p:cNvSpPr/>
          <p:nvPr/>
        </p:nvSpPr>
        <p:spPr>
          <a:xfrm>
            <a:off x="7304961" y="2484477"/>
            <a:ext cx="6688931" cy="581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patrones de diseño deben promover soluciones simples y elegantes, evitando complejidad innecesaria.</a:t>
            </a:r>
            <a:endParaRPr b="0" i="0" sz="1400" u="none" cap="none" strike="noStrike"/>
          </a:p>
        </p:txBody>
      </p:sp>
      <p:pic>
        <p:nvPicPr>
          <p:cNvPr descr="preencoded.png" id="252" name="Google Shape;25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2908" y="3364468"/>
            <a:ext cx="909280" cy="145494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1"/>
          <p:cNvSpPr/>
          <p:nvPr/>
        </p:nvSpPr>
        <p:spPr>
          <a:xfrm>
            <a:off x="7304961" y="3546277"/>
            <a:ext cx="2273379" cy="284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Bitter Medium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Modularidad</a:t>
            </a:r>
            <a:endParaRPr b="0" i="0" sz="1750" u="none" cap="none" strike="noStrike"/>
          </a:p>
        </p:txBody>
      </p:sp>
      <p:sp>
        <p:nvSpPr>
          <p:cNvPr id="254" name="Google Shape;254;p11"/>
          <p:cNvSpPr/>
          <p:nvPr/>
        </p:nvSpPr>
        <p:spPr>
          <a:xfrm>
            <a:off x="7304961" y="3939421"/>
            <a:ext cx="6688931" cy="581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patrones deben permitir que los componentes de software se puedan cambiar, reemplazar o extender de manera independiente.</a:t>
            </a:r>
            <a:endParaRPr b="0" i="0" sz="1400" u="none" cap="none" strike="noStrike"/>
          </a:p>
        </p:txBody>
      </p:sp>
      <p:pic>
        <p:nvPicPr>
          <p:cNvPr descr="preencoded.png" id="255" name="Google Shape;255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22908" y="4819412"/>
            <a:ext cx="909280" cy="145494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1"/>
          <p:cNvSpPr/>
          <p:nvPr/>
        </p:nvSpPr>
        <p:spPr>
          <a:xfrm>
            <a:off x="7304961" y="5001220"/>
            <a:ext cx="2273379" cy="284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Bitter Medium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Abstracción</a:t>
            </a:r>
            <a:endParaRPr b="0" i="0" sz="1750" u="none" cap="none" strike="noStrike"/>
          </a:p>
        </p:txBody>
      </p:sp>
      <p:sp>
        <p:nvSpPr>
          <p:cNvPr id="257" name="Google Shape;257;p11"/>
          <p:cNvSpPr/>
          <p:nvPr/>
        </p:nvSpPr>
        <p:spPr>
          <a:xfrm>
            <a:off x="7304961" y="5394365"/>
            <a:ext cx="6688931" cy="581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patrones deben capturar la esencia de una solución reutilizable, omitiendo detalles específicos de implementación.</a:t>
            </a:r>
            <a:endParaRPr b="0" i="0" sz="1400" u="none" cap="none" strike="noStrike"/>
          </a:p>
        </p:txBody>
      </p:sp>
      <p:pic>
        <p:nvPicPr>
          <p:cNvPr descr="preencoded.png" id="258" name="Google Shape;258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22908" y="6274356"/>
            <a:ext cx="909280" cy="1454944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1"/>
          <p:cNvSpPr/>
          <p:nvPr/>
        </p:nvSpPr>
        <p:spPr>
          <a:xfrm>
            <a:off x="7304945" y="6456175"/>
            <a:ext cx="43731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Bitter Medium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Separación de Preocupaciones</a:t>
            </a:r>
            <a:endParaRPr b="0" i="0" sz="1750" u="none" cap="none" strike="noStrike"/>
          </a:p>
        </p:txBody>
      </p:sp>
      <p:sp>
        <p:nvSpPr>
          <p:cNvPr id="260" name="Google Shape;260;p11"/>
          <p:cNvSpPr/>
          <p:nvPr/>
        </p:nvSpPr>
        <p:spPr>
          <a:xfrm>
            <a:off x="7304961" y="6849308"/>
            <a:ext cx="6688931" cy="581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Los patrones deben ayudar a dividir el software en partes lógicas y cohesivas, cada una con una responsabilidad clara.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6" name="Google Shape;26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7164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7" name="Google Shape;26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5418" y="271582"/>
            <a:ext cx="4139446" cy="217324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/>
          <p:nvPr/>
        </p:nvSpPr>
        <p:spPr>
          <a:xfrm>
            <a:off x="760575" y="3452225"/>
            <a:ext cx="122049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05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4250"/>
              <a:buFont typeface="Bitter Medium"/>
              <a:buNone/>
            </a:pPr>
            <a:r>
              <a:rPr b="0" i="0" lang="en-US" sz="42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Patrones de diseño creacionales: ejemplos y uso</a:t>
            </a:r>
            <a:endParaRPr b="0" i="0" sz="4250" u="none" cap="none" strike="noStrike"/>
          </a:p>
        </p:txBody>
      </p:sp>
      <p:sp>
        <p:nvSpPr>
          <p:cNvPr id="269" name="Google Shape;269;p12"/>
          <p:cNvSpPr/>
          <p:nvPr/>
        </p:nvSpPr>
        <p:spPr>
          <a:xfrm>
            <a:off x="760571" y="4701540"/>
            <a:ext cx="488871" cy="488871"/>
          </a:xfrm>
          <a:prstGeom prst="roundRect">
            <a:avLst>
              <a:gd fmla="val 18670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942261" y="4782979"/>
            <a:ext cx="125492" cy="325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550"/>
              <a:buFont typeface="Bitter Medium"/>
              <a:buNone/>
            </a:pPr>
            <a:r>
              <a:rPr b="0" i="0" lang="en-US" sz="25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1</a:t>
            </a:r>
            <a:endParaRPr b="0" i="0" sz="2550" u="none" cap="none" strike="noStrike"/>
          </a:p>
        </p:txBody>
      </p:sp>
      <p:sp>
        <p:nvSpPr>
          <p:cNvPr id="271" name="Google Shape;271;p12"/>
          <p:cNvSpPr/>
          <p:nvPr/>
        </p:nvSpPr>
        <p:spPr>
          <a:xfrm>
            <a:off x="1466731" y="4701540"/>
            <a:ext cx="2716411" cy="339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100"/>
              <a:buFont typeface="Bitter Medium"/>
              <a:buNone/>
            </a:pPr>
            <a:r>
              <a:rPr b="0" i="0" lang="en-US" sz="21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Patrón Singleton</a:t>
            </a:r>
            <a:endParaRPr b="0" i="0" sz="2100" u="none" cap="none" strike="noStrike"/>
          </a:p>
        </p:txBody>
      </p:sp>
      <p:sp>
        <p:nvSpPr>
          <p:cNvPr id="272" name="Google Shape;272;p12"/>
          <p:cNvSpPr/>
          <p:nvPr/>
        </p:nvSpPr>
        <p:spPr>
          <a:xfrm>
            <a:off x="1466731" y="5171480"/>
            <a:ext cx="5739884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Open Sans"/>
              <a:buNone/>
            </a:pPr>
            <a:r>
              <a:rPr b="0" i="0" lang="en-US" sz="17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Garantiza que una clase tenga una sola instancia y proporciona un punto de acceso global a ella.</a:t>
            </a:r>
            <a:endParaRPr b="0" i="0" sz="1700" u="none" cap="none" strike="noStrike"/>
          </a:p>
        </p:txBody>
      </p:sp>
      <p:sp>
        <p:nvSpPr>
          <p:cNvPr id="273" name="Google Shape;273;p12"/>
          <p:cNvSpPr/>
          <p:nvPr/>
        </p:nvSpPr>
        <p:spPr>
          <a:xfrm>
            <a:off x="7423904" y="4701540"/>
            <a:ext cx="488871" cy="488871"/>
          </a:xfrm>
          <a:prstGeom prst="roundRect">
            <a:avLst>
              <a:gd fmla="val 18670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7583567" y="4782979"/>
            <a:ext cx="169545" cy="325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550"/>
              <a:buFont typeface="Bitter Medium"/>
              <a:buNone/>
            </a:pPr>
            <a:r>
              <a:rPr b="0" i="0" lang="en-US" sz="25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2</a:t>
            </a:r>
            <a:endParaRPr b="0" i="0" sz="2550" u="none" cap="none" strike="noStrike"/>
          </a:p>
        </p:txBody>
      </p:sp>
      <p:sp>
        <p:nvSpPr>
          <p:cNvPr id="275" name="Google Shape;275;p12"/>
          <p:cNvSpPr/>
          <p:nvPr/>
        </p:nvSpPr>
        <p:spPr>
          <a:xfrm>
            <a:off x="8130064" y="4701540"/>
            <a:ext cx="2716411" cy="339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100"/>
              <a:buFont typeface="Bitter Medium"/>
              <a:buNone/>
            </a:pPr>
            <a:r>
              <a:rPr b="0" i="0" lang="en-US" sz="21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Patrón Factory</a:t>
            </a:r>
            <a:endParaRPr b="0" i="0" sz="2100" u="none" cap="none" strike="noStrike"/>
          </a:p>
        </p:txBody>
      </p:sp>
      <p:sp>
        <p:nvSpPr>
          <p:cNvPr id="276" name="Google Shape;276;p12"/>
          <p:cNvSpPr/>
          <p:nvPr/>
        </p:nvSpPr>
        <p:spPr>
          <a:xfrm>
            <a:off x="8130064" y="5171480"/>
            <a:ext cx="5739884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Open Sans"/>
              <a:buNone/>
            </a:pPr>
            <a:r>
              <a:rPr b="0" i="0" lang="en-US" sz="17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Define una interfaz para crear objetos, pero deja que las subclases decidan qué clase instanciar.</a:t>
            </a:r>
            <a:endParaRPr b="0" i="0" sz="1700" u="none" cap="none" strike="noStrike"/>
          </a:p>
        </p:txBody>
      </p:sp>
      <p:sp>
        <p:nvSpPr>
          <p:cNvPr id="277" name="Google Shape;277;p12"/>
          <p:cNvSpPr/>
          <p:nvPr/>
        </p:nvSpPr>
        <p:spPr>
          <a:xfrm>
            <a:off x="760571" y="6328529"/>
            <a:ext cx="488871" cy="488871"/>
          </a:xfrm>
          <a:prstGeom prst="roundRect">
            <a:avLst>
              <a:gd fmla="val 18670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916662" y="6409968"/>
            <a:ext cx="176689" cy="325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550"/>
              <a:buFont typeface="Bitter Medium"/>
              <a:buNone/>
            </a:pPr>
            <a:r>
              <a:rPr b="0" i="0" lang="en-US" sz="25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3</a:t>
            </a:r>
            <a:endParaRPr b="0" i="0" sz="2550" u="none" cap="none" strike="noStrike"/>
          </a:p>
        </p:txBody>
      </p:sp>
      <p:sp>
        <p:nvSpPr>
          <p:cNvPr id="279" name="Google Shape;279;p12"/>
          <p:cNvSpPr/>
          <p:nvPr/>
        </p:nvSpPr>
        <p:spPr>
          <a:xfrm>
            <a:off x="1466731" y="6328529"/>
            <a:ext cx="2716411" cy="339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100"/>
              <a:buFont typeface="Bitter Medium"/>
              <a:buNone/>
            </a:pPr>
            <a:r>
              <a:rPr b="0" i="0" lang="en-US" sz="21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Patrón Builder</a:t>
            </a:r>
            <a:endParaRPr b="0" i="0" sz="2100" u="none" cap="none" strike="noStrike"/>
          </a:p>
        </p:txBody>
      </p:sp>
      <p:sp>
        <p:nvSpPr>
          <p:cNvPr id="280" name="Google Shape;280;p12"/>
          <p:cNvSpPr/>
          <p:nvPr/>
        </p:nvSpPr>
        <p:spPr>
          <a:xfrm>
            <a:off x="1466731" y="6798469"/>
            <a:ext cx="5739884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Open Sans"/>
              <a:buNone/>
            </a:pPr>
            <a:r>
              <a:rPr b="0" i="0" lang="en-US" sz="17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Separa la construcción de un objeto complejo de su representación, permitiendo la misma construcción.</a:t>
            </a:r>
            <a:endParaRPr b="0" i="0" sz="1700" u="none" cap="none" strike="noStrike"/>
          </a:p>
        </p:txBody>
      </p:sp>
      <p:sp>
        <p:nvSpPr>
          <p:cNvPr id="281" name="Google Shape;281;p12"/>
          <p:cNvSpPr/>
          <p:nvPr/>
        </p:nvSpPr>
        <p:spPr>
          <a:xfrm>
            <a:off x="7423904" y="6328529"/>
            <a:ext cx="488871" cy="488871"/>
          </a:xfrm>
          <a:prstGeom prst="roundRect">
            <a:avLst>
              <a:gd fmla="val 18670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7576661" y="6409968"/>
            <a:ext cx="183237" cy="325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550"/>
              <a:buFont typeface="Bitter Medium"/>
              <a:buNone/>
            </a:pPr>
            <a:r>
              <a:rPr b="0" i="0" lang="en-US" sz="25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4</a:t>
            </a:r>
            <a:endParaRPr b="0" i="0" sz="2550" u="none" cap="none" strike="noStrike"/>
          </a:p>
        </p:txBody>
      </p:sp>
      <p:sp>
        <p:nvSpPr>
          <p:cNvPr id="283" name="Google Shape;283;p12"/>
          <p:cNvSpPr/>
          <p:nvPr/>
        </p:nvSpPr>
        <p:spPr>
          <a:xfrm>
            <a:off x="8130064" y="6328529"/>
            <a:ext cx="2716411" cy="339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100"/>
              <a:buFont typeface="Bitter Medium"/>
              <a:buNone/>
            </a:pPr>
            <a:r>
              <a:rPr b="0" i="0" lang="en-US" sz="21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Patrón Prototype</a:t>
            </a:r>
            <a:endParaRPr b="0" i="0" sz="2100" u="none" cap="none" strike="noStrike"/>
          </a:p>
        </p:txBody>
      </p:sp>
      <p:sp>
        <p:nvSpPr>
          <p:cNvPr id="284" name="Google Shape;284;p12"/>
          <p:cNvSpPr/>
          <p:nvPr/>
        </p:nvSpPr>
        <p:spPr>
          <a:xfrm>
            <a:off x="8130064" y="6798469"/>
            <a:ext cx="5739884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00"/>
              <a:buFont typeface="Open Sans"/>
              <a:buNone/>
            </a:pPr>
            <a:r>
              <a:rPr b="0" i="0" lang="en-US" sz="17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Especifica los tipos de objetos a crear mediante una instancia prototípica y crea nuevos objetos.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"/>
          <p:cNvSpPr/>
          <p:nvPr/>
        </p:nvSpPr>
        <p:spPr>
          <a:xfrm>
            <a:off x="854024" y="1444000"/>
            <a:ext cx="137763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4800"/>
              <a:buFont typeface="Bitter Medium"/>
              <a:buNone/>
            </a:pPr>
            <a:r>
              <a:rPr b="0" i="0" lang="en-US" sz="48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Patrones de diseño estructurales: ejemplos y uso</a:t>
            </a:r>
            <a:endParaRPr b="0" i="0" sz="4800" u="none" cap="none" strike="noStrike"/>
          </a:p>
        </p:txBody>
      </p:sp>
      <p:sp>
        <p:nvSpPr>
          <p:cNvPr id="291" name="Google Shape;291;p13"/>
          <p:cNvSpPr/>
          <p:nvPr/>
        </p:nvSpPr>
        <p:spPr>
          <a:xfrm>
            <a:off x="854035" y="2816543"/>
            <a:ext cx="2784038" cy="381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400"/>
              <a:buFont typeface="Bitter Medium"/>
              <a:buNone/>
            </a:pPr>
            <a:r>
              <a:rPr b="0" i="0" lang="en-US" sz="24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Patrón Adaptador</a:t>
            </a:r>
            <a:endParaRPr b="0" i="0" sz="2400" u="none" cap="none" strike="noStrike"/>
          </a:p>
        </p:txBody>
      </p:sp>
      <p:sp>
        <p:nvSpPr>
          <p:cNvPr id="292" name="Google Shape;292;p13"/>
          <p:cNvSpPr/>
          <p:nvPr/>
        </p:nvSpPr>
        <p:spPr>
          <a:xfrm>
            <a:off x="854035" y="3441740"/>
            <a:ext cx="2784038" cy="234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Open Sans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Permite que objetos con interfaces incompatibles trabajen juntos. Convierte la interfaz de una clase en otra interfaz que el cliente espera.</a:t>
            </a:r>
            <a:endParaRPr b="0" i="0" sz="1900" u="none" cap="none" strike="noStrike"/>
          </a:p>
        </p:txBody>
      </p:sp>
      <p:sp>
        <p:nvSpPr>
          <p:cNvPr id="293" name="Google Shape;293;p13"/>
          <p:cNvSpPr/>
          <p:nvPr/>
        </p:nvSpPr>
        <p:spPr>
          <a:xfrm>
            <a:off x="4241006" y="2816543"/>
            <a:ext cx="2784038" cy="381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400"/>
              <a:buFont typeface="Bitter Medium"/>
              <a:buNone/>
            </a:pPr>
            <a:r>
              <a:rPr b="0" i="0" lang="en-US" sz="24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Patrón Puente</a:t>
            </a:r>
            <a:endParaRPr b="0" i="0" sz="2400" u="none" cap="none" strike="noStrike"/>
          </a:p>
        </p:txBody>
      </p:sp>
      <p:sp>
        <p:nvSpPr>
          <p:cNvPr id="294" name="Google Shape;294;p13"/>
          <p:cNvSpPr/>
          <p:nvPr/>
        </p:nvSpPr>
        <p:spPr>
          <a:xfrm>
            <a:off x="4241006" y="3441740"/>
            <a:ext cx="2784038" cy="1952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Open Sans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Separa una abstracción de su implementación, permitiendo que ambas puedan variar de forma independiente.</a:t>
            </a:r>
            <a:endParaRPr b="0" i="0" sz="1900" u="none" cap="none" strike="noStrike"/>
          </a:p>
        </p:txBody>
      </p:sp>
      <p:sp>
        <p:nvSpPr>
          <p:cNvPr id="295" name="Google Shape;295;p13"/>
          <p:cNvSpPr/>
          <p:nvPr/>
        </p:nvSpPr>
        <p:spPr>
          <a:xfrm>
            <a:off x="7627977" y="2816543"/>
            <a:ext cx="2784038" cy="381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400"/>
              <a:buFont typeface="Bitter Medium"/>
              <a:buNone/>
            </a:pPr>
            <a:r>
              <a:rPr b="0" i="0" lang="en-US" sz="24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Patrón Composite</a:t>
            </a:r>
            <a:endParaRPr b="0" i="0" sz="2400" u="none" cap="none" strike="noStrike"/>
          </a:p>
        </p:txBody>
      </p:sp>
      <p:sp>
        <p:nvSpPr>
          <p:cNvPr id="296" name="Google Shape;296;p13"/>
          <p:cNvSpPr/>
          <p:nvPr/>
        </p:nvSpPr>
        <p:spPr>
          <a:xfrm>
            <a:off x="7627977" y="3441740"/>
            <a:ext cx="2784038" cy="3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Open Sans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Compone objetos en estructuras de árbol para representar jerarquías parte-todo. Permite tratar de manera uniforme a elementos individuales y compuestos.</a:t>
            </a:r>
            <a:endParaRPr b="0" i="0" sz="1900" u="none" cap="none" strike="noStrike"/>
          </a:p>
        </p:txBody>
      </p:sp>
      <p:sp>
        <p:nvSpPr>
          <p:cNvPr id="297" name="Google Shape;297;p13"/>
          <p:cNvSpPr/>
          <p:nvPr/>
        </p:nvSpPr>
        <p:spPr>
          <a:xfrm>
            <a:off x="11014948" y="2816543"/>
            <a:ext cx="2784038" cy="381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400"/>
              <a:buFont typeface="Bitter Medium"/>
              <a:buNone/>
            </a:pPr>
            <a:r>
              <a:rPr b="0" i="0" lang="en-US" sz="24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Patrón Decorador</a:t>
            </a:r>
            <a:endParaRPr b="0" i="0" sz="2400" u="none" cap="none" strike="noStrike"/>
          </a:p>
        </p:txBody>
      </p:sp>
      <p:sp>
        <p:nvSpPr>
          <p:cNvPr id="298" name="Google Shape;298;p13"/>
          <p:cNvSpPr/>
          <p:nvPr/>
        </p:nvSpPr>
        <p:spPr>
          <a:xfrm>
            <a:off x="11014948" y="3441740"/>
            <a:ext cx="2784038" cy="3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900"/>
              <a:buFont typeface="Open Sans"/>
              <a:buNone/>
            </a:pPr>
            <a:r>
              <a:rPr b="0" i="0" lang="en-US" sz="19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Agrega responsabilidades adicionales a un objeto de forma dinámica. Proporciona una alternativa flexible a la herencia para extender funcionalidades.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4" name="Google Shape;3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5" name="Google Shape;3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237" y="2196941"/>
            <a:ext cx="5119807" cy="383559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4"/>
          <p:cNvSpPr/>
          <p:nvPr/>
        </p:nvSpPr>
        <p:spPr>
          <a:xfrm>
            <a:off x="5999678" y="756523"/>
            <a:ext cx="8117443" cy="916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850"/>
              <a:buFont typeface="Bitter Medium"/>
              <a:buNone/>
            </a:pPr>
            <a:r>
              <a:rPr b="0" i="0" lang="en-US" sz="28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Patrones de diseño de comportamiento: ejemplos y uso</a:t>
            </a:r>
            <a:endParaRPr b="0" i="0" sz="2850" u="none" cap="none" strike="noStrike"/>
          </a:p>
        </p:txBody>
      </p:sp>
      <p:pic>
        <p:nvPicPr>
          <p:cNvPr descr="preencoded.png" id="307" name="Google Shape;3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9678" y="1893213"/>
            <a:ext cx="366593" cy="36659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4"/>
          <p:cNvSpPr/>
          <p:nvPr/>
        </p:nvSpPr>
        <p:spPr>
          <a:xfrm>
            <a:off x="5999678" y="2406372"/>
            <a:ext cx="1833324" cy="22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00"/>
              <a:buFont typeface="Bitter Medium"/>
              <a:buNone/>
            </a:pPr>
            <a:r>
              <a:rPr b="0" i="0" lang="en-US" sz="14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Patrón Estrategia</a:t>
            </a:r>
            <a:endParaRPr b="0" i="0" sz="1400" u="none" cap="none" strike="noStrike"/>
          </a:p>
        </p:txBody>
      </p:sp>
      <p:sp>
        <p:nvSpPr>
          <p:cNvPr id="309" name="Google Shape;309;p14"/>
          <p:cNvSpPr/>
          <p:nvPr/>
        </p:nvSpPr>
        <p:spPr>
          <a:xfrm>
            <a:off x="5999678" y="2723555"/>
            <a:ext cx="8117443" cy="23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52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Encapsula algoritmos o comportamientos variables en objetos separados, permitiendo flexibilidad y reutilización.</a:t>
            </a:r>
            <a:endParaRPr b="0" i="0" sz="1150" u="none" cap="none" strike="noStrike"/>
          </a:p>
        </p:txBody>
      </p:sp>
      <p:pic>
        <p:nvPicPr>
          <p:cNvPr descr="preencoded.png" id="310" name="Google Shape;3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99678" y="3398163"/>
            <a:ext cx="366593" cy="366593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4"/>
          <p:cNvSpPr/>
          <p:nvPr/>
        </p:nvSpPr>
        <p:spPr>
          <a:xfrm>
            <a:off x="5999672" y="3911325"/>
            <a:ext cx="4077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00"/>
              <a:buFont typeface="Bitter Medium"/>
              <a:buNone/>
            </a:pPr>
            <a:r>
              <a:rPr b="0" i="0" lang="en-US" sz="14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Cadena de Responsabilidad</a:t>
            </a:r>
            <a:endParaRPr b="0" i="0" sz="1400" u="none" cap="none" strike="noStrike"/>
          </a:p>
        </p:txBody>
      </p:sp>
      <p:sp>
        <p:nvSpPr>
          <p:cNvPr id="312" name="Google Shape;312;p14"/>
          <p:cNvSpPr/>
          <p:nvPr/>
        </p:nvSpPr>
        <p:spPr>
          <a:xfrm>
            <a:off x="5999678" y="4228505"/>
            <a:ext cx="8117443" cy="23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52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Pasa solicitudes a lo largo de una cadena de objetos, encontrando el que puede manejarla.</a:t>
            </a:r>
            <a:endParaRPr b="0" i="0" sz="1150" u="none" cap="none" strike="noStrike"/>
          </a:p>
        </p:txBody>
      </p:sp>
      <p:pic>
        <p:nvPicPr>
          <p:cNvPr descr="preencoded.png" id="313" name="Google Shape;31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99678" y="4903113"/>
            <a:ext cx="366593" cy="366593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4"/>
          <p:cNvSpPr/>
          <p:nvPr/>
        </p:nvSpPr>
        <p:spPr>
          <a:xfrm>
            <a:off x="5999678" y="5416272"/>
            <a:ext cx="1833324" cy="22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00"/>
              <a:buFont typeface="Bitter Medium"/>
              <a:buNone/>
            </a:pPr>
            <a:r>
              <a:rPr b="0" i="0" lang="en-US" sz="14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Observador</a:t>
            </a:r>
            <a:endParaRPr b="0" i="0" sz="1400" u="none" cap="none" strike="noStrike"/>
          </a:p>
        </p:txBody>
      </p:sp>
      <p:sp>
        <p:nvSpPr>
          <p:cNvPr id="315" name="Google Shape;315;p14"/>
          <p:cNvSpPr/>
          <p:nvPr/>
        </p:nvSpPr>
        <p:spPr>
          <a:xfrm>
            <a:off x="5999678" y="5733455"/>
            <a:ext cx="8117443" cy="23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52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Permite que objetos se suscriban y reciban notificaciones sobre cambios de estado en otros objetos.</a:t>
            </a:r>
            <a:endParaRPr b="0" i="0" sz="1150" u="none" cap="none" strike="noStrike"/>
          </a:p>
        </p:txBody>
      </p:sp>
      <p:pic>
        <p:nvPicPr>
          <p:cNvPr descr="preencoded.png" id="316" name="Google Shape;31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99678" y="6408063"/>
            <a:ext cx="366593" cy="36659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4"/>
          <p:cNvSpPr/>
          <p:nvPr/>
        </p:nvSpPr>
        <p:spPr>
          <a:xfrm>
            <a:off x="5999678" y="6921222"/>
            <a:ext cx="1833324" cy="22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00"/>
              <a:buFont typeface="Bitter Medium"/>
              <a:buNone/>
            </a:pPr>
            <a:r>
              <a:rPr b="0" i="0" lang="en-US" sz="14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Método de Plantilla</a:t>
            </a:r>
            <a:endParaRPr b="0" i="0" sz="1400" u="none" cap="none" strike="noStrike"/>
          </a:p>
        </p:txBody>
      </p:sp>
      <p:sp>
        <p:nvSpPr>
          <p:cNvPr id="318" name="Google Shape;318;p14"/>
          <p:cNvSpPr/>
          <p:nvPr/>
        </p:nvSpPr>
        <p:spPr>
          <a:xfrm>
            <a:off x="5999678" y="7238405"/>
            <a:ext cx="8117443" cy="23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521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Define el esqueleto de un algoritmo en una superclase, permitiendo que subclases redefinan ciertos pasos.</a:t>
            </a:r>
            <a:endParaRPr b="0" i="0" sz="115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4" name="Google Shape;3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5"/>
          <p:cNvPicPr preferRelativeResize="0"/>
          <p:nvPr/>
        </p:nvPicPr>
        <p:blipFill rotWithShape="1">
          <a:blip r:embed="rId4">
            <a:alphaModFix/>
          </a:blip>
          <a:srcRect b="0" l="25033" r="25028" t="0"/>
          <a:stretch/>
        </p:blipFill>
        <p:spPr>
          <a:xfrm>
            <a:off x="9479518" y="708065"/>
            <a:ext cx="4815245" cy="681335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5"/>
          <p:cNvSpPr/>
          <p:nvPr/>
        </p:nvSpPr>
        <p:spPr>
          <a:xfrm>
            <a:off x="939522" y="1785818"/>
            <a:ext cx="7264956" cy="1677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5250"/>
              <a:buFont typeface="Bitter Medium"/>
              <a:buNone/>
            </a:pPr>
            <a:r>
              <a:rPr b="0" i="0" lang="en-US" sz="52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Resumen y conclusiones</a:t>
            </a:r>
            <a:endParaRPr b="0" i="0" sz="5250" u="none" cap="none" strike="noStrike"/>
          </a:p>
        </p:txBody>
      </p:sp>
      <p:sp>
        <p:nvSpPr>
          <p:cNvPr id="327" name="Google Shape;327;p15"/>
          <p:cNvSpPr/>
          <p:nvPr/>
        </p:nvSpPr>
        <p:spPr>
          <a:xfrm>
            <a:off x="939522" y="3866317"/>
            <a:ext cx="7264956" cy="2577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100"/>
              <a:buFont typeface="Open Sans"/>
              <a:buNone/>
            </a:pPr>
            <a:r>
              <a:rPr b="0" i="0" lang="en-US" sz="2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En esta presentación, hemos explorado en profundidad los patrones de diseño, una herramienta fundamental para el desarrollo de software eficiente y escalable. Hemos revisado sus definiciones, propósitos, beneficios y momentos clave de aplicación, así como las notaciones y principios de diseño que los guían.</a:t>
            </a:r>
            <a:endParaRPr b="0" i="0" sz="21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2024-11-04T01:00:33Z</dcterms:created>
  <dc:creator>PptxGenJS</dc:creator>
</cp:coreProperties>
</file>