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Alice"/>
      <p:regular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yjF0jUsOEEcWnwoGkezisYGkU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B3F91D-9F1D-49D0-AC94-108579D90222}">
  <a:tblStyle styleId="{25B3F91D-9F1D-49D0-AC94-108579D902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lice-regular.fntdata"/><Relationship Id="rId21" Type="http://schemas.openxmlformats.org/officeDocument/2006/relationships/slide" Target="slides/slide16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52a1d6616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d52a1d6616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2a1d6616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2d52a1d6616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2d52a1d6616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39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d52a1d6616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2d52a1d6616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{25B3F91D-9F1D-49D0-AC94-108579D90222}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2d52a1d6616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52a1d6616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731175"/>
            <a:ext cx="4919305" cy="276713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Diseño de interfaces y experiencia de usuario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diseño de interfaces y la experiencia de usuario son disciplinas fundamentales para crear productos digitales atractivos y eficientes. Abordaremos los conceptos clave que guían estos procesos y su impacto en la satisfacción del usuario final.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793790" y="965954"/>
            <a:ext cx="1042951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Introducción al diseño de interfaces y UX</a:t>
            </a:r>
            <a:endParaRPr b="0" i="0" sz="4450" u="none" cap="none" strike="noStrike"/>
          </a:p>
        </p:txBody>
      </p:sp>
      <p:pic>
        <p:nvPicPr>
          <p:cNvPr descr="preencoded.png" id="83" name="Google Shape;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793790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Diseño de Interfaces</a:t>
            </a:r>
            <a:endParaRPr b="0" i="0" sz="220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793790" y="5449014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diseño de interfaces se enfoca en crear experiencias de usuario efectivas y atractivas a través del diseño visual y la interacción.</a:t>
            </a:r>
            <a:endParaRPr b="0" i="0" sz="1750" u="none" cap="none" strike="noStrike"/>
          </a:p>
        </p:txBody>
      </p:sp>
      <p:pic>
        <p:nvPicPr>
          <p:cNvPr descr="preencoded.png" id="86" name="Google Shape;8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28361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/>
          <p:nvPr/>
        </p:nvSpPr>
        <p:spPr>
          <a:xfrm>
            <a:off x="5254704" y="4958715"/>
            <a:ext cx="353306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Experiencia de Usuario (UX)</a:t>
            </a:r>
            <a:endParaRPr b="0" i="0" sz="220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5254704" y="5449133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UX se centra en comprender las necesidades, motivaciones y comportamientos de los usuarios para desarrollar soluciones que mejoren su satisfacción.</a:t>
            </a:r>
            <a:endParaRPr b="0" i="0" sz="1750" u="none" cap="none" strike="noStrike"/>
          </a:p>
        </p:txBody>
      </p:sp>
      <p:pic>
        <p:nvPicPr>
          <p:cNvPr descr="preencoded.png" id="89" name="Google Shape;8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9715738" y="4958596"/>
            <a:ext cx="38258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Diseño Centrado en el Usuario</a:t>
            </a:r>
            <a:endParaRPr b="0" i="0" sz="22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9715738" y="5449014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Ambos enfoques comparten el objetivo de colocar al usuario en el centro del proceso de diseño, priorizando su experiencia.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3101340"/>
            <a:ext cx="3611880" cy="20269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6044446" y="816054"/>
            <a:ext cx="7432477" cy="498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100"/>
              <a:buFont typeface="Alice"/>
              <a:buNone/>
            </a:pPr>
            <a:r>
              <a:rPr b="0" i="0" lang="en-US" sz="31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Importancia del diseño de interfaces y UX</a:t>
            </a:r>
            <a:endParaRPr b="0" i="0" sz="31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6044446" y="1553408"/>
            <a:ext cx="8027908" cy="51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diseño de interfaces y la experiencia de usuario (UX) son fundamentales para el éxito de cualquier producto digital. Juntos, permiten crear soluciones intuitivas, eficientes y satisfactorias para los usuarios.</a:t>
            </a:r>
            <a:endParaRPr b="0" i="0" sz="125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6044446" y="2322433"/>
            <a:ext cx="8027908" cy="526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00"/>
              <a:buFont typeface="Alice"/>
              <a:buNone/>
            </a:pPr>
            <a:r>
              <a:rPr b="0" i="0" lang="en-US" sz="4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80%</a:t>
            </a:r>
            <a:endParaRPr b="0" i="0" sz="410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9061847" y="3047762"/>
            <a:ext cx="1992987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Satisfacción</a:t>
            </a:r>
            <a:endParaRPr b="0" i="0" sz="155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6044446" y="3392448"/>
            <a:ext cx="8027908" cy="255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Hasta el 80% de la satisfacción del usuario depende de la UX.</a:t>
            </a:r>
            <a:endParaRPr b="0" i="0" sz="1250" u="none" cap="none" strike="noStrike"/>
          </a:p>
        </p:txBody>
      </p:sp>
      <p:sp>
        <p:nvSpPr>
          <p:cNvPr id="104" name="Google Shape;104;p3"/>
          <p:cNvSpPr/>
          <p:nvPr/>
        </p:nvSpPr>
        <p:spPr>
          <a:xfrm>
            <a:off x="6044446" y="4205407"/>
            <a:ext cx="8027908" cy="526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00"/>
              <a:buFont typeface="Alice"/>
              <a:buNone/>
            </a:pPr>
            <a:r>
              <a:rPr b="0" i="0" lang="en-US" sz="4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70%</a:t>
            </a:r>
            <a:endParaRPr b="0" i="0" sz="410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9061847" y="4930735"/>
            <a:ext cx="1992987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Retención</a:t>
            </a:r>
            <a:endParaRPr b="0" i="0" sz="155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6044446" y="5275421"/>
            <a:ext cx="8027908" cy="255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Más del 70% de los usuarios abandonan una aplicación si la experiencia no es fluida.</a:t>
            </a:r>
            <a:endParaRPr b="0" i="0" sz="125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6044446" y="6088380"/>
            <a:ext cx="8027908" cy="526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100"/>
              <a:buFont typeface="Alice"/>
              <a:buNone/>
            </a:pPr>
            <a:r>
              <a:rPr b="0" i="0" lang="en-US" sz="4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3X</a:t>
            </a:r>
            <a:endParaRPr b="0" i="0" sz="410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9061847" y="6813709"/>
            <a:ext cx="1992987" cy="24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Alice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Rentabilidad</a:t>
            </a:r>
            <a:endParaRPr b="0" i="0" sz="1550" u="none" cap="none" strike="noStrike"/>
          </a:p>
        </p:txBody>
      </p:sp>
      <p:sp>
        <p:nvSpPr>
          <p:cNvPr id="109" name="Google Shape;109;p3"/>
          <p:cNvSpPr/>
          <p:nvPr/>
        </p:nvSpPr>
        <p:spPr>
          <a:xfrm>
            <a:off x="6044446" y="7158395"/>
            <a:ext cx="8027908" cy="255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250"/>
              <a:buFont typeface="Lora"/>
              <a:buNone/>
            </a:pPr>
            <a:r>
              <a:rPr b="0" i="0" lang="en-US" sz="12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Una buena UX puede aumentar la rentabilidad del producto hasta 3 veces.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1058" y="283488"/>
            <a:ext cx="3408164" cy="226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793790" y="3639979"/>
            <a:ext cx="71586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Objetivos de la presentación</a:t>
            </a:r>
            <a:endParaRPr b="0" i="0" sz="4450" u="none" cap="none" strike="noStrike"/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6889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793790" y="5482709"/>
            <a:ext cx="335172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Establecer objetivos claros</a:t>
            </a:r>
            <a:endParaRPr b="0" i="0" sz="220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793790" y="5973128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Definir los objetivos específicos que se busca alcanzar con el diseño de interfaces y la experiencia de usuario.</a:t>
            </a:r>
            <a:endParaRPr b="0" i="0" sz="1750" u="none" cap="none" strike="noStrike"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4704" y="46889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5254704" y="5482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Enfoque en el usuario</a:t>
            </a:r>
            <a:endParaRPr b="0" i="0" sz="2200" u="none" cap="none" strike="noStrike"/>
          </a:p>
        </p:txBody>
      </p:sp>
      <p:sp>
        <p:nvSpPr>
          <p:cNvPr id="123" name="Google Shape;123;p4"/>
          <p:cNvSpPr/>
          <p:nvPr/>
        </p:nvSpPr>
        <p:spPr>
          <a:xfrm>
            <a:off x="5254704" y="5973128"/>
            <a:ext cx="412087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Comprender las necesidades, comportamientos y expectativas de los usuarios finales para guiar las decisiones de diseño.</a:t>
            </a:r>
            <a:endParaRPr b="0" i="0" sz="1750" u="none" cap="none" strike="noStrike"/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738" y="46889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9715738" y="5482709"/>
            <a:ext cx="36158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Proveer conocimientos clave</a:t>
            </a:r>
            <a:endParaRPr b="0" i="0" sz="220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9715738" y="5973128"/>
            <a:ext cx="412075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Presentar conceptos fundamentales en diseño de interfaces y UX de manera clara y concisa.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112169"/>
            <a:ext cx="4919305" cy="400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793790" y="183820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Catálogo de estilos: ¿Qué es y por qué es importante?</a:t>
            </a:r>
            <a:endParaRPr b="0" i="0" sz="44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793790" y="3595926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catálogo de estilos es una guía visual que establece los lineamientos y estándares gráficos de una marca o proyecto. Incluye elementos como tipografía, paleta de colores, iconografía y otros componentes visuales.</a:t>
            </a:r>
            <a:endParaRPr b="0" i="0" sz="175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793790" y="530268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 importante porque garantiza la coherencia y consistencia de la identidad visual a lo largo de diferentes plataformas y materiales, mejorando el reconocimiento de la marca y la experiencia del usuario.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793790" y="1995607"/>
            <a:ext cx="1037451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Elementos clave de un catálogo de estilos</a:t>
            </a:r>
            <a:endParaRPr b="0" i="0" sz="445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Paleta de Colores</a:t>
            </a:r>
            <a:endParaRPr b="0" i="0" sz="220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793790" y="3852505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catálogo de estilos debe definir una paleta de colores coherente y armoniosa que se aplique de manera consistente en todo el diseño.</a:t>
            </a:r>
            <a:endParaRPr b="0" i="0" sz="175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4200406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Tipografía</a:t>
            </a:r>
            <a:endParaRPr b="0" i="0" sz="22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4200406" y="3852505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selección y uso de fuentes tipográficas es crucial para mantener la legibilidad y el aspecto visual unificado.</a:t>
            </a:r>
            <a:endParaRPr b="0" i="0" sz="1750" u="none" cap="none" strike="noStrike"/>
          </a:p>
        </p:txBody>
      </p:sp>
      <p:sp>
        <p:nvSpPr>
          <p:cNvPr id="147" name="Google Shape;147;p6"/>
          <p:cNvSpPr/>
          <p:nvPr/>
        </p:nvSpPr>
        <p:spPr>
          <a:xfrm>
            <a:off x="7607022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Elementos Gráficos</a:t>
            </a:r>
            <a:endParaRPr b="0" i="0" sz="22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7607022" y="3852505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Iconos, ilustraciones y otros elementos visuales deben tener un estilo definido y ser utilizados de forma sistemática.</a:t>
            </a:r>
            <a:endParaRPr b="0" i="0" sz="175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11013638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Patrones y Texturas</a:t>
            </a:r>
            <a:endParaRPr b="0" i="0" sz="220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11013638" y="3852505"/>
            <a:ext cx="284559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Patrones y texturas pueden agregar interés visual, pero deben usarse con moderación y de manera coherente.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7484" y="2774513"/>
            <a:ext cx="4979313" cy="268057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709732" y="1101685"/>
            <a:ext cx="7724537" cy="1267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50"/>
              <a:buFont typeface="Alice"/>
              <a:buNone/>
            </a:pPr>
            <a:r>
              <a:rPr b="0" i="0" lang="en-US" sz="39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Beneficios de un catálogo de estilos</a:t>
            </a:r>
            <a:endParaRPr b="0" i="0" sz="395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09732" y="2901196"/>
            <a:ext cx="354806" cy="354806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267301" y="2901196"/>
            <a:ext cx="2534960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Consistencia visual</a:t>
            </a:r>
            <a:endParaRPr b="0" i="0" sz="195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1267301" y="3339584"/>
            <a:ext cx="3203377" cy="1621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catálogo de estilos garantiza que todos los elementos de diseño sigan una misma línea estética, brindando una experiencia coherente al usuario.</a:t>
            </a:r>
            <a:endParaRPr b="0" i="0" sz="155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4673441" y="2901196"/>
            <a:ext cx="354806" cy="354806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231011" y="2901196"/>
            <a:ext cx="2897743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Eficiencia en el desarrollo</a:t>
            </a:r>
            <a:endParaRPr b="0" i="0" sz="195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5231011" y="3339584"/>
            <a:ext cx="3203377" cy="1621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 tener un conjunto estandarizado de componentes, los diseñadores y desarrolladores pueden trabajar de manera más ágil y optimizada.</a:t>
            </a:r>
            <a:endParaRPr b="0" i="0" sz="155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709732" y="5392103"/>
            <a:ext cx="354806" cy="354806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1267301" y="5392103"/>
            <a:ext cx="2890718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 en la accesibilidad</a:t>
            </a:r>
            <a:endParaRPr b="0" i="0" sz="195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1267301" y="5830491"/>
            <a:ext cx="3203377" cy="129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catálogo de estilos facilita la creación de interfaces accesibles y amigables para todos los usuarios.</a:t>
            </a:r>
            <a:endParaRPr b="0" i="0" sz="155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4673441" y="5392103"/>
            <a:ext cx="354806" cy="354806"/>
          </a:xfrm>
          <a:prstGeom prst="roundRect">
            <a:avLst>
              <a:gd fmla="val 85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231011" y="5392103"/>
            <a:ext cx="3144798" cy="31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50"/>
              <a:buFont typeface="Alice"/>
              <a:buNone/>
            </a:pPr>
            <a:r>
              <a:rPr b="0" i="0" lang="en-US" sz="19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Fortalecimiento de la marca</a:t>
            </a:r>
            <a:endParaRPr b="0" i="0" sz="195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5231011" y="5830491"/>
            <a:ext cx="3203377" cy="1297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Una imagen visual unificada refuerza la identidad y el reconocimiento de la marca en la mente de los usuarios.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718899" y="832247"/>
            <a:ext cx="13192601" cy="128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000"/>
              <a:buFont typeface="Alice"/>
              <a:buNone/>
            </a:pPr>
            <a:r>
              <a:rPr b="0" i="0" lang="en-US" sz="40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Arquitectura de la información: Organización del contenido</a:t>
            </a:r>
            <a:endParaRPr b="0" i="0" sz="4000" u="none" cap="none" strike="noStrike"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580" y="2526983"/>
            <a:ext cx="2176701" cy="11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3961924" y="3060025"/>
            <a:ext cx="109895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0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5310664" y="2732365"/>
            <a:ext cx="3150989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Organización del contenido</a:t>
            </a:r>
            <a:endParaRPr b="0" i="0" sz="200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5310664" y="3176588"/>
            <a:ext cx="661737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Estructurar y jerarquizar la información de manera lógica y accesible.</a:t>
            </a:r>
            <a:endParaRPr b="0" i="0" sz="160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5156597" y="3726656"/>
            <a:ext cx="8703588" cy="11430"/>
          </a:xfrm>
          <a:prstGeom prst="roundRect">
            <a:avLst>
              <a:gd fmla="val 26959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0230" y="3761899"/>
            <a:ext cx="4353520" cy="11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3953828" y="4148257"/>
            <a:ext cx="126087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0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6399133" y="3967282"/>
            <a:ext cx="2567821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Análisis de usuarios</a:t>
            </a:r>
            <a:endParaRPr b="0" i="0" sz="200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6399133" y="4411504"/>
            <a:ext cx="686657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Comprender las necesidades y comportamientos de los usuarios finales.</a:t>
            </a:r>
            <a:endParaRPr b="0" i="0" sz="160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6245066" y="4961573"/>
            <a:ext cx="7615118" cy="11430"/>
          </a:xfrm>
          <a:prstGeom prst="roundRect">
            <a:avLst>
              <a:gd fmla="val 26959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880" y="4996815"/>
            <a:ext cx="6530221" cy="11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3954423" y="5383173"/>
            <a:ext cx="125016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00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7487483" y="5202198"/>
            <a:ext cx="3062168" cy="320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Definición de la estructura</a:t>
            </a:r>
            <a:endParaRPr b="0" i="0" sz="200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7487483" y="5646420"/>
            <a:ext cx="562117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Diseñar una arquitectura de información clara y navegable.</a:t>
            </a:r>
            <a:endParaRPr b="0" i="0" sz="160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718899" y="6411516"/>
            <a:ext cx="13192601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arquitectura de la información es fundamental para organizar el contenido de manera coherente y facilitar la navegación de los usuarios. Mediante un análisis detallado de las necesidades y comportamientos de los usuarios, se puede definir una estructura de información que permita acceder fácilmente a los elementos clave.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8" name="Google Shape;1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011" y="2060496"/>
            <a:ext cx="4930259" cy="410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6265069" y="613410"/>
            <a:ext cx="7586663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350"/>
              <a:buFont typeface="Alice"/>
              <a:buNone/>
            </a:pPr>
            <a:r>
              <a:rPr b="0" i="0" lang="en-US" sz="43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Principios de la arquitectura de la información</a:t>
            </a:r>
            <a:endParaRPr b="0" i="0" sz="435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6265069" y="2337792"/>
            <a:ext cx="3682127" cy="2349937"/>
          </a:xfrm>
          <a:prstGeom prst="roundRect">
            <a:avLst>
              <a:gd fmla="val 142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487478" y="2560201"/>
            <a:ext cx="278118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b="0" i="0" lang="en-US" sz="2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Organización clara</a:t>
            </a:r>
            <a:endParaRPr b="0" i="0" sz="215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6487478" y="3041333"/>
            <a:ext cx="3237309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información debe estar estructurada de manera lógica y coherente, facilitando la navegación del usuario.</a:t>
            </a:r>
            <a:endParaRPr b="0" i="0" sz="175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10169604" y="2337792"/>
            <a:ext cx="3682127" cy="2349937"/>
          </a:xfrm>
          <a:prstGeom prst="roundRect">
            <a:avLst>
              <a:gd fmla="val 142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0392013" y="2560201"/>
            <a:ext cx="278118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b="0" i="0" lang="en-US" sz="2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Etiquetado preciso</a:t>
            </a:r>
            <a:endParaRPr b="0" i="0" sz="215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10392013" y="3041333"/>
            <a:ext cx="3237309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etiquetas y títulos deben ser claros y descriptivos, reflejando con precisión el contenido.</a:t>
            </a:r>
            <a:endParaRPr b="0" i="0" sz="17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6265069" y="4910138"/>
            <a:ext cx="3682127" cy="2705933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487478" y="5132546"/>
            <a:ext cx="278118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b="0" i="0" lang="en-US" sz="2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Navegación intuitiva</a:t>
            </a:r>
            <a:endParaRPr b="0" i="0" sz="215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6487478" y="5613678"/>
            <a:ext cx="3237309" cy="142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mecanismos de navegación deben ser fáciles de entender y usar, guiando al usuario de manera eficiente.</a:t>
            </a:r>
            <a:endParaRPr b="0" i="0" sz="175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10169604" y="4910138"/>
            <a:ext cx="3682127" cy="2705933"/>
          </a:xfrm>
          <a:prstGeom prst="roundRect">
            <a:avLst>
              <a:gd fmla="val 123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0392013" y="5132546"/>
            <a:ext cx="278118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50"/>
              <a:buFont typeface="Alice"/>
              <a:buNone/>
            </a:pPr>
            <a:r>
              <a:rPr b="0" i="0" lang="en-US" sz="21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Accesibilidad</a:t>
            </a:r>
            <a:endParaRPr b="0" i="0" sz="215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10392013" y="5613678"/>
            <a:ext cx="3237309" cy="1779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diseño debe considerar las necesidades de usuarios con diferentes capacidades, asegurando un acceso universal.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6054" y="2084665"/>
            <a:ext cx="5002292" cy="406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677585" y="758785"/>
            <a:ext cx="7788831" cy="1209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800"/>
              <a:buFont typeface="Alice"/>
              <a:buNone/>
            </a:pPr>
            <a:r>
              <a:rPr b="0" i="0" lang="en-US" sz="38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Mejora de la accesibilidad a través de la arquitectura de la información</a:t>
            </a:r>
            <a:endParaRPr b="0" i="0" sz="380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677585" y="2259092"/>
            <a:ext cx="3797618" cy="2663904"/>
          </a:xfrm>
          <a:prstGeom prst="roundRect">
            <a:avLst>
              <a:gd fmla="val 109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71180" y="2452688"/>
            <a:ext cx="2420064" cy="30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Navegación clara</a:t>
            </a:r>
            <a:endParaRPr b="0" i="0" sz="190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871180" y="2871311"/>
            <a:ext cx="3410426" cy="1858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Una buena arquitectura de la información facilita la navegación intuitiva a través del contenido, permitiendo a los usuarios encontrar fácilmente la información que buscan.</a:t>
            </a:r>
            <a:endParaRPr b="0" i="0" sz="150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4668798" y="2259092"/>
            <a:ext cx="3797618" cy="2663904"/>
          </a:xfrm>
          <a:prstGeom prst="roundRect">
            <a:avLst>
              <a:gd fmla="val 109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862393" y="2452688"/>
            <a:ext cx="2420064" cy="30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Contenido organizado</a:t>
            </a:r>
            <a:endParaRPr b="0" i="0" sz="19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4862393" y="2871311"/>
            <a:ext cx="3410426" cy="154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organización lógica del contenido en categorías y subcategorías mejora la accesibilidad, evitando que los usuarios se pierdan entre la información.</a:t>
            </a:r>
            <a:endParaRPr b="0" i="0" sz="150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677585" y="5116592"/>
            <a:ext cx="3797618" cy="2354223"/>
          </a:xfrm>
          <a:prstGeom prst="roundRect">
            <a:avLst>
              <a:gd fmla="val 123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71180" y="5310188"/>
            <a:ext cx="2461260" cy="30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Etiquetado descriptivo</a:t>
            </a:r>
            <a:endParaRPr b="0" i="0" sz="190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871180" y="5728811"/>
            <a:ext cx="3410426" cy="154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Utilizar etiquetas claras y descriptivas para los elementos de la interfaz ayuda a los usuarios a comprender rápidamente el propósito de cada sección.</a:t>
            </a:r>
            <a:endParaRPr b="0" i="0" sz="150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4668798" y="5116592"/>
            <a:ext cx="3797618" cy="2354223"/>
          </a:xfrm>
          <a:prstGeom prst="roundRect">
            <a:avLst>
              <a:gd fmla="val 123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862393" y="5310188"/>
            <a:ext cx="2420064" cy="302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900"/>
              <a:buFont typeface="Alice"/>
              <a:buNone/>
            </a:pPr>
            <a:r>
              <a:rPr b="0" i="0" lang="en-US" sz="19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Diseño responsivo</a:t>
            </a:r>
            <a:endParaRPr b="0" i="0" sz="1900" u="none" cap="none" strike="noStrike"/>
          </a:p>
        </p:txBody>
      </p:sp>
      <p:sp>
        <p:nvSpPr>
          <p:cNvPr id="231" name="Google Shape;231;p10"/>
          <p:cNvSpPr/>
          <p:nvPr/>
        </p:nvSpPr>
        <p:spPr>
          <a:xfrm>
            <a:off x="4862393" y="5728811"/>
            <a:ext cx="3410426" cy="154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diseño adaptable a diferentes dispositivos y tamaños de pantalla mejora la accesibilidad y la experiencia de usuario en múltiples plataformas.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1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8794" y="2291120"/>
            <a:ext cx="4976693" cy="364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713661" y="560665"/>
            <a:ext cx="7716679" cy="127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000"/>
              <a:buFont typeface="Alice"/>
              <a:buNone/>
            </a:pPr>
            <a:r>
              <a:rPr b="0" i="0" lang="en-US" sz="40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Experiencia de usuario (UX): Principios clave</a:t>
            </a:r>
            <a:endParaRPr b="0" i="0" sz="4000" u="none" cap="none" strike="noStrike"/>
          </a:p>
        </p:txBody>
      </p:sp>
      <p:pic>
        <p:nvPicPr>
          <p:cNvPr descr="preencoded.png" id="240" name="Google Shape;2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661" y="2140863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/>
          <p:nvPr/>
        </p:nvSpPr>
        <p:spPr>
          <a:xfrm>
            <a:off x="713661" y="2854404"/>
            <a:ext cx="2548890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Enfoque en el usuario</a:t>
            </a:r>
            <a:endParaRPr b="0" i="0" sz="200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713661" y="3295293"/>
            <a:ext cx="3705463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Entender las necesidades, objetivos y comportamientos de los usuarios es fundamental para diseñar experiencias efectivas.</a:t>
            </a:r>
            <a:endParaRPr b="0" i="0" sz="1600" u="none" cap="none" strike="noStrike"/>
          </a:p>
        </p:txBody>
      </p:sp>
      <p:pic>
        <p:nvPicPr>
          <p:cNvPr descr="preencoded.png" id="243" name="Google Shape;24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876" y="2140863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4724876" y="2854404"/>
            <a:ext cx="2548890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Simplicidad</a:t>
            </a:r>
            <a:endParaRPr b="0" i="0" sz="2000" u="none" cap="none" strike="noStrike"/>
          </a:p>
        </p:txBody>
      </p:sp>
      <p:sp>
        <p:nvSpPr>
          <p:cNvPr id="245" name="Google Shape;245;p11"/>
          <p:cNvSpPr/>
          <p:nvPr/>
        </p:nvSpPr>
        <p:spPr>
          <a:xfrm>
            <a:off x="4724876" y="3295293"/>
            <a:ext cx="3705463" cy="978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Diseñar interfaces sencillas y fáciles de usar, que minimicen la carga cognitiva del usuario.</a:t>
            </a:r>
            <a:endParaRPr b="0" i="0" sz="1600" u="none" cap="none" strike="noStrike"/>
          </a:p>
        </p:txBody>
      </p:sp>
      <p:pic>
        <p:nvPicPr>
          <p:cNvPr descr="preencoded.png" id="246" name="Google Shape;24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661" y="5211842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713661" y="5925383"/>
            <a:ext cx="2548890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Consistencia</a:t>
            </a:r>
            <a:endParaRPr b="0" i="0" sz="2000" u="none" cap="none" strike="noStrike"/>
          </a:p>
        </p:txBody>
      </p:sp>
      <p:sp>
        <p:nvSpPr>
          <p:cNvPr id="248" name="Google Shape;248;p11"/>
          <p:cNvSpPr/>
          <p:nvPr/>
        </p:nvSpPr>
        <p:spPr>
          <a:xfrm>
            <a:off x="713661" y="6366272"/>
            <a:ext cx="3705463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Mantener patrones y convenciones coherentes a lo largo de la interfaz para fomentar la familiaridad y facilitar el aprendizaje.</a:t>
            </a:r>
            <a:endParaRPr b="0" i="0" sz="1600" u="none" cap="none" strike="noStrike"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876" y="5211842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4724876" y="5925383"/>
            <a:ext cx="2548890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Retroalimentación</a:t>
            </a:r>
            <a:endParaRPr b="0" i="0" sz="2000" u="none" cap="none" strike="noStrike"/>
          </a:p>
        </p:txBody>
      </p:sp>
      <p:sp>
        <p:nvSpPr>
          <p:cNvPr id="251" name="Google Shape;251;p11"/>
          <p:cNvSpPr/>
          <p:nvPr/>
        </p:nvSpPr>
        <p:spPr>
          <a:xfrm>
            <a:off x="4724876" y="6366272"/>
            <a:ext cx="3705463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Proporcionar información oportuna y clara sobre el estado del sistema para mantener al usuario informado y orientado.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153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5845" y="251460"/>
            <a:ext cx="3018592" cy="201239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704255" y="3226713"/>
            <a:ext cx="10390346" cy="62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950"/>
              <a:buFont typeface="Alice"/>
              <a:buNone/>
            </a:pPr>
            <a:r>
              <a:rPr b="0" i="0" lang="en-US" sz="39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Impacto de la UX en la satisfacción del usuario</a:t>
            </a:r>
            <a:endParaRPr b="0" i="0" sz="3950" u="none" cap="none" strike="noStrike"/>
          </a:p>
        </p:txBody>
      </p:sp>
      <p:sp>
        <p:nvSpPr>
          <p:cNvPr id="260" name="Google Shape;260;p12"/>
          <p:cNvSpPr/>
          <p:nvPr/>
        </p:nvSpPr>
        <p:spPr>
          <a:xfrm>
            <a:off x="704255" y="4157305"/>
            <a:ext cx="13221891" cy="3360896"/>
          </a:xfrm>
          <a:prstGeom prst="roundRect">
            <a:avLst>
              <a:gd fmla="val 89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711875" y="4164925"/>
            <a:ext cx="13206651" cy="122253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913090" y="4293275"/>
            <a:ext cx="6197084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Mejor comprensión de las necesidades del usuario</a:t>
            </a:r>
            <a:endParaRPr b="0" i="0" sz="1550" u="none" cap="none" strike="noStrike"/>
          </a:p>
        </p:txBody>
      </p:sp>
      <p:sp>
        <p:nvSpPr>
          <p:cNvPr id="263" name="Google Shape;263;p12"/>
          <p:cNvSpPr/>
          <p:nvPr/>
        </p:nvSpPr>
        <p:spPr>
          <a:xfrm>
            <a:off x="7520226" y="4293275"/>
            <a:ext cx="6197084" cy="96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UX se enfoca en entender profundamente los objetivos, comportamientos y frustraciones de los usuarios para diseñar soluciones más efectivas.</a:t>
            </a:r>
            <a:endParaRPr b="0" i="0" sz="1550" u="none" cap="none" strike="noStrike"/>
          </a:p>
        </p:txBody>
      </p:sp>
      <p:sp>
        <p:nvSpPr>
          <p:cNvPr id="264" name="Google Shape;264;p12"/>
          <p:cNvSpPr/>
          <p:nvPr/>
        </p:nvSpPr>
        <p:spPr>
          <a:xfrm>
            <a:off x="711875" y="5387459"/>
            <a:ext cx="13206651" cy="122253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913090" y="5515808"/>
            <a:ext cx="6197084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Experiencia más intuitiva y fluida</a:t>
            </a:r>
            <a:endParaRPr b="0" i="0" sz="1550" u="none" cap="none" strike="noStrike"/>
          </a:p>
        </p:txBody>
      </p:sp>
      <p:sp>
        <p:nvSpPr>
          <p:cNvPr id="266" name="Google Shape;266;p12"/>
          <p:cNvSpPr/>
          <p:nvPr/>
        </p:nvSpPr>
        <p:spPr>
          <a:xfrm>
            <a:off x="7520226" y="5515808"/>
            <a:ext cx="6197084" cy="965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diseño centrado en el usuario resulta en interfaces más sencillas de usar, reduciendo la curva de aprendizaje y aumentando la satisfacción.</a:t>
            </a:r>
            <a:endParaRPr b="0" i="0" sz="1550" u="none" cap="none" strike="noStrike"/>
          </a:p>
        </p:txBody>
      </p:sp>
      <p:sp>
        <p:nvSpPr>
          <p:cNvPr id="267" name="Google Shape;267;p12"/>
          <p:cNvSpPr/>
          <p:nvPr/>
        </p:nvSpPr>
        <p:spPr>
          <a:xfrm>
            <a:off x="711875" y="6609993"/>
            <a:ext cx="13206651" cy="90058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913090" y="6738342"/>
            <a:ext cx="6197084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Mayor lealtad y recomendación</a:t>
            </a:r>
            <a:endParaRPr b="0" i="0" sz="1550" u="none" cap="none" strike="noStrike"/>
          </a:p>
        </p:txBody>
      </p:sp>
      <p:sp>
        <p:nvSpPr>
          <p:cNvPr id="269" name="Google Shape;269;p12"/>
          <p:cNvSpPr/>
          <p:nvPr/>
        </p:nvSpPr>
        <p:spPr>
          <a:xfrm>
            <a:off x="7520226" y="6738342"/>
            <a:ext cx="6197084" cy="64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50"/>
              <a:buFont typeface="Lora"/>
              <a:buNone/>
            </a:pPr>
            <a:r>
              <a:rPr b="0" i="0" lang="en-US" sz="15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usuarios que tienen una experiencia excepcional tienden a ser más fieles a la marca y más propensos a recomendarla a otros.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/>
          <p:nvPr/>
        </p:nvSpPr>
        <p:spPr>
          <a:xfrm>
            <a:off x="793790" y="965954"/>
            <a:ext cx="1272861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Diseño de interfaces de usuario (UI): Fundamentos</a:t>
            </a:r>
            <a:endParaRPr b="0" i="0" sz="4450" u="none" cap="none" strike="noStrike"/>
          </a:p>
        </p:txBody>
      </p:sp>
      <p:pic>
        <p:nvPicPr>
          <p:cNvPr descr="preencoded.png" id="276" name="Google Shape;2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3"/>
          <p:cNvSpPr/>
          <p:nvPr/>
        </p:nvSpPr>
        <p:spPr>
          <a:xfrm>
            <a:off x="793790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Principios Básicos</a:t>
            </a:r>
            <a:endParaRPr b="0" i="0" sz="2200" u="none" cap="none" strike="noStrike"/>
          </a:p>
        </p:txBody>
      </p:sp>
      <p:sp>
        <p:nvSpPr>
          <p:cNvPr id="278" name="Google Shape;278;p13"/>
          <p:cNvSpPr/>
          <p:nvPr/>
        </p:nvSpPr>
        <p:spPr>
          <a:xfrm>
            <a:off x="793790" y="5449014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 diseño de interfaces de usuario se basa en principios fundamentales como la simplicidad, accesibilidad y usabilidad para crear experiencias interactivas efectivas.</a:t>
            </a:r>
            <a:endParaRPr b="0" i="0" sz="1750" u="none" cap="none" strike="noStrike"/>
          </a:p>
        </p:txBody>
      </p:sp>
      <p:pic>
        <p:nvPicPr>
          <p:cNvPr descr="preencoded.png" id="279" name="Google Shape;27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128361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/>
          <p:nvPr/>
        </p:nvSpPr>
        <p:spPr>
          <a:xfrm>
            <a:off x="5254704" y="4958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Elementos Clave</a:t>
            </a:r>
            <a:endParaRPr b="0" i="0" sz="2200" u="none" cap="none" strike="noStrike"/>
          </a:p>
        </p:txBody>
      </p:sp>
      <p:sp>
        <p:nvSpPr>
          <p:cNvPr id="281" name="Google Shape;281;p13"/>
          <p:cNvSpPr/>
          <p:nvPr/>
        </p:nvSpPr>
        <p:spPr>
          <a:xfrm>
            <a:off x="5254704" y="5449133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elementos clave del diseño de UI incluyen tipografía, color, layouts, iconos y controles que juntos conforman la apariencia y funcionalidad de la interfaz.</a:t>
            </a:r>
            <a:endParaRPr b="0" i="0" sz="1750" u="none" cap="none" strike="noStrike"/>
          </a:p>
        </p:txBody>
      </p:sp>
      <p:pic>
        <p:nvPicPr>
          <p:cNvPr descr="preencoded.png" id="282" name="Google Shape;2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128361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/>
          <p:nvPr/>
        </p:nvSpPr>
        <p:spPr>
          <a:xfrm>
            <a:off x="9715738" y="49585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Prototipado y Pruebas</a:t>
            </a:r>
            <a:endParaRPr b="0" i="0" sz="2200" u="none" cap="none" strike="noStrike"/>
          </a:p>
        </p:txBody>
      </p:sp>
      <p:sp>
        <p:nvSpPr>
          <p:cNvPr id="284" name="Google Shape;284;p13"/>
          <p:cNvSpPr/>
          <p:nvPr/>
        </p:nvSpPr>
        <p:spPr>
          <a:xfrm>
            <a:off x="9715738" y="5449014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proceso iterativo de prototipado y pruebas con usuarios es esencial para refinar y optimizar el diseño de la interfaz de usuario.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0" name="Google Shape;2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88" y="2270046"/>
            <a:ext cx="4919305" cy="36895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/>
          <p:nvPr/>
        </p:nvSpPr>
        <p:spPr>
          <a:xfrm>
            <a:off x="6280190" y="9253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Elementos clave del diseño de UI</a:t>
            </a:r>
            <a:endParaRPr b="0" i="0" sz="4450" u="none" cap="none" strike="noStrike"/>
          </a:p>
        </p:txBody>
      </p:sp>
      <p:sp>
        <p:nvSpPr>
          <p:cNvPr id="293" name="Google Shape;293;p14"/>
          <p:cNvSpPr/>
          <p:nvPr/>
        </p:nvSpPr>
        <p:spPr>
          <a:xfrm>
            <a:off x="6280190" y="29382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6462474" y="3023235"/>
            <a:ext cx="14561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650"/>
              <a:buFont typeface="Alice"/>
              <a:buNone/>
            </a:pPr>
            <a:r>
              <a:rPr b="0" i="0" lang="en-US" sz="2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650" u="none" cap="none" strike="noStrike"/>
          </a:p>
        </p:txBody>
      </p:sp>
      <p:sp>
        <p:nvSpPr>
          <p:cNvPr id="295" name="Google Shape;295;p14"/>
          <p:cNvSpPr/>
          <p:nvPr/>
        </p:nvSpPr>
        <p:spPr>
          <a:xfrm>
            <a:off x="7017306" y="29382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Usabilidad</a:t>
            </a:r>
            <a:endParaRPr b="0" i="0" sz="2200" u="none" cap="none" strike="noStrike"/>
          </a:p>
        </p:txBody>
      </p:sp>
      <p:sp>
        <p:nvSpPr>
          <p:cNvPr id="296" name="Google Shape;296;p14"/>
          <p:cNvSpPr/>
          <p:nvPr/>
        </p:nvSpPr>
        <p:spPr>
          <a:xfrm>
            <a:off x="7017306" y="3428643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Diseñar interfaces fáciles de usar y navegables, con interacciones lógicas y eficientes.</a:t>
            </a:r>
            <a:endParaRPr b="0" i="0" sz="1750" u="none" cap="none" strike="noStrike"/>
          </a:p>
        </p:txBody>
      </p:sp>
      <p:sp>
        <p:nvSpPr>
          <p:cNvPr id="297" name="Google Shape;297;p14"/>
          <p:cNvSpPr/>
          <p:nvPr/>
        </p:nvSpPr>
        <p:spPr>
          <a:xfrm>
            <a:off x="10171867" y="29382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10343436" y="3023235"/>
            <a:ext cx="167045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650"/>
              <a:buFont typeface="Alice"/>
              <a:buNone/>
            </a:pPr>
            <a:r>
              <a:rPr b="0" i="0" lang="en-US" sz="2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650" u="none" cap="none" strike="noStrike"/>
          </a:p>
        </p:txBody>
      </p:sp>
      <p:sp>
        <p:nvSpPr>
          <p:cNvPr id="299" name="Google Shape;299;p14"/>
          <p:cNvSpPr/>
          <p:nvPr/>
        </p:nvSpPr>
        <p:spPr>
          <a:xfrm>
            <a:off x="10908983" y="29382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Consistencia Visual</a:t>
            </a:r>
            <a:endParaRPr b="0" i="0" sz="2200" u="none" cap="none" strike="noStrike"/>
          </a:p>
        </p:txBody>
      </p:sp>
      <p:sp>
        <p:nvSpPr>
          <p:cNvPr id="300" name="Google Shape;300;p14"/>
          <p:cNvSpPr/>
          <p:nvPr/>
        </p:nvSpPr>
        <p:spPr>
          <a:xfrm>
            <a:off x="10908983" y="3428643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Aplicar un estilo coherente mediante un catálogo de estilos que cree una imagen de marca distintiva.</a:t>
            </a:r>
            <a:endParaRPr b="0" i="0" sz="1750" u="none" cap="none" strike="noStrike"/>
          </a:p>
        </p:txBody>
      </p:sp>
      <p:sp>
        <p:nvSpPr>
          <p:cNvPr id="301" name="Google Shape;301;p14"/>
          <p:cNvSpPr/>
          <p:nvPr/>
        </p:nvSpPr>
        <p:spPr>
          <a:xfrm>
            <a:off x="6280190" y="536221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452473" y="5447228"/>
            <a:ext cx="165735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650"/>
              <a:buFont typeface="Alice"/>
              <a:buNone/>
            </a:pPr>
            <a:r>
              <a:rPr b="0" i="0" lang="en-US" sz="2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650" u="none" cap="none" strike="noStrike"/>
          </a:p>
        </p:txBody>
      </p:sp>
      <p:sp>
        <p:nvSpPr>
          <p:cNvPr id="303" name="Google Shape;303;p14"/>
          <p:cNvSpPr/>
          <p:nvPr/>
        </p:nvSpPr>
        <p:spPr>
          <a:xfrm>
            <a:off x="7017306" y="53622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Jerarquía Visual</a:t>
            </a:r>
            <a:endParaRPr b="0" i="0" sz="2200" u="none" cap="none" strike="noStrike"/>
          </a:p>
        </p:txBody>
      </p:sp>
      <p:sp>
        <p:nvSpPr>
          <p:cNvPr id="304" name="Google Shape;304;p14"/>
          <p:cNvSpPr/>
          <p:nvPr/>
        </p:nvSpPr>
        <p:spPr>
          <a:xfrm>
            <a:off x="7017306" y="5852636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Organizar los elementos de la interfaz de manera que los más importantes resalten y guíen al usuario.</a:t>
            </a:r>
            <a:endParaRPr b="0" i="0" sz="1750" u="none" cap="none" strike="noStrike"/>
          </a:p>
        </p:txBody>
      </p:sp>
      <p:sp>
        <p:nvSpPr>
          <p:cNvPr id="305" name="Google Shape;305;p14"/>
          <p:cNvSpPr/>
          <p:nvPr/>
        </p:nvSpPr>
        <p:spPr>
          <a:xfrm>
            <a:off x="10171867" y="536221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10342602" y="5447228"/>
            <a:ext cx="168831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650"/>
              <a:buFont typeface="Alice"/>
              <a:buNone/>
            </a:pPr>
            <a:r>
              <a:rPr b="0" i="0" lang="en-US" sz="26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2650" u="none" cap="none" strike="noStrike"/>
          </a:p>
        </p:txBody>
      </p:sp>
      <p:sp>
        <p:nvSpPr>
          <p:cNvPr id="307" name="Google Shape;307;p14"/>
          <p:cNvSpPr/>
          <p:nvPr/>
        </p:nvSpPr>
        <p:spPr>
          <a:xfrm>
            <a:off x="10908983" y="536221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Retroalimentación</a:t>
            </a:r>
            <a:endParaRPr b="0" i="0" sz="2200" u="none" cap="none" strike="noStrike"/>
          </a:p>
        </p:txBody>
      </p:sp>
      <p:sp>
        <p:nvSpPr>
          <p:cNvPr id="308" name="Google Shape;308;p14"/>
          <p:cNvSpPr/>
          <p:nvPr/>
        </p:nvSpPr>
        <p:spPr>
          <a:xfrm>
            <a:off x="10908983" y="5852636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Proporcionar al usuario indicaciones claras sobre el estado y progreso de las acciones.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4" name="Google Shape;3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40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9917" y="233958"/>
            <a:ext cx="2630567" cy="187213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655201" y="3005971"/>
            <a:ext cx="9559528" cy="5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650"/>
              <a:buFont typeface="Alice"/>
              <a:buNone/>
            </a:pPr>
            <a:r>
              <a:rPr b="0" i="0" lang="en-US" sz="36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Cómo el diseño de UI influye en la interacción</a:t>
            </a:r>
            <a:endParaRPr b="0" i="0" sz="3650" u="none" cap="none" strike="noStrike"/>
          </a:p>
        </p:txBody>
      </p:sp>
      <p:sp>
        <p:nvSpPr>
          <p:cNvPr id="317" name="Google Shape;317;p15"/>
          <p:cNvSpPr/>
          <p:nvPr/>
        </p:nvSpPr>
        <p:spPr>
          <a:xfrm>
            <a:off x="655201" y="5717619"/>
            <a:ext cx="13319998" cy="22860"/>
          </a:xfrm>
          <a:prstGeom prst="roundRect">
            <a:avLst>
              <a:gd fmla="val 122840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3926800" y="5062478"/>
            <a:ext cx="22860" cy="655201"/>
          </a:xfrm>
          <a:prstGeom prst="roundRect">
            <a:avLst>
              <a:gd fmla="val 122840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3727728" y="5507057"/>
            <a:ext cx="421124" cy="42112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3878104" y="5577185"/>
            <a:ext cx="120253" cy="280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200" u="none" cap="none" strike="noStrike"/>
          </a:p>
        </p:txBody>
      </p:sp>
      <p:sp>
        <p:nvSpPr>
          <p:cNvPr id="321" name="Google Shape;321;p15"/>
          <p:cNvSpPr/>
          <p:nvPr/>
        </p:nvSpPr>
        <p:spPr>
          <a:xfrm>
            <a:off x="2768322" y="3871674"/>
            <a:ext cx="2340054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00"/>
              <a:buFont typeface="Alice"/>
              <a:buNone/>
            </a:pPr>
            <a:r>
              <a:rPr b="0" i="0" lang="en-US" sz="18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Diseño Intuitivo</a:t>
            </a:r>
            <a:endParaRPr b="0" i="0" sz="1800" u="none" cap="none" strike="noStrike"/>
          </a:p>
        </p:txBody>
      </p:sp>
      <p:sp>
        <p:nvSpPr>
          <p:cNvPr id="322" name="Google Shape;322;p15"/>
          <p:cNvSpPr/>
          <p:nvPr/>
        </p:nvSpPr>
        <p:spPr>
          <a:xfrm>
            <a:off x="842367" y="4276368"/>
            <a:ext cx="6192083" cy="59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Un diseño de UI intuitivo y fácil de usar mejora la experiencia del usuario y facilita la interacción con el sistema.</a:t>
            </a:r>
            <a:endParaRPr b="0" i="0" sz="1450" u="none" cap="none" strike="noStrike"/>
          </a:p>
        </p:txBody>
      </p:sp>
      <p:sp>
        <p:nvSpPr>
          <p:cNvPr id="323" name="Google Shape;323;p15"/>
          <p:cNvSpPr/>
          <p:nvPr/>
        </p:nvSpPr>
        <p:spPr>
          <a:xfrm>
            <a:off x="7303532" y="5717560"/>
            <a:ext cx="22860" cy="655201"/>
          </a:xfrm>
          <a:prstGeom prst="roundRect">
            <a:avLst>
              <a:gd fmla="val 122840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7104459" y="5507057"/>
            <a:ext cx="421124" cy="42112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7246025" y="5577185"/>
            <a:ext cx="137874" cy="280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200" u="none" cap="none" strike="noStrike"/>
          </a:p>
        </p:txBody>
      </p:sp>
      <p:sp>
        <p:nvSpPr>
          <p:cNvPr id="326" name="Google Shape;326;p15"/>
          <p:cNvSpPr/>
          <p:nvPr/>
        </p:nvSpPr>
        <p:spPr>
          <a:xfrm>
            <a:off x="5990987" y="6559987"/>
            <a:ext cx="2648188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00"/>
              <a:buFont typeface="Alice"/>
              <a:buNone/>
            </a:pPr>
            <a:r>
              <a:rPr b="0" i="0" lang="en-US" sz="18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Retroalimentación Visual</a:t>
            </a:r>
            <a:endParaRPr b="0" i="0" sz="1800" u="none" cap="none" strike="noStrike"/>
          </a:p>
        </p:txBody>
      </p:sp>
      <p:sp>
        <p:nvSpPr>
          <p:cNvPr id="327" name="Google Shape;327;p15"/>
          <p:cNvSpPr/>
          <p:nvPr/>
        </p:nvSpPr>
        <p:spPr>
          <a:xfrm>
            <a:off x="4219099" y="6964680"/>
            <a:ext cx="6192083" cy="59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Elementos visuales como iconos, botones y menús claros proporcionan una retroalimentación efectiva y guían al usuario a través de la interfaz.</a:t>
            </a:r>
            <a:endParaRPr b="0" i="0" sz="1450" u="none" cap="none" strike="noStrike"/>
          </a:p>
        </p:txBody>
      </p:sp>
      <p:sp>
        <p:nvSpPr>
          <p:cNvPr id="328" name="Google Shape;328;p15"/>
          <p:cNvSpPr/>
          <p:nvPr/>
        </p:nvSpPr>
        <p:spPr>
          <a:xfrm>
            <a:off x="10680383" y="5062478"/>
            <a:ext cx="22860" cy="655201"/>
          </a:xfrm>
          <a:prstGeom prst="roundRect">
            <a:avLst>
              <a:gd fmla="val 122840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0481310" y="5507057"/>
            <a:ext cx="421124" cy="42112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10623471" y="5577185"/>
            <a:ext cx="136803" cy="280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200" u="none" cap="none" strike="noStrike"/>
          </a:p>
        </p:txBody>
      </p:sp>
      <p:sp>
        <p:nvSpPr>
          <p:cNvPr id="331" name="Google Shape;331;p15"/>
          <p:cNvSpPr/>
          <p:nvPr/>
        </p:nvSpPr>
        <p:spPr>
          <a:xfrm>
            <a:off x="9262348" y="3871674"/>
            <a:ext cx="2859286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00"/>
              <a:buFont typeface="Alice"/>
              <a:buNone/>
            </a:pPr>
            <a:r>
              <a:rPr b="0" i="0" lang="en-US" sz="18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Jerarquía de la Información</a:t>
            </a:r>
            <a:endParaRPr b="0" i="0" sz="1800" u="none" cap="none" strike="noStrike"/>
          </a:p>
        </p:txBody>
      </p:sp>
      <p:sp>
        <p:nvSpPr>
          <p:cNvPr id="332" name="Google Shape;332;p15"/>
          <p:cNvSpPr/>
          <p:nvPr/>
        </p:nvSpPr>
        <p:spPr>
          <a:xfrm>
            <a:off x="7595949" y="4276368"/>
            <a:ext cx="6192083" cy="598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450"/>
              <a:buFont typeface="Lora"/>
              <a:buNone/>
            </a:pPr>
            <a:r>
              <a:rPr b="0" i="0" lang="en-US" sz="14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organización lógica y la priorización de la información ayudan al usuario a encontrar fácilmente lo que necesita.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2024-11-04T02:00:12Z</dcterms:created>
  <dc:creator>PptxGenJS</dc:creator>
</cp:coreProperties>
</file>