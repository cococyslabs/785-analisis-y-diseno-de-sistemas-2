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8229600" cx="14630400"/>
  <p:notesSz cx="8229600" cy="14630400"/>
  <p:embeddedFontLst>
    <p:embeddedFont>
      <p:font typeface="Alice"/>
      <p:regular r:id="rId22"/>
    </p:embeddedFont>
    <p:embeddedFont>
      <p:font typeface="Lora"/>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gClt4VDRuedLbLju0VFUxg+Ta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2E5F5C-97E0-4A4B-8030-B670CEC99B60}">
  <a:tblStyle styleId="{442E5F5C-97E0-4A4B-8030-B670CEC99B6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lice-regular.fntdata"/><Relationship Id="rId21" Type="http://schemas.openxmlformats.org/officeDocument/2006/relationships/slide" Target="slides/slide16.xml"/><Relationship Id="rId24" Type="http://schemas.openxmlformats.org/officeDocument/2006/relationships/font" Target="fonts/Lora-bold.fntdata"/><Relationship Id="rId23" Type="http://schemas.openxmlformats.org/officeDocument/2006/relationships/font" Target="fonts/Lora-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ora-boldItalic.fntdata"/><Relationship Id="rId25" Type="http://schemas.openxmlformats.org/officeDocument/2006/relationships/font" Target="fonts/Lora-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118922a417_0_0: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g3118922a417_0_0: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17"/>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18"/>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8"/>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19"/>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9"/>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20"/>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0"/>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21"/>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1"/>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22"/>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2"/>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23"/>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3"/>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24"/>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4"/>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25"/>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5"/>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26"/>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6"/>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27"/>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7"/>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28"/>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8"/>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29"/>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9"/>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9" name="Shape 49"/>
        <p:cNvGrpSpPr/>
        <p:nvPr/>
      </p:nvGrpSpPr>
      <p:grpSpPr>
        <a:xfrm>
          <a:off x="0" y="0"/>
          <a:ext cx="0" cy="0"/>
          <a:chOff x="0" y="0"/>
          <a:chExt cx="0" cy="0"/>
        </a:xfrm>
      </p:grpSpPr>
      <p:sp>
        <p:nvSpPr>
          <p:cNvPr id="50" name="Google Shape;50;p30"/>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0"/>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52" name="Shape 52"/>
        <p:cNvGrpSpPr/>
        <p:nvPr/>
      </p:nvGrpSpPr>
      <p:grpSpPr>
        <a:xfrm>
          <a:off x="0" y="0"/>
          <a:ext cx="0" cy="0"/>
          <a:chOff x="0" y="0"/>
          <a:chExt cx="0" cy="0"/>
        </a:xfrm>
      </p:grpSpPr>
      <p:sp>
        <p:nvSpPr>
          <p:cNvPr id="53" name="Google Shape;53;p31"/>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1"/>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g3118922a417_0_58"/>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sz="1100"/>
            </a:lvl1pPr>
            <a:lvl2pPr lvl="1" algn="l">
              <a:lnSpc>
                <a:spcPct val="100000"/>
              </a:lnSpc>
              <a:spcBef>
                <a:spcPts val="0"/>
              </a:spcBef>
              <a:spcAft>
                <a:spcPts val="0"/>
              </a:spcAft>
              <a:buSzPts val="4500"/>
              <a:buNone/>
              <a:defRPr sz="1100"/>
            </a:lvl2pPr>
            <a:lvl3pPr lvl="2" algn="l">
              <a:lnSpc>
                <a:spcPct val="100000"/>
              </a:lnSpc>
              <a:spcBef>
                <a:spcPts val="0"/>
              </a:spcBef>
              <a:spcAft>
                <a:spcPts val="0"/>
              </a:spcAft>
              <a:buSzPts val="4500"/>
              <a:buNone/>
              <a:defRPr sz="1100"/>
            </a:lvl3pPr>
            <a:lvl4pPr lvl="3" algn="l">
              <a:lnSpc>
                <a:spcPct val="100000"/>
              </a:lnSpc>
              <a:spcBef>
                <a:spcPts val="0"/>
              </a:spcBef>
              <a:spcAft>
                <a:spcPts val="0"/>
              </a:spcAft>
              <a:buSzPts val="4500"/>
              <a:buNone/>
              <a:defRPr sz="1100"/>
            </a:lvl4pPr>
            <a:lvl5pPr lvl="4" algn="l">
              <a:lnSpc>
                <a:spcPct val="100000"/>
              </a:lnSpc>
              <a:spcBef>
                <a:spcPts val="0"/>
              </a:spcBef>
              <a:spcAft>
                <a:spcPts val="0"/>
              </a:spcAft>
              <a:buSzPts val="4500"/>
              <a:buNone/>
              <a:defRPr sz="1100"/>
            </a:lvl5pPr>
            <a:lvl6pPr lvl="5" algn="l">
              <a:lnSpc>
                <a:spcPct val="100000"/>
              </a:lnSpc>
              <a:spcBef>
                <a:spcPts val="0"/>
              </a:spcBef>
              <a:spcAft>
                <a:spcPts val="0"/>
              </a:spcAft>
              <a:buSzPts val="4500"/>
              <a:buNone/>
              <a:defRPr sz="1100"/>
            </a:lvl6pPr>
            <a:lvl7pPr lvl="6" algn="l">
              <a:lnSpc>
                <a:spcPct val="100000"/>
              </a:lnSpc>
              <a:spcBef>
                <a:spcPts val="0"/>
              </a:spcBef>
              <a:spcAft>
                <a:spcPts val="0"/>
              </a:spcAft>
              <a:buSzPts val="4500"/>
              <a:buNone/>
              <a:defRPr sz="1100"/>
            </a:lvl7pPr>
            <a:lvl8pPr lvl="7" algn="l">
              <a:lnSpc>
                <a:spcPct val="100000"/>
              </a:lnSpc>
              <a:spcBef>
                <a:spcPts val="0"/>
              </a:spcBef>
              <a:spcAft>
                <a:spcPts val="0"/>
              </a:spcAft>
              <a:buSzPts val="4500"/>
              <a:buNone/>
              <a:defRPr sz="1100"/>
            </a:lvl8pPr>
            <a:lvl9pPr lvl="8" algn="l">
              <a:lnSpc>
                <a:spcPct val="100000"/>
              </a:lnSpc>
              <a:spcBef>
                <a:spcPts val="0"/>
              </a:spcBef>
              <a:spcAft>
                <a:spcPts val="0"/>
              </a:spcAft>
              <a:buSzPts val="4500"/>
              <a:buNone/>
              <a:defRPr sz="1100"/>
            </a:lvl9pPr>
          </a:lstStyle>
          <a:p/>
        </p:txBody>
      </p:sp>
      <p:sp>
        <p:nvSpPr>
          <p:cNvPr id="58" name="Google Shape;58;g3118922a417_0_58"/>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gn="l">
              <a:lnSpc>
                <a:spcPct val="115000"/>
              </a:lnSpc>
              <a:spcBef>
                <a:spcPts val="0"/>
              </a:spcBef>
              <a:spcAft>
                <a:spcPts val="0"/>
              </a:spcAft>
              <a:buSzPts val="2900"/>
              <a:buChar char="●"/>
              <a:defRPr sz="1100"/>
            </a:lvl1pPr>
            <a:lvl2pPr indent="-368300" lvl="1" marL="914400" algn="l">
              <a:lnSpc>
                <a:spcPct val="115000"/>
              </a:lnSpc>
              <a:spcBef>
                <a:spcPts val="0"/>
              </a:spcBef>
              <a:spcAft>
                <a:spcPts val="0"/>
              </a:spcAft>
              <a:buSzPts val="2200"/>
              <a:buChar char="○"/>
              <a:defRPr sz="1100"/>
            </a:lvl2pPr>
            <a:lvl3pPr indent="-368300" lvl="2" marL="1371600" algn="l">
              <a:lnSpc>
                <a:spcPct val="115000"/>
              </a:lnSpc>
              <a:spcBef>
                <a:spcPts val="0"/>
              </a:spcBef>
              <a:spcAft>
                <a:spcPts val="0"/>
              </a:spcAft>
              <a:buSzPts val="2200"/>
              <a:buChar char="■"/>
              <a:defRPr sz="1100"/>
            </a:lvl3pPr>
            <a:lvl4pPr indent="-368300" lvl="3" marL="1828800" algn="l">
              <a:lnSpc>
                <a:spcPct val="115000"/>
              </a:lnSpc>
              <a:spcBef>
                <a:spcPts val="0"/>
              </a:spcBef>
              <a:spcAft>
                <a:spcPts val="0"/>
              </a:spcAft>
              <a:buSzPts val="2200"/>
              <a:buChar char="●"/>
              <a:defRPr sz="1100"/>
            </a:lvl4pPr>
            <a:lvl5pPr indent="-368300" lvl="4" marL="2286000" algn="l">
              <a:lnSpc>
                <a:spcPct val="115000"/>
              </a:lnSpc>
              <a:spcBef>
                <a:spcPts val="0"/>
              </a:spcBef>
              <a:spcAft>
                <a:spcPts val="0"/>
              </a:spcAft>
              <a:buSzPts val="2200"/>
              <a:buChar char="○"/>
              <a:defRPr sz="1100"/>
            </a:lvl5pPr>
            <a:lvl6pPr indent="-368300" lvl="5" marL="2743200" algn="l">
              <a:lnSpc>
                <a:spcPct val="115000"/>
              </a:lnSpc>
              <a:spcBef>
                <a:spcPts val="0"/>
              </a:spcBef>
              <a:spcAft>
                <a:spcPts val="0"/>
              </a:spcAft>
              <a:buSzPts val="2200"/>
              <a:buChar char="■"/>
              <a:defRPr sz="1100"/>
            </a:lvl6pPr>
            <a:lvl7pPr indent="-368300" lvl="6" marL="3200400" algn="l">
              <a:lnSpc>
                <a:spcPct val="115000"/>
              </a:lnSpc>
              <a:spcBef>
                <a:spcPts val="0"/>
              </a:spcBef>
              <a:spcAft>
                <a:spcPts val="0"/>
              </a:spcAft>
              <a:buSzPts val="2200"/>
              <a:buChar char="●"/>
              <a:defRPr sz="1100"/>
            </a:lvl7pPr>
            <a:lvl8pPr indent="-368300" lvl="7" marL="3657600" algn="l">
              <a:lnSpc>
                <a:spcPct val="115000"/>
              </a:lnSpc>
              <a:spcBef>
                <a:spcPts val="0"/>
              </a:spcBef>
              <a:spcAft>
                <a:spcPts val="0"/>
              </a:spcAft>
              <a:buSzPts val="2200"/>
              <a:buChar char="○"/>
              <a:defRPr sz="1100"/>
            </a:lvl8pPr>
            <a:lvl9pPr indent="-368300" lvl="8" marL="4114800" algn="l">
              <a:lnSpc>
                <a:spcPct val="115000"/>
              </a:lnSpc>
              <a:spcBef>
                <a:spcPts val="0"/>
              </a:spcBef>
              <a:spcAft>
                <a:spcPts val="0"/>
              </a:spcAft>
              <a:buSzPts val="2200"/>
              <a:buChar char="■"/>
              <a:defRPr sz="1100"/>
            </a:lvl9pPr>
          </a:lstStyle>
          <a:p/>
        </p:txBody>
      </p:sp>
      <p:sp>
        <p:nvSpPr>
          <p:cNvPr id="59" name="Google Shape;59;g3118922a417_0_5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8.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9.png"/><Relationship Id="rId4" Type="http://schemas.openxmlformats.org/officeDocument/2006/relationships/image" Target="../media/image16.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38.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24.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37.png"/><Relationship Id="rId5" Type="http://schemas.openxmlformats.org/officeDocument/2006/relationships/image" Target="../media/image20.png"/><Relationship Id="rId6" Type="http://schemas.openxmlformats.org/officeDocument/2006/relationships/image" Target="../media/image39.png"/><Relationship Id="rId7"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33.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g3118922a417_0_0"/>
          <p:cNvPicPr preferRelativeResize="0"/>
          <p:nvPr/>
        </p:nvPicPr>
        <p:blipFill rotWithShape="1">
          <a:blip r:embed="rId3">
            <a:alphaModFix amt="62000"/>
          </a:blip>
          <a:srcRect b="0" l="0" r="0" t="0"/>
          <a:stretch/>
        </p:blipFill>
        <p:spPr>
          <a:xfrm>
            <a:off x="13522" y="0"/>
            <a:ext cx="14603357" cy="8229600"/>
          </a:xfrm>
          <a:prstGeom prst="rect">
            <a:avLst/>
          </a:prstGeom>
          <a:noFill/>
          <a:ln>
            <a:noFill/>
          </a:ln>
        </p:spPr>
      </p:pic>
      <p:graphicFrame>
        <p:nvGraphicFramePr>
          <p:cNvPr id="65" name="Google Shape;65;g3118922a417_0_0"/>
          <p:cNvGraphicFramePr/>
          <p:nvPr/>
        </p:nvGraphicFramePr>
        <p:xfrm>
          <a:off x="8525120" y="1552040"/>
          <a:ext cx="3000000" cy="3000000"/>
        </p:xfrm>
        <a:graphic>
          <a:graphicData uri="http://schemas.openxmlformats.org/drawingml/2006/table">
            <a:tbl>
              <a:tblPr>
                <a:noFill/>
                <a:tableStyleId>{442E5F5C-97E0-4A4B-8030-B670CEC99B60}</a:tableStyleId>
              </a:tblPr>
              <a:tblGrid>
                <a:gridCol w="2429125"/>
                <a:gridCol w="3475800"/>
              </a:tblGrid>
              <a:tr h="515925">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rPr>
                        <a:t>Día, Fecha:</a:t>
                      </a:r>
                      <a:endParaRPr b="1" sz="22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Día, xx/xx/2025 </a:t>
                      </a:r>
                      <a:endParaRPr sz="2200" u="none" cap="none" strike="noStrike"/>
                    </a:p>
                  </a:txBody>
                  <a:tcPr marT="146275" marB="146275" marR="146275" marL="146275"/>
                </a:tc>
              </a:tr>
              <a:tr h="5809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rPr>
                        <a:t>Hora de inicio:</a:t>
                      </a:r>
                      <a:endParaRPr b="1" sz="22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xx:xx</a:t>
                      </a:r>
                      <a:endParaRPr sz="2200" u="none" cap="none" strike="noStrike"/>
                    </a:p>
                  </a:txBody>
                  <a:tcPr marT="146275" marB="146275" marR="146275" marL="146275"/>
                </a:tc>
              </a:tr>
            </a:tbl>
          </a:graphicData>
        </a:graphic>
      </p:graphicFrame>
      <p:sp>
        <p:nvSpPr>
          <p:cNvPr id="66" name="Google Shape;66;g3118922a417_0_0"/>
          <p:cNvSpPr txBox="1"/>
          <p:nvPr/>
        </p:nvSpPr>
        <p:spPr>
          <a:xfrm>
            <a:off x="2304280" y="3613280"/>
            <a:ext cx="10867200" cy="911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4000"/>
              <a:buFont typeface="Arial"/>
              <a:buNone/>
            </a:pPr>
            <a:r>
              <a:rPr lang="en-US" sz="4000"/>
              <a:t>Análisis y Diseño de Sistemas 2 </a:t>
            </a:r>
            <a:r>
              <a:rPr b="0" i="0" lang="en-US" sz="4000" u="none" cap="none" strike="noStrike">
                <a:solidFill>
                  <a:srgbClr val="000000"/>
                </a:solidFill>
                <a:latin typeface="Arial"/>
                <a:ea typeface="Arial"/>
                <a:cs typeface="Arial"/>
                <a:sym typeface="Arial"/>
              </a:rPr>
              <a:t>[</a:t>
            </a:r>
            <a:r>
              <a:rPr lang="en-US" sz="4000"/>
              <a:t>SECCIÓN</a:t>
            </a:r>
            <a:r>
              <a:rPr b="0" i="0" lang="en-US" sz="4000" u="none" cap="none" strike="noStrike">
                <a:solidFill>
                  <a:srgbClr val="000000"/>
                </a:solidFill>
                <a:latin typeface="Arial"/>
                <a:ea typeface="Arial"/>
                <a:cs typeface="Arial"/>
                <a:sym typeface="Arial"/>
              </a:rPr>
              <a:t>]</a:t>
            </a:r>
            <a:endParaRPr b="0" i="0" sz="4000" u="none" cap="none" strike="noStrike">
              <a:solidFill>
                <a:srgbClr val="000000"/>
              </a:solidFill>
              <a:latin typeface="Arial"/>
              <a:ea typeface="Arial"/>
              <a:cs typeface="Arial"/>
              <a:sym typeface="Arial"/>
            </a:endParaRPr>
          </a:p>
        </p:txBody>
      </p:sp>
      <p:sp>
        <p:nvSpPr>
          <p:cNvPr id="67" name="Google Shape;67;g3118922a417_0_0"/>
          <p:cNvSpPr txBox="1"/>
          <p:nvPr/>
        </p:nvSpPr>
        <p:spPr>
          <a:xfrm>
            <a:off x="2845920" y="4641200"/>
            <a:ext cx="8938500" cy="788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3200"/>
              <a:buFont typeface="Arial"/>
              <a:buNone/>
            </a:pPr>
            <a:r>
              <a:rPr lang="en-US" sz="3200"/>
              <a:t>Estudiante</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descr="preencoded.png" id="73" name="Google Shape;73;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74" name="Google Shape;74;p1"/>
          <p:cNvPicPr preferRelativeResize="0"/>
          <p:nvPr/>
        </p:nvPicPr>
        <p:blipFill rotWithShape="1">
          <a:blip r:embed="rId4">
            <a:alphaModFix/>
          </a:blip>
          <a:srcRect b="0" l="0" r="0" t="0"/>
          <a:stretch/>
        </p:blipFill>
        <p:spPr>
          <a:xfrm>
            <a:off x="9427488" y="2731175"/>
            <a:ext cx="4919305" cy="2767132"/>
          </a:xfrm>
          <a:prstGeom prst="rect">
            <a:avLst/>
          </a:prstGeom>
          <a:noFill/>
          <a:ln>
            <a:noFill/>
          </a:ln>
        </p:spPr>
      </p:pic>
      <p:sp>
        <p:nvSpPr>
          <p:cNvPr id="75" name="Google Shape;75;p1"/>
          <p:cNvSpPr/>
          <p:nvPr/>
        </p:nvSpPr>
        <p:spPr>
          <a:xfrm>
            <a:off x="793790" y="2510076"/>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Pruebas de software</a:t>
            </a:r>
            <a:endParaRPr b="0" i="0" sz="4450" u="none" cap="none" strike="noStrike"/>
          </a:p>
        </p:txBody>
      </p:sp>
      <p:sp>
        <p:nvSpPr>
          <p:cNvPr id="76" name="Google Shape;76;p1"/>
          <p:cNvSpPr/>
          <p:nvPr/>
        </p:nvSpPr>
        <p:spPr>
          <a:xfrm>
            <a:off x="793790" y="426779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Las pruebas de software son un componente integral en el desarrollo de aplicaciones de alta calidad. En el entorno académico, los estudiantes deben familiarizarse con los diversos tipos de pruebas y su importancia en el ciclo de vida del software.</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descr="preencoded.png" id="82" name="Google Shape;82;p2"/>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83" name="Google Shape;83;p2"/>
          <p:cNvPicPr preferRelativeResize="0"/>
          <p:nvPr/>
        </p:nvPicPr>
        <p:blipFill rotWithShape="1">
          <a:blip r:embed="rId4">
            <a:alphaModFix/>
          </a:blip>
          <a:srcRect b="0" l="0" r="0" t="0"/>
          <a:stretch/>
        </p:blipFill>
        <p:spPr>
          <a:xfrm>
            <a:off x="240744" y="2446496"/>
            <a:ext cx="5004911" cy="3336608"/>
          </a:xfrm>
          <a:prstGeom prst="rect">
            <a:avLst/>
          </a:prstGeom>
          <a:noFill/>
          <a:ln>
            <a:noFill/>
          </a:ln>
        </p:spPr>
      </p:pic>
      <p:sp>
        <p:nvSpPr>
          <p:cNvPr id="84" name="Google Shape;84;p2"/>
          <p:cNvSpPr/>
          <p:nvPr/>
        </p:nvSpPr>
        <p:spPr>
          <a:xfrm>
            <a:off x="6160651" y="530900"/>
            <a:ext cx="7288173" cy="601980"/>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233E32"/>
              </a:buClr>
              <a:buSzPts val="3750"/>
              <a:buFont typeface="Alice"/>
              <a:buNone/>
            </a:pPr>
            <a:r>
              <a:rPr b="0" i="0" lang="en-US" sz="3750" u="none" cap="none" strike="noStrike">
                <a:solidFill>
                  <a:srgbClr val="233E32"/>
                </a:solidFill>
                <a:latin typeface="Alice"/>
                <a:ea typeface="Alice"/>
                <a:cs typeface="Alice"/>
                <a:sym typeface="Alice"/>
              </a:rPr>
              <a:t>¿Qué son las pruebas funcionales?</a:t>
            </a:r>
            <a:endParaRPr b="0" i="0" sz="3750" u="none" cap="none" strike="noStrike"/>
          </a:p>
        </p:txBody>
      </p:sp>
      <p:pic>
        <p:nvPicPr>
          <p:cNvPr descr="preencoded.png" id="85" name="Google Shape;85;p2"/>
          <p:cNvPicPr preferRelativeResize="0"/>
          <p:nvPr/>
        </p:nvPicPr>
        <p:blipFill rotWithShape="1">
          <a:blip r:embed="rId5">
            <a:alphaModFix/>
          </a:blip>
          <a:srcRect b="0" l="0" r="0" t="0"/>
          <a:stretch/>
        </p:blipFill>
        <p:spPr>
          <a:xfrm>
            <a:off x="6160651" y="1421844"/>
            <a:ext cx="481608" cy="481608"/>
          </a:xfrm>
          <a:prstGeom prst="rect">
            <a:avLst/>
          </a:prstGeom>
          <a:noFill/>
          <a:ln>
            <a:noFill/>
          </a:ln>
        </p:spPr>
      </p:pic>
      <p:sp>
        <p:nvSpPr>
          <p:cNvPr id="86" name="Google Shape;86;p2"/>
          <p:cNvSpPr/>
          <p:nvPr/>
        </p:nvSpPr>
        <p:spPr>
          <a:xfrm>
            <a:off x="6160651" y="2096095"/>
            <a:ext cx="2721888" cy="3009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C2821"/>
              </a:buClr>
              <a:buSzPts val="1850"/>
              <a:buFont typeface="Alice"/>
              <a:buNone/>
            </a:pPr>
            <a:r>
              <a:rPr b="0" i="0" lang="en-US" sz="1850" u="none" cap="none" strike="noStrike">
                <a:solidFill>
                  <a:srgbClr val="2C2821"/>
                </a:solidFill>
                <a:latin typeface="Alice"/>
                <a:ea typeface="Alice"/>
                <a:cs typeface="Alice"/>
                <a:sym typeface="Alice"/>
              </a:rPr>
              <a:t>Verificación de requisitos</a:t>
            </a:r>
            <a:endParaRPr b="0" i="0" sz="1850" u="none" cap="none" strike="noStrike"/>
          </a:p>
        </p:txBody>
      </p:sp>
      <p:sp>
        <p:nvSpPr>
          <p:cNvPr id="87" name="Google Shape;87;p2"/>
          <p:cNvSpPr/>
          <p:nvPr/>
        </p:nvSpPr>
        <p:spPr>
          <a:xfrm>
            <a:off x="6160651" y="2512576"/>
            <a:ext cx="7795498" cy="61626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Las pruebas funcionales se enfocan en validar que el software cumpla con los requisitos y especificaciones definidos por el cliente.</a:t>
            </a:r>
            <a:endParaRPr b="0" i="0" sz="1500" u="none" cap="none" strike="noStrike"/>
          </a:p>
        </p:txBody>
      </p:sp>
      <p:pic>
        <p:nvPicPr>
          <p:cNvPr descr="preencoded.png" id="88" name="Google Shape;88;p2"/>
          <p:cNvPicPr preferRelativeResize="0"/>
          <p:nvPr/>
        </p:nvPicPr>
        <p:blipFill rotWithShape="1">
          <a:blip r:embed="rId6">
            <a:alphaModFix/>
          </a:blip>
          <a:srcRect b="0" l="0" r="0" t="0"/>
          <a:stretch/>
        </p:blipFill>
        <p:spPr>
          <a:xfrm>
            <a:off x="6160651" y="3706773"/>
            <a:ext cx="481608" cy="481608"/>
          </a:xfrm>
          <a:prstGeom prst="rect">
            <a:avLst/>
          </a:prstGeom>
          <a:noFill/>
          <a:ln>
            <a:noFill/>
          </a:ln>
        </p:spPr>
      </p:pic>
      <p:sp>
        <p:nvSpPr>
          <p:cNvPr id="89" name="Google Shape;89;p2"/>
          <p:cNvSpPr/>
          <p:nvPr/>
        </p:nvSpPr>
        <p:spPr>
          <a:xfrm>
            <a:off x="6160651" y="4381024"/>
            <a:ext cx="2408277" cy="3009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C2821"/>
              </a:buClr>
              <a:buSzPts val="1850"/>
              <a:buFont typeface="Alice"/>
              <a:buNone/>
            </a:pPr>
            <a:r>
              <a:rPr b="0" i="0" lang="en-US" sz="1850" u="none" cap="none" strike="noStrike">
                <a:solidFill>
                  <a:srgbClr val="2C2821"/>
                </a:solidFill>
                <a:latin typeface="Alice"/>
                <a:ea typeface="Alice"/>
                <a:cs typeface="Alice"/>
                <a:sym typeface="Alice"/>
              </a:rPr>
              <a:t>Validación del usuario</a:t>
            </a:r>
            <a:endParaRPr b="0" i="0" sz="1850" u="none" cap="none" strike="noStrike"/>
          </a:p>
        </p:txBody>
      </p:sp>
      <p:sp>
        <p:nvSpPr>
          <p:cNvPr id="90" name="Google Shape;90;p2"/>
          <p:cNvSpPr/>
          <p:nvPr/>
        </p:nvSpPr>
        <p:spPr>
          <a:xfrm>
            <a:off x="6160651" y="4797504"/>
            <a:ext cx="7795498" cy="61626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Estas pruebas evalúan la interacción del usuario con el sistema, asegurando que la experiencia de uso sea satisfactoria.</a:t>
            </a:r>
            <a:endParaRPr b="0" i="0" sz="1500" u="none" cap="none" strike="noStrike"/>
          </a:p>
        </p:txBody>
      </p:sp>
      <p:pic>
        <p:nvPicPr>
          <p:cNvPr descr="preencoded.png" id="91" name="Google Shape;91;p2"/>
          <p:cNvPicPr preferRelativeResize="0"/>
          <p:nvPr/>
        </p:nvPicPr>
        <p:blipFill rotWithShape="1">
          <a:blip r:embed="rId7">
            <a:alphaModFix/>
          </a:blip>
          <a:srcRect b="0" l="0" r="0" t="0"/>
          <a:stretch/>
        </p:blipFill>
        <p:spPr>
          <a:xfrm>
            <a:off x="6160651" y="5991701"/>
            <a:ext cx="481608" cy="481608"/>
          </a:xfrm>
          <a:prstGeom prst="rect">
            <a:avLst/>
          </a:prstGeom>
          <a:noFill/>
          <a:ln>
            <a:noFill/>
          </a:ln>
        </p:spPr>
      </p:pic>
      <p:sp>
        <p:nvSpPr>
          <p:cNvPr id="92" name="Google Shape;92;p2"/>
          <p:cNvSpPr/>
          <p:nvPr/>
        </p:nvSpPr>
        <p:spPr>
          <a:xfrm>
            <a:off x="6160651" y="6665952"/>
            <a:ext cx="2408277" cy="3009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C2821"/>
              </a:buClr>
              <a:buSzPts val="1850"/>
              <a:buFont typeface="Alice"/>
              <a:buNone/>
            </a:pPr>
            <a:r>
              <a:rPr b="0" i="0" lang="en-US" sz="1850" u="none" cap="none" strike="noStrike">
                <a:solidFill>
                  <a:srgbClr val="2C2821"/>
                </a:solidFill>
                <a:latin typeface="Alice"/>
                <a:ea typeface="Alice"/>
                <a:cs typeface="Alice"/>
                <a:sym typeface="Alice"/>
              </a:rPr>
              <a:t>Detección de defectos</a:t>
            </a:r>
            <a:endParaRPr b="0" i="0" sz="1850" u="none" cap="none" strike="noStrike"/>
          </a:p>
        </p:txBody>
      </p:sp>
      <p:sp>
        <p:nvSpPr>
          <p:cNvPr id="93" name="Google Shape;93;p2"/>
          <p:cNvSpPr/>
          <p:nvPr/>
        </p:nvSpPr>
        <p:spPr>
          <a:xfrm>
            <a:off x="6160651" y="7082433"/>
            <a:ext cx="7795498" cy="61626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A través de las pruebas funcionales, se identifica y corrige cualquier fallo o comportamiento inesperado del software.</a:t>
            </a:r>
            <a:endParaRPr b="0" i="0" sz="15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p:nvPr/>
        </p:nvSpPr>
        <p:spPr>
          <a:xfrm>
            <a:off x="793790" y="965954"/>
            <a:ext cx="11333917"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Principios básicos de las pruebas funcionales</a:t>
            </a:r>
            <a:endParaRPr b="0" i="0" sz="4450" u="none" cap="none" strike="noStrike"/>
          </a:p>
        </p:txBody>
      </p:sp>
      <p:pic>
        <p:nvPicPr>
          <p:cNvPr descr="preencoded.png" id="100" name="Google Shape;100;p3"/>
          <p:cNvPicPr preferRelativeResize="0"/>
          <p:nvPr/>
        </p:nvPicPr>
        <p:blipFill rotWithShape="1">
          <a:blip r:embed="rId3">
            <a:alphaModFix/>
          </a:blip>
          <a:srcRect b="0" l="0" r="0" t="0"/>
          <a:stretch/>
        </p:blipFill>
        <p:spPr>
          <a:xfrm>
            <a:off x="793790" y="2128361"/>
            <a:ext cx="4120753" cy="2546747"/>
          </a:xfrm>
          <a:prstGeom prst="rect">
            <a:avLst/>
          </a:prstGeom>
          <a:noFill/>
          <a:ln>
            <a:noFill/>
          </a:ln>
        </p:spPr>
      </p:pic>
      <p:sp>
        <p:nvSpPr>
          <p:cNvPr id="101" name="Google Shape;101;p3"/>
          <p:cNvSpPr/>
          <p:nvPr/>
        </p:nvSpPr>
        <p:spPr>
          <a:xfrm>
            <a:off x="793790" y="4958596"/>
            <a:ext cx="306490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Validación de Requisitos</a:t>
            </a:r>
            <a:endParaRPr b="0" i="0" sz="2200" u="none" cap="none" strike="noStrike"/>
          </a:p>
        </p:txBody>
      </p:sp>
      <p:sp>
        <p:nvSpPr>
          <p:cNvPr id="102" name="Google Shape;102;p3"/>
          <p:cNvSpPr/>
          <p:nvPr/>
        </p:nvSpPr>
        <p:spPr>
          <a:xfrm>
            <a:off x="793790" y="5449014"/>
            <a:ext cx="4120753"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Las pruebas funcionales se centran en verificar que el software cumpla con los requisitos establecidos por el cliente o usuario.</a:t>
            </a:r>
            <a:endParaRPr b="0" i="0" sz="1750" u="none" cap="none" strike="noStrike"/>
          </a:p>
        </p:txBody>
      </p:sp>
      <p:pic>
        <p:nvPicPr>
          <p:cNvPr descr="preencoded.png" id="103" name="Google Shape;103;p3"/>
          <p:cNvPicPr preferRelativeResize="0"/>
          <p:nvPr/>
        </p:nvPicPr>
        <p:blipFill rotWithShape="1">
          <a:blip r:embed="rId4">
            <a:alphaModFix/>
          </a:blip>
          <a:srcRect b="0" l="0" r="0" t="0"/>
          <a:stretch/>
        </p:blipFill>
        <p:spPr>
          <a:xfrm>
            <a:off x="5254704" y="2128361"/>
            <a:ext cx="4120872" cy="2546866"/>
          </a:xfrm>
          <a:prstGeom prst="rect">
            <a:avLst/>
          </a:prstGeom>
          <a:noFill/>
          <a:ln>
            <a:noFill/>
          </a:ln>
        </p:spPr>
      </p:pic>
      <p:sp>
        <p:nvSpPr>
          <p:cNvPr id="104" name="Google Shape;104;p3"/>
          <p:cNvSpPr/>
          <p:nvPr/>
        </p:nvSpPr>
        <p:spPr>
          <a:xfrm>
            <a:off x="5254704" y="495871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Caja Negra</a:t>
            </a:r>
            <a:endParaRPr b="0" i="0" sz="2200" u="none" cap="none" strike="noStrike"/>
          </a:p>
        </p:txBody>
      </p:sp>
      <p:sp>
        <p:nvSpPr>
          <p:cNvPr id="105" name="Google Shape;105;p3"/>
          <p:cNvSpPr/>
          <p:nvPr/>
        </p:nvSpPr>
        <p:spPr>
          <a:xfrm>
            <a:off x="5254704" y="5449133"/>
            <a:ext cx="412087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Estas pruebas se realizan sin conocer los detalles internos de implementación, centrándose únicamente en las entradas y salidas del sistema.</a:t>
            </a:r>
            <a:endParaRPr b="0" i="0" sz="1750" u="none" cap="none" strike="noStrike"/>
          </a:p>
        </p:txBody>
      </p:sp>
      <p:pic>
        <p:nvPicPr>
          <p:cNvPr descr="preencoded.png" id="106" name="Google Shape;106;p3"/>
          <p:cNvPicPr preferRelativeResize="0"/>
          <p:nvPr/>
        </p:nvPicPr>
        <p:blipFill rotWithShape="1">
          <a:blip r:embed="rId5">
            <a:alphaModFix/>
          </a:blip>
          <a:srcRect b="0" l="0" r="0" t="0"/>
          <a:stretch/>
        </p:blipFill>
        <p:spPr>
          <a:xfrm>
            <a:off x="9715738" y="2128361"/>
            <a:ext cx="4120753" cy="2546747"/>
          </a:xfrm>
          <a:prstGeom prst="rect">
            <a:avLst/>
          </a:prstGeom>
          <a:noFill/>
          <a:ln>
            <a:noFill/>
          </a:ln>
        </p:spPr>
      </p:pic>
      <p:sp>
        <p:nvSpPr>
          <p:cNvPr id="107" name="Google Shape;107;p3"/>
          <p:cNvSpPr/>
          <p:nvPr/>
        </p:nvSpPr>
        <p:spPr>
          <a:xfrm>
            <a:off x="9715738" y="495859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Variedad de Tipos</a:t>
            </a:r>
            <a:endParaRPr b="0" i="0" sz="2200" u="none" cap="none" strike="noStrike"/>
          </a:p>
        </p:txBody>
      </p:sp>
      <p:sp>
        <p:nvSpPr>
          <p:cNvPr id="108" name="Google Shape;108;p3"/>
          <p:cNvSpPr/>
          <p:nvPr/>
        </p:nvSpPr>
        <p:spPr>
          <a:xfrm>
            <a:off x="9715738" y="5449014"/>
            <a:ext cx="4120753"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Existen diversos tipos de pruebas funcionales, como pruebas de interfaz de usuario, de integración, de aceptación, entre otras.</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preencoded.png" id="114" name="Google Shape;114;p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15" name="Google Shape;115;p4"/>
          <p:cNvPicPr preferRelativeResize="0"/>
          <p:nvPr/>
        </p:nvPicPr>
        <p:blipFill rotWithShape="1">
          <a:blip r:embed="rId4">
            <a:alphaModFix/>
          </a:blip>
          <a:srcRect b="0" l="0" r="0" t="0"/>
          <a:stretch/>
        </p:blipFill>
        <p:spPr>
          <a:xfrm>
            <a:off x="9427488" y="2238732"/>
            <a:ext cx="4919305" cy="3752017"/>
          </a:xfrm>
          <a:prstGeom prst="rect">
            <a:avLst/>
          </a:prstGeom>
          <a:noFill/>
          <a:ln>
            <a:noFill/>
          </a:ln>
        </p:spPr>
      </p:pic>
      <p:sp>
        <p:nvSpPr>
          <p:cNvPr id="116" name="Google Shape;116;p4"/>
          <p:cNvSpPr/>
          <p:nvPr/>
        </p:nvSpPr>
        <p:spPr>
          <a:xfrm>
            <a:off x="793790" y="1120854"/>
            <a:ext cx="7556421" cy="2126337"/>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Rol de las pruebas funcionales en la arquitectura de software</a:t>
            </a:r>
            <a:endParaRPr b="0" i="0" sz="4450" u="none" cap="none" strike="noStrike"/>
          </a:p>
        </p:txBody>
      </p:sp>
      <p:sp>
        <p:nvSpPr>
          <p:cNvPr id="117" name="Google Shape;117;p4"/>
          <p:cNvSpPr/>
          <p:nvPr/>
        </p:nvSpPr>
        <p:spPr>
          <a:xfrm>
            <a:off x="793790" y="3587353"/>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Las pruebas funcionales desempeñan un papel crucial en la arquitectura de software, ya que permiten validar si el sistema cumple con los requisitos y funciona según lo esperado. Estas pruebas se realizan a lo largo de todo el ciclo de vida del software, desde la etapa de diseño hasta la implementación y el mantenimiento.</a:t>
            </a:r>
            <a:endParaRPr b="0" i="0" sz="1750" u="none" cap="none" strike="noStrike"/>
          </a:p>
        </p:txBody>
      </p:sp>
      <p:sp>
        <p:nvSpPr>
          <p:cNvPr id="118" name="Google Shape;118;p4"/>
          <p:cNvSpPr/>
          <p:nvPr/>
        </p:nvSpPr>
        <p:spPr>
          <a:xfrm>
            <a:off x="793790" y="5657017"/>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Al aplicar pruebas funcionales, los arquitectos de software pueden identificar y corregir problemas en la interfaz de usuario, la interacción entre módulos y la lógica de negocio, asegurando así que el producto final cumpla con las expectativas y necesidades de los usuarios.</a:t>
            </a:r>
            <a:endParaRPr b="0" i="0" sz="1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preencoded.png" id="124" name="Google Shape;124;p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25" name="Google Shape;125;p5"/>
          <p:cNvPicPr preferRelativeResize="0"/>
          <p:nvPr/>
        </p:nvPicPr>
        <p:blipFill rotWithShape="1">
          <a:blip r:embed="rId4">
            <a:alphaModFix/>
          </a:blip>
          <a:srcRect b="0" l="0" r="0" t="0"/>
          <a:stretch/>
        </p:blipFill>
        <p:spPr>
          <a:xfrm>
            <a:off x="9337119" y="2200156"/>
            <a:ext cx="5100042" cy="3829288"/>
          </a:xfrm>
          <a:prstGeom prst="rect">
            <a:avLst/>
          </a:prstGeom>
          <a:noFill/>
          <a:ln>
            <a:noFill/>
          </a:ln>
        </p:spPr>
      </p:pic>
      <p:sp>
        <p:nvSpPr>
          <p:cNvPr id="126" name="Google Shape;126;p5"/>
          <p:cNvSpPr/>
          <p:nvPr/>
        </p:nvSpPr>
        <p:spPr>
          <a:xfrm>
            <a:off x="540663" y="547568"/>
            <a:ext cx="6883598" cy="482798"/>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233E32"/>
              </a:buClr>
              <a:buSzPts val="3000"/>
              <a:buFont typeface="Alice"/>
              <a:buNone/>
            </a:pPr>
            <a:r>
              <a:rPr b="0" i="0" lang="en-US" sz="3000" u="none" cap="none" strike="noStrike">
                <a:solidFill>
                  <a:srgbClr val="233E32"/>
                </a:solidFill>
                <a:latin typeface="Alice"/>
                <a:ea typeface="Alice"/>
                <a:cs typeface="Alice"/>
                <a:sym typeface="Alice"/>
              </a:rPr>
              <a:t>Aplicabilidad de las pruebas funcionales</a:t>
            </a:r>
            <a:endParaRPr b="0" i="0" sz="3000" u="none" cap="none" strike="noStrike"/>
          </a:p>
        </p:txBody>
      </p:sp>
      <p:sp>
        <p:nvSpPr>
          <p:cNvPr id="127" name="Google Shape;127;p5"/>
          <p:cNvSpPr/>
          <p:nvPr/>
        </p:nvSpPr>
        <p:spPr>
          <a:xfrm>
            <a:off x="540663" y="1262063"/>
            <a:ext cx="8062674" cy="741521"/>
          </a:xfrm>
          <a:prstGeom prst="rect">
            <a:avLst/>
          </a:prstGeom>
          <a:noFill/>
          <a:ln>
            <a:noFill/>
          </a:ln>
        </p:spPr>
        <p:txBody>
          <a:bodyPr anchorCtr="0" anchor="t" bIns="0" lIns="0" spcFirstLastPara="1" rIns="0" wrap="square" tIns="0">
            <a:noAutofit/>
          </a:bodyPr>
          <a:lstStyle/>
          <a:p>
            <a:pPr indent="0" lvl="0" marL="0" marR="0" rtl="0" algn="l">
              <a:lnSpc>
                <a:spcPct val="158333"/>
              </a:lnSpc>
              <a:spcBef>
                <a:spcPts val="0"/>
              </a:spcBef>
              <a:spcAft>
                <a:spcPts val="0"/>
              </a:spcAft>
              <a:buClr>
                <a:srgbClr val="2C2821"/>
              </a:buClr>
              <a:buSzPts val="1200"/>
              <a:buFont typeface="Lora"/>
              <a:buNone/>
            </a:pPr>
            <a:r>
              <a:rPr b="0" i="0" lang="en-US" sz="1200" u="none" cap="none" strike="noStrike">
                <a:solidFill>
                  <a:srgbClr val="2C2821"/>
                </a:solidFill>
                <a:latin typeface="Lora"/>
                <a:ea typeface="Lora"/>
                <a:cs typeface="Lora"/>
                <a:sym typeface="Lora"/>
              </a:rPr>
              <a:t>Las pruebas funcionales se aplican a lo largo de todo el ciclo de vida del desarrollo de software, desde las etapas iniciales de definición de requisitos hasta las pruebas finales de aceptación. Su objetivo es verificar que el software cumpla con las especificaciones y necesidades del usuario.</a:t>
            </a:r>
            <a:endParaRPr b="0" i="0" sz="1200" u="none" cap="none" strike="noStrike"/>
          </a:p>
        </p:txBody>
      </p:sp>
      <p:sp>
        <p:nvSpPr>
          <p:cNvPr id="128" name="Google Shape;128;p5"/>
          <p:cNvSpPr/>
          <p:nvPr/>
        </p:nvSpPr>
        <p:spPr>
          <a:xfrm>
            <a:off x="540663" y="2254448"/>
            <a:ext cx="8062674" cy="50982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4000"/>
              <a:buFont typeface="Alice"/>
              <a:buNone/>
            </a:pPr>
            <a:r>
              <a:rPr b="0" i="0" lang="en-US" sz="4000" u="none" cap="none" strike="noStrike">
                <a:solidFill>
                  <a:srgbClr val="2C2821"/>
                </a:solidFill>
                <a:latin typeface="Alice"/>
                <a:ea typeface="Alice"/>
                <a:cs typeface="Alice"/>
                <a:sym typeface="Alice"/>
              </a:rPr>
              <a:t>60%</a:t>
            </a:r>
            <a:endParaRPr b="0" i="0" sz="4000" u="none" cap="none" strike="noStrike"/>
          </a:p>
        </p:txBody>
      </p:sp>
      <p:sp>
        <p:nvSpPr>
          <p:cNvPr id="129" name="Google Shape;129;p5"/>
          <p:cNvSpPr/>
          <p:nvPr/>
        </p:nvSpPr>
        <p:spPr>
          <a:xfrm>
            <a:off x="3606284" y="2957274"/>
            <a:ext cx="1931313" cy="241340"/>
          </a:xfrm>
          <a:prstGeom prst="rect">
            <a:avLst/>
          </a:prstGeom>
          <a:noFill/>
          <a:ln>
            <a:noFill/>
          </a:ln>
        </p:spPr>
        <p:txBody>
          <a:bodyPr anchorCtr="0" anchor="t" bIns="0" lIns="0" spcFirstLastPara="1" rIns="0" wrap="square" tIns="0">
            <a:noAutofit/>
          </a:bodyPr>
          <a:lstStyle/>
          <a:p>
            <a:pPr indent="0" lvl="0" marL="0" marR="0" rtl="0" algn="ctr">
              <a:lnSpc>
                <a:spcPct val="126666"/>
              </a:lnSpc>
              <a:spcBef>
                <a:spcPts val="0"/>
              </a:spcBef>
              <a:spcAft>
                <a:spcPts val="0"/>
              </a:spcAft>
              <a:buClr>
                <a:srgbClr val="2C2821"/>
              </a:buClr>
              <a:buSzPts val="1500"/>
              <a:buFont typeface="Alice"/>
              <a:buNone/>
            </a:pPr>
            <a:r>
              <a:rPr b="0" i="0" lang="en-US" sz="1500" u="none" cap="none" strike="noStrike">
                <a:solidFill>
                  <a:srgbClr val="2C2821"/>
                </a:solidFill>
                <a:latin typeface="Alice"/>
                <a:ea typeface="Alice"/>
                <a:cs typeface="Alice"/>
                <a:sym typeface="Alice"/>
              </a:rPr>
              <a:t>Cobertura</a:t>
            </a:r>
            <a:endParaRPr b="0" i="0" sz="1500" u="none" cap="none" strike="noStrike"/>
          </a:p>
        </p:txBody>
      </p:sp>
      <p:sp>
        <p:nvSpPr>
          <p:cNvPr id="130" name="Google Shape;130;p5"/>
          <p:cNvSpPr/>
          <p:nvPr/>
        </p:nvSpPr>
        <p:spPr>
          <a:xfrm>
            <a:off x="540663" y="3291245"/>
            <a:ext cx="8062674" cy="494348"/>
          </a:xfrm>
          <a:prstGeom prst="rect">
            <a:avLst/>
          </a:prstGeom>
          <a:noFill/>
          <a:ln>
            <a:noFill/>
          </a:ln>
        </p:spPr>
        <p:txBody>
          <a:bodyPr anchorCtr="0" anchor="t" bIns="0" lIns="0" spcFirstLastPara="1" rIns="0" wrap="square" tIns="0">
            <a:noAutofit/>
          </a:bodyPr>
          <a:lstStyle/>
          <a:p>
            <a:pPr indent="0" lvl="0" marL="0" marR="0" rtl="0" algn="ctr">
              <a:lnSpc>
                <a:spcPct val="158333"/>
              </a:lnSpc>
              <a:spcBef>
                <a:spcPts val="0"/>
              </a:spcBef>
              <a:spcAft>
                <a:spcPts val="0"/>
              </a:spcAft>
              <a:buClr>
                <a:srgbClr val="2C2821"/>
              </a:buClr>
              <a:buSzPts val="1200"/>
              <a:buFont typeface="Lora"/>
              <a:buNone/>
            </a:pPr>
            <a:r>
              <a:rPr b="0" i="0" lang="en-US" sz="1200" u="none" cap="none" strike="noStrike">
                <a:solidFill>
                  <a:srgbClr val="2C2821"/>
                </a:solidFill>
                <a:latin typeface="Lora"/>
                <a:ea typeface="Lora"/>
                <a:cs typeface="Lora"/>
                <a:sym typeface="Lora"/>
              </a:rPr>
              <a:t>Las pruebas funcionales típicamente abarcan hasta el 60% del total de pruebas realizadas en un proyecto de software.</a:t>
            </a:r>
            <a:endParaRPr b="0" i="0" sz="1200" u="none" cap="none" strike="noStrike"/>
          </a:p>
        </p:txBody>
      </p:sp>
      <p:sp>
        <p:nvSpPr>
          <p:cNvPr id="131" name="Google Shape;131;p5"/>
          <p:cNvSpPr/>
          <p:nvPr/>
        </p:nvSpPr>
        <p:spPr>
          <a:xfrm>
            <a:off x="540663" y="4326255"/>
            <a:ext cx="8062674" cy="50982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4000"/>
              <a:buFont typeface="Alice"/>
              <a:buNone/>
            </a:pPr>
            <a:r>
              <a:rPr b="0" i="0" lang="en-US" sz="4000" u="none" cap="none" strike="noStrike">
                <a:solidFill>
                  <a:srgbClr val="2C2821"/>
                </a:solidFill>
                <a:latin typeface="Alice"/>
                <a:ea typeface="Alice"/>
                <a:cs typeface="Alice"/>
                <a:sym typeface="Alice"/>
              </a:rPr>
              <a:t>100K</a:t>
            </a:r>
            <a:endParaRPr b="0" i="0" sz="4000" u="none" cap="none" strike="noStrike"/>
          </a:p>
        </p:txBody>
      </p:sp>
      <p:sp>
        <p:nvSpPr>
          <p:cNvPr id="132" name="Google Shape;132;p5"/>
          <p:cNvSpPr/>
          <p:nvPr/>
        </p:nvSpPr>
        <p:spPr>
          <a:xfrm>
            <a:off x="3606284" y="5029081"/>
            <a:ext cx="1931313" cy="241340"/>
          </a:xfrm>
          <a:prstGeom prst="rect">
            <a:avLst/>
          </a:prstGeom>
          <a:noFill/>
          <a:ln>
            <a:noFill/>
          </a:ln>
        </p:spPr>
        <p:txBody>
          <a:bodyPr anchorCtr="0" anchor="t" bIns="0" lIns="0" spcFirstLastPara="1" rIns="0" wrap="square" tIns="0">
            <a:noAutofit/>
          </a:bodyPr>
          <a:lstStyle/>
          <a:p>
            <a:pPr indent="0" lvl="0" marL="0" marR="0" rtl="0" algn="ctr">
              <a:lnSpc>
                <a:spcPct val="126666"/>
              </a:lnSpc>
              <a:spcBef>
                <a:spcPts val="0"/>
              </a:spcBef>
              <a:spcAft>
                <a:spcPts val="0"/>
              </a:spcAft>
              <a:buClr>
                <a:srgbClr val="2C2821"/>
              </a:buClr>
              <a:buSzPts val="1500"/>
              <a:buFont typeface="Alice"/>
              <a:buNone/>
            </a:pPr>
            <a:r>
              <a:rPr b="0" i="0" lang="en-US" sz="1500" u="none" cap="none" strike="noStrike">
                <a:solidFill>
                  <a:srgbClr val="2C2821"/>
                </a:solidFill>
                <a:latin typeface="Alice"/>
                <a:ea typeface="Alice"/>
                <a:cs typeface="Alice"/>
                <a:sym typeface="Alice"/>
              </a:rPr>
              <a:t>Casos de prueba</a:t>
            </a:r>
            <a:endParaRPr b="0" i="0" sz="1500" u="none" cap="none" strike="noStrike"/>
          </a:p>
        </p:txBody>
      </p:sp>
      <p:sp>
        <p:nvSpPr>
          <p:cNvPr id="133" name="Google Shape;133;p5"/>
          <p:cNvSpPr/>
          <p:nvPr/>
        </p:nvSpPr>
        <p:spPr>
          <a:xfrm>
            <a:off x="540663" y="5363051"/>
            <a:ext cx="8062674" cy="494348"/>
          </a:xfrm>
          <a:prstGeom prst="rect">
            <a:avLst/>
          </a:prstGeom>
          <a:noFill/>
          <a:ln>
            <a:noFill/>
          </a:ln>
        </p:spPr>
        <p:txBody>
          <a:bodyPr anchorCtr="0" anchor="t" bIns="0" lIns="0" spcFirstLastPara="1" rIns="0" wrap="square" tIns="0">
            <a:noAutofit/>
          </a:bodyPr>
          <a:lstStyle/>
          <a:p>
            <a:pPr indent="0" lvl="0" marL="0" marR="0" rtl="0" algn="ctr">
              <a:lnSpc>
                <a:spcPct val="158333"/>
              </a:lnSpc>
              <a:spcBef>
                <a:spcPts val="0"/>
              </a:spcBef>
              <a:spcAft>
                <a:spcPts val="0"/>
              </a:spcAft>
              <a:buClr>
                <a:srgbClr val="2C2821"/>
              </a:buClr>
              <a:buSzPts val="1200"/>
              <a:buFont typeface="Lora"/>
              <a:buNone/>
            </a:pPr>
            <a:r>
              <a:rPr b="0" i="0" lang="en-US" sz="1200" u="none" cap="none" strike="noStrike">
                <a:solidFill>
                  <a:srgbClr val="2C2821"/>
                </a:solidFill>
                <a:latin typeface="Lora"/>
                <a:ea typeface="Lora"/>
                <a:cs typeface="Lora"/>
                <a:sym typeface="Lora"/>
              </a:rPr>
              <a:t>Un sistema complejo puede requerir hasta 100,000 casos de prueba funcionales para cubrir todos los escenarios.</a:t>
            </a:r>
            <a:endParaRPr b="0" i="0" sz="1200" u="none" cap="none" strike="noStrike"/>
          </a:p>
        </p:txBody>
      </p:sp>
      <p:sp>
        <p:nvSpPr>
          <p:cNvPr id="134" name="Google Shape;134;p5"/>
          <p:cNvSpPr/>
          <p:nvPr/>
        </p:nvSpPr>
        <p:spPr>
          <a:xfrm>
            <a:off x="540663" y="6398062"/>
            <a:ext cx="8062674" cy="50982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4000"/>
              <a:buFont typeface="Alice"/>
              <a:buNone/>
            </a:pPr>
            <a:r>
              <a:rPr b="0" i="0" lang="en-US" sz="4000" u="none" cap="none" strike="noStrike">
                <a:solidFill>
                  <a:srgbClr val="2C2821"/>
                </a:solidFill>
                <a:latin typeface="Alice"/>
                <a:ea typeface="Alice"/>
                <a:cs typeface="Alice"/>
                <a:sym typeface="Alice"/>
              </a:rPr>
              <a:t>2M</a:t>
            </a:r>
            <a:endParaRPr b="0" i="0" sz="4000" u="none" cap="none" strike="noStrike"/>
          </a:p>
        </p:txBody>
      </p:sp>
      <p:sp>
        <p:nvSpPr>
          <p:cNvPr id="135" name="Google Shape;135;p5"/>
          <p:cNvSpPr/>
          <p:nvPr/>
        </p:nvSpPr>
        <p:spPr>
          <a:xfrm>
            <a:off x="3606284" y="7100888"/>
            <a:ext cx="1931313" cy="241340"/>
          </a:xfrm>
          <a:prstGeom prst="rect">
            <a:avLst/>
          </a:prstGeom>
          <a:noFill/>
          <a:ln>
            <a:noFill/>
          </a:ln>
        </p:spPr>
        <p:txBody>
          <a:bodyPr anchorCtr="0" anchor="t" bIns="0" lIns="0" spcFirstLastPara="1" rIns="0" wrap="square" tIns="0">
            <a:noAutofit/>
          </a:bodyPr>
          <a:lstStyle/>
          <a:p>
            <a:pPr indent="0" lvl="0" marL="0" marR="0" rtl="0" algn="ctr">
              <a:lnSpc>
                <a:spcPct val="126666"/>
              </a:lnSpc>
              <a:spcBef>
                <a:spcPts val="0"/>
              </a:spcBef>
              <a:spcAft>
                <a:spcPts val="0"/>
              </a:spcAft>
              <a:buClr>
                <a:srgbClr val="2C2821"/>
              </a:buClr>
              <a:buSzPts val="1500"/>
              <a:buFont typeface="Alice"/>
              <a:buNone/>
            </a:pPr>
            <a:r>
              <a:rPr b="0" i="0" lang="en-US" sz="1500" u="none" cap="none" strike="noStrike">
                <a:solidFill>
                  <a:srgbClr val="2C2821"/>
                </a:solidFill>
                <a:latin typeface="Alice"/>
                <a:ea typeface="Alice"/>
                <a:cs typeface="Alice"/>
                <a:sym typeface="Alice"/>
              </a:rPr>
              <a:t>Horas de ejecución</a:t>
            </a:r>
            <a:endParaRPr b="0" i="0" sz="1500" u="none" cap="none" strike="noStrike"/>
          </a:p>
        </p:txBody>
      </p:sp>
      <p:sp>
        <p:nvSpPr>
          <p:cNvPr id="136" name="Google Shape;136;p5"/>
          <p:cNvSpPr/>
          <p:nvPr/>
        </p:nvSpPr>
        <p:spPr>
          <a:xfrm>
            <a:off x="540663" y="7434858"/>
            <a:ext cx="8062674" cy="247174"/>
          </a:xfrm>
          <a:prstGeom prst="rect">
            <a:avLst/>
          </a:prstGeom>
          <a:noFill/>
          <a:ln>
            <a:noFill/>
          </a:ln>
        </p:spPr>
        <p:txBody>
          <a:bodyPr anchorCtr="0" anchor="t" bIns="0" lIns="0" spcFirstLastPara="1" rIns="0" wrap="square" tIns="0">
            <a:noAutofit/>
          </a:bodyPr>
          <a:lstStyle/>
          <a:p>
            <a:pPr indent="0" lvl="0" marL="0" marR="0" rtl="0" algn="ctr">
              <a:lnSpc>
                <a:spcPct val="158333"/>
              </a:lnSpc>
              <a:spcBef>
                <a:spcPts val="0"/>
              </a:spcBef>
              <a:spcAft>
                <a:spcPts val="0"/>
              </a:spcAft>
              <a:buClr>
                <a:srgbClr val="2C2821"/>
              </a:buClr>
              <a:buSzPts val="1200"/>
              <a:buFont typeface="Lora"/>
              <a:buNone/>
            </a:pPr>
            <a:r>
              <a:rPr b="0" i="0" lang="en-US" sz="1200" u="none" cap="none" strike="noStrike">
                <a:solidFill>
                  <a:srgbClr val="2C2821"/>
                </a:solidFill>
                <a:latin typeface="Lora"/>
                <a:ea typeface="Lora"/>
                <a:cs typeface="Lora"/>
                <a:sym typeface="Lora"/>
              </a:rPr>
              <a:t>La ejecución de todas las pruebas funcionales de un sistema grande puede tomar hasta 2 millones de horas.</a:t>
            </a:r>
            <a:endParaRPr b="0" i="0" sz="12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preencoded.png" id="142" name="Google Shape;142;p6"/>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43" name="Google Shape;143;p6"/>
          <p:cNvPicPr preferRelativeResize="0"/>
          <p:nvPr/>
        </p:nvPicPr>
        <p:blipFill rotWithShape="1">
          <a:blip r:embed="rId4">
            <a:alphaModFix/>
          </a:blip>
          <a:srcRect b="0" l="0" r="0" t="0"/>
          <a:stretch/>
        </p:blipFill>
        <p:spPr>
          <a:xfrm>
            <a:off x="9411652" y="2505670"/>
            <a:ext cx="4950976" cy="3218140"/>
          </a:xfrm>
          <a:prstGeom prst="rect">
            <a:avLst/>
          </a:prstGeom>
          <a:noFill/>
          <a:ln>
            <a:noFill/>
          </a:ln>
        </p:spPr>
      </p:pic>
      <p:sp>
        <p:nvSpPr>
          <p:cNvPr id="144" name="Google Shape;144;p6"/>
          <p:cNvSpPr/>
          <p:nvPr/>
        </p:nvSpPr>
        <p:spPr>
          <a:xfrm>
            <a:off x="749379" y="1095375"/>
            <a:ext cx="7492246" cy="66913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4200"/>
              <a:buFont typeface="Alice"/>
              <a:buNone/>
            </a:pPr>
            <a:r>
              <a:rPr b="0" i="0" lang="en-US" sz="4200" u="none" cap="none" strike="noStrike">
                <a:solidFill>
                  <a:srgbClr val="233E32"/>
                </a:solidFill>
                <a:latin typeface="Alice"/>
                <a:ea typeface="Alice"/>
                <a:cs typeface="Alice"/>
                <a:sym typeface="Alice"/>
              </a:rPr>
              <a:t>¿Qué son las pruebas unitarias?</a:t>
            </a:r>
            <a:endParaRPr b="0" i="0" sz="4200" u="none" cap="none" strike="noStrike"/>
          </a:p>
        </p:txBody>
      </p:sp>
      <p:sp>
        <p:nvSpPr>
          <p:cNvPr id="145" name="Google Shape;145;p6"/>
          <p:cNvSpPr/>
          <p:nvPr/>
        </p:nvSpPr>
        <p:spPr>
          <a:xfrm>
            <a:off x="749379" y="2326481"/>
            <a:ext cx="481727" cy="481727"/>
          </a:xfrm>
          <a:prstGeom prst="roundRect">
            <a:avLst>
              <a:gd fmla="val 6668"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921425" y="2406729"/>
            <a:ext cx="137517" cy="32123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500"/>
              <a:buFont typeface="Alice"/>
              <a:buNone/>
            </a:pPr>
            <a:r>
              <a:rPr b="0" i="0" lang="en-US" sz="2500" u="none" cap="none" strike="noStrike">
                <a:solidFill>
                  <a:srgbClr val="2C2821"/>
                </a:solidFill>
                <a:latin typeface="Alice"/>
                <a:ea typeface="Alice"/>
                <a:cs typeface="Alice"/>
                <a:sym typeface="Alice"/>
              </a:rPr>
              <a:t>1</a:t>
            </a:r>
            <a:endParaRPr b="0" i="0" sz="2500" u="none" cap="none" strike="noStrike"/>
          </a:p>
        </p:txBody>
      </p:sp>
      <p:sp>
        <p:nvSpPr>
          <p:cNvPr id="147" name="Google Shape;147;p6"/>
          <p:cNvSpPr/>
          <p:nvPr/>
        </p:nvSpPr>
        <p:spPr>
          <a:xfrm>
            <a:off x="1445181" y="2326481"/>
            <a:ext cx="2676644" cy="33456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C2821"/>
              </a:buClr>
              <a:buSzPts val="2100"/>
              <a:buFont typeface="Alice"/>
              <a:buNone/>
            </a:pPr>
            <a:r>
              <a:rPr b="0" i="0" lang="en-US" sz="2100" u="none" cap="none" strike="noStrike">
                <a:solidFill>
                  <a:srgbClr val="2C2821"/>
                </a:solidFill>
                <a:latin typeface="Alice"/>
                <a:ea typeface="Alice"/>
                <a:cs typeface="Alice"/>
                <a:sym typeface="Alice"/>
              </a:rPr>
              <a:t>Definición</a:t>
            </a:r>
            <a:endParaRPr b="0" i="0" sz="2100" u="none" cap="none" strike="noStrike"/>
          </a:p>
        </p:txBody>
      </p:sp>
      <p:sp>
        <p:nvSpPr>
          <p:cNvPr id="148" name="Google Shape;148;p6"/>
          <p:cNvSpPr/>
          <p:nvPr/>
        </p:nvSpPr>
        <p:spPr>
          <a:xfrm>
            <a:off x="1445181" y="2789515"/>
            <a:ext cx="3019782" cy="2398633"/>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2C2821"/>
              </a:buClr>
              <a:buSzPts val="1650"/>
              <a:buFont typeface="Lora"/>
              <a:buNone/>
            </a:pPr>
            <a:r>
              <a:rPr b="0" i="0" lang="en-US" sz="1650" u="none" cap="none" strike="noStrike">
                <a:solidFill>
                  <a:srgbClr val="2C2821"/>
                </a:solidFill>
                <a:latin typeface="Lora"/>
                <a:ea typeface="Lora"/>
                <a:cs typeface="Lora"/>
                <a:sym typeface="Lora"/>
              </a:rPr>
              <a:t>Las pruebas unitarias son evaluaciones específicas que se realizan a componentes individuales de un software, con el fin de verificar su correcto funcionamiento de forma aislada.</a:t>
            </a:r>
            <a:endParaRPr b="0" i="0" sz="1650" u="none" cap="none" strike="noStrike"/>
          </a:p>
        </p:txBody>
      </p:sp>
      <p:sp>
        <p:nvSpPr>
          <p:cNvPr id="149" name="Google Shape;149;p6"/>
          <p:cNvSpPr/>
          <p:nvPr/>
        </p:nvSpPr>
        <p:spPr>
          <a:xfrm>
            <a:off x="4679037" y="2326481"/>
            <a:ext cx="481727" cy="481727"/>
          </a:xfrm>
          <a:prstGeom prst="roundRect">
            <a:avLst>
              <a:gd fmla="val 6668"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4840962" y="2406729"/>
            <a:ext cx="157758" cy="32123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500"/>
              <a:buFont typeface="Alice"/>
              <a:buNone/>
            </a:pPr>
            <a:r>
              <a:rPr b="0" i="0" lang="en-US" sz="2500" u="none" cap="none" strike="noStrike">
                <a:solidFill>
                  <a:srgbClr val="2C2821"/>
                </a:solidFill>
                <a:latin typeface="Alice"/>
                <a:ea typeface="Alice"/>
                <a:cs typeface="Alice"/>
                <a:sym typeface="Alice"/>
              </a:rPr>
              <a:t>2</a:t>
            </a:r>
            <a:endParaRPr b="0" i="0" sz="2500" u="none" cap="none" strike="noStrike"/>
          </a:p>
        </p:txBody>
      </p:sp>
      <p:sp>
        <p:nvSpPr>
          <p:cNvPr id="151" name="Google Shape;151;p6"/>
          <p:cNvSpPr/>
          <p:nvPr/>
        </p:nvSpPr>
        <p:spPr>
          <a:xfrm>
            <a:off x="5374838" y="2326481"/>
            <a:ext cx="2676644" cy="33456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C2821"/>
              </a:buClr>
              <a:buSzPts val="2100"/>
              <a:buFont typeface="Alice"/>
              <a:buNone/>
            </a:pPr>
            <a:r>
              <a:rPr b="0" i="0" lang="en-US" sz="2100" u="none" cap="none" strike="noStrike">
                <a:solidFill>
                  <a:srgbClr val="2C2821"/>
                </a:solidFill>
                <a:latin typeface="Alice"/>
                <a:ea typeface="Alice"/>
                <a:cs typeface="Alice"/>
                <a:sym typeface="Alice"/>
              </a:rPr>
              <a:t>Objetivo</a:t>
            </a:r>
            <a:endParaRPr b="0" i="0" sz="2100" u="none" cap="none" strike="noStrike"/>
          </a:p>
        </p:txBody>
      </p:sp>
      <p:sp>
        <p:nvSpPr>
          <p:cNvPr id="152" name="Google Shape;152;p6"/>
          <p:cNvSpPr/>
          <p:nvPr/>
        </p:nvSpPr>
        <p:spPr>
          <a:xfrm>
            <a:off x="5374838" y="2789515"/>
            <a:ext cx="3019782" cy="2398633"/>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2C2821"/>
              </a:buClr>
              <a:buSzPts val="1650"/>
              <a:buFont typeface="Lora"/>
              <a:buNone/>
            </a:pPr>
            <a:r>
              <a:rPr b="0" i="0" lang="en-US" sz="1650" u="none" cap="none" strike="noStrike">
                <a:solidFill>
                  <a:srgbClr val="2C2821"/>
                </a:solidFill>
                <a:latin typeface="Lora"/>
                <a:ea typeface="Lora"/>
                <a:cs typeface="Lora"/>
                <a:sym typeface="Lora"/>
              </a:rPr>
              <a:t>El objetivo principal de las pruebas unitarias es detectar y corregir errores a nivel de unidades o módulos del software, antes de que se integren con el sistema completo.</a:t>
            </a:r>
            <a:endParaRPr b="0" i="0" sz="1650" u="none" cap="none" strike="noStrike"/>
          </a:p>
        </p:txBody>
      </p:sp>
      <p:sp>
        <p:nvSpPr>
          <p:cNvPr id="153" name="Google Shape;153;p6"/>
          <p:cNvSpPr/>
          <p:nvPr/>
        </p:nvSpPr>
        <p:spPr>
          <a:xfrm>
            <a:off x="749379" y="5643086"/>
            <a:ext cx="481727" cy="481727"/>
          </a:xfrm>
          <a:prstGeom prst="roundRect">
            <a:avLst>
              <a:gd fmla="val 6668"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912019" y="5723334"/>
            <a:ext cx="156448" cy="32123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500"/>
              <a:buFont typeface="Alice"/>
              <a:buNone/>
            </a:pPr>
            <a:r>
              <a:rPr b="0" i="0" lang="en-US" sz="2500" u="none" cap="none" strike="noStrike">
                <a:solidFill>
                  <a:srgbClr val="2C2821"/>
                </a:solidFill>
                <a:latin typeface="Alice"/>
                <a:ea typeface="Alice"/>
                <a:cs typeface="Alice"/>
                <a:sym typeface="Alice"/>
              </a:rPr>
              <a:t>3</a:t>
            </a:r>
            <a:endParaRPr b="0" i="0" sz="2500" u="none" cap="none" strike="noStrike"/>
          </a:p>
        </p:txBody>
      </p:sp>
      <p:sp>
        <p:nvSpPr>
          <p:cNvPr id="155" name="Google Shape;155;p6"/>
          <p:cNvSpPr/>
          <p:nvPr/>
        </p:nvSpPr>
        <p:spPr>
          <a:xfrm>
            <a:off x="1445181" y="5643086"/>
            <a:ext cx="2676644" cy="33456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2C2821"/>
              </a:buClr>
              <a:buSzPts val="2100"/>
              <a:buFont typeface="Alice"/>
              <a:buNone/>
            </a:pPr>
            <a:r>
              <a:rPr b="0" i="0" lang="en-US" sz="2100" u="none" cap="none" strike="noStrike">
                <a:solidFill>
                  <a:srgbClr val="2C2821"/>
                </a:solidFill>
                <a:latin typeface="Alice"/>
                <a:ea typeface="Alice"/>
                <a:cs typeface="Alice"/>
                <a:sym typeface="Alice"/>
              </a:rPr>
              <a:t>Ventajas</a:t>
            </a:r>
            <a:endParaRPr b="0" i="0" sz="2100" u="none" cap="none" strike="noStrike"/>
          </a:p>
        </p:txBody>
      </p:sp>
      <p:sp>
        <p:nvSpPr>
          <p:cNvPr id="156" name="Google Shape;156;p6"/>
          <p:cNvSpPr/>
          <p:nvPr/>
        </p:nvSpPr>
        <p:spPr>
          <a:xfrm>
            <a:off x="1445181" y="6106120"/>
            <a:ext cx="6949440" cy="1027986"/>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2C2821"/>
              </a:buClr>
              <a:buSzPts val="1650"/>
              <a:buFont typeface="Lora"/>
              <a:buNone/>
            </a:pPr>
            <a:r>
              <a:rPr b="0" i="0" lang="en-US" sz="1650" u="none" cap="none" strike="noStrike">
                <a:solidFill>
                  <a:srgbClr val="2C2821"/>
                </a:solidFill>
                <a:latin typeface="Lora"/>
                <a:ea typeface="Lora"/>
                <a:cs typeface="Lora"/>
                <a:sym typeface="Lora"/>
              </a:rPr>
              <a:t>Permiten agilizar el proceso de desarrollo al identificar y solucionar problemas de forma temprana, facilitando así la integración y reduciendo el riesgo de errores a nivel de sistema.</a:t>
            </a:r>
            <a:endParaRPr b="0" i="0" sz="16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descr="preencoded.png" id="162" name="Google Shape;162;p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63" name="Google Shape;163;p7"/>
          <p:cNvPicPr preferRelativeResize="0"/>
          <p:nvPr/>
        </p:nvPicPr>
        <p:blipFill rotWithShape="1">
          <a:blip r:embed="rId4">
            <a:alphaModFix/>
          </a:blip>
          <a:srcRect b="0" l="0" r="0" t="0"/>
          <a:stretch/>
        </p:blipFill>
        <p:spPr>
          <a:xfrm>
            <a:off x="9369862" y="968097"/>
            <a:ext cx="5034558" cy="6293287"/>
          </a:xfrm>
          <a:prstGeom prst="rect">
            <a:avLst/>
          </a:prstGeom>
          <a:noFill/>
          <a:ln>
            <a:noFill/>
          </a:ln>
        </p:spPr>
      </p:pic>
      <p:sp>
        <p:nvSpPr>
          <p:cNvPr id="164" name="Google Shape;164;p7"/>
          <p:cNvSpPr/>
          <p:nvPr/>
        </p:nvSpPr>
        <p:spPr>
          <a:xfrm>
            <a:off x="632460" y="523637"/>
            <a:ext cx="7879080" cy="1129189"/>
          </a:xfrm>
          <a:prstGeom prst="rect">
            <a:avLst/>
          </a:prstGeom>
          <a:noFill/>
          <a:ln>
            <a:noFill/>
          </a:ln>
        </p:spPr>
        <p:txBody>
          <a:bodyPr anchorCtr="0" anchor="t" bIns="0" lIns="0" spcFirstLastPara="1" rIns="0" wrap="square" tIns="0">
            <a:noAutofit/>
          </a:bodyPr>
          <a:lstStyle/>
          <a:p>
            <a:pPr indent="0" lvl="0" marL="0" marR="0" rtl="0" algn="l">
              <a:lnSpc>
                <a:spcPct val="123943"/>
              </a:lnSpc>
              <a:spcBef>
                <a:spcPts val="0"/>
              </a:spcBef>
              <a:spcAft>
                <a:spcPts val="0"/>
              </a:spcAft>
              <a:buClr>
                <a:srgbClr val="233E32"/>
              </a:buClr>
              <a:buSzPts val="3550"/>
              <a:buFont typeface="Alice"/>
              <a:buNone/>
            </a:pPr>
            <a:r>
              <a:rPr b="0" i="0" lang="en-US" sz="3550" u="none" cap="none" strike="noStrike">
                <a:solidFill>
                  <a:srgbClr val="233E32"/>
                </a:solidFill>
                <a:latin typeface="Alice"/>
                <a:ea typeface="Alice"/>
                <a:cs typeface="Alice"/>
                <a:sym typeface="Alice"/>
              </a:rPr>
              <a:t>Uso de las pruebas unitarias en la verificación de componentes</a:t>
            </a:r>
            <a:endParaRPr b="0" i="0" sz="3550" u="none" cap="none" strike="noStrike"/>
          </a:p>
        </p:txBody>
      </p:sp>
      <p:pic>
        <p:nvPicPr>
          <p:cNvPr descr="preencoded.png" id="165" name="Google Shape;165;p7"/>
          <p:cNvPicPr preferRelativeResize="0"/>
          <p:nvPr/>
        </p:nvPicPr>
        <p:blipFill rotWithShape="1">
          <a:blip r:embed="rId5">
            <a:alphaModFix/>
          </a:blip>
          <a:srcRect b="0" l="0" r="0" t="0"/>
          <a:stretch/>
        </p:blipFill>
        <p:spPr>
          <a:xfrm>
            <a:off x="632460" y="1923812"/>
            <a:ext cx="903446" cy="1445538"/>
          </a:xfrm>
          <a:prstGeom prst="rect">
            <a:avLst/>
          </a:prstGeom>
          <a:noFill/>
          <a:ln>
            <a:noFill/>
          </a:ln>
        </p:spPr>
      </p:pic>
      <p:sp>
        <p:nvSpPr>
          <p:cNvPr id="166" name="Google Shape;166;p7"/>
          <p:cNvSpPr/>
          <p:nvPr/>
        </p:nvSpPr>
        <p:spPr>
          <a:xfrm>
            <a:off x="1806892" y="2104430"/>
            <a:ext cx="3401139" cy="28229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C2821"/>
              </a:buClr>
              <a:buSzPts val="1750"/>
              <a:buFont typeface="Alice"/>
              <a:buNone/>
            </a:pPr>
            <a:r>
              <a:rPr b="0" i="0" lang="en-US" sz="1750" u="none" cap="none" strike="noStrike">
                <a:solidFill>
                  <a:srgbClr val="2C2821"/>
                </a:solidFill>
                <a:latin typeface="Alice"/>
                <a:ea typeface="Alice"/>
                <a:cs typeface="Alice"/>
                <a:sym typeface="Alice"/>
              </a:rPr>
              <a:t>Enfoque en unidades individuales</a:t>
            </a:r>
            <a:endParaRPr b="0" i="0" sz="1750" u="none" cap="none" strike="noStrike"/>
          </a:p>
        </p:txBody>
      </p:sp>
      <p:sp>
        <p:nvSpPr>
          <p:cNvPr id="167" name="Google Shape;167;p7"/>
          <p:cNvSpPr/>
          <p:nvPr/>
        </p:nvSpPr>
        <p:spPr>
          <a:xfrm>
            <a:off x="1806892" y="2495074"/>
            <a:ext cx="6704648" cy="57816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C2821"/>
              </a:buClr>
              <a:buSzPts val="1400"/>
              <a:buFont typeface="Lora"/>
              <a:buNone/>
            </a:pPr>
            <a:r>
              <a:rPr b="0" i="0" lang="en-US" sz="1400" u="none" cap="none" strike="noStrike">
                <a:solidFill>
                  <a:srgbClr val="2C2821"/>
                </a:solidFill>
                <a:latin typeface="Lora"/>
                <a:ea typeface="Lora"/>
                <a:cs typeface="Lora"/>
                <a:sym typeface="Lora"/>
              </a:rPr>
              <a:t>Las pruebas unitarias se centran en verificar el correcto funcionamiento de componentes o módulos individuales del sistema, de forma aislada.</a:t>
            </a:r>
            <a:endParaRPr b="0" i="0" sz="1400" u="none" cap="none" strike="noStrike"/>
          </a:p>
        </p:txBody>
      </p:sp>
      <p:pic>
        <p:nvPicPr>
          <p:cNvPr descr="preencoded.png" id="168" name="Google Shape;168;p7"/>
          <p:cNvPicPr preferRelativeResize="0"/>
          <p:nvPr/>
        </p:nvPicPr>
        <p:blipFill rotWithShape="1">
          <a:blip r:embed="rId6">
            <a:alphaModFix/>
          </a:blip>
          <a:srcRect b="0" l="0" r="0" t="0"/>
          <a:stretch/>
        </p:blipFill>
        <p:spPr>
          <a:xfrm>
            <a:off x="632460" y="3369350"/>
            <a:ext cx="903446" cy="1445538"/>
          </a:xfrm>
          <a:prstGeom prst="rect">
            <a:avLst/>
          </a:prstGeom>
          <a:noFill/>
          <a:ln>
            <a:noFill/>
          </a:ln>
        </p:spPr>
      </p:pic>
      <p:sp>
        <p:nvSpPr>
          <p:cNvPr id="169" name="Google Shape;169;p7"/>
          <p:cNvSpPr/>
          <p:nvPr/>
        </p:nvSpPr>
        <p:spPr>
          <a:xfrm>
            <a:off x="1806892" y="3549968"/>
            <a:ext cx="3083957" cy="28229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C2821"/>
              </a:buClr>
              <a:buSzPts val="1750"/>
              <a:buFont typeface="Alice"/>
              <a:buNone/>
            </a:pPr>
            <a:r>
              <a:rPr b="0" i="0" lang="en-US" sz="1750" u="none" cap="none" strike="noStrike">
                <a:solidFill>
                  <a:srgbClr val="2C2821"/>
                </a:solidFill>
                <a:latin typeface="Alice"/>
                <a:ea typeface="Alice"/>
                <a:cs typeface="Alice"/>
                <a:sym typeface="Alice"/>
              </a:rPr>
              <a:t>Validación de casos específicos</a:t>
            </a:r>
            <a:endParaRPr b="0" i="0" sz="1750" u="none" cap="none" strike="noStrike"/>
          </a:p>
        </p:txBody>
      </p:sp>
      <p:sp>
        <p:nvSpPr>
          <p:cNvPr id="170" name="Google Shape;170;p7"/>
          <p:cNvSpPr/>
          <p:nvPr/>
        </p:nvSpPr>
        <p:spPr>
          <a:xfrm>
            <a:off x="1806892" y="3940612"/>
            <a:ext cx="6704648" cy="57816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C2821"/>
              </a:buClr>
              <a:buSzPts val="1400"/>
              <a:buFont typeface="Lora"/>
              <a:buNone/>
            </a:pPr>
            <a:r>
              <a:rPr b="0" i="0" lang="en-US" sz="1400" u="none" cap="none" strike="noStrike">
                <a:solidFill>
                  <a:srgbClr val="2C2821"/>
                </a:solidFill>
                <a:latin typeface="Lora"/>
                <a:ea typeface="Lora"/>
                <a:cs typeface="Lora"/>
                <a:sym typeface="Lora"/>
              </a:rPr>
              <a:t>Estas pruebas permiten comprobar que cada unidad cumple con los requisitos y se comporta según lo esperado en diferentes escenarios.</a:t>
            </a:r>
            <a:endParaRPr b="0" i="0" sz="1400" u="none" cap="none" strike="noStrike"/>
          </a:p>
        </p:txBody>
      </p:sp>
      <p:pic>
        <p:nvPicPr>
          <p:cNvPr descr="preencoded.png" id="171" name="Google Shape;171;p7"/>
          <p:cNvPicPr preferRelativeResize="0"/>
          <p:nvPr/>
        </p:nvPicPr>
        <p:blipFill rotWithShape="1">
          <a:blip r:embed="rId7">
            <a:alphaModFix/>
          </a:blip>
          <a:srcRect b="0" l="0" r="0" t="0"/>
          <a:stretch/>
        </p:blipFill>
        <p:spPr>
          <a:xfrm>
            <a:off x="632460" y="4814888"/>
            <a:ext cx="903446" cy="1445538"/>
          </a:xfrm>
          <a:prstGeom prst="rect">
            <a:avLst/>
          </a:prstGeom>
          <a:noFill/>
          <a:ln>
            <a:noFill/>
          </a:ln>
        </p:spPr>
      </p:pic>
      <p:sp>
        <p:nvSpPr>
          <p:cNvPr id="172" name="Google Shape;172;p7"/>
          <p:cNvSpPr/>
          <p:nvPr/>
        </p:nvSpPr>
        <p:spPr>
          <a:xfrm>
            <a:off x="1806892" y="4995505"/>
            <a:ext cx="3130868" cy="28229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C2821"/>
              </a:buClr>
              <a:buSzPts val="1750"/>
              <a:buFont typeface="Alice"/>
              <a:buNone/>
            </a:pPr>
            <a:r>
              <a:rPr b="0" i="0" lang="en-US" sz="1750" u="none" cap="none" strike="noStrike">
                <a:solidFill>
                  <a:srgbClr val="2C2821"/>
                </a:solidFill>
                <a:latin typeface="Alice"/>
                <a:ea typeface="Alice"/>
                <a:cs typeface="Alice"/>
                <a:sym typeface="Alice"/>
              </a:rPr>
              <a:t>Detección temprana de errores</a:t>
            </a:r>
            <a:endParaRPr b="0" i="0" sz="1750" u="none" cap="none" strike="noStrike"/>
          </a:p>
        </p:txBody>
      </p:sp>
      <p:sp>
        <p:nvSpPr>
          <p:cNvPr id="173" name="Google Shape;173;p7"/>
          <p:cNvSpPr/>
          <p:nvPr/>
        </p:nvSpPr>
        <p:spPr>
          <a:xfrm>
            <a:off x="1806892" y="5386149"/>
            <a:ext cx="6704648" cy="57816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C2821"/>
              </a:buClr>
              <a:buSzPts val="1400"/>
              <a:buFont typeface="Lora"/>
              <a:buNone/>
            </a:pPr>
            <a:r>
              <a:rPr b="0" i="0" lang="en-US" sz="1400" u="none" cap="none" strike="noStrike">
                <a:solidFill>
                  <a:srgbClr val="2C2821"/>
                </a:solidFill>
                <a:latin typeface="Lora"/>
                <a:ea typeface="Lora"/>
                <a:cs typeface="Lora"/>
                <a:sym typeface="Lora"/>
              </a:rPr>
              <a:t>Al realizar pruebas unitarias, se pueden identificar y corregir problemas en etapas tempranas del desarrollo, antes de que se integren los componentes.</a:t>
            </a:r>
            <a:endParaRPr b="0" i="0" sz="1400" u="none" cap="none" strike="noStrike"/>
          </a:p>
        </p:txBody>
      </p:sp>
      <p:pic>
        <p:nvPicPr>
          <p:cNvPr descr="preencoded.png" id="174" name="Google Shape;174;p7"/>
          <p:cNvPicPr preferRelativeResize="0"/>
          <p:nvPr/>
        </p:nvPicPr>
        <p:blipFill rotWithShape="1">
          <a:blip r:embed="rId8">
            <a:alphaModFix/>
          </a:blip>
          <a:srcRect b="0" l="0" r="0" t="0"/>
          <a:stretch/>
        </p:blipFill>
        <p:spPr>
          <a:xfrm>
            <a:off x="632460" y="6260425"/>
            <a:ext cx="903446" cy="1445538"/>
          </a:xfrm>
          <a:prstGeom prst="rect">
            <a:avLst/>
          </a:prstGeom>
          <a:noFill/>
          <a:ln>
            <a:noFill/>
          </a:ln>
        </p:spPr>
      </p:pic>
      <p:sp>
        <p:nvSpPr>
          <p:cNvPr id="175" name="Google Shape;175;p7"/>
          <p:cNvSpPr/>
          <p:nvPr/>
        </p:nvSpPr>
        <p:spPr>
          <a:xfrm>
            <a:off x="1806892" y="6441043"/>
            <a:ext cx="3131820" cy="28229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C2821"/>
              </a:buClr>
              <a:buSzPts val="1750"/>
              <a:buFont typeface="Alice"/>
              <a:buNone/>
            </a:pPr>
            <a:r>
              <a:rPr b="0" i="0" lang="en-US" sz="1750" u="none" cap="none" strike="noStrike">
                <a:solidFill>
                  <a:srgbClr val="2C2821"/>
                </a:solidFill>
                <a:latin typeface="Alice"/>
                <a:ea typeface="Alice"/>
                <a:cs typeface="Alice"/>
                <a:sym typeface="Alice"/>
              </a:rPr>
              <a:t>Facilitación del mantenimiento</a:t>
            </a:r>
            <a:endParaRPr b="0" i="0" sz="1750" u="none" cap="none" strike="noStrike"/>
          </a:p>
        </p:txBody>
      </p:sp>
      <p:sp>
        <p:nvSpPr>
          <p:cNvPr id="176" name="Google Shape;176;p7"/>
          <p:cNvSpPr/>
          <p:nvPr/>
        </p:nvSpPr>
        <p:spPr>
          <a:xfrm>
            <a:off x="1806892" y="6831687"/>
            <a:ext cx="6704648" cy="578168"/>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C2821"/>
              </a:buClr>
              <a:buSzPts val="1400"/>
              <a:buFont typeface="Lora"/>
              <a:buNone/>
            </a:pPr>
            <a:r>
              <a:rPr b="0" i="0" lang="en-US" sz="1400" u="none" cap="none" strike="noStrike">
                <a:solidFill>
                  <a:srgbClr val="2C2821"/>
                </a:solidFill>
                <a:latin typeface="Lora"/>
                <a:ea typeface="Lora"/>
                <a:cs typeface="Lora"/>
                <a:sym typeface="Lora"/>
              </a:rPr>
              <a:t>Un conjunto sólido de pruebas unitarias ayuda a garantizar que los cambios en el código no afecten el funcionamiento de las unidades individuales.</a:t>
            </a:r>
            <a:endParaRPr b="0" i="0" sz="14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8"/>
          <p:cNvSpPr/>
          <p:nvPr/>
        </p:nvSpPr>
        <p:spPr>
          <a:xfrm>
            <a:off x="793790" y="2358509"/>
            <a:ext cx="9131737"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¿Qué son las pruebas de aceptación?</a:t>
            </a:r>
            <a:endParaRPr b="0" i="0" sz="4450" u="none" cap="none" strike="noStrike"/>
          </a:p>
        </p:txBody>
      </p:sp>
      <p:sp>
        <p:nvSpPr>
          <p:cNvPr id="183" name="Google Shape;183;p8"/>
          <p:cNvSpPr/>
          <p:nvPr/>
        </p:nvSpPr>
        <p:spPr>
          <a:xfrm>
            <a:off x="793790" y="363426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Definición</a:t>
            </a:r>
            <a:endParaRPr b="0" i="0" sz="2200" u="none" cap="none" strike="noStrike"/>
          </a:p>
        </p:txBody>
      </p:sp>
      <p:sp>
        <p:nvSpPr>
          <p:cNvPr id="184" name="Google Shape;184;p8"/>
          <p:cNvSpPr/>
          <p:nvPr/>
        </p:nvSpPr>
        <p:spPr>
          <a:xfrm>
            <a:off x="793790" y="4215408"/>
            <a:ext cx="62447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Las pruebas de aceptación son evaluaciones exhaustivas que tienen como objetivo validar que un sistema o componente de software cumpla con los requisitos y expectativas del cliente o usuario final.</a:t>
            </a:r>
            <a:endParaRPr b="0" i="0" sz="1750" u="none" cap="none" strike="noStrike"/>
          </a:p>
        </p:txBody>
      </p:sp>
      <p:sp>
        <p:nvSpPr>
          <p:cNvPr id="185" name="Google Shape;185;p8"/>
          <p:cNvSpPr/>
          <p:nvPr/>
        </p:nvSpPr>
        <p:spPr>
          <a:xfrm>
            <a:off x="7599521" y="363426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Objetivo</a:t>
            </a:r>
            <a:endParaRPr b="0" i="0" sz="2200" u="none" cap="none" strike="noStrike"/>
          </a:p>
        </p:txBody>
      </p:sp>
      <p:sp>
        <p:nvSpPr>
          <p:cNvPr id="186" name="Google Shape;186;p8"/>
          <p:cNvSpPr/>
          <p:nvPr/>
        </p:nvSpPr>
        <p:spPr>
          <a:xfrm>
            <a:off x="7599521" y="4215408"/>
            <a:ext cx="624470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Su principal objetivo es verificar que el software desarrollado funciona correctamente de acuerdo a las especificaciones y requerimientos acordados.</a:t>
            </a:r>
            <a:endParaRPr b="0" i="0" sz="17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preencoded.png" id="192" name="Google Shape;192;p9"/>
          <p:cNvPicPr preferRelativeResize="0"/>
          <p:nvPr/>
        </p:nvPicPr>
        <p:blipFill rotWithShape="1">
          <a:blip r:embed="rId3">
            <a:alphaModFix/>
          </a:blip>
          <a:srcRect b="0" l="0" r="0" t="0"/>
          <a:stretch/>
        </p:blipFill>
        <p:spPr>
          <a:xfrm>
            <a:off x="0" y="0"/>
            <a:ext cx="14630400" cy="2829997"/>
          </a:xfrm>
          <a:prstGeom prst="rect">
            <a:avLst/>
          </a:prstGeom>
          <a:noFill/>
          <a:ln>
            <a:noFill/>
          </a:ln>
        </p:spPr>
      </p:pic>
      <p:pic>
        <p:nvPicPr>
          <p:cNvPr descr="preencoded.png" id="193" name="Google Shape;193;p9"/>
          <p:cNvPicPr preferRelativeResize="0"/>
          <p:nvPr/>
        </p:nvPicPr>
        <p:blipFill rotWithShape="1">
          <a:blip r:embed="rId4">
            <a:alphaModFix/>
          </a:blip>
          <a:srcRect b="0" l="0" r="0" t="0"/>
          <a:stretch/>
        </p:blipFill>
        <p:spPr>
          <a:xfrm>
            <a:off x="5573554" y="282893"/>
            <a:ext cx="3483293" cy="2264212"/>
          </a:xfrm>
          <a:prstGeom prst="rect">
            <a:avLst/>
          </a:prstGeom>
          <a:noFill/>
          <a:ln>
            <a:noFill/>
          </a:ln>
        </p:spPr>
      </p:pic>
      <p:sp>
        <p:nvSpPr>
          <p:cNvPr id="194" name="Google Shape;194;p9"/>
          <p:cNvSpPr/>
          <p:nvPr/>
        </p:nvSpPr>
        <p:spPr>
          <a:xfrm>
            <a:off x="792361" y="3452574"/>
            <a:ext cx="9490234" cy="70746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Objetivo de las pruebas de aceptación</a:t>
            </a:r>
            <a:endParaRPr b="0" i="0" sz="4450" u="none" cap="none" strike="noStrike"/>
          </a:p>
        </p:txBody>
      </p:sp>
      <p:sp>
        <p:nvSpPr>
          <p:cNvPr id="195" name="Google Shape;195;p9"/>
          <p:cNvSpPr/>
          <p:nvPr/>
        </p:nvSpPr>
        <p:spPr>
          <a:xfrm>
            <a:off x="792361" y="4499610"/>
            <a:ext cx="4197668" cy="3107412"/>
          </a:xfrm>
          <a:prstGeom prst="roundRect">
            <a:avLst>
              <a:gd fmla="val 1093"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1018699" y="4725948"/>
            <a:ext cx="3744992" cy="70746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Validar el cumplimiento de requisitos</a:t>
            </a:r>
            <a:endParaRPr b="0" i="0" sz="2200" u="none" cap="none" strike="noStrike"/>
          </a:p>
        </p:txBody>
      </p:sp>
      <p:sp>
        <p:nvSpPr>
          <p:cNvPr id="197" name="Google Shape;197;p9"/>
          <p:cNvSpPr/>
          <p:nvPr/>
        </p:nvSpPr>
        <p:spPr>
          <a:xfrm>
            <a:off x="1018699" y="5569148"/>
            <a:ext cx="3744992" cy="181153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Las pruebas de aceptación se centran en verificar que el software desarrollado satisface los requisitos y expectativas del cliente o usuario final.</a:t>
            </a:r>
            <a:endParaRPr b="0" i="0" sz="1750" u="none" cap="none" strike="noStrike"/>
          </a:p>
        </p:txBody>
      </p:sp>
      <p:sp>
        <p:nvSpPr>
          <p:cNvPr id="198" name="Google Shape;198;p9"/>
          <p:cNvSpPr/>
          <p:nvPr/>
        </p:nvSpPr>
        <p:spPr>
          <a:xfrm>
            <a:off x="5216366" y="4499610"/>
            <a:ext cx="4197668" cy="3107412"/>
          </a:xfrm>
          <a:prstGeom prst="roundRect">
            <a:avLst>
              <a:gd fmla="val 1093"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5442704" y="4725948"/>
            <a:ext cx="3744992" cy="70746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Garantizar la calidad del producto</a:t>
            </a:r>
            <a:endParaRPr b="0" i="0" sz="2200" u="none" cap="none" strike="noStrike"/>
          </a:p>
        </p:txBody>
      </p:sp>
      <p:sp>
        <p:nvSpPr>
          <p:cNvPr id="200" name="Google Shape;200;p9"/>
          <p:cNvSpPr/>
          <p:nvPr/>
        </p:nvSpPr>
        <p:spPr>
          <a:xfrm>
            <a:off x="5442704" y="5569148"/>
            <a:ext cx="3744992" cy="1811536"/>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 través de estas pruebas, se valida que el software cumple con los criterios de aceptación establecidos, asegurando la calidad final del producto.</a:t>
            </a:r>
            <a:endParaRPr b="0" i="0" sz="1750" u="none" cap="none" strike="noStrike"/>
          </a:p>
        </p:txBody>
      </p:sp>
      <p:sp>
        <p:nvSpPr>
          <p:cNvPr id="201" name="Google Shape;201;p9"/>
          <p:cNvSpPr/>
          <p:nvPr/>
        </p:nvSpPr>
        <p:spPr>
          <a:xfrm>
            <a:off x="9640372" y="4499610"/>
            <a:ext cx="4197668" cy="3107412"/>
          </a:xfrm>
          <a:prstGeom prst="roundRect">
            <a:avLst>
              <a:gd fmla="val 1093"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9866709" y="4725948"/>
            <a:ext cx="2829997" cy="3537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Involucrar al cliente</a:t>
            </a:r>
            <a:endParaRPr b="0" i="0" sz="2200" u="none" cap="none" strike="noStrike"/>
          </a:p>
        </p:txBody>
      </p:sp>
      <p:sp>
        <p:nvSpPr>
          <p:cNvPr id="203" name="Google Shape;203;p9"/>
          <p:cNvSpPr/>
          <p:nvPr/>
        </p:nvSpPr>
        <p:spPr>
          <a:xfrm>
            <a:off x="9866709" y="5215414"/>
            <a:ext cx="3744992" cy="1449229"/>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Los usuarios finales participan activamente en las pruebas de aceptación, lo que fomenta su compromiso y retroalimentación.</a:t>
            </a:r>
            <a:endParaRPr b="0" i="0" sz="17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p:nvPr/>
        </p:nvSpPr>
        <p:spPr>
          <a:xfrm>
            <a:off x="640556" y="648414"/>
            <a:ext cx="13349287" cy="114371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3600"/>
              <a:buFont typeface="Alice"/>
              <a:buNone/>
            </a:pPr>
            <a:r>
              <a:rPr b="0" i="0" lang="en-US" sz="3600" u="none" cap="none" strike="noStrike">
                <a:solidFill>
                  <a:srgbClr val="233E32"/>
                </a:solidFill>
                <a:latin typeface="Alice"/>
                <a:ea typeface="Alice"/>
                <a:cs typeface="Alice"/>
                <a:sym typeface="Alice"/>
              </a:rPr>
              <a:t>Aplicación de las pruebas de aceptación en la validación de requisitos</a:t>
            </a:r>
            <a:endParaRPr b="0" i="0" sz="3600" u="none" cap="none" strike="noStrike"/>
          </a:p>
        </p:txBody>
      </p:sp>
      <p:sp>
        <p:nvSpPr>
          <p:cNvPr id="210" name="Google Shape;210;p10"/>
          <p:cNvSpPr/>
          <p:nvPr/>
        </p:nvSpPr>
        <p:spPr>
          <a:xfrm>
            <a:off x="640556" y="2158127"/>
            <a:ext cx="13349287" cy="585549"/>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2C2821"/>
              </a:buClr>
              <a:buSzPts val="1400"/>
              <a:buFont typeface="Lora"/>
              <a:buNone/>
            </a:pPr>
            <a:r>
              <a:rPr b="0" i="0" lang="en-US" sz="1400" u="none" cap="none" strike="noStrike">
                <a:solidFill>
                  <a:srgbClr val="2C2821"/>
                </a:solidFill>
                <a:latin typeface="Lora"/>
                <a:ea typeface="Lora"/>
                <a:cs typeface="Lora"/>
                <a:sym typeface="Lora"/>
              </a:rPr>
              <a:t>Las pruebas de aceptación tienen como objetivo principal validar que el software desarrollado cumple con los requisitos establecidos por el cliente o usuario final. Estas pruebas se llevan a cabo tras las pruebas unitarias y de integración, y justo antes de la entrega final del producto.</a:t>
            </a:r>
            <a:endParaRPr b="0" i="0" sz="1400" u="none" cap="none" strike="noStrike"/>
          </a:p>
        </p:txBody>
      </p:sp>
      <p:pic>
        <p:nvPicPr>
          <p:cNvPr descr="preencoded.png" id="211" name="Google Shape;211;p10"/>
          <p:cNvPicPr preferRelativeResize="0"/>
          <p:nvPr/>
        </p:nvPicPr>
        <p:blipFill rotWithShape="1">
          <a:blip r:embed="rId3">
            <a:alphaModFix/>
          </a:blip>
          <a:srcRect b="0" l="0" r="0" t="0"/>
          <a:stretch/>
        </p:blipFill>
        <p:spPr>
          <a:xfrm>
            <a:off x="2876550" y="2949535"/>
            <a:ext cx="2202537" cy="1347192"/>
          </a:xfrm>
          <a:prstGeom prst="rect">
            <a:avLst/>
          </a:prstGeom>
          <a:noFill/>
          <a:ln>
            <a:noFill/>
          </a:ln>
        </p:spPr>
      </p:pic>
      <p:sp>
        <p:nvSpPr>
          <p:cNvPr id="212" name="Google Shape;212;p10"/>
          <p:cNvSpPr/>
          <p:nvPr/>
        </p:nvSpPr>
        <p:spPr>
          <a:xfrm>
            <a:off x="3928824" y="3614738"/>
            <a:ext cx="97988" cy="365879"/>
          </a:xfrm>
          <a:prstGeom prst="rect">
            <a:avLst/>
          </a:prstGeom>
          <a:noFill/>
          <a:ln>
            <a:noFill/>
          </a:ln>
        </p:spPr>
        <p:txBody>
          <a:bodyPr anchorCtr="0" anchor="t" bIns="0" lIns="0" spcFirstLastPara="1" rIns="0" wrap="square" tIns="0">
            <a:noAutofit/>
          </a:bodyPr>
          <a:lstStyle/>
          <a:p>
            <a:pPr indent="0" lvl="0" marL="0" marR="0" rtl="0" algn="ctr">
              <a:lnSpc>
                <a:spcPct val="158333"/>
              </a:lnSpc>
              <a:spcBef>
                <a:spcPts val="0"/>
              </a:spcBef>
              <a:spcAft>
                <a:spcPts val="0"/>
              </a:spcAft>
              <a:buClr>
                <a:srgbClr val="2C2821"/>
              </a:buClr>
              <a:buSzPts val="1800"/>
              <a:buFont typeface="Alice"/>
              <a:buNone/>
            </a:pPr>
            <a:r>
              <a:rPr b="0" i="0" lang="en-US" sz="1800" u="none" cap="none" strike="noStrike">
                <a:solidFill>
                  <a:srgbClr val="2C2821"/>
                </a:solidFill>
                <a:latin typeface="Alice"/>
                <a:ea typeface="Alice"/>
                <a:cs typeface="Alice"/>
                <a:sym typeface="Alice"/>
              </a:rPr>
              <a:t>1</a:t>
            </a:r>
            <a:endParaRPr b="0" i="0" sz="1800" u="none" cap="none" strike="noStrike"/>
          </a:p>
        </p:txBody>
      </p:sp>
      <p:sp>
        <p:nvSpPr>
          <p:cNvPr id="213" name="Google Shape;213;p10"/>
          <p:cNvSpPr/>
          <p:nvPr/>
        </p:nvSpPr>
        <p:spPr>
          <a:xfrm>
            <a:off x="5262086" y="3132534"/>
            <a:ext cx="2421969" cy="28586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1800"/>
              <a:buFont typeface="Alice"/>
              <a:buNone/>
            </a:pPr>
            <a:r>
              <a:rPr b="0" i="0" lang="en-US" sz="1800" u="none" cap="none" strike="noStrike">
                <a:solidFill>
                  <a:srgbClr val="2C2821"/>
                </a:solidFill>
                <a:latin typeface="Alice"/>
                <a:ea typeface="Alice"/>
                <a:cs typeface="Alice"/>
                <a:sym typeface="Alice"/>
              </a:rPr>
              <a:t>Validación de requisitos</a:t>
            </a:r>
            <a:endParaRPr b="0" i="0" sz="1800" u="none" cap="none" strike="noStrike"/>
          </a:p>
        </p:txBody>
      </p:sp>
      <p:sp>
        <p:nvSpPr>
          <p:cNvPr id="214" name="Google Shape;214;p10"/>
          <p:cNvSpPr/>
          <p:nvPr/>
        </p:nvSpPr>
        <p:spPr>
          <a:xfrm>
            <a:off x="5262086" y="3528179"/>
            <a:ext cx="8544758" cy="585549"/>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2C2821"/>
              </a:buClr>
              <a:buSzPts val="1400"/>
              <a:buFont typeface="Lora"/>
              <a:buNone/>
            </a:pPr>
            <a:r>
              <a:rPr b="0" i="0" lang="en-US" sz="1400" u="none" cap="none" strike="noStrike">
                <a:solidFill>
                  <a:srgbClr val="2C2821"/>
                </a:solidFill>
                <a:latin typeface="Lora"/>
                <a:ea typeface="Lora"/>
                <a:cs typeface="Lora"/>
                <a:sym typeface="Lora"/>
              </a:rPr>
              <a:t>Las pruebas de aceptación comprueban que el sistema cumple con las especificaciones funcionales requeridas.</a:t>
            </a:r>
            <a:endParaRPr b="0" i="0" sz="1400" u="none" cap="none" strike="noStrike"/>
          </a:p>
        </p:txBody>
      </p:sp>
      <p:sp>
        <p:nvSpPr>
          <p:cNvPr id="215" name="Google Shape;215;p10"/>
          <p:cNvSpPr/>
          <p:nvPr/>
        </p:nvSpPr>
        <p:spPr>
          <a:xfrm>
            <a:off x="5124807" y="4310063"/>
            <a:ext cx="8819317" cy="11430"/>
          </a:xfrm>
          <a:prstGeom prst="roundRect">
            <a:avLst>
              <a:gd fmla="val 240183"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6" name="Google Shape;216;p10"/>
          <p:cNvPicPr preferRelativeResize="0"/>
          <p:nvPr/>
        </p:nvPicPr>
        <p:blipFill rotWithShape="1">
          <a:blip r:embed="rId4">
            <a:alphaModFix/>
          </a:blip>
          <a:srcRect b="0" l="0" r="0" t="0"/>
          <a:stretch/>
        </p:blipFill>
        <p:spPr>
          <a:xfrm>
            <a:off x="1775222" y="4342448"/>
            <a:ext cx="4405193" cy="1347192"/>
          </a:xfrm>
          <a:prstGeom prst="rect">
            <a:avLst/>
          </a:prstGeom>
          <a:noFill/>
          <a:ln>
            <a:noFill/>
          </a:ln>
        </p:spPr>
      </p:pic>
      <p:sp>
        <p:nvSpPr>
          <p:cNvPr id="217" name="Google Shape;217;p10"/>
          <p:cNvSpPr/>
          <p:nvPr/>
        </p:nvSpPr>
        <p:spPr>
          <a:xfrm>
            <a:off x="3921562" y="4833104"/>
            <a:ext cx="112395" cy="365879"/>
          </a:xfrm>
          <a:prstGeom prst="rect">
            <a:avLst/>
          </a:prstGeom>
          <a:noFill/>
          <a:ln>
            <a:noFill/>
          </a:ln>
        </p:spPr>
        <p:txBody>
          <a:bodyPr anchorCtr="0" anchor="t" bIns="0" lIns="0" spcFirstLastPara="1" rIns="0" wrap="square" tIns="0">
            <a:noAutofit/>
          </a:bodyPr>
          <a:lstStyle/>
          <a:p>
            <a:pPr indent="0" lvl="0" marL="0" marR="0" rtl="0" algn="ctr">
              <a:lnSpc>
                <a:spcPct val="158333"/>
              </a:lnSpc>
              <a:spcBef>
                <a:spcPts val="0"/>
              </a:spcBef>
              <a:spcAft>
                <a:spcPts val="0"/>
              </a:spcAft>
              <a:buClr>
                <a:srgbClr val="2C2821"/>
              </a:buClr>
              <a:buSzPts val="1800"/>
              <a:buFont typeface="Alice"/>
              <a:buNone/>
            </a:pPr>
            <a:r>
              <a:rPr b="0" i="0" lang="en-US" sz="1800" u="none" cap="none" strike="noStrike">
                <a:solidFill>
                  <a:srgbClr val="2C2821"/>
                </a:solidFill>
                <a:latin typeface="Alice"/>
                <a:ea typeface="Alice"/>
                <a:cs typeface="Alice"/>
                <a:sym typeface="Alice"/>
              </a:rPr>
              <a:t>2</a:t>
            </a:r>
            <a:endParaRPr b="0" i="0" sz="1800" u="none" cap="none" strike="noStrike"/>
          </a:p>
        </p:txBody>
      </p:sp>
      <p:sp>
        <p:nvSpPr>
          <p:cNvPr id="218" name="Google Shape;218;p10"/>
          <p:cNvSpPr/>
          <p:nvPr/>
        </p:nvSpPr>
        <p:spPr>
          <a:xfrm>
            <a:off x="6363414" y="4671774"/>
            <a:ext cx="2618661" cy="28586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1800"/>
              <a:buFont typeface="Alice"/>
              <a:buNone/>
            </a:pPr>
            <a:r>
              <a:rPr b="0" i="0" lang="en-US" sz="1800" u="none" cap="none" strike="noStrike">
                <a:solidFill>
                  <a:srgbClr val="2C2821"/>
                </a:solidFill>
                <a:latin typeface="Alice"/>
                <a:ea typeface="Alice"/>
                <a:cs typeface="Alice"/>
                <a:sym typeface="Alice"/>
              </a:rPr>
              <a:t>Verificación de usabilidad</a:t>
            </a:r>
            <a:endParaRPr b="0" i="0" sz="1800" u="none" cap="none" strike="noStrike"/>
          </a:p>
        </p:txBody>
      </p:sp>
      <p:sp>
        <p:nvSpPr>
          <p:cNvPr id="219" name="Google Shape;219;p10"/>
          <p:cNvSpPr/>
          <p:nvPr/>
        </p:nvSpPr>
        <p:spPr>
          <a:xfrm>
            <a:off x="6363414" y="5067419"/>
            <a:ext cx="6165294" cy="292775"/>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2C2821"/>
              </a:buClr>
              <a:buSzPts val="1400"/>
              <a:buFont typeface="Lora"/>
              <a:buNone/>
            </a:pPr>
            <a:r>
              <a:rPr b="0" i="0" lang="en-US" sz="1400" u="none" cap="none" strike="noStrike">
                <a:solidFill>
                  <a:srgbClr val="2C2821"/>
                </a:solidFill>
                <a:latin typeface="Lora"/>
                <a:ea typeface="Lora"/>
                <a:cs typeface="Lora"/>
                <a:sym typeface="Lora"/>
              </a:rPr>
              <a:t>Se evalúa la facilidad de uso del sistema por parte de los usuarios finales.</a:t>
            </a:r>
            <a:endParaRPr b="0" i="0" sz="1400" u="none" cap="none" strike="noStrike"/>
          </a:p>
        </p:txBody>
      </p:sp>
      <p:sp>
        <p:nvSpPr>
          <p:cNvPr id="220" name="Google Shape;220;p10"/>
          <p:cNvSpPr/>
          <p:nvPr/>
        </p:nvSpPr>
        <p:spPr>
          <a:xfrm>
            <a:off x="6226135" y="5702975"/>
            <a:ext cx="7717988" cy="11430"/>
          </a:xfrm>
          <a:prstGeom prst="roundRect">
            <a:avLst>
              <a:gd fmla="val 240183"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1" name="Google Shape;221;p10"/>
          <p:cNvPicPr preferRelativeResize="0"/>
          <p:nvPr/>
        </p:nvPicPr>
        <p:blipFill rotWithShape="1">
          <a:blip r:embed="rId5">
            <a:alphaModFix/>
          </a:blip>
          <a:srcRect b="0" l="0" r="0" t="0"/>
          <a:stretch/>
        </p:blipFill>
        <p:spPr>
          <a:xfrm>
            <a:off x="673894" y="5735360"/>
            <a:ext cx="6607850" cy="1347192"/>
          </a:xfrm>
          <a:prstGeom prst="rect">
            <a:avLst/>
          </a:prstGeom>
          <a:noFill/>
          <a:ln>
            <a:noFill/>
          </a:ln>
        </p:spPr>
      </p:pic>
      <p:sp>
        <p:nvSpPr>
          <p:cNvPr id="222" name="Google Shape;222;p10"/>
          <p:cNvSpPr/>
          <p:nvPr/>
        </p:nvSpPr>
        <p:spPr>
          <a:xfrm>
            <a:off x="3922038" y="6226016"/>
            <a:ext cx="111443" cy="365879"/>
          </a:xfrm>
          <a:prstGeom prst="rect">
            <a:avLst/>
          </a:prstGeom>
          <a:noFill/>
          <a:ln>
            <a:noFill/>
          </a:ln>
        </p:spPr>
        <p:txBody>
          <a:bodyPr anchorCtr="0" anchor="t" bIns="0" lIns="0" spcFirstLastPara="1" rIns="0" wrap="square" tIns="0">
            <a:noAutofit/>
          </a:bodyPr>
          <a:lstStyle/>
          <a:p>
            <a:pPr indent="0" lvl="0" marL="0" marR="0" rtl="0" algn="ctr">
              <a:lnSpc>
                <a:spcPct val="158333"/>
              </a:lnSpc>
              <a:spcBef>
                <a:spcPts val="0"/>
              </a:spcBef>
              <a:spcAft>
                <a:spcPts val="0"/>
              </a:spcAft>
              <a:buClr>
                <a:srgbClr val="2C2821"/>
              </a:buClr>
              <a:buSzPts val="1800"/>
              <a:buFont typeface="Alice"/>
              <a:buNone/>
            </a:pPr>
            <a:r>
              <a:rPr b="0" i="0" lang="en-US" sz="1800" u="none" cap="none" strike="noStrike">
                <a:solidFill>
                  <a:srgbClr val="2C2821"/>
                </a:solidFill>
                <a:latin typeface="Alice"/>
                <a:ea typeface="Alice"/>
                <a:cs typeface="Alice"/>
                <a:sym typeface="Alice"/>
              </a:rPr>
              <a:t>3</a:t>
            </a:r>
            <a:endParaRPr b="0" i="0" sz="1800" u="none" cap="none" strike="noStrike"/>
          </a:p>
        </p:txBody>
      </p:sp>
      <p:sp>
        <p:nvSpPr>
          <p:cNvPr id="223" name="Google Shape;223;p10"/>
          <p:cNvSpPr/>
          <p:nvPr/>
        </p:nvSpPr>
        <p:spPr>
          <a:xfrm>
            <a:off x="7464743" y="5918359"/>
            <a:ext cx="2508409" cy="28586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1800"/>
              <a:buFont typeface="Alice"/>
              <a:buNone/>
            </a:pPr>
            <a:r>
              <a:rPr b="0" i="0" lang="en-US" sz="1800" u="none" cap="none" strike="noStrike">
                <a:solidFill>
                  <a:srgbClr val="2C2821"/>
                </a:solidFill>
                <a:latin typeface="Alice"/>
                <a:ea typeface="Alice"/>
                <a:cs typeface="Alice"/>
                <a:sym typeface="Alice"/>
              </a:rPr>
              <a:t>Identificación de errores</a:t>
            </a:r>
            <a:endParaRPr b="0" i="0" sz="1800" u="none" cap="none" strike="noStrike"/>
          </a:p>
        </p:txBody>
      </p:sp>
      <p:sp>
        <p:nvSpPr>
          <p:cNvPr id="224" name="Google Shape;224;p10"/>
          <p:cNvSpPr/>
          <p:nvPr/>
        </p:nvSpPr>
        <p:spPr>
          <a:xfrm>
            <a:off x="7464743" y="6314003"/>
            <a:ext cx="6342102" cy="585549"/>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2C2821"/>
              </a:buClr>
              <a:buSzPts val="1400"/>
              <a:buFont typeface="Lora"/>
              <a:buNone/>
            </a:pPr>
            <a:r>
              <a:rPr b="0" i="0" lang="en-US" sz="1400" u="none" cap="none" strike="noStrike">
                <a:solidFill>
                  <a:srgbClr val="2C2821"/>
                </a:solidFill>
                <a:latin typeface="Lora"/>
                <a:ea typeface="Lora"/>
                <a:cs typeface="Lora"/>
                <a:sym typeface="Lora"/>
              </a:rPr>
              <a:t>Se detectan y reportan defectos que puedan impedir la aceptación del software.</a:t>
            </a:r>
            <a:endParaRPr b="0" i="0" sz="1400" u="none" cap="none" strike="noStrike"/>
          </a:p>
        </p:txBody>
      </p:sp>
      <p:sp>
        <p:nvSpPr>
          <p:cNvPr id="225" name="Google Shape;225;p10"/>
          <p:cNvSpPr/>
          <p:nvPr/>
        </p:nvSpPr>
        <p:spPr>
          <a:xfrm>
            <a:off x="640556" y="7288411"/>
            <a:ext cx="13349287" cy="292775"/>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2C2821"/>
              </a:buClr>
              <a:buSzPts val="1400"/>
              <a:buFont typeface="Lora"/>
              <a:buNone/>
            </a:pPr>
            <a:r>
              <a:rPr b="0" i="0" lang="en-US" sz="1400" u="none" cap="none" strike="noStrike">
                <a:solidFill>
                  <a:srgbClr val="2C2821"/>
                </a:solidFill>
                <a:latin typeface="Lora"/>
                <a:ea typeface="Lora"/>
                <a:cs typeface="Lora"/>
                <a:sym typeface="Lora"/>
              </a:rPr>
              <a:t>Al finalizar satisfactoriamente las pruebas de aceptación, el cliente aprueba formalmente el software y se procede a su entrega y puesta en producción.</a:t>
            </a:r>
            <a:endParaRPr b="0" i="0" sz="14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preencoded.png" id="231" name="Google Shape;231;p11"/>
          <p:cNvPicPr preferRelativeResize="0"/>
          <p:nvPr/>
        </p:nvPicPr>
        <p:blipFill rotWithShape="1">
          <a:blip r:embed="rId3">
            <a:alphaModFix/>
          </a:blip>
          <a:srcRect b="0" l="0" r="0" t="0"/>
          <a:stretch/>
        </p:blipFill>
        <p:spPr>
          <a:xfrm>
            <a:off x="0" y="0"/>
            <a:ext cx="14630400" cy="2835235"/>
          </a:xfrm>
          <a:prstGeom prst="rect">
            <a:avLst/>
          </a:prstGeom>
          <a:noFill/>
          <a:ln>
            <a:noFill/>
          </a:ln>
        </p:spPr>
      </p:pic>
      <p:pic>
        <p:nvPicPr>
          <p:cNvPr descr="preencoded.png" id="232" name="Google Shape;232;p11"/>
          <p:cNvPicPr preferRelativeResize="0"/>
          <p:nvPr/>
        </p:nvPicPr>
        <p:blipFill rotWithShape="1">
          <a:blip r:embed="rId4">
            <a:alphaModFix/>
          </a:blip>
          <a:srcRect b="0" l="0" r="0" t="0"/>
          <a:stretch/>
        </p:blipFill>
        <p:spPr>
          <a:xfrm>
            <a:off x="5592485" y="283488"/>
            <a:ext cx="3445431" cy="2268260"/>
          </a:xfrm>
          <a:prstGeom prst="rect">
            <a:avLst/>
          </a:prstGeom>
          <a:noFill/>
          <a:ln>
            <a:noFill/>
          </a:ln>
        </p:spPr>
      </p:pic>
      <p:sp>
        <p:nvSpPr>
          <p:cNvPr id="233" name="Google Shape;233;p11"/>
          <p:cNvSpPr/>
          <p:nvPr/>
        </p:nvSpPr>
        <p:spPr>
          <a:xfrm>
            <a:off x="793790" y="3639979"/>
            <a:ext cx="9290447"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¿Qué son las pruebas de integración?</a:t>
            </a:r>
            <a:endParaRPr b="0" i="0" sz="4450" u="none" cap="none" strike="noStrike"/>
          </a:p>
        </p:txBody>
      </p:sp>
      <p:pic>
        <p:nvPicPr>
          <p:cNvPr descr="preencoded.png" id="234" name="Google Shape;234;p11"/>
          <p:cNvPicPr preferRelativeResize="0"/>
          <p:nvPr/>
        </p:nvPicPr>
        <p:blipFill rotWithShape="1">
          <a:blip r:embed="rId5">
            <a:alphaModFix/>
          </a:blip>
          <a:srcRect b="0" l="0" r="0" t="0"/>
          <a:stretch/>
        </p:blipFill>
        <p:spPr>
          <a:xfrm>
            <a:off x="793790" y="4688919"/>
            <a:ext cx="566976" cy="566976"/>
          </a:xfrm>
          <a:prstGeom prst="rect">
            <a:avLst/>
          </a:prstGeom>
          <a:noFill/>
          <a:ln>
            <a:noFill/>
          </a:ln>
        </p:spPr>
      </p:pic>
      <p:sp>
        <p:nvSpPr>
          <p:cNvPr id="235" name="Google Shape;235;p11"/>
          <p:cNvSpPr/>
          <p:nvPr/>
        </p:nvSpPr>
        <p:spPr>
          <a:xfrm>
            <a:off x="793790" y="5482709"/>
            <a:ext cx="337018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Verificación de interacción</a:t>
            </a:r>
            <a:endParaRPr b="0" i="0" sz="2200" u="none" cap="none" strike="noStrike"/>
          </a:p>
        </p:txBody>
      </p:sp>
      <p:sp>
        <p:nvSpPr>
          <p:cNvPr id="236" name="Google Shape;236;p11"/>
          <p:cNvSpPr/>
          <p:nvPr/>
        </p:nvSpPr>
        <p:spPr>
          <a:xfrm>
            <a:off x="793790" y="5973128"/>
            <a:ext cx="4120753"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Las pruebas de integración se enfocan en comprobar que los diferentes módulos o componentes de un sistema funcionen correctamente en conjunto.</a:t>
            </a:r>
            <a:endParaRPr b="0" i="0" sz="1750" u="none" cap="none" strike="noStrike"/>
          </a:p>
        </p:txBody>
      </p:sp>
      <p:pic>
        <p:nvPicPr>
          <p:cNvPr descr="preencoded.png" id="237" name="Google Shape;237;p11"/>
          <p:cNvPicPr preferRelativeResize="0"/>
          <p:nvPr/>
        </p:nvPicPr>
        <p:blipFill rotWithShape="1">
          <a:blip r:embed="rId6">
            <a:alphaModFix/>
          </a:blip>
          <a:srcRect b="0" l="0" r="0" t="0"/>
          <a:stretch/>
        </p:blipFill>
        <p:spPr>
          <a:xfrm>
            <a:off x="5254704" y="4688919"/>
            <a:ext cx="566976" cy="566976"/>
          </a:xfrm>
          <a:prstGeom prst="rect">
            <a:avLst/>
          </a:prstGeom>
          <a:noFill/>
          <a:ln>
            <a:noFill/>
          </a:ln>
        </p:spPr>
      </p:pic>
      <p:sp>
        <p:nvSpPr>
          <p:cNvPr id="238" name="Google Shape;238;p11"/>
          <p:cNvSpPr/>
          <p:nvPr/>
        </p:nvSpPr>
        <p:spPr>
          <a:xfrm>
            <a:off x="5254704" y="5482709"/>
            <a:ext cx="347222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Colaboración entre equipos</a:t>
            </a:r>
            <a:endParaRPr b="0" i="0" sz="2200" u="none" cap="none" strike="noStrike"/>
          </a:p>
        </p:txBody>
      </p:sp>
      <p:sp>
        <p:nvSpPr>
          <p:cNvPr id="239" name="Google Shape;239;p11"/>
          <p:cNvSpPr/>
          <p:nvPr/>
        </p:nvSpPr>
        <p:spPr>
          <a:xfrm>
            <a:off x="5254704" y="5973128"/>
            <a:ext cx="4120872"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Estas pruebas requieren coordinación entre los equipos que desarrollan los distintos módulos para asegurar una integración exitosa.</a:t>
            </a:r>
            <a:endParaRPr b="0" i="0" sz="1750" u="none" cap="none" strike="noStrike"/>
          </a:p>
        </p:txBody>
      </p:sp>
      <p:pic>
        <p:nvPicPr>
          <p:cNvPr descr="preencoded.png" id="240" name="Google Shape;240;p11"/>
          <p:cNvPicPr preferRelativeResize="0"/>
          <p:nvPr/>
        </p:nvPicPr>
        <p:blipFill rotWithShape="1">
          <a:blip r:embed="rId7">
            <a:alphaModFix/>
          </a:blip>
          <a:srcRect b="0" l="0" r="0" t="0"/>
          <a:stretch/>
        </p:blipFill>
        <p:spPr>
          <a:xfrm>
            <a:off x="9715738" y="4688919"/>
            <a:ext cx="566976" cy="566976"/>
          </a:xfrm>
          <a:prstGeom prst="rect">
            <a:avLst/>
          </a:prstGeom>
          <a:noFill/>
          <a:ln>
            <a:noFill/>
          </a:ln>
        </p:spPr>
      </p:pic>
      <p:sp>
        <p:nvSpPr>
          <p:cNvPr id="241" name="Google Shape;241;p11"/>
          <p:cNvSpPr/>
          <p:nvPr/>
        </p:nvSpPr>
        <p:spPr>
          <a:xfrm>
            <a:off x="9715738" y="548270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Enfoque incremental</a:t>
            </a:r>
            <a:endParaRPr b="0" i="0" sz="2200" u="none" cap="none" strike="noStrike"/>
          </a:p>
        </p:txBody>
      </p:sp>
      <p:sp>
        <p:nvSpPr>
          <p:cNvPr id="242" name="Google Shape;242;p11"/>
          <p:cNvSpPr/>
          <p:nvPr/>
        </p:nvSpPr>
        <p:spPr>
          <a:xfrm>
            <a:off x="9715738" y="5973128"/>
            <a:ext cx="4120753"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Permiten verificar el software de manera gradual, integrando los componentes de forma progresiva.</a:t>
            </a:r>
            <a:endParaRPr b="0" i="0" sz="17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descr="preencoded.png" id="248" name="Google Shape;248;p12"/>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249" name="Google Shape;249;p12"/>
          <p:cNvPicPr preferRelativeResize="0"/>
          <p:nvPr/>
        </p:nvPicPr>
        <p:blipFill rotWithShape="1">
          <a:blip r:embed="rId4">
            <a:alphaModFix/>
          </a:blip>
          <a:srcRect b="0" l="0" r="0" t="0"/>
          <a:stretch/>
        </p:blipFill>
        <p:spPr>
          <a:xfrm>
            <a:off x="269677" y="2888337"/>
            <a:ext cx="4947047" cy="2452926"/>
          </a:xfrm>
          <a:prstGeom prst="rect">
            <a:avLst/>
          </a:prstGeom>
          <a:noFill/>
          <a:ln>
            <a:noFill/>
          </a:ln>
        </p:spPr>
      </p:pic>
      <p:sp>
        <p:nvSpPr>
          <p:cNvPr id="250" name="Google Shape;250;p12"/>
          <p:cNvSpPr/>
          <p:nvPr/>
        </p:nvSpPr>
        <p:spPr>
          <a:xfrm>
            <a:off x="6241137" y="763667"/>
            <a:ext cx="7634526" cy="2021681"/>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33E32"/>
              </a:buClr>
              <a:buSzPts val="4200"/>
              <a:buFont typeface="Alice"/>
              <a:buNone/>
            </a:pPr>
            <a:r>
              <a:rPr b="0" i="0" lang="en-US" sz="4200" u="none" cap="none" strike="noStrike">
                <a:solidFill>
                  <a:srgbClr val="233E32"/>
                </a:solidFill>
                <a:latin typeface="Alice"/>
                <a:ea typeface="Alice"/>
                <a:cs typeface="Alice"/>
                <a:sym typeface="Alice"/>
              </a:rPr>
              <a:t>Importancia de las pruebas de integración en la interacción entre módulos</a:t>
            </a:r>
            <a:endParaRPr b="0" i="0" sz="4200" u="none" cap="none" strike="noStrike"/>
          </a:p>
        </p:txBody>
      </p:sp>
      <p:sp>
        <p:nvSpPr>
          <p:cNvPr id="251" name="Google Shape;251;p12"/>
          <p:cNvSpPr/>
          <p:nvPr/>
        </p:nvSpPr>
        <p:spPr>
          <a:xfrm>
            <a:off x="6241137" y="3108722"/>
            <a:ext cx="7634526" cy="4357092"/>
          </a:xfrm>
          <a:prstGeom prst="roundRect">
            <a:avLst>
              <a:gd fmla="val 742"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6248757" y="3116342"/>
            <a:ext cx="7619286" cy="1998464"/>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6464379" y="3253264"/>
            <a:ext cx="3374588" cy="1379696"/>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C2821"/>
              </a:buClr>
              <a:buSzPts val="1650"/>
              <a:buFont typeface="Lora"/>
              <a:buNone/>
            </a:pPr>
            <a:r>
              <a:rPr b="0" i="0" lang="en-US" sz="1650" u="none" cap="none" strike="noStrike">
                <a:solidFill>
                  <a:srgbClr val="2C2821"/>
                </a:solidFill>
                <a:latin typeface="Lora"/>
                <a:ea typeface="Lora"/>
                <a:cs typeface="Lora"/>
                <a:sym typeface="Lora"/>
              </a:rPr>
              <a:t>Las pruebas de integración evalúan cómo los diferentes componentes de un sistema de software interactúan entre sí.</a:t>
            </a:r>
            <a:endParaRPr b="0" i="0" sz="1650" u="none" cap="none" strike="noStrike"/>
          </a:p>
        </p:txBody>
      </p:sp>
      <p:sp>
        <p:nvSpPr>
          <p:cNvPr id="254" name="Google Shape;254;p12"/>
          <p:cNvSpPr/>
          <p:nvPr/>
        </p:nvSpPr>
        <p:spPr>
          <a:xfrm>
            <a:off x="10277832" y="3253264"/>
            <a:ext cx="3374588" cy="172462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C2821"/>
              </a:buClr>
              <a:buSzPts val="1650"/>
              <a:buFont typeface="Lora"/>
              <a:buNone/>
            </a:pPr>
            <a:r>
              <a:rPr b="0" i="0" lang="en-US" sz="1650" u="none" cap="none" strike="noStrike">
                <a:solidFill>
                  <a:srgbClr val="2C2821"/>
                </a:solidFill>
                <a:latin typeface="Lora"/>
                <a:ea typeface="Lora"/>
                <a:cs typeface="Lora"/>
                <a:sym typeface="Lora"/>
              </a:rPr>
              <a:t>Permiten detectar errores en la comunicación y el intercambio de datos entre módulos, lo cual es crítico para el correcto funcionamiento del sistema.</a:t>
            </a:r>
            <a:endParaRPr b="0" i="0" sz="1650" u="none" cap="none" strike="noStrike"/>
          </a:p>
        </p:txBody>
      </p:sp>
      <p:sp>
        <p:nvSpPr>
          <p:cNvPr id="255" name="Google Shape;255;p12"/>
          <p:cNvSpPr/>
          <p:nvPr/>
        </p:nvSpPr>
        <p:spPr>
          <a:xfrm>
            <a:off x="6248757" y="5114806"/>
            <a:ext cx="7619286" cy="2343388"/>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2"/>
          <p:cNvSpPr/>
          <p:nvPr/>
        </p:nvSpPr>
        <p:spPr>
          <a:xfrm>
            <a:off x="6464379" y="5251728"/>
            <a:ext cx="3374588" cy="1379696"/>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C2821"/>
              </a:buClr>
              <a:buSzPts val="1650"/>
              <a:buFont typeface="Lora"/>
              <a:buNone/>
            </a:pPr>
            <a:r>
              <a:rPr b="0" i="0" lang="en-US" sz="1650" u="none" cap="none" strike="noStrike">
                <a:solidFill>
                  <a:srgbClr val="2C2821"/>
                </a:solidFill>
                <a:latin typeface="Lora"/>
                <a:ea typeface="Lora"/>
                <a:cs typeface="Lora"/>
                <a:sym typeface="Lora"/>
              </a:rPr>
              <a:t>Estas pruebas verifican que los módulos individuales, una vez integrados, operan de manera coherente y sin conflictos.</a:t>
            </a:r>
            <a:endParaRPr b="0" i="0" sz="1650" u="none" cap="none" strike="noStrike"/>
          </a:p>
        </p:txBody>
      </p:sp>
      <p:sp>
        <p:nvSpPr>
          <p:cNvPr id="257" name="Google Shape;257;p12"/>
          <p:cNvSpPr/>
          <p:nvPr/>
        </p:nvSpPr>
        <p:spPr>
          <a:xfrm>
            <a:off x="10277832" y="5251728"/>
            <a:ext cx="3374588" cy="2069544"/>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2C2821"/>
              </a:buClr>
              <a:buSzPts val="1650"/>
              <a:buFont typeface="Lora"/>
              <a:buNone/>
            </a:pPr>
            <a:r>
              <a:rPr b="0" i="0" lang="en-US" sz="1650" u="none" cap="none" strike="noStrike">
                <a:solidFill>
                  <a:srgbClr val="2C2821"/>
                </a:solidFill>
                <a:latin typeface="Lora"/>
                <a:ea typeface="Lora"/>
                <a:cs typeface="Lora"/>
                <a:sym typeface="Lora"/>
              </a:rPr>
              <a:t>Esto es fundamental para garantizar la estabilidad y confiabilidad del software, evitando problemas de rendimiento o fallas catastróficas.</a:t>
            </a:r>
            <a:endParaRPr b="0" i="0" sz="16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3"/>
          <p:cNvSpPr/>
          <p:nvPr/>
        </p:nvSpPr>
        <p:spPr>
          <a:xfrm>
            <a:off x="793790" y="2177058"/>
            <a:ext cx="879609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¿Qué son las pruebas de regresión?</a:t>
            </a:r>
            <a:endParaRPr b="0" i="0" sz="4450" u="none" cap="none" strike="noStrike"/>
          </a:p>
        </p:txBody>
      </p:sp>
      <p:sp>
        <p:nvSpPr>
          <p:cNvPr id="264" name="Google Shape;264;p13"/>
          <p:cNvSpPr/>
          <p:nvPr/>
        </p:nvSpPr>
        <p:spPr>
          <a:xfrm>
            <a:off x="793790" y="345281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Definición</a:t>
            </a:r>
            <a:endParaRPr b="0" i="0" sz="2200" u="none" cap="none" strike="noStrike"/>
          </a:p>
        </p:txBody>
      </p:sp>
      <p:sp>
        <p:nvSpPr>
          <p:cNvPr id="265" name="Google Shape;265;p13"/>
          <p:cNvSpPr/>
          <p:nvPr/>
        </p:nvSpPr>
        <p:spPr>
          <a:xfrm>
            <a:off x="793790" y="4033957"/>
            <a:ext cx="6244709"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Las pruebas de regresión son un tipo de prueba de software que se realiza para verificar que los cambios o las nuevas funcionalidades introducidas en un sistema no hayan afectado el comportamiento correcto de las funcionalidades ya existentes.</a:t>
            </a:r>
            <a:endParaRPr b="0" i="0" sz="1750" u="none" cap="none" strike="noStrike"/>
          </a:p>
        </p:txBody>
      </p:sp>
      <p:sp>
        <p:nvSpPr>
          <p:cNvPr id="266" name="Google Shape;266;p13"/>
          <p:cNvSpPr/>
          <p:nvPr/>
        </p:nvSpPr>
        <p:spPr>
          <a:xfrm>
            <a:off x="7599521" y="345281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Objetivo</a:t>
            </a:r>
            <a:endParaRPr b="0" i="0" sz="2200" u="none" cap="none" strike="noStrike"/>
          </a:p>
        </p:txBody>
      </p:sp>
      <p:sp>
        <p:nvSpPr>
          <p:cNvPr id="267" name="Google Shape;267;p13"/>
          <p:cNvSpPr/>
          <p:nvPr/>
        </p:nvSpPr>
        <p:spPr>
          <a:xfrm>
            <a:off x="7599521" y="4033957"/>
            <a:ext cx="6244709"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El propósito de las pruebas de regresión es asegurar que el software sigue funcionando correctamente después de realizar modificaciones o adiciones al sistema.</a:t>
            </a:r>
            <a:endParaRPr b="0" i="0" sz="175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descr="preencoded.png" id="273" name="Google Shape;273;p14"/>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274" name="Google Shape;274;p14"/>
          <p:cNvPicPr preferRelativeResize="0"/>
          <p:nvPr/>
        </p:nvPicPr>
        <p:blipFill rotWithShape="1">
          <a:blip r:embed="rId4">
            <a:alphaModFix/>
          </a:blip>
          <a:srcRect b="0" l="0" r="0" t="0"/>
          <a:stretch/>
        </p:blipFill>
        <p:spPr>
          <a:xfrm>
            <a:off x="258842" y="1870353"/>
            <a:ext cx="4968597" cy="4488894"/>
          </a:xfrm>
          <a:prstGeom prst="rect">
            <a:avLst/>
          </a:prstGeom>
          <a:noFill/>
          <a:ln>
            <a:noFill/>
          </a:ln>
        </p:spPr>
      </p:pic>
      <p:sp>
        <p:nvSpPr>
          <p:cNvPr id="275" name="Google Shape;275;p14"/>
          <p:cNvSpPr/>
          <p:nvPr/>
        </p:nvSpPr>
        <p:spPr>
          <a:xfrm>
            <a:off x="6211253" y="860227"/>
            <a:ext cx="7694295" cy="1294448"/>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233E32"/>
              </a:buClr>
              <a:buSzPts val="4050"/>
              <a:buFont typeface="Alice"/>
              <a:buNone/>
            </a:pPr>
            <a:r>
              <a:rPr b="0" i="0" lang="en-US" sz="4050" u="none" cap="none" strike="noStrike">
                <a:solidFill>
                  <a:srgbClr val="233E32"/>
                </a:solidFill>
                <a:latin typeface="Alice"/>
                <a:ea typeface="Alice"/>
                <a:cs typeface="Alice"/>
                <a:sym typeface="Alice"/>
              </a:rPr>
              <a:t>¿Qué son las pruebas de regresión?</a:t>
            </a:r>
            <a:endParaRPr b="0" i="0" sz="4050" u="none" cap="none" strike="noStrike"/>
          </a:p>
        </p:txBody>
      </p:sp>
      <p:sp>
        <p:nvSpPr>
          <p:cNvPr id="276" name="Google Shape;276;p14"/>
          <p:cNvSpPr/>
          <p:nvPr/>
        </p:nvSpPr>
        <p:spPr>
          <a:xfrm>
            <a:off x="6211253" y="2465308"/>
            <a:ext cx="3743682" cy="3172658"/>
          </a:xfrm>
          <a:prstGeom prst="roundRect">
            <a:avLst>
              <a:gd fmla="val 979"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4"/>
          <p:cNvSpPr/>
          <p:nvPr/>
        </p:nvSpPr>
        <p:spPr>
          <a:xfrm>
            <a:off x="6418302" y="2672358"/>
            <a:ext cx="3329583" cy="64698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000"/>
              <a:buFont typeface="Alice"/>
              <a:buNone/>
            </a:pPr>
            <a:r>
              <a:rPr b="0" i="0" lang="en-US" sz="2000" u="none" cap="none" strike="noStrike">
                <a:solidFill>
                  <a:srgbClr val="2C2821"/>
                </a:solidFill>
                <a:latin typeface="Alice"/>
                <a:ea typeface="Alice"/>
                <a:cs typeface="Alice"/>
                <a:sym typeface="Alice"/>
              </a:rPr>
              <a:t>Verificación de funcionalidad</a:t>
            </a:r>
            <a:endParaRPr b="0" i="0" sz="2000" u="none" cap="none" strike="noStrike"/>
          </a:p>
        </p:txBody>
      </p:sp>
      <p:sp>
        <p:nvSpPr>
          <p:cNvPr id="278" name="Google Shape;278;p14"/>
          <p:cNvSpPr/>
          <p:nvPr/>
        </p:nvSpPr>
        <p:spPr>
          <a:xfrm>
            <a:off x="6418302" y="3443526"/>
            <a:ext cx="3329583" cy="1987391"/>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Las pruebas de regresión buscan asegurar que los cambios o nuevas funcionalidades implementadas no hayan afectado negativamente el funcionamiento correcto de la aplicación.</a:t>
            </a:r>
            <a:endParaRPr b="0" i="0" sz="1600" u="none" cap="none" strike="noStrike"/>
          </a:p>
        </p:txBody>
      </p:sp>
      <p:sp>
        <p:nvSpPr>
          <p:cNvPr id="279" name="Google Shape;279;p14"/>
          <p:cNvSpPr/>
          <p:nvPr/>
        </p:nvSpPr>
        <p:spPr>
          <a:xfrm>
            <a:off x="10161984" y="2465308"/>
            <a:ext cx="3743682" cy="3172658"/>
          </a:xfrm>
          <a:prstGeom prst="roundRect">
            <a:avLst>
              <a:gd fmla="val 979"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p:nvPr/>
        </p:nvSpPr>
        <p:spPr>
          <a:xfrm>
            <a:off x="10369034" y="2672358"/>
            <a:ext cx="2899648" cy="32349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000"/>
              <a:buFont typeface="Alice"/>
              <a:buNone/>
            </a:pPr>
            <a:r>
              <a:rPr b="0" i="0" lang="en-US" sz="2000" u="none" cap="none" strike="noStrike">
                <a:solidFill>
                  <a:srgbClr val="2C2821"/>
                </a:solidFill>
                <a:latin typeface="Alice"/>
                <a:ea typeface="Alice"/>
                <a:cs typeface="Alice"/>
                <a:sym typeface="Alice"/>
              </a:rPr>
              <a:t>Detección de regresiones</a:t>
            </a:r>
            <a:endParaRPr b="0" i="0" sz="2000" u="none" cap="none" strike="noStrike"/>
          </a:p>
        </p:txBody>
      </p:sp>
      <p:sp>
        <p:nvSpPr>
          <p:cNvPr id="281" name="Google Shape;281;p14"/>
          <p:cNvSpPr/>
          <p:nvPr/>
        </p:nvSpPr>
        <p:spPr>
          <a:xfrm>
            <a:off x="10369034" y="3120033"/>
            <a:ext cx="3329583" cy="165615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El objetivo es identificar posibles regresiones o errores introducidos involuntariamente en el sistema durante el desarrollo o mantenimiento.</a:t>
            </a:r>
            <a:endParaRPr b="0" i="0" sz="1600" u="none" cap="none" strike="noStrike"/>
          </a:p>
        </p:txBody>
      </p:sp>
      <p:sp>
        <p:nvSpPr>
          <p:cNvPr id="282" name="Google Shape;282;p14"/>
          <p:cNvSpPr/>
          <p:nvPr/>
        </p:nvSpPr>
        <p:spPr>
          <a:xfrm>
            <a:off x="6211253" y="5845016"/>
            <a:ext cx="7694295" cy="1524238"/>
          </a:xfrm>
          <a:prstGeom prst="roundRect">
            <a:avLst>
              <a:gd fmla="val 2038"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4"/>
          <p:cNvSpPr/>
          <p:nvPr/>
        </p:nvSpPr>
        <p:spPr>
          <a:xfrm>
            <a:off x="6418302" y="6052066"/>
            <a:ext cx="2588776" cy="32349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000"/>
              <a:buFont typeface="Alice"/>
              <a:buNone/>
            </a:pPr>
            <a:r>
              <a:rPr b="0" i="0" lang="en-US" sz="2000" u="none" cap="none" strike="noStrike">
                <a:solidFill>
                  <a:srgbClr val="2C2821"/>
                </a:solidFill>
                <a:latin typeface="Alice"/>
                <a:ea typeface="Alice"/>
                <a:cs typeface="Alice"/>
                <a:sym typeface="Alice"/>
              </a:rPr>
              <a:t>Garantía de calidad</a:t>
            </a:r>
            <a:endParaRPr b="0" i="0" sz="2000" u="none" cap="none" strike="noStrike"/>
          </a:p>
        </p:txBody>
      </p:sp>
      <p:sp>
        <p:nvSpPr>
          <p:cNvPr id="284" name="Google Shape;284;p14"/>
          <p:cNvSpPr/>
          <p:nvPr/>
        </p:nvSpPr>
        <p:spPr>
          <a:xfrm>
            <a:off x="6418302" y="6499741"/>
            <a:ext cx="7280196" cy="66246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C2821"/>
              </a:buClr>
              <a:buSzPts val="1600"/>
              <a:buFont typeface="Lora"/>
              <a:buNone/>
            </a:pPr>
            <a:r>
              <a:rPr b="0" i="0" lang="en-US" sz="1600" u="none" cap="none" strike="noStrike">
                <a:solidFill>
                  <a:srgbClr val="2C2821"/>
                </a:solidFill>
                <a:latin typeface="Lora"/>
                <a:ea typeface="Lora"/>
                <a:cs typeface="Lora"/>
                <a:sym typeface="Lora"/>
              </a:rPr>
              <a:t>Estas pruebas forman parte fundamental del aseguramiento de la calidad del software, al validar que el sistema siga cumpliendo con los requisitos.</a:t>
            </a:r>
            <a:endParaRPr b="0" i="0" sz="160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descr="preencoded.png" id="290" name="Google Shape;290;p1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291" name="Google Shape;291;p15"/>
          <p:cNvPicPr preferRelativeResize="0"/>
          <p:nvPr/>
        </p:nvPicPr>
        <p:blipFill rotWithShape="1">
          <a:blip r:embed="rId4">
            <a:alphaModFix/>
          </a:blip>
          <a:srcRect b="0" l="0" r="0" t="0"/>
          <a:stretch/>
        </p:blipFill>
        <p:spPr>
          <a:xfrm>
            <a:off x="9384625" y="2598658"/>
            <a:ext cx="5005030" cy="3032284"/>
          </a:xfrm>
          <a:prstGeom prst="rect">
            <a:avLst/>
          </a:prstGeom>
          <a:noFill/>
          <a:ln>
            <a:noFill/>
          </a:ln>
        </p:spPr>
      </p:pic>
      <p:sp>
        <p:nvSpPr>
          <p:cNvPr id="292" name="Google Shape;292;p15"/>
          <p:cNvSpPr/>
          <p:nvPr/>
        </p:nvSpPr>
        <p:spPr>
          <a:xfrm>
            <a:off x="673775" y="588883"/>
            <a:ext cx="7796451" cy="1203008"/>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233E32"/>
              </a:buClr>
              <a:buSzPts val="3750"/>
              <a:buFont typeface="Alice"/>
              <a:buNone/>
            </a:pPr>
            <a:r>
              <a:rPr b="0" i="0" lang="en-US" sz="3750" u="none" cap="none" strike="noStrike">
                <a:solidFill>
                  <a:srgbClr val="233E32"/>
                </a:solidFill>
                <a:latin typeface="Alice"/>
                <a:ea typeface="Alice"/>
                <a:cs typeface="Alice"/>
                <a:sym typeface="Alice"/>
              </a:rPr>
              <a:t>Cuándo se aplican las pruebas de regresión</a:t>
            </a:r>
            <a:endParaRPr b="0" i="0" sz="3750" u="none" cap="none" strike="noStrike"/>
          </a:p>
        </p:txBody>
      </p:sp>
      <p:sp>
        <p:nvSpPr>
          <p:cNvPr id="293" name="Google Shape;293;p15"/>
          <p:cNvSpPr/>
          <p:nvPr/>
        </p:nvSpPr>
        <p:spPr>
          <a:xfrm>
            <a:off x="951071" y="2080617"/>
            <a:ext cx="22860" cy="5560100"/>
          </a:xfrm>
          <a:prstGeom prst="roundRect">
            <a:avLst>
              <a:gd fmla="val 126322"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1156216" y="2502337"/>
            <a:ext cx="673775" cy="22860"/>
          </a:xfrm>
          <a:prstGeom prst="roundRect">
            <a:avLst>
              <a:gd fmla="val 126322"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745927" y="2297192"/>
            <a:ext cx="433149" cy="433149"/>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900708" y="2369344"/>
            <a:ext cx="123587" cy="2887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250"/>
              <a:buFont typeface="Alice"/>
              <a:buNone/>
            </a:pPr>
            <a:r>
              <a:rPr b="0" i="0" lang="en-US" sz="2250" u="none" cap="none" strike="noStrike">
                <a:solidFill>
                  <a:srgbClr val="2C2821"/>
                </a:solidFill>
                <a:latin typeface="Alice"/>
                <a:ea typeface="Alice"/>
                <a:cs typeface="Alice"/>
                <a:sym typeface="Alice"/>
              </a:rPr>
              <a:t>1</a:t>
            </a:r>
            <a:endParaRPr b="0" i="0" sz="2250" u="none" cap="none" strike="noStrike"/>
          </a:p>
        </p:txBody>
      </p:sp>
      <p:sp>
        <p:nvSpPr>
          <p:cNvPr id="297" name="Google Shape;297;p15"/>
          <p:cNvSpPr/>
          <p:nvPr/>
        </p:nvSpPr>
        <p:spPr>
          <a:xfrm>
            <a:off x="2021324" y="2273022"/>
            <a:ext cx="3495913" cy="300752"/>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C2821"/>
              </a:buClr>
              <a:buSzPts val="1850"/>
              <a:buFont typeface="Alice"/>
              <a:buNone/>
            </a:pPr>
            <a:r>
              <a:rPr b="0" i="0" lang="en-US" sz="1850" u="none" cap="none" strike="noStrike">
                <a:solidFill>
                  <a:srgbClr val="2C2821"/>
                </a:solidFill>
                <a:latin typeface="Alice"/>
                <a:ea typeface="Alice"/>
                <a:cs typeface="Alice"/>
                <a:sym typeface="Alice"/>
              </a:rPr>
              <a:t>Después de cambios en el código</a:t>
            </a:r>
            <a:endParaRPr b="0" i="0" sz="1850" u="none" cap="none" strike="noStrike"/>
          </a:p>
        </p:txBody>
      </p:sp>
      <p:sp>
        <p:nvSpPr>
          <p:cNvPr id="298" name="Google Shape;298;p15"/>
          <p:cNvSpPr/>
          <p:nvPr/>
        </p:nvSpPr>
        <p:spPr>
          <a:xfrm>
            <a:off x="2021324" y="2689265"/>
            <a:ext cx="6448901" cy="92404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Las pruebas de regresión se realizan después de haber realizado modificaciones en el código fuente de la aplicación, para asegurar que los cambios no hayan introducido problemas nuevos.</a:t>
            </a:r>
            <a:endParaRPr b="0" i="0" sz="1500" u="none" cap="none" strike="noStrike"/>
          </a:p>
        </p:txBody>
      </p:sp>
      <p:sp>
        <p:nvSpPr>
          <p:cNvPr id="299" name="Google Shape;299;p15"/>
          <p:cNvSpPr/>
          <p:nvPr/>
        </p:nvSpPr>
        <p:spPr>
          <a:xfrm>
            <a:off x="1156216" y="4419838"/>
            <a:ext cx="673775" cy="22860"/>
          </a:xfrm>
          <a:prstGeom prst="roundRect">
            <a:avLst>
              <a:gd fmla="val 126322"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745927" y="4214693"/>
            <a:ext cx="433149" cy="433149"/>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a:off x="891540" y="4286845"/>
            <a:ext cx="141803" cy="2887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250"/>
              <a:buFont typeface="Alice"/>
              <a:buNone/>
            </a:pPr>
            <a:r>
              <a:rPr b="0" i="0" lang="en-US" sz="2250" u="none" cap="none" strike="noStrike">
                <a:solidFill>
                  <a:srgbClr val="2C2821"/>
                </a:solidFill>
                <a:latin typeface="Alice"/>
                <a:ea typeface="Alice"/>
                <a:cs typeface="Alice"/>
                <a:sym typeface="Alice"/>
              </a:rPr>
              <a:t>2</a:t>
            </a:r>
            <a:endParaRPr b="0" i="0" sz="2250" u="none" cap="none" strike="noStrike"/>
          </a:p>
        </p:txBody>
      </p:sp>
      <p:sp>
        <p:nvSpPr>
          <p:cNvPr id="302" name="Google Shape;302;p15"/>
          <p:cNvSpPr/>
          <p:nvPr/>
        </p:nvSpPr>
        <p:spPr>
          <a:xfrm>
            <a:off x="2021324" y="4190524"/>
            <a:ext cx="4325303" cy="300752"/>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C2821"/>
              </a:buClr>
              <a:buSzPts val="1850"/>
              <a:buFont typeface="Alice"/>
              <a:buNone/>
            </a:pPr>
            <a:r>
              <a:rPr b="0" i="0" lang="en-US" sz="1850" u="none" cap="none" strike="noStrike">
                <a:solidFill>
                  <a:srgbClr val="2C2821"/>
                </a:solidFill>
                <a:latin typeface="Alice"/>
                <a:ea typeface="Alice"/>
                <a:cs typeface="Alice"/>
                <a:sym typeface="Alice"/>
              </a:rPr>
              <a:t>Antes de lanzamientos o actualizaciones</a:t>
            </a:r>
            <a:endParaRPr b="0" i="0" sz="1850" u="none" cap="none" strike="noStrike"/>
          </a:p>
        </p:txBody>
      </p:sp>
      <p:sp>
        <p:nvSpPr>
          <p:cNvPr id="303" name="Google Shape;303;p15"/>
          <p:cNvSpPr/>
          <p:nvPr/>
        </p:nvSpPr>
        <p:spPr>
          <a:xfrm>
            <a:off x="2021324" y="4606766"/>
            <a:ext cx="6448901" cy="92404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Antes de cada lanzamiento o actualización de la aplicación, es crucial llevar a cabo pruebas de regresión exhaustivas para detectar y corregir cualquier problema que pueda afectar la funcionalidad existente.</a:t>
            </a:r>
            <a:endParaRPr b="0" i="0" sz="1500" u="none" cap="none" strike="noStrike"/>
          </a:p>
        </p:txBody>
      </p:sp>
      <p:sp>
        <p:nvSpPr>
          <p:cNvPr id="304" name="Google Shape;304;p15"/>
          <p:cNvSpPr/>
          <p:nvPr/>
        </p:nvSpPr>
        <p:spPr>
          <a:xfrm>
            <a:off x="1156216" y="6337340"/>
            <a:ext cx="673775" cy="22860"/>
          </a:xfrm>
          <a:prstGeom prst="roundRect">
            <a:avLst>
              <a:gd fmla="val 126322" name="adj"/>
            </a:avLst>
          </a:prstGeom>
          <a:solidFill>
            <a:srgbClr val="D6D3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745927" y="6132195"/>
            <a:ext cx="433149" cy="433149"/>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892135" y="6204347"/>
            <a:ext cx="140613" cy="28872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250"/>
              <a:buFont typeface="Alice"/>
              <a:buNone/>
            </a:pPr>
            <a:r>
              <a:rPr b="0" i="0" lang="en-US" sz="2250" u="none" cap="none" strike="noStrike">
                <a:solidFill>
                  <a:srgbClr val="2C2821"/>
                </a:solidFill>
                <a:latin typeface="Alice"/>
                <a:ea typeface="Alice"/>
                <a:cs typeface="Alice"/>
                <a:sym typeface="Alice"/>
              </a:rPr>
              <a:t>3</a:t>
            </a:r>
            <a:endParaRPr b="0" i="0" sz="2250" u="none" cap="none" strike="noStrike"/>
          </a:p>
        </p:txBody>
      </p:sp>
      <p:sp>
        <p:nvSpPr>
          <p:cNvPr id="307" name="Google Shape;307;p15"/>
          <p:cNvSpPr/>
          <p:nvPr/>
        </p:nvSpPr>
        <p:spPr>
          <a:xfrm>
            <a:off x="2021324" y="6108025"/>
            <a:ext cx="4703326" cy="300752"/>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C2821"/>
              </a:buClr>
              <a:buSzPts val="1850"/>
              <a:buFont typeface="Alice"/>
              <a:buNone/>
            </a:pPr>
            <a:r>
              <a:rPr b="0" i="0" lang="en-US" sz="1850" u="none" cap="none" strike="noStrike">
                <a:solidFill>
                  <a:srgbClr val="2C2821"/>
                </a:solidFill>
                <a:latin typeface="Alice"/>
                <a:ea typeface="Alice"/>
                <a:cs typeface="Alice"/>
                <a:sym typeface="Alice"/>
              </a:rPr>
              <a:t>Cuando se implementa nueva funcionalidad</a:t>
            </a:r>
            <a:endParaRPr b="0" i="0" sz="1850" u="none" cap="none" strike="noStrike"/>
          </a:p>
        </p:txBody>
      </p:sp>
      <p:sp>
        <p:nvSpPr>
          <p:cNvPr id="308" name="Google Shape;308;p15"/>
          <p:cNvSpPr/>
          <p:nvPr/>
        </p:nvSpPr>
        <p:spPr>
          <a:xfrm>
            <a:off x="2021324" y="6524268"/>
            <a:ext cx="6448901" cy="92404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Cada vez que se agrega nueva funcionalidad al sistema, las pruebas de regresión ayudan a asegurar que los componentes existentes sigan funcionando correctamente.</a:t>
            </a:r>
            <a:endParaRPr b="0" i="0" sz="15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2024-11-04T04:27:15Z</dcterms:created>
  <dc:creator>PptxGenJS</dc:creator>
</cp:coreProperties>
</file>