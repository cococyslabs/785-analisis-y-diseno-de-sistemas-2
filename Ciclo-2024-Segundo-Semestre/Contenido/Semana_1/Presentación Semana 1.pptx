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8229600" cy="14630400"/>
  <p:embeddedFontLst>
    <p:embeddedFont>
      <p:font typeface="Bitter Medium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B9CgaZ8+AaHvob1sXeVjIm1Yc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3418FC-E977-49F2-B4BA-77F5B67868DA}">
  <a:tblStyle styleId="{D23418FC-E977-49F2-B4BA-77F5B67868D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BitterMedium-regular.fntdata"/><Relationship Id="rId21" Type="http://schemas.openxmlformats.org/officeDocument/2006/relationships/slide" Target="slides/slide16.xml"/><Relationship Id="rId24" Type="http://schemas.openxmlformats.org/officeDocument/2006/relationships/font" Target="fonts/BitterMedium-italic.fntdata"/><Relationship Id="rId23" Type="http://schemas.openxmlformats.org/officeDocument/2006/relationships/font" Target="fonts/Bitter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BitterMedium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d528baaab9_0_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2d528baaab9_0_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528baaab9_0_86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9pPr>
          </a:lstStyle>
          <a:p/>
        </p:txBody>
      </p:sp>
      <p:sp>
        <p:nvSpPr>
          <p:cNvPr id="58" name="Google Shape;58;g2d528baaab9_0_86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 sz="1100"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9pPr>
          </a:lstStyle>
          <a:p/>
        </p:txBody>
      </p:sp>
      <p:sp>
        <p:nvSpPr>
          <p:cNvPr id="59" name="Google Shape;59;g2d528baaab9_0_86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2d528baaab9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3522" y="0"/>
            <a:ext cx="14603357" cy="8229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" name="Google Shape;65;g2d528baaab9_0_0"/>
          <p:cNvGraphicFramePr/>
          <p:nvPr/>
        </p:nvGraphicFramePr>
        <p:xfrm>
          <a:off x="8525120" y="155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{D23418FC-E977-49F2-B4BA-77F5B67868DA}</a:tableStyleId>
              </a:tblPr>
              <a:tblGrid>
                <a:gridCol w="2429125"/>
                <a:gridCol w="3475800"/>
              </a:tblGrid>
              <a:tr h="51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Día</a:t>
                      </a:r>
                      <a:r>
                        <a:rPr lang="en-US" sz="2200"/>
                        <a:t>, xx/xx/2025 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  <a:tr h="58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xx</a:t>
                      </a:r>
                      <a:r>
                        <a:rPr lang="en-US" sz="2200"/>
                        <a:t>:xx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</a:tbl>
          </a:graphicData>
        </a:graphic>
      </p:graphicFrame>
      <p:sp>
        <p:nvSpPr>
          <p:cNvPr id="66" name="Google Shape;66;g2d528baaab9_0_0"/>
          <p:cNvSpPr txBox="1"/>
          <p:nvPr/>
        </p:nvSpPr>
        <p:spPr>
          <a:xfrm>
            <a:off x="2304280" y="3613280"/>
            <a:ext cx="108672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Análisis y Diseño de Sistemas 2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/>
              <a:t>SECCIÓN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d528baaab9_0_0"/>
          <p:cNvSpPr txBox="1"/>
          <p:nvPr/>
        </p:nvSpPr>
        <p:spPr>
          <a:xfrm>
            <a:off x="2845920" y="4641200"/>
            <a:ext cx="89385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/>
              <a:t>Estudiante</a:t>
            </a:r>
            <a:endParaRPr sz="3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FF0000"/>
              </a:solidFill>
            </a:endParaRPr>
          </a:p>
        </p:txBody>
      </p:sp>
      <p:sp>
        <p:nvSpPr>
          <p:cNvPr id="68" name="Google Shape;68;g2d528baaab9_0_0"/>
          <p:cNvSpPr txBox="1"/>
          <p:nvPr/>
        </p:nvSpPr>
        <p:spPr>
          <a:xfrm>
            <a:off x="1873550" y="1628450"/>
            <a:ext cx="64260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Como la presentación es muy elemental, conviene preparar una nota técnica para compartir con los estudiantes</a:t>
            </a:r>
            <a:endParaRPr sz="3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607" y="2472928"/>
            <a:ext cx="4919186" cy="32836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"/>
          <p:cNvSpPr/>
          <p:nvPr/>
        </p:nvSpPr>
        <p:spPr>
          <a:xfrm>
            <a:off x="793802" y="2719975"/>
            <a:ext cx="723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450"/>
              <a:buFont typeface="Bitter Medium"/>
              <a:buNone/>
            </a:pPr>
            <a:r>
              <a:rPr b="0" i="0" lang="en-US" sz="44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¿Qué es un Framework?</a:t>
            </a:r>
            <a:endParaRPr b="0" i="0" sz="4450" u="none" cap="none" strike="noStrike"/>
          </a:p>
        </p:txBody>
      </p:sp>
      <p:sp>
        <p:nvSpPr>
          <p:cNvPr id="77" name="Google Shape;77;p1"/>
          <p:cNvSpPr/>
          <p:nvPr/>
        </p:nvSpPr>
        <p:spPr>
          <a:xfrm>
            <a:off x="793790" y="3768923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Un framework es una estructura de software diseñada para facilitar la organización y el desarrollo de aplicaciones. Proporciona una arquitectura base y herramientas que aceleran el proceso de creación de software.</a:t>
            </a:r>
            <a:endParaRPr b="0" i="0" sz="1750" u="none" cap="none" strike="noStrike"/>
          </a:p>
        </p:txBody>
      </p:sp>
      <p:sp>
        <p:nvSpPr>
          <p:cNvPr id="78" name="Google Shape;78;p1"/>
          <p:cNvSpPr/>
          <p:nvPr/>
        </p:nvSpPr>
        <p:spPr>
          <a:xfrm>
            <a:off x="793790" y="5129689"/>
            <a:ext cx="362903" cy="362903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793806" y="2177050"/>
            <a:ext cx="9474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450"/>
              <a:buFont typeface="Bitter Medium"/>
              <a:buNone/>
            </a:pPr>
            <a:r>
              <a:rPr b="0" i="0" lang="en-US" sz="44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¿Qué es un Framework?</a:t>
            </a:r>
            <a:endParaRPr b="0" i="0" sz="4450" u="none" cap="none" strike="noStrike"/>
          </a:p>
        </p:txBody>
      </p:sp>
      <p:sp>
        <p:nvSpPr>
          <p:cNvPr id="85" name="Google Shape;85;p2"/>
          <p:cNvSpPr/>
          <p:nvPr/>
        </p:nvSpPr>
        <p:spPr>
          <a:xfrm>
            <a:off x="793803" y="3452825"/>
            <a:ext cx="42204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Definición de Framework</a:t>
            </a:r>
            <a:endParaRPr b="0" i="0" sz="2200" u="none" cap="none" strike="noStrike"/>
          </a:p>
        </p:txBody>
      </p:sp>
      <p:sp>
        <p:nvSpPr>
          <p:cNvPr id="86" name="Google Shape;86;p2"/>
          <p:cNvSpPr/>
          <p:nvPr/>
        </p:nvSpPr>
        <p:spPr>
          <a:xfrm>
            <a:off x="793790" y="4033957"/>
            <a:ext cx="62447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Un framework es una estructura de software que proporciona una base para desarrollar aplicaciones. Actúa como una plantilla, definiendo la arquitectura y proporcionando herramientas y bibliotecas que facilitan el proceso de creación de software.</a:t>
            </a:r>
            <a:endParaRPr b="0" i="0" sz="1750" u="none" cap="none" strike="noStrike"/>
          </a:p>
        </p:txBody>
      </p:sp>
      <p:sp>
        <p:nvSpPr>
          <p:cNvPr id="87" name="Google Shape;87;p2"/>
          <p:cNvSpPr/>
          <p:nvPr/>
        </p:nvSpPr>
        <p:spPr>
          <a:xfrm>
            <a:off x="7599526" y="3452825"/>
            <a:ext cx="4113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Organización del Código</a:t>
            </a:r>
            <a:endParaRPr b="0" i="0" sz="220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7599521" y="4033957"/>
            <a:ext cx="62447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ayudan a organizar y modularizar el código, lo que facilita su mantenimiento y escalabilidad a lo largo del desarrollo del proyecto. Establecen patrones y convenciones que guían a los desarrolladores.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2839" y="2706053"/>
            <a:ext cx="5008602" cy="281737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668775" y="559475"/>
            <a:ext cx="75294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3750"/>
              <a:buFont typeface="Bitter Medium"/>
              <a:buNone/>
            </a:pPr>
            <a:r>
              <a:rPr b="0" i="0" lang="en-US" sz="37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Definición de Framework</a:t>
            </a:r>
            <a:endParaRPr b="0" i="0" sz="3750" u="none" cap="none" strike="noStrike"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774" y="1443276"/>
            <a:ext cx="477679" cy="477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668774" y="2112050"/>
            <a:ext cx="2388751" cy="298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50"/>
              <a:buFont typeface="Bitter Medium"/>
              <a:buNone/>
            </a:pPr>
            <a:r>
              <a:rPr b="0" i="0" lang="en-US" sz="18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Estructura Modular</a:t>
            </a:r>
            <a:endParaRPr b="0" i="0" sz="1850" u="none" cap="none" strike="noStrike"/>
          </a:p>
        </p:txBody>
      </p:sp>
      <p:sp>
        <p:nvSpPr>
          <p:cNvPr id="99" name="Google Shape;99;p3"/>
          <p:cNvSpPr/>
          <p:nvPr/>
        </p:nvSpPr>
        <p:spPr>
          <a:xfrm>
            <a:off x="668774" y="2525197"/>
            <a:ext cx="7806452" cy="611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Un framework es una estructura de software diseñada para facilitar el desarrollo de aplicaciones, proveyendo una arquitectura predefinida y componentes reutilizables.</a:t>
            </a:r>
            <a:endParaRPr b="0" i="0" sz="1500" u="none" cap="none" strike="noStrike"/>
          </a:p>
        </p:txBody>
      </p:sp>
      <p:pic>
        <p:nvPicPr>
          <p:cNvPr descr="preencoded.png" id="100" name="Google Shape;10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774" y="3709988"/>
            <a:ext cx="477679" cy="47767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668776" y="4378750"/>
            <a:ext cx="50085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50"/>
              <a:buFont typeface="Bitter Medium"/>
              <a:buNone/>
            </a:pPr>
            <a:r>
              <a:rPr b="0" i="0" lang="en-US" sz="18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Bloques de Construcción</a:t>
            </a:r>
            <a:endParaRPr b="0" i="0" sz="1850" u="none" cap="none" strike="noStrike"/>
          </a:p>
        </p:txBody>
      </p:sp>
      <p:sp>
        <p:nvSpPr>
          <p:cNvPr id="102" name="Google Shape;102;p3"/>
          <p:cNvSpPr/>
          <p:nvPr/>
        </p:nvSpPr>
        <p:spPr>
          <a:xfrm>
            <a:off x="668774" y="4791908"/>
            <a:ext cx="7806452" cy="611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ofrecen una base sólida sobre la cual construir, con funcionalidades y herramientas ya implementadas que evitan tener que "reinventar la rueda".</a:t>
            </a:r>
            <a:endParaRPr b="0" i="0" sz="1500" u="none" cap="none" strike="noStrike"/>
          </a:p>
        </p:txBody>
      </p:sp>
      <p:pic>
        <p:nvPicPr>
          <p:cNvPr descr="preencoded.png" id="103" name="Google Shape;10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8774" y="5976699"/>
            <a:ext cx="477679" cy="47767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668776" y="6645475"/>
            <a:ext cx="44325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50"/>
              <a:buFont typeface="Bitter Medium"/>
              <a:buNone/>
            </a:pPr>
            <a:r>
              <a:rPr b="0" i="0" lang="en-US" sz="18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Abstracción de Complejidad</a:t>
            </a:r>
            <a:endParaRPr b="0" i="0" sz="1850" u="none" cap="none" strike="noStrike"/>
          </a:p>
        </p:txBody>
      </p:sp>
      <p:sp>
        <p:nvSpPr>
          <p:cNvPr id="105" name="Google Shape;105;p3"/>
          <p:cNvSpPr/>
          <p:nvPr/>
        </p:nvSpPr>
        <p:spPr>
          <a:xfrm>
            <a:off x="668774" y="7058620"/>
            <a:ext cx="7806452" cy="611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simplifican tareas complejas, como manejo de datos, enrutamiento o autenticación, permitiendo a los desarrolladores enfocarse en la lógica del negocio.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657600" cy="823091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4341500" y="537325"/>
            <a:ext cx="932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3800"/>
              <a:buFont typeface="Bitter Medium"/>
              <a:buNone/>
            </a:pPr>
            <a:r>
              <a:rPr b="0" i="0" lang="en-US" sz="38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Cómo facilitan la organización del código</a:t>
            </a:r>
            <a:endParaRPr b="0" i="0" sz="3800" u="none" cap="none" strike="noStrike"/>
          </a:p>
        </p:txBody>
      </p:sp>
      <p:pic>
        <p:nvPicPr>
          <p:cNvPr descr="preencoded.png" id="113" name="Google Shape;1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1495" y="1440894"/>
            <a:ext cx="977027" cy="156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5611520" y="1636275"/>
            <a:ext cx="54402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Separación de Responsabilidades</a:t>
            </a:r>
            <a:endParaRPr b="0" i="0" sz="1900" u="none" cap="none" strike="noStrike"/>
          </a:p>
        </p:txBody>
      </p:sp>
      <p:sp>
        <p:nvSpPr>
          <p:cNvPr id="115" name="Google Shape;115;p4"/>
          <p:cNvSpPr/>
          <p:nvPr/>
        </p:nvSpPr>
        <p:spPr>
          <a:xfrm>
            <a:off x="5611535" y="2058829"/>
            <a:ext cx="8334970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dividen el código en diferentes módulos y capas, lo que facilita la organización y mantenimiento del sistema.</a:t>
            </a:r>
            <a:endParaRPr b="0" i="0" sz="1500" u="none" cap="none" strike="noStrike"/>
          </a:p>
        </p:txBody>
      </p:sp>
      <p:pic>
        <p:nvPicPr>
          <p:cNvPr descr="preencoded.png" id="116" name="Google Shape;11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1495" y="3004066"/>
            <a:ext cx="977027" cy="156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611519" y="3199450"/>
            <a:ext cx="5318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Estandarización de Estructuras</a:t>
            </a:r>
            <a:endParaRPr b="0" i="0" sz="1900" u="none" cap="none" strike="noStrike"/>
          </a:p>
        </p:txBody>
      </p:sp>
      <p:sp>
        <p:nvSpPr>
          <p:cNvPr id="118" name="Google Shape;118;p4"/>
          <p:cNvSpPr/>
          <p:nvPr/>
        </p:nvSpPr>
        <p:spPr>
          <a:xfrm>
            <a:off x="5611535" y="3622000"/>
            <a:ext cx="8334970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establecen patrones y convenciones que guían a los desarrolladores en la construcción de una aplicación.</a:t>
            </a:r>
            <a:endParaRPr b="0" i="0" sz="1500" u="none" cap="none" strike="noStrike"/>
          </a:p>
        </p:txBody>
      </p:sp>
      <p:pic>
        <p:nvPicPr>
          <p:cNvPr descr="preencoded.png" id="119" name="Google Shape;11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1495" y="4567238"/>
            <a:ext cx="977027" cy="156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5611520" y="4762625"/>
            <a:ext cx="5022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Reutilización de Componentes</a:t>
            </a:r>
            <a:endParaRPr b="0" i="0" sz="1900" u="none" cap="none" strike="noStrike"/>
          </a:p>
        </p:txBody>
      </p:sp>
      <p:sp>
        <p:nvSpPr>
          <p:cNvPr id="121" name="Google Shape;121;p4"/>
          <p:cNvSpPr/>
          <p:nvPr/>
        </p:nvSpPr>
        <p:spPr>
          <a:xfrm>
            <a:off x="5611535" y="5185172"/>
            <a:ext cx="8334970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proveen una biblioteca de componentes reutilizables que aceleran el desarrollo y mejoran la consistencia.</a:t>
            </a:r>
            <a:endParaRPr b="0" i="0" sz="1500" u="none" cap="none" strike="noStrike"/>
          </a:p>
        </p:txBody>
      </p:sp>
      <p:pic>
        <p:nvPicPr>
          <p:cNvPr descr="preencoded.png" id="122" name="Google Shape;12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41495" y="6130409"/>
            <a:ext cx="977027" cy="156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5611517" y="6325800"/>
            <a:ext cx="52140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Flujos de Trabajo Definidos</a:t>
            </a:r>
            <a:endParaRPr b="0" i="0" sz="1900" u="none" cap="none" strike="noStrike"/>
          </a:p>
        </p:txBody>
      </p:sp>
      <p:sp>
        <p:nvSpPr>
          <p:cNvPr id="124" name="Google Shape;124;p4"/>
          <p:cNvSpPr/>
          <p:nvPr/>
        </p:nvSpPr>
        <p:spPr>
          <a:xfrm>
            <a:off x="5611535" y="6748343"/>
            <a:ext cx="8334970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definen flujos de trabajo y procesos estandarizados para tareas comunes como enrutamiento, gestión de datos y renderizado.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8996" y="283488"/>
            <a:ext cx="4032409" cy="22682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793790" y="354639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450"/>
              <a:buFont typeface="Bitter Medium"/>
              <a:buNone/>
            </a:pPr>
            <a:r>
              <a:rPr b="0" i="0" lang="en-US" sz="44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Tipos de Frameworks</a:t>
            </a:r>
            <a:endParaRPr b="0" i="0" sz="445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793790" y="4850487"/>
            <a:ext cx="396835" cy="396835"/>
          </a:xfrm>
          <a:prstGeom prst="roundRect">
            <a:avLst>
              <a:gd fmla="val 24007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1417453" y="4850475"/>
            <a:ext cx="3619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Frameworks Front-end</a:t>
            </a:r>
            <a:endParaRPr b="0" i="0" sz="2200" u="none" cap="none" strike="noStrike"/>
          </a:p>
        </p:txBody>
      </p:sp>
      <p:sp>
        <p:nvSpPr>
          <p:cNvPr id="135" name="Google Shape;135;p5"/>
          <p:cNvSpPr/>
          <p:nvPr/>
        </p:nvSpPr>
        <p:spPr>
          <a:xfrm>
            <a:off x="1417439" y="5340906"/>
            <a:ext cx="3572708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Diseñados para construir interfaces de usuario web, como React, Angular y Vue.js, que facilitan la creación de aplicaciones web interactivas y responsivas.</a:t>
            </a:r>
            <a:endParaRPr b="0" i="0" sz="1750" u="none" cap="none" strike="noStrike"/>
          </a:p>
        </p:txBody>
      </p:sp>
      <p:sp>
        <p:nvSpPr>
          <p:cNvPr id="136" name="Google Shape;136;p5"/>
          <p:cNvSpPr/>
          <p:nvPr/>
        </p:nvSpPr>
        <p:spPr>
          <a:xfrm>
            <a:off x="5216962" y="4850487"/>
            <a:ext cx="396835" cy="396835"/>
          </a:xfrm>
          <a:prstGeom prst="roundRect">
            <a:avLst>
              <a:gd fmla="val 24007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5840597" y="4850475"/>
            <a:ext cx="3572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Frameworks Back-end</a:t>
            </a:r>
            <a:endParaRPr b="0" i="0" sz="220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5840611" y="5340906"/>
            <a:ext cx="3572708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Enfocan en la lógica de negocio y la gestión del servidor, como Django, Ruby on Rails y Laravel, que aceleran el desarrollo de aplicaciones web complejas.</a:t>
            </a:r>
            <a:endParaRPr b="0" i="0" sz="1750" u="none" cap="none" strike="noStrike"/>
          </a:p>
        </p:txBody>
      </p:sp>
      <p:sp>
        <p:nvSpPr>
          <p:cNvPr id="139" name="Google Shape;139;p5"/>
          <p:cNvSpPr/>
          <p:nvPr/>
        </p:nvSpPr>
        <p:spPr>
          <a:xfrm>
            <a:off x="9640133" y="4850487"/>
            <a:ext cx="396835" cy="396835"/>
          </a:xfrm>
          <a:prstGeom prst="roundRect">
            <a:avLst>
              <a:gd fmla="val 24007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0263783" y="485048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Frameworks Móviles</a:t>
            </a:r>
            <a:endParaRPr b="0" i="0" sz="2200" u="none" cap="none" strike="noStrike"/>
          </a:p>
        </p:txBody>
      </p:sp>
      <p:sp>
        <p:nvSpPr>
          <p:cNvPr id="141" name="Google Shape;141;p5"/>
          <p:cNvSpPr/>
          <p:nvPr/>
        </p:nvSpPr>
        <p:spPr>
          <a:xfrm>
            <a:off x="10263783" y="5340906"/>
            <a:ext cx="3572708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Permiten el desarrollo de aplicaciones nativas para dispositivos móviles, como Flutter, React Native y Xamarin, que simplifican el proceso de crear apps multiplataforma.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1655088"/>
            <a:ext cx="4919424" cy="4919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793803" y="1065975"/>
            <a:ext cx="7752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450"/>
              <a:buFont typeface="Bitter Medium"/>
              <a:buNone/>
            </a:pPr>
            <a:r>
              <a:rPr b="0" i="0" lang="en-US" sz="44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Frameworks Front-end</a:t>
            </a:r>
            <a:endParaRPr b="0" i="0" sz="4450" u="none" cap="none" strike="noStrike"/>
          </a:p>
        </p:txBody>
      </p:sp>
      <p:sp>
        <p:nvSpPr>
          <p:cNvPr id="150" name="Google Shape;150;p6"/>
          <p:cNvSpPr/>
          <p:nvPr/>
        </p:nvSpPr>
        <p:spPr>
          <a:xfrm>
            <a:off x="793790" y="2114907"/>
            <a:ext cx="3664863" cy="2410897"/>
          </a:xfrm>
          <a:prstGeom prst="roundRect">
            <a:avLst>
              <a:gd fmla="val 3952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1028224" y="23493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React.js</a:t>
            </a:r>
            <a:endParaRPr b="0" i="0" sz="2200" u="none" cap="none" strike="noStrike"/>
          </a:p>
        </p:txBody>
      </p:sp>
      <p:sp>
        <p:nvSpPr>
          <p:cNvPr id="152" name="Google Shape;152;p6"/>
          <p:cNvSpPr/>
          <p:nvPr/>
        </p:nvSpPr>
        <p:spPr>
          <a:xfrm>
            <a:off x="1028224" y="2839760"/>
            <a:ext cx="3195995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Poderosa librería de JavaScript para construir interfaces de usuario interactivas y eficientes.</a:t>
            </a:r>
            <a:endParaRPr b="0" i="0" sz="1750" u="none" cap="none" strike="noStrike"/>
          </a:p>
        </p:txBody>
      </p:sp>
      <p:sp>
        <p:nvSpPr>
          <p:cNvPr id="153" name="Google Shape;153;p6"/>
          <p:cNvSpPr/>
          <p:nvPr/>
        </p:nvSpPr>
        <p:spPr>
          <a:xfrm>
            <a:off x="4685467" y="2114907"/>
            <a:ext cx="3664863" cy="2410897"/>
          </a:xfrm>
          <a:prstGeom prst="roundRect">
            <a:avLst>
              <a:gd fmla="val 3952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919901" y="23493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Angular</a:t>
            </a:r>
            <a:endParaRPr b="0" i="0" sz="2200" u="none" cap="none" strike="noStrike"/>
          </a:p>
        </p:txBody>
      </p:sp>
      <p:sp>
        <p:nvSpPr>
          <p:cNvPr id="155" name="Google Shape;155;p6"/>
          <p:cNvSpPr/>
          <p:nvPr/>
        </p:nvSpPr>
        <p:spPr>
          <a:xfrm>
            <a:off x="4919901" y="2839760"/>
            <a:ext cx="3195995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Framework completo de TypeScript para desarrollar aplicaciones web escalables y mantenibles.</a:t>
            </a:r>
            <a:endParaRPr b="0" i="0" sz="1750" u="none" cap="none" strike="noStrike"/>
          </a:p>
        </p:txBody>
      </p:sp>
      <p:sp>
        <p:nvSpPr>
          <p:cNvPr id="156" name="Google Shape;156;p6"/>
          <p:cNvSpPr/>
          <p:nvPr/>
        </p:nvSpPr>
        <p:spPr>
          <a:xfrm>
            <a:off x="793790" y="4752618"/>
            <a:ext cx="3664863" cy="2410897"/>
          </a:xfrm>
          <a:prstGeom prst="roundRect">
            <a:avLst>
              <a:gd fmla="val 3952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1028224" y="498705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Vue.js</a:t>
            </a:r>
            <a:endParaRPr b="0" i="0" sz="2200" u="none" cap="none" strike="noStrike"/>
          </a:p>
        </p:txBody>
      </p:sp>
      <p:sp>
        <p:nvSpPr>
          <p:cNvPr id="158" name="Google Shape;158;p6"/>
          <p:cNvSpPr/>
          <p:nvPr/>
        </p:nvSpPr>
        <p:spPr>
          <a:xfrm>
            <a:off x="1028224" y="5477470"/>
            <a:ext cx="3195995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Framework progresivo de JavaScript que permite crear interfaces de usuario rápidas y reactivas.</a:t>
            </a:r>
            <a:endParaRPr b="0" i="0" sz="1750" u="none" cap="none" strike="noStrike"/>
          </a:p>
        </p:txBody>
      </p:sp>
      <p:sp>
        <p:nvSpPr>
          <p:cNvPr id="159" name="Google Shape;159;p6"/>
          <p:cNvSpPr/>
          <p:nvPr/>
        </p:nvSpPr>
        <p:spPr>
          <a:xfrm>
            <a:off x="4685467" y="4752618"/>
            <a:ext cx="3664863" cy="2410897"/>
          </a:xfrm>
          <a:prstGeom prst="roundRect">
            <a:avLst>
              <a:gd fmla="val 3952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919901" y="498705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Bootstrap</a:t>
            </a:r>
            <a:endParaRPr b="0" i="0" sz="2200" u="none" cap="none" strike="noStrike"/>
          </a:p>
        </p:txBody>
      </p:sp>
      <p:sp>
        <p:nvSpPr>
          <p:cNvPr id="161" name="Google Shape;161;p6"/>
          <p:cNvSpPr/>
          <p:nvPr/>
        </p:nvSpPr>
        <p:spPr>
          <a:xfrm>
            <a:off x="4919901" y="5477470"/>
            <a:ext cx="31959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Toolkit de código abierto que brinda herramientas de diseño web responsivo y móvil.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793804" y="1147400"/>
            <a:ext cx="7822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450"/>
              <a:buFont typeface="Bitter Medium"/>
              <a:buNone/>
            </a:pPr>
            <a:r>
              <a:rPr b="0" i="0" lang="en-US" sz="44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Frameworks Back-end</a:t>
            </a:r>
            <a:endParaRPr b="0" i="0" sz="4450" u="none" cap="none" strike="noStrike"/>
          </a:p>
        </p:txBody>
      </p:sp>
      <p:pic>
        <p:nvPicPr>
          <p:cNvPr descr="preencoded.png" id="168" name="Google Shape;1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309813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7"/>
          <p:cNvSpPr/>
          <p:nvPr/>
        </p:nvSpPr>
        <p:spPr>
          <a:xfrm>
            <a:off x="793790" y="51400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Node.js</a:t>
            </a:r>
            <a:endParaRPr b="0" i="0" sz="2200" u="none" cap="none" strike="noStrike"/>
          </a:p>
        </p:txBody>
      </p:sp>
      <p:sp>
        <p:nvSpPr>
          <p:cNvPr id="170" name="Google Shape;170;p7"/>
          <p:cNvSpPr/>
          <p:nvPr/>
        </p:nvSpPr>
        <p:spPr>
          <a:xfrm>
            <a:off x="793790" y="5630466"/>
            <a:ext cx="412075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Node.js es un framework de JavaScript del lado del servidor que permite el desarrollo de aplicaciones web y APIs de forma más eficiente y escalable.</a:t>
            </a:r>
            <a:endParaRPr b="0" i="0" sz="1750" u="none" cap="none" strike="noStrike"/>
          </a:p>
        </p:txBody>
      </p:sp>
      <p:pic>
        <p:nvPicPr>
          <p:cNvPr descr="preencoded.png" id="171" name="Google Shape;1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2309813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5254704" y="51401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Django</a:t>
            </a:r>
            <a:endParaRPr b="0" i="0" sz="2200" u="none" cap="none" strike="noStrike"/>
          </a:p>
        </p:txBody>
      </p:sp>
      <p:sp>
        <p:nvSpPr>
          <p:cNvPr id="173" name="Google Shape;173;p7"/>
          <p:cNvSpPr/>
          <p:nvPr/>
        </p:nvSpPr>
        <p:spPr>
          <a:xfrm>
            <a:off x="5254704" y="5630585"/>
            <a:ext cx="412087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Django es un framework web de Python que facilita la creación de aplicaciones web seguras y de alto rendimiento.</a:t>
            </a:r>
            <a:endParaRPr b="0" i="0" sz="1750" u="none" cap="none" strike="noStrike"/>
          </a:p>
        </p:txBody>
      </p:sp>
      <p:pic>
        <p:nvPicPr>
          <p:cNvPr descr="preencoded.png" id="174" name="Google Shape;17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2309813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9715738" y="51400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Ruby on Rails</a:t>
            </a:r>
            <a:endParaRPr b="0" i="0" sz="2200" u="none" cap="none" strike="noStrike"/>
          </a:p>
        </p:txBody>
      </p:sp>
      <p:sp>
        <p:nvSpPr>
          <p:cNvPr id="176" name="Google Shape;176;p7"/>
          <p:cNvSpPr/>
          <p:nvPr/>
        </p:nvSpPr>
        <p:spPr>
          <a:xfrm>
            <a:off x="9715738" y="5630466"/>
            <a:ext cx="412075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Ruby on Rails es un framework de desarrollo web en lenguaje Ruby que promueve la reutilización de código y la convención sobre configuración.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741414"/>
            <a:ext cx="4919305" cy="274665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793790" y="73961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450"/>
              <a:buFont typeface="Bitter Medium"/>
              <a:buNone/>
            </a:pPr>
            <a:r>
              <a:rPr b="0" i="0" lang="en-US" sz="44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Frameworks Móviles</a:t>
            </a:r>
            <a:endParaRPr b="0" i="0" sz="4450" u="none" cap="none" strike="noStrike"/>
          </a:p>
        </p:txBody>
      </p:sp>
      <p:sp>
        <p:nvSpPr>
          <p:cNvPr id="185" name="Google Shape;185;p8"/>
          <p:cNvSpPr/>
          <p:nvPr/>
        </p:nvSpPr>
        <p:spPr>
          <a:xfrm>
            <a:off x="793790" y="2043708"/>
            <a:ext cx="396835" cy="396835"/>
          </a:xfrm>
          <a:prstGeom prst="roundRect">
            <a:avLst>
              <a:gd fmla="val 24007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1417439" y="2043708"/>
            <a:ext cx="304121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Simplicidad de desarrollo</a:t>
            </a:r>
            <a:endParaRPr b="0" i="0" sz="2200" u="none" cap="none" strike="noStrike"/>
          </a:p>
        </p:txBody>
      </p:sp>
      <p:sp>
        <p:nvSpPr>
          <p:cNvPr id="187" name="Google Shape;187;p8"/>
          <p:cNvSpPr/>
          <p:nvPr/>
        </p:nvSpPr>
        <p:spPr>
          <a:xfrm>
            <a:off x="1417439" y="2888456"/>
            <a:ext cx="3041213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móviles abstraen la complejidad de la programación nativa, permitiendo a los desarrolladores crear aplicaciones de manera más rápida y eficiente.</a:t>
            </a:r>
            <a:endParaRPr b="0" i="0" sz="1750" u="none" cap="none" strike="noStrike"/>
          </a:p>
        </p:txBody>
      </p:sp>
      <p:sp>
        <p:nvSpPr>
          <p:cNvPr id="188" name="Google Shape;188;p8"/>
          <p:cNvSpPr/>
          <p:nvPr/>
        </p:nvSpPr>
        <p:spPr>
          <a:xfrm>
            <a:off x="4685467" y="2043708"/>
            <a:ext cx="396835" cy="396835"/>
          </a:xfrm>
          <a:prstGeom prst="roundRect">
            <a:avLst>
              <a:gd fmla="val 24007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5309116" y="2043708"/>
            <a:ext cx="304121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Compatibilidad multiplataforma</a:t>
            </a:r>
            <a:endParaRPr b="0" i="0" sz="2200" u="none" cap="none" strike="noStrike"/>
          </a:p>
        </p:txBody>
      </p:sp>
      <p:sp>
        <p:nvSpPr>
          <p:cNvPr id="190" name="Google Shape;190;p8"/>
          <p:cNvSpPr/>
          <p:nvPr/>
        </p:nvSpPr>
        <p:spPr>
          <a:xfrm>
            <a:off x="5309116" y="2888456"/>
            <a:ext cx="3041213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Frameworks como React Native y Flutter permiten desarrollar aplicaciones móviles que funcionan en iOS y Android con un solo código base.</a:t>
            </a:r>
            <a:endParaRPr b="0" i="0" sz="1750" u="none" cap="none" strike="noStrike"/>
          </a:p>
        </p:txBody>
      </p:sp>
      <p:sp>
        <p:nvSpPr>
          <p:cNvPr id="191" name="Google Shape;191;p8"/>
          <p:cNvSpPr/>
          <p:nvPr/>
        </p:nvSpPr>
        <p:spPr>
          <a:xfrm>
            <a:off x="793790" y="5910739"/>
            <a:ext cx="396835" cy="396835"/>
          </a:xfrm>
          <a:prstGeom prst="roundRect">
            <a:avLst>
              <a:gd fmla="val 24007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1417455" y="5910750"/>
            <a:ext cx="62589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Experiencia de usuario optimizada</a:t>
            </a:r>
            <a:endParaRPr b="0" i="0" sz="2200" u="none" cap="none" strike="noStrike"/>
          </a:p>
        </p:txBody>
      </p:sp>
      <p:sp>
        <p:nvSpPr>
          <p:cNvPr id="193" name="Google Shape;193;p8"/>
          <p:cNvSpPr/>
          <p:nvPr/>
        </p:nvSpPr>
        <p:spPr>
          <a:xfrm>
            <a:off x="1417439" y="6401157"/>
            <a:ext cx="693277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móviles proporcionan herramientas y componentes preconstruidos que ayudan a crear interfaces de usuario atractivas y fluidas.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9" name="Google Shape;1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08" y="2630448"/>
            <a:ext cx="4975384" cy="29687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/>
          <p:nvPr/>
        </p:nvSpPr>
        <p:spPr>
          <a:xfrm>
            <a:off x="6201503" y="1203850"/>
            <a:ext cx="86778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000"/>
              <a:buFont typeface="Bitter Medium"/>
              <a:buNone/>
            </a:pPr>
            <a:r>
              <a:rPr b="0" i="0" lang="en-US" sz="40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Beneficios de usar Frameworks</a:t>
            </a:r>
            <a:endParaRPr b="0" i="0" sz="4000" u="none" cap="none" strike="noStrike"/>
          </a:p>
        </p:txBody>
      </p:sp>
      <p:sp>
        <p:nvSpPr>
          <p:cNvPr id="202" name="Google Shape;202;p9"/>
          <p:cNvSpPr/>
          <p:nvPr/>
        </p:nvSpPr>
        <p:spPr>
          <a:xfrm>
            <a:off x="6201489" y="2148721"/>
            <a:ext cx="3754755" cy="2826544"/>
          </a:xfrm>
          <a:prstGeom prst="roundRect">
            <a:avLst>
              <a:gd fmla="val 3036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6413426" y="2360650"/>
            <a:ext cx="37548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000"/>
              <a:buFont typeface="Bitter Medium"/>
              <a:buNone/>
            </a:pPr>
            <a:r>
              <a:rPr b="0" i="0" lang="en-US" sz="20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Eficiencia en el Desarrollo</a:t>
            </a:r>
            <a:endParaRPr b="0" i="0" sz="2000" u="none" cap="none" strike="noStrike"/>
          </a:p>
        </p:txBody>
      </p:sp>
      <p:sp>
        <p:nvSpPr>
          <p:cNvPr id="204" name="Google Shape;204;p9"/>
          <p:cNvSpPr/>
          <p:nvPr/>
        </p:nvSpPr>
        <p:spPr>
          <a:xfrm>
            <a:off x="6413421" y="2802374"/>
            <a:ext cx="3330893" cy="1960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600"/>
              <a:buFont typeface="Open Sans"/>
              <a:buNone/>
            </a:pPr>
            <a:r>
              <a:rPr b="0" i="0" lang="en-US" sz="16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proporcionan una estructura sólida y herramientas preestablecidas, lo que permite a los desarrolladores construir aplicaciones de manera más rápida y eficiente.</a:t>
            </a:r>
            <a:endParaRPr b="0" i="0" sz="1600" u="none" cap="none" strike="noStrike"/>
          </a:p>
        </p:txBody>
      </p:sp>
      <p:sp>
        <p:nvSpPr>
          <p:cNvPr id="205" name="Google Shape;205;p9"/>
          <p:cNvSpPr/>
          <p:nvPr/>
        </p:nvSpPr>
        <p:spPr>
          <a:xfrm>
            <a:off x="10160556" y="2148721"/>
            <a:ext cx="3754755" cy="2826544"/>
          </a:xfrm>
          <a:prstGeom prst="roundRect">
            <a:avLst>
              <a:gd fmla="val 3036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10372474" y="2360650"/>
            <a:ext cx="3542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000"/>
              <a:buFont typeface="Bitter Medium"/>
              <a:buNone/>
            </a:pPr>
            <a:r>
              <a:rPr b="0" i="0" lang="en-US" sz="20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Facilidad de Mantenimiento</a:t>
            </a:r>
            <a:endParaRPr b="0" i="0" sz="2000" u="none" cap="none" strike="noStrike"/>
          </a:p>
        </p:txBody>
      </p:sp>
      <p:sp>
        <p:nvSpPr>
          <p:cNvPr id="207" name="Google Shape;207;p9"/>
          <p:cNvSpPr/>
          <p:nvPr/>
        </p:nvSpPr>
        <p:spPr>
          <a:xfrm>
            <a:off x="10372487" y="2802374"/>
            <a:ext cx="3330893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600"/>
              <a:buFont typeface="Open Sans"/>
              <a:buNone/>
            </a:pPr>
            <a:r>
              <a:rPr b="0" i="0" lang="en-US" sz="16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siguen patrones de diseño probados que facilitan el mantenimiento y la actualización del código a lo largo del tiempo.</a:t>
            </a:r>
            <a:endParaRPr b="0" i="0" sz="1600" u="none" cap="none" strike="noStrike"/>
          </a:p>
        </p:txBody>
      </p:sp>
      <p:sp>
        <p:nvSpPr>
          <p:cNvPr id="208" name="Google Shape;208;p9"/>
          <p:cNvSpPr/>
          <p:nvPr/>
        </p:nvSpPr>
        <p:spPr>
          <a:xfrm>
            <a:off x="6201489" y="5179576"/>
            <a:ext cx="7713821" cy="1846064"/>
          </a:xfrm>
          <a:prstGeom prst="roundRect">
            <a:avLst>
              <a:gd fmla="val 4648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6413427" y="5391500"/>
            <a:ext cx="48471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000"/>
              <a:buFont typeface="Bitter Medium"/>
              <a:buNone/>
            </a:pPr>
            <a:r>
              <a:rPr b="0" i="0" lang="en-US" sz="20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Escalabilidad de Aplicaciones</a:t>
            </a:r>
            <a:endParaRPr b="0" i="0" sz="2000" u="none" cap="none" strike="noStrike"/>
          </a:p>
        </p:txBody>
      </p:sp>
      <p:sp>
        <p:nvSpPr>
          <p:cNvPr id="210" name="Google Shape;210;p9"/>
          <p:cNvSpPr/>
          <p:nvPr/>
        </p:nvSpPr>
        <p:spPr>
          <a:xfrm>
            <a:off x="6413421" y="5833229"/>
            <a:ext cx="7289959" cy="98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600"/>
              <a:buFont typeface="Open Sans"/>
              <a:buNone/>
            </a:pPr>
            <a:r>
              <a:rPr b="0" i="0" lang="en-US" sz="16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están diseñados para manejar el crecimiento y la complejidad de las aplicaciones a medida que evolucionan, lo que permite una mejor escalabilidad.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6" name="Google Shape;2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7" name="Google Shape;21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7602" y="2300526"/>
            <a:ext cx="4999077" cy="362854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682098" y="788325"/>
            <a:ext cx="69420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3800"/>
              <a:buFont typeface="Bitter Medium"/>
              <a:buNone/>
            </a:pPr>
            <a:r>
              <a:rPr b="0" i="0" lang="en-US" sz="38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Eficiencia en el desarrollo</a:t>
            </a:r>
            <a:endParaRPr b="0" i="0" sz="3800" u="none" cap="none" strike="noStrike"/>
          </a:p>
        </p:txBody>
      </p:sp>
      <p:sp>
        <p:nvSpPr>
          <p:cNvPr id="219" name="Google Shape;219;p10"/>
          <p:cNvSpPr/>
          <p:nvPr/>
        </p:nvSpPr>
        <p:spPr>
          <a:xfrm>
            <a:off x="682109" y="1689616"/>
            <a:ext cx="7779782" cy="5751671"/>
          </a:xfrm>
          <a:prstGeom prst="roundRect">
            <a:avLst>
              <a:gd fmla="val 1423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89729" y="1697236"/>
            <a:ext cx="7764542" cy="212002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884515" y="1821775"/>
            <a:ext cx="3488888" cy="311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Reutilización de código</a:t>
            </a:r>
            <a:endParaRPr b="0" i="0" sz="1500" u="none" cap="none" strike="noStrike"/>
          </a:p>
        </p:txBody>
      </p:sp>
      <p:sp>
        <p:nvSpPr>
          <p:cNvPr id="222" name="Google Shape;222;p10"/>
          <p:cNvSpPr/>
          <p:nvPr/>
        </p:nvSpPr>
        <p:spPr>
          <a:xfrm>
            <a:off x="4770596" y="1821775"/>
            <a:ext cx="3488888" cy="1870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proporcionan una base sólida con funcionalidades comunes, lo que permite a los desarrolladores centrarse en la lógica única de cada proyecto sin tener que reinventar la rueda.</a:t>
            </a:r>
            <a:endParaRPr b="0" i="0" sz="1500" u="none" cap="none" strike="noStrike"/>
          </a:p>
        </p:txBody>
      </p:sp>
      <p:sp>
        <p:nvSpPr>
          <p:cNvPr id="223" name="Google Shape;223;p10"/>
          <p:cNvSpPr/>
          <p:nvPr/>
        </p:nvSpPr>
        <p:spPr>
          <a:xfrm>
            <a:off x="689729" y="3817263"/>
            <a:ext cx="7764542" cy="180820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884515" y="3941802"/>
            <a:ext cx="3488888" cy="311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Desarrollo acelerado</a:t>
            </a:r>
            <a:endParaRPr b="0" i="0" sz="1500" u="none" cap="none" strike="noStrike"/>
          </a:p>
        </p:txBody>
      </p:sp>
      <p:sp>
        <p:nvSpPr>
          <p:cNvPr id="225" name="Google Shape;225;p10"/>
          <p:cNvSpPr/>
          <p:nvPr/>
        </p:nvSpPr>
        <p:spPr>
          <a:xfrm>
            <a:off x="4770596" y="3941802"/>
            <a:ext cx="3488888" cy="1559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Al disponer de bloques de construcción ya construidos, los equipos de desarrollo pueden avanzar más rápidamente en la implementación de nuevas funcionalidades.</a:t>
            </a:r>
            <a:endParaRPr b="0" i="0" sz="1500" u="none" cap="none" strike="noStrike"/>
          </a:p>
        </p:txBody>
      </p:sp>
      <p:sp>
        <p:nvSpPr>
          <p:cNvPr id="226" name="Google Shape;226;p10"/>
          <p:cNvSpPr/>
          <p:nvPr/>
        </p:nvSpPr>
        <p:spPr>
          <a:xfrm>
            <a:off x="689729" y="5625465"/>
            <a:ext cx="7764542" cy="180820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884515" y="5750004"/>
            <a:ext cx="3488888" cy="311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Optimización del tiempo</a:t>
            </a:r>
            <a:endParaRPr b="0" i="0" sz="1500" u="none" cap="none" strike="noStrike"/>
          </a:p>
        </p:txBody>
      </p:sp>
      <p:sp>
        <p:nvSpPr>
          <p:cNvPr id="228" name="Google Shape;228;p10"/>
          <p:cNvSpPr/>
          <p:nvPr/>
        </p:nvSpPr>
        <p:spPr>
          <a:xfrm>
            <a:off x="4770596" y="5750004"/>
            <a:ext cx="3488888" cy="1559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agilizan los procesos de desarrollo al automatizar tareas repetitivas y estandarizar prácticas, lo que se traduce en una mayor eficiencia y productividad.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477547" y="375275"/>
            <a:ext cx="5441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15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650"/>
              <a:buFont typeface="Bitter Medium"/>
              <a:buNone/>
            </a:pPr>
            <a:r>
              <a:rPr b="0" i="0" lang="en-US" sz="26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Facilidad de mantenimiento</a:t>
            </a:r>
            <a:endParaRPr b="0" i="0" sz="2650" u="none" cap="none" strike="noStrike"/>
          </a:p>
        </p:txBody>
      </p:sp>
      <p:sp>
        <p:nvSpPr>
          <p:cNvPr id="235" name="Google Shape;235;p11"/>
          <p:cNvSpPr/>
          <p:nvPr/>
        </p:nvSpPr>
        <p:spPr>
          <a:xfrm>
            <a:off x="477560" y="1074658"/>
            <a:ext cx="13675281" cy="436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El uso de frameworks facilita enormemente el mantenimiento de las aplicaciones. Al tener una estructura modular y organizada, los cambios y actualizaciones se pueden realizar de manera más rápida y eficiente, reduciendo el tiempo y esfuerzo requerido.</a:t>
            </a:r>
            <a:endParaRPr b="0" i="0" sz="1050" u="none" cap="none" strike="noStrike"/>
          </a:p>
        </p:txBody>
      </p:sp>
      <p:pic>
        <p:nvPicPr>
          <p:cNvPr descr="preencoded.png" id="236" name="Google Shape;2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560" y="1664613"/>
            <a:ext cx="13675281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1"/>
          <p:cNvSpPr/>
          <p:nvPr/>
        </p:nvSpPr>
        <p:spPr>
          <a:xfrm>
            <a:off x="477560" y="9476184"/>
            <a:ext cx="13675281" cy="218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Aspectos como la modularidad, el uso de patrones de diseño y la documentación inherente a los frameworks, facilitan enormemente las tareas de mantenimiento y actualización de las aplicaciones.</a:t>
            </a:r>
            <a:endParaRPr b="0" i="0" sz="10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3" name="Google Shape;2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2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697" y="2240042"/>
            <a:ext cx="5003006" cy="375225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2"/>
          <p:cNvSpPr/>
          <p:nvPr/>
        </p:nvSpPr>
        <p:spPr>
          <a:xfrm>
            <a:off x="6163389" y="531971"/>
            <a:ext cx="6130409" cy="60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3800"/>
              <a:buFont typeface="Bitter Medium"/>
              <a:buNone/>
            </a:pPr>
            <a:r>
              <a:rPr b="0" i="0" lang="en-US" sz="38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Escalabilidad de aplicaciones</a:t>
            </a:r>
            <a:endParaRPr b="0" i="0" sz="3800" u="none" cap="none" strike="noStrike"/>
          </a:p>
        </p:txBody>
      </p:sp>
      <p:sp>
        <p:nvSpPr>
          <p:cNvPr id="246" name="Google Shape;246;p12"/>
          <p:cNvSpPr/>
          <p:nvPr/>
        </p:nvSpPr>
        <p:spPr>
          <a:xfrm>
            <a:off x="6163389" y="1523286"/>
            <a:ext cx="7790021" cy="638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5000"/>
              <a:buFont typeface="Bitter Medium"/>
              <a:buNone/>
            </a:pPr>
            <a:r>
              <a:rPr b="0" i="0" lang="en-US" sz="50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10x</a:t>
            </a:r>
            <a:endParaRPr b="0" i="0" sz="5000" u="none" cap="none" strike="noStrike"/>
          </a:p>
        </p:txBody>
      </p:sp>
      <p:sp>
        <p:nvSpPr>
          <p:cNvPr id="247" name="Google Shape;247;p12"/>
          <p:cNvSpPr/>
          <p:nvPr/>
        </p:nvSpPr>
        <p:spPr>
          <a:xfrm>
            <a:off x="8849320" y="2403277"/>
            <a:ext cx="2418040" cy="302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Desempeño</a:t>
            </a:r>
            <a:endParaRPr b="0" i="0" sz="1900" u="none" cap="none" strike="noStrike"/>
          </a:p>
        </p:txBody>
      </p:sp>
      <p:sp>
        <p:nvSpPr>
          <p:cNvPr id="248" name="Google Shape;248;p12"/>
          <p:cNvSpPr/>
          <p:nvPr/>
        </p:nvSpPr>
        <p:spPr>
          <a:xfrm>
            <a:off x="6163389" y="2821424"/>
            <a:ext cx="779002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Frameworks ayudan a escalar aplicaciones hasta 10 veces más rápido</a:t>
            </a:r>
            <a:endParaRPr b="0" i="0" sz="1500" u="none" cap="none" strike="noStrike"/>
          </a:p>
        </p:txBody>
      </p:sp>
      <p:sp>
        <p:nvSpPr>
          <p:cNvPr id="249" name="Google Shape;249;p12"/>
          <p:cNvSpPr/>
          <p:nvPr/>
        </p:nvSpPr>
        <p:spPr>
          <a:xfrm>
            <a:off x="6163389" y="3807976"/>
            <a:ext cx="7790021" cy="638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5000"/>
              <a:buFont typeface="Bitter Medium"/>
              <a:buNone/>
            </a:pPr>
            <a:r>
              <a:rPr b="0" i="0" lang="en-US" sz="50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500K</a:t>
            </a:r>
            <a:endParaRPr b="0" i="0" sz="5000" u="none" cap="none" strike="noStrike"/>
          </a:p>
        </p:txBody>
      </p:sp>
      <p:sp>
        <p:nvSpPr>
          <p:cNvPr id="250" name="Google Shape;250;p12"/>
          <p:cNvSpPr/>
          <p:nvPr/>
        </p:nvSpPr>
        <p:spPr>
          <a:xfrm>
            <a:off x="8849320" y="4687967"/>
            <a:ext cx="2418040" cy="302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Usuarios</a:t>
            </a:r>
            <a:endParaRPr b="0" i="0" sz="1900" u="none" cap="none" strike="noStrike"/>
          </a:p>
        </p:txBody>
      </p:sp>
      <p:sp>
        <p:nvSpPr>
          <p:cNvPr id="251" name="Google Shape;251;p12"/>
          <p:cNvSpPr/>
          <p:nvPr/>
        </p:nvSpPr>
        <p:spPr>
          <a:xfrm>
            <a:off x="6163389" y="5106114"/>
            <a:ext cx="779002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Frameworks soportan cientos de miles de usuarios simultáneos</a:t>
            </a:r>
            <a:endParaRPr b="0" i="0" sz="1500" u="none" cap="none" strike="noStrike"/>
          </a:p>
        </p:txBody>
      </p:sp>
      <p:sp>
        <p:nvSpPr>
          <p:cNvPr id="252" name="Google Shape;252;p12"/>
          <p:cNvSpPr/>
          <p:nvPr/>
        </p:nvSpPr>
        <p:spPr>
          <a:xfrm>
            <a:off x="6163389" y="6092666"/>
            <a:ext cx="7790021" cy="638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5000"/>
              <a:buFont typeface="Bitter Medium"/>
              <a:buNone/>
            </a:pPr>
            <a:r>
              <a:rPr b="0" i="0" lang="en-US" sz="50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20TB</a:t>
            </a:r>
            <a:endParaRPr b="0" i="0" sz="5000" u="none" cap="none" strike="noStrike"/>
          </a:p>
        </p:txBody>
      </p:sp>
      <p:sp>
        <p:nvSpPr>
          <p:cNvPr id="253" name="Google Shape;253;p12"/>
          <p:cNvSpPr/>
          <p:nvPr/>
        </p:nvSpPr>
        <p:spPr>
          <a:xfrm>
            <a:off x="8849320" y="6972657"/>
            <a:ext cx="2418040" cy="302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Datos</a:t>
            </a:r>
            <a:endParaRPr b="0" i="0" sz="1900" u="none" cap="none" strike="noStrike"/>
          </a:p>
        </p:txBody>
      </p:sp>
      <p:sp>
        <p:nvSpPr>
          <p:cNvPr id="254" name="Google Shape;254;p12"/>
          <p:cNvSpPr/>
          <p:nvPr/>
        </p:nvSpPr>
        <p:spPr>
          <a:xfrm>
            <a:off x="6163389" y="7390805"/>
            <a:ext cx="779002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Frameworks procesan y almacenan enormes volúmenes de datos en tiempo real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/>
          <p:nvPr/>
        </p:nvSpPr>
        <p:spPr>
          <a:xfrm>
            <a:off x="793801" y="1637000"/>
            <a:ext cx="11493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450"/>
              <a:buFont typeface="Bitter Medium"/>
              <a:buNone/>
            </a:pPr>
            <a:r>
              <a:rPr b="0" i="0" lang="en-US" sz="44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Características Comunes de Frameworks</a:t>
            </a:r>
            <a:endParaRPr b="0" i="0" sz="4450" u="none" cap="none" strike="noStrike"/>
          </a:p>
        </p:txBody>
      </p:sp>
      <p:sp>
        <p:nvSpPr>
          <p:cNvPr id="261" name="Google Shape;261;p13"/>
          <p:cNvSpPr/>
          <p:nvPr/>
        </p:nvSpPr>
        <p:spPr>
          <a:xfrm>
            <a:off x="793790" y="291274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Modularidad</a:t>
            </a:r>
            <a:endParaRPr b="0" i="0" sz="2200" u="none" cap="none" strike="noStrike"/>
          </a:p>
        </p:txBody>
      </p:sp>
      <p:sp>
        <p:nvSpPr>
          <p:cNvPr id="262" name="Google Shape;262;p13"/>
          <p:cNvSpPr/>
          <p:nvPr/>
        </p:nvSpPr>
        <p:spPr>
          <a:xfrm>
            <a:off x="793790" y="3493889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están diseñados de manera modular, lo que permite a los desarrolladores agregar o quitar funcionalidades según las necesidades del proyecto.</a:t>
            </a:r>
            <a:endParaRPr b="0" i="0" sz="1750" u="none" cap="none" strike="noStrike"/>
          </a:p>
        </p:txBody>
      </p:sp>
      <p:sp>
        <p:nvSpPr>
          <p:cNvPr id="263" name="Google Shape;263;p13"/>
          <p:cNvSpPr/>
          <p:nvPr/>
        </p:nvSpPr>
        <p:spPr>
          <a:xfrm>
            <a:off x="4200406" y="291274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Arquitectura MVC</a:t>
            </a:r>
            <a:endParaRPr b="0" i="0" sz="2200" u="none" cap="none" strike="noStrike"/>
          </a:p>
        </p:txBody>
      </p:sp>
      <p:sp>
        <p:nvSpPr>
          <p:cNvPr id="264" name="Google Shape;264;p13"/>
          <p:cNvSpPr/>
          <p:nvPr/>
        </p:nvSpPr>
        <p:spPr>
          <a:xfrm>
            <a:off x="4200406" y="3493889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Muchos frameworks implementan el patrón de diseño Modelo-Vista-Controlador (MVC) para separar la lógica de negocio, la interfaz de usuario y el flujo de control.</a:t>
            </a:r>
            <a:endParaRPr b="0" i="0" sz="1750" u="none" cap="none" strike="noStrike"/>
          </a:p>
        </p:txBody>
      </p:sp>
      <p:sp>
        <p:nvSpPr>
          <p:cNvPr id="265" name="Google Shape;265;p13"/>
          <p:cNvSpPr/>
          <p:nvPr/>
        </p:nvSpPr>
        <p:spPr>
          <a:xfrm>
            <a:off x="7607022" y="2912745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Reutilización de Código</a:t>
            </a:r>
            <a:endParaRPr b="0" i="0" sz="2200" u="none" cap="none" strike="noStrike"/>
          </a:p>
        </p:txBody>
      </p:sp>
      <p:sp>
        <p:nvSpPr>
          <p:cNvPr id="266" name="Google Shape;266;p13"/>
          <p:cNvSpPr/>
          <p:nvPr/>
        </p:nvSpPr>
        <p:spPr>
          <a:xfrm>
            <a:off x="7607022" y="3848219"/>
            <a:ext cx="2845594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proporcionan componentes y bibliotecas reutilizables, lo que acelera el desarrollo y reduce los costos.</a:t>
            </a:r>
            <a:endParaRPr b="0" i="0" sz="1750" u="none" cap="none" strike="noStrike"/>
          </a:p>
        </p:txBody>
      </p:sp>
      <p:sp>
        <p:nvSpPr>
          <p:cNvPr id="267" name="Google Shape;267;p13"/>
          <p:cNvSpPr/>
          <p:nvPr/>
        </p:nvSpPr>
        <p:spPr>
          <a:xfrm>
            <a:off x="11013638" y="2912745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Convención sobre Configuración</a:t>
            </a:r>
            <a:endParaRPr b="0" i="0" sz="2200" u="none" cap="none" strike="noStrike"/>
          </a:p>
        </p:txBody>
      </p:sp>
      <p:sp>
        <p:nvSpPr>
          <p:cNvPr id="268" name="Google Shape;268;p13"/>
          <p:cNvSpPr/>
          <p:nvPr/>
        </p:nvSpPr>
        <p:spPr>
          <a:xfrm>
            <a:off x="11013638" y="3848219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a menudo siguen el principio de "convención sobre configuración", lo que simplifica la configuración inicial y establece prácticas estándar.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4" name="Google Shape;2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3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0698" y="1688902"/>
            <a:ext cx="4992886" cy="485560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4"/>
          <p:cNvSpPr/>
          <p:nvPr/>
        </p:nvSpPr>
        <p:spPr>
          <a:xfrm>
            <a:off x="690920" y="542806"/>
            <a:ext cx="3948232" cy="493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93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3100"/>
              <a:buFont typeface="Bitter Medium"/>
              <a:buNone/>
            </a:pPr>
            <a:r>
              <a:rPr b="0" i="0" lang="en-US" sz="31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Modularidad</a:t>
            </a:r>
            <a:endParaRPr b="0" i="0" sz="3100" u="none" cap="none" strike="noStrike"/>
          </a:p>
        </p:txBody>
      </p:sp>
      <p:pic>
        <p:nvPicPr>
          <p:cNvPr descr="preencoded.png" id="277" name="Google Shape;27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920" y="1258372"/>
            <a:ext cx="493514" cy="49351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4"/>
          <p:cNvSpPr/>
          <p:nvPr/>
        </p:nvSpPr>
        <p:spPr>
          <a:xfrm>
            <a:off x="690929" y="1949300"/>
            <a:ext cx="61155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Componentes Independientes</a:t>
            </a:r>
            <a:endParaRPr b="0" i="0" sz="1900" u="none" cap="none" strike="noStrike"/>
          </a:p>
        </p:txBody>
      </p:sp>
      <p:sp>
        <p:nvSpPr>
          <p:cNvPr id="279" name="Google Shape;279;p14"/>
          <p:cNvSpPr/>
          <p:nvPr/>
        </p:nvSpPr>
        <p:spPr>
          <a:xfrm>
            <a:off x="690920" y="2376130"/>
            <a:ext cx="7762161" cy="631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frameworks fomentan un diseño modular, donde los componentes de la aplicación son independientes y autosuficientes.</a:t>
            </a:r>
            <a:endParaRPr b="0" i="0" sz="1550" u="none" cap="none" strike="noStrike"/>
          </a:p>
        </p:txBody>
      </p:sp>
      <p:pic>
        <p:nvPicPr>
          <p:cNvPr descr="preencoded.png" id="280" name="Google Shape;28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0920" y="3599855"/>
            <a:ext cx="493514" cy="49351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4"/>
          <p:cNvSpPr/>
          <p:nvPr/>
        </p:nvSpPr>
        <p:spPr>
          <a:xfrm>
            <a:off x="690920" y="4290774"/>
            <a:ext cx="2467689" cy="308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Fácil Integración</a:t>
            </a:r>
            <a:endParaRPr b="0" i="0" sz="1900" u="none" cap="none" strike="noStrike"/>
          </a:p>
        </p:txBody>
      </p:sp>
      <p:sp>
        <p:nvSpPr>
          <p:cNvPr id="282" name="Google Shape;282;p14"/>
          <p:cNvSpPr/>
          <p:nvPr/>
        </p:nvSpPr>
        <p:spPr>
          <a:xfrm>
            <a:off x="690920" y="4717613"/>
            <a:ext cx="7762161" cy="631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Esta modularidad facilita la integración de nuevas funcionalidades y la actualización de componentes individuales.</a:t>
            </a:r>
            <a:endParaRPr b="0" i="0" sz="1550" u="none" cap="none" strike="noStrike"/>
          </a:p>
        </p:txBody>
      </p:sp>
      <p:pic>
        <p:nvPicPr>
          <p:cNvPr descr="preencoded.png" id="283" name="Google Shape;28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0920" y="5941338"/>
            <a:ext cx="493514" cy="49351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4"/>
          <p:cNvSpPr/>
          <p:nvPr/>
        </p:nvSpPr>
        <p:spPr>
          <a:xfrm>
            <a:off x="690927" y="6632250"/>
            <a:ext cx="4653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Mantenimiento Simplificado</a:t>
            </a:r>
            <a:endParaRPr b="0" i="0" sz="1900" u="none" cap="none" strike="noStrike"/>
          </a:p>
        </p:txBody>
      </p:sp>
      <p:sp>
        <p:nvSpPr>
          <p:cNvPr id="285" name="Google Shape;285;p14"/>
          <p:cNvSpPr/>
          <p:nvPr/>
        </p:nvSpPr>
        <p:spPr>
          <a:xfrm>
            <a:off x="690920" y="7059097"/>
            <a:ext cx="7762161" cy="631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Al tener una estructura modular, el mantenimiento y la depuración de la aplicación se vuelven mucho más sencillos.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/>
          <p:nvPr/>
        </p:nvSpPr>
        <p:spPr>
          <a:xfrm>
            <a:off x="793790" y="96595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450"/>
              <a:buFont typeface="Bitter Medium"/>
              <a:buNone/>
            </a:pPr>
            <a:r>
              <a:rPr b="0" i="0" lang="en-US" sz="44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Arquitectura MVC</a:t>
            </a:r>
            <a:endParaRPr b="0" i="0" sz="4450" u="none" cap="none" strike="noStrike"/>
          </a:p>
        </p:txBody>
      </p:sp>
      <p:pic>
        <p:nvPicPr>
          <p:cNvPr descr="preencoded.png" id="292" name="Google Shape;2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28361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/>
          <p:nvPr/>
        </p:nvSpPr>
        <p:spPr>
          <a:xfrm>
            <a:off x="793802" y="4958600"/>
            <a:ext cx="3803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Modelo Vista Controlador</a:t>
            </a:r>
            <a:endParaRPr b="0" i="0" sz="2200" u="none" cap="none" strike="noStrike"/>
          </a:p>
        </p:txBody>
      </p:sp>
      <p:sp>
        <p:nvSpPr>
          <p:cNvPr id="294" name="Google Shape;294;p15"/>
          <p:cNvSpPr/>
          <p:nvPr/>
        </p:nvSpPr>
        <p:spPr>
          <a:xfrm>
            <a:off x="793790" y="5449014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La arquitectura MVC es un patrón de diseño que separa la lógica de negocio, la interfaz de usuario y el control de flujo en tres componentes distintos: el modelo, la vista y el controlador.</a:t>
            </a:r>
            <a:endParaRPr b="0" i="0" sz="1750" u="none" cap="none" strike="noStrike"/>
          </a:p>
        </p:txBody>
      </p:sp>
      <p:pic>
        <p:nvPicPr>
          <p:cNvPr descr="preencoded.png" id="295" name="Google Shape;29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2128361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5"/>
          <p:cNvSpPr/>
          <p:nvPr/>
        </p:nvSpPr>
        <p:spPr>
          <a:xfrm>
            <a:off x="5254704" y="4958715"/>
            <a:ext cx="412087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Separación de Responsabilidades</a:t>
            </a:r>
            <a:endParaRPr b="0" i="0" sz="2200" u="none" cap="none" strike="noStrike"/>
          </a:p>
        </p:txBody>
      </p:sp>
      <p:sp>
        <p:nvSpPr>
          <p:cNvPr id="297" name="Google Shape;297;p15"/>
          <p:cNvSpPr/>
          <p:nvPr/>
        </p:nvSpPr>
        <p:spPr>
          <a:xfrm>
            <a:off x="5254704" y="5803463"/>
            <a:ext cx="412087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Esta división de responsabilidades mejora la organización y mantenibilidad del código, al permitir que cada capa se enfoque en sus funciones específicas.</a:t>
            </a:r>
            <a:endParaRPr b="0" i="0" sz="1750" u="none" cap="none" strike="noStrike"/>
          </a:p>
        </p:txBody>
      </p:sp>
      <p:pic>
        <p:nvPicPr>
          <p:cNvPr descr="preencoded.png" id="298" name="Google Shape;29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2128361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5"/>
          <p:cNvSpPr/>
          <p:nvPr/>
        </p:nvSpPr>
        <p:spPr>
          <a:xfrm>
            <a:off x="9715752" y="4958600"/>
            <a:ext cx="4624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 Medium"/>
              <a:buNone/>
            </a:pPr>
            <a:r>
              <a:rPr b="0" i="0" lang="en-US" sz="22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Ventajas de la Arquitectura MVC</a:t>
            </a:r>
            <a:endParaRPr b="0" i="0" sz="2200" u="none" cap="none" strike="noStrike"/>
          </a:p>
        </p:txBody>
      </p:sp>
      <p:sp>
        <p:nvSpPr>
          <p:cNvPr id="300" name="Google Shape;300;p15"/>
          <p:cNvSpPr/>
          <p:nvPr/>
        </p:nvSpPr>
        <p:spPr>
          <a:xfrm>
            <a:off x="9715738" y="5449014"/>
            <a:ext cx="412075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MVC facilita el desarrollo, pruebas y escalabilidad de las aplicaciones, al agilizar los cambios en cualquiera de las tres capas sin afectar a las demás.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2024-11-03T05:36:48Z</dcterms:created>
  <dc:creator>PptxGenJS</dc:creator>
</cp:coreProperties>
</file>