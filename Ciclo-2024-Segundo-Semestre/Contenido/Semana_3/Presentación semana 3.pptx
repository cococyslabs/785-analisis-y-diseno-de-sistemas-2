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8229600" cx="14630400"/>
  <p:notesSz cx="8229600" cy="14630400"/>
  <p:embeddedFontLst>
    <p:embeddedFont>
      <p:font typeface="Alice"/>
      <p:regular r:id="rId22"/>
    </p:embeddedFont>
    <p:embeddedFont>
      <p:font typeface="Lora"/>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h7JIJoqJEeGe4/uSmi2edYdJEp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31B3617-1BE4-46AE-A4F9-F288ECC60089}">
  <a:tblStyle styleId="{C31B3617-1BE4-46AE-A4F9-F288ECC6008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Alice-regular.fntdata"/><Relationship Id="rId21" Type="http://schemas.openxmlformats.org/officeDocument/2006/relationships/slide" Target="slides/slide16.xml"/><Relationship Id="rId24" Type="http://schemas.openxmlformats.org/officeDocument/2006/relationships/font" Target="fonts/Lora-bold.fntdata"/><Relationship Id="rId23" Type="http://schemas.openxmlformats.org/officeDocument/2006/relationships/font" Target="fonts/Lora-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ora-boldItalic.fntdata"/><Relationship Id="rId25" Type="http://schemas.openxmlformats.org/officeDocument/2006/relationships/font" Target="fonts/Lora-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d529a3aa6a_0_0:notes"/>
          <p:cNvSpPr/>
          <p:nvPr>
            <p:ph idx="2" type="sldImg"/>
          </p:nvPr>
        </p:nvSpPr>
        <p:spPr>
          <a:xfrm>
            <a:off x="457560" y="1097280"/>
            <a:ext cx="7315200" cy="54864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g2d529a3aa6a_0_0:notes"/>
          <p:cNvSpPr txBox="1"/>
          <p:nvPr>
            <p:ph idx="1" type="body"/>
          </p:nvPr>
        </p:nvSpPr>
        <p:spPr>
          <a:xfrm>
            <a:off x="822960" y="6949440"/>
            <a:ext cx="6583800" cy="65838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15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 name="Google Shape;7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 name="Google Shape;7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6" name="Google Shape;13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7" name="Google Shape;13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6" name="Google Shape;17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sp>
        <p:nvSpPr>
          <p:cNvPr id="11" name="Google Shape;11;p17"/>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7"/>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3" name="Shape 13"/>
        <p:cNvGrpSpPr/>
        <p:nvPr/>
      </p:nvGrpSpPr>
      <p:grpSpPr>
        <a:xfrm>
          <a:off x="0" y="0"/>
          <a:ext cx="0" cy="0"/>
          <a:chOff x="0" y="0"/>
          <a:chExt cx="0" cy="0"/>
        </a:xfrm>
      </p:grpSpPr>
      <p:sp>
        <p:nvSpPr>
          <p:cNvPr id="14" name="Google Shape;14;p18"/>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8"/>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6" name="Shape 16"/>
        <p:cNvGrpSpPr/>
        <p:nvPr/>
      </p:nvGrpSpPr>
      <p:grpSpPr>
        <a:xfrm>
          <a:off x="0" y="0"/>
          <a:ext cx="0" cy="0"/>
          <a:chOff x="0" y="0"/>
          <a:chExt cx="0" cy="0"/>
        </a:xfrm>
      </p:grpSpPr>
      <p:sp>
        <p:nvSpPr>
          <p:cNvPr id="17" name="Google Shape;17;p19"/>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9"/>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9" name="Shape 19"/>
        <p:cNvGrpSpPr/>
        <p:nvPr/>
      </p:nvGrpSpPr>
      <p:grpSpPr>
        <a:xfrm>
          <a:off x="0" y="0"/>
          <a:ext cx="0" cy="0"/>
          <a:chOff x="0" y="0"/>
          <a:chExt cx="0" cy="0"/>
        </a:xfrm>
      </p:grpSpPr>
      <p:sp>
        <p:nvSpPr>
          <p:cNvPr id="20" name="Google Shape;20;p20"/>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0"/>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2" name="Shape 22"/>
        <p:cNvGrpSpPr/>
        <p:nvPr/>
      </p:nvGrpSpPr>
      <p:grpSpPr>
        <a:xfrm>
          <a:off x="0" y="0"/>
          <a:ext cx="0" cy="0"/>
          <a:chOff x="0" y="0"/>
          <a:chExt cx="0" cy="0"/>
        </a:xfrm>
      </p:grpSpPr>
      <p:sp>
        <p:nvSpPr>
          <p:cNvPr id="23" name="Google Shape;23;p21"/>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1"/>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5" name="Shape 25"/>
        <p:cNvGrpSpPr/>
        <p:nvPr/>
      </p:nvGrpSpPr>
      <p:grpSpPr>
        <a:xfrm>
          <a:off x="0" y="0"/>
          <a:ext cx="0" cy="0"/>
          <a:chOff x="0" y="0"/>
          <a:chExt cx="0" cy="0"/>
        </a:xfrm>
      </p:grpSpPr>
      <p:sp>
        <p:nvSpPr>
          <p:cNvPr id="26" name="Google Shape;26;p22"/>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2"/>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8" name="Shape 28"/>
        <p:cNvGrpSpPr/>
        <p:nvPr/>
      </p:nvGrpSpPr>
      <p:grpSpPr>
        <a:xfrm>
          <a:off x="0" y="0"/>
          <a:ext cx="0" cy="0"/>
          <a:chOff x="0" y="0"/>
          <a:chExt cx="0" cy="0"/>
        </a:xfrm>
      </p:grpSpPr>
      <p:sp>
        <p:nvSpPr>
          <p:cNvPr id="29" name="Google Shape;29;p23"/>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3"/>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1" name="Shape 31"/>
        <p:cNvGrpSpPr/>
        <p:nvPr/>
      </p:nvGrpSpPr>
      <p:grpSpPr>
        <a:xfrm>
          <a:off x="0" y="0"/>
          <a:ext cx="0" cy="0"/>
          <a:chOff x="0" y="0"/>
          <a:chExt cx="0" cy="0"/>
        </a:xfrm>
      </p:grpSpPr>
      <p:sp>
        <p:nvSpPr>
          <p:cNvPr id="32" name="Google Shape;32;p24"/>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4"/>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4" name="Shape 34"/>
        <p:cNvGrpSpPr/>
        <p:nvPr/>
      </p:nvGrpSpPr>
      <p:grpSpPr>
        <a:xfrm>
          <a:off x="0" y="0"/>
          <a:ext cx="0" cy="0"/>
          <a:chOff x="0" y="0"/>
          <a:chExt cx="0" cy="0"/>
        </a:xfrm>
      </p:grpSpPr>
      <p:sp>
        <p:nvSpPr>
          <p:cNvPr id="35" name="Google Shape;35;p25"/>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5"/>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bg>
      <p:bgPr>
        <a:solidFill>
          <a:srgbClr val="000000"/>
        </a:solidFill>
      </p:bgPr>
    </p:bg>
    <p:spTree>
      <p:nvGrpSpPr>
        <p:cNvPr id="37" name="Shape 37"/>
        <p:cNvGrpSpPr/>
        <p:nvPr/>
      </p:nvGrpSpPr>
      <p:grpSpPr>
        <a:xfrm>
          <a:off x="0" y="0"/>
          <a:ext cx="0" cy="0"/>
          <a:chOff x="0" y="0"/>
          <a:chExt cx="0" cy="0"/>
        </a:xfrm>
      </p:grpSpPr>
      <p:sp>
        <p:nvSpPr>
          <p:cNvPr id="38" name="Google Shape;38;p26"/>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6"/>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bg>
      <p:bgPr>
        <a:solidFill>
          <a:srgbClr val="000000"/>
        </a:solidFill>
      </p:bgPr>
    </p:bg>
    <p:spTree>
      <p:nvGrpSpPr>
        <p:cNvPr id="40" name="Shape 40"/>
        <p:cNvGrpSpPr/>
        <p:nvPr/>
      </p:nvGrpSpPr>
      <p:grpSpPr>
        <a:xfrm>
          <a:off x="0" y="0"/>
          <a:ext cx="0" cy="0"/>
          <a:chOff x="0" y="0"/>
          <a:chExt cx="0" cy="0"/>
        </a:xfrm>
      </p:grpSpPr>
      <p:sp>
        <p:nvSpPr>
          <p:cNvPr id="41" name="Google Shape;41;p27"/>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7"/>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bg>
      <p:bgPr>
        <a:solidFill>
          <a:srgbClr val="000000"/>
        </a:solidFill>
      </p:bgPr>
    </p:bg>
    <p:spTree>
      <p:nvGrpSpPr>
        <p:cNvPr id="43" name="Shape 43"/>
        <p:cNvGrpSpPr/>
        <p:nvPr/>
      </p:nvGrpSpPr>
      <p:grpSpPr>
        <a:xfrm>
          <a:off x="0" y="0"/>
          <a:ext cx="0" cy="0"/>
          <a:chOff x="0" y="0"/>
          <a:chExt cx="0" cy="0"/>
        </a:xfrm>
      </p:grpSpPr>
      <p:sp>
        <p:nvSpPr>
          <p:cNvPr id="44" name="Google Shape;44;p28"/>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8"/>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bg>
      <p:bgPr>
        <a:solidFill>
          <a:srgbClr val="000000"/>
        </a:solidFill>
      </p:bgPr>
    </p:bg>
    <p:spTree>
      <p:nvGrpSpPr>
        <p:cNvPr id="46" name="Shape 46"/>
        <p:cNvGrpSpPr/>
        <p:nvPr/>
      </p:nvGrpSpPr>
      <p:grpSpPr>
        <a:xfrm>
          <a:off x="0" y="0"/>
          <a:ext cx="0" cy="0"/>
          <a:chOff x="0" y="0"/>
          <a:chExt cx="0" cy="0"/>
        </a:xfrm>
      </p:grpSpPr>
      <p:sp>
        <p:nvSpPr>
          <p:cNvPr id="47" name="Google Shape;47;p29"/>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9"/>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bg>
      <p:bgPr>
        <a:solidFill>
          <a:srgbClr val="000000"/>
        </a:solidFill>
      </p:bgPr>
    </p:bg>
    <p:spTree>
      <p:nvGrpSpPr>
        <p:cNvPr id="49" name="Shape 49"/>
        <p:cNvGrpSpPr/>
        <p:nvPr/>
      </p:nvGrpSpPr>
      <p:grpSpPr>
        <a:xfrm>
          <a:off x="0" y="0"/>
          <a:ext cx="0" cy="0"/>
          <a:chOff x="0" y="0"/>
          <a:chExt cx="0" cy="0"/>
        </a:xfrm>
      </p:grpSpPr>
      <p:sp>
        <p:nvSpPr>
          <p:cNvPr id="50" name="Google Shape;50;p30"/>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0"/>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bg>
      <p:bgPr>
        <a:solidFill>
          <a:srgbClr val="000000"/>
        </a:solidFill>
      </p:bgPr>
    </p:bg>
    <p:spTree>
      <p:nvGrpSpPr>
        <p:cNvPr id="52" name="Shape 52"/>
        <p:cNvGrpSpPr/>
        <p:nvPr/>
      </p:nvGrpSpPr>
      <p:grpSpPr>
        <a:xfrm>
          <a:off x="0" y="0"/>
          <a:ext cx="0" cy="0"/>
          <a:chOff x="0" y="0"/>
          <a:chExt cx="0" cy="0"/>
        </a:xfrm>
      </p:grpSpPr>
      <p:sp>
        <p:nvSpPr>
          <p:cNvPr id="53" name="Google Shape;53;p31"/>
          <p:cNvSpPr/>
          <p:nvPr/>
        </p:nvSpPr>
        <p:spPr>
          <a:xfrm>
            <a:off x="0" y="0"/>
            <a:ext cx="14630400" cy="8229600"/>
          </a:xfrm>
          <a:prstGeom prst="rect">
            <a:avLst/>
          </a:prstGeom>
          <a:solidFill>
            <a:srgbClr val="F1F2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1"/>
          <p:cNvSpPr/>
          <p:nvPr/>
        </p:nvSpPr>
        <p:spPr>
          <a:xfrm>
            <a:off x="0" y="0"/>
            <a:ext cx="14630400" cy="8229600"/>
          </a:xfrm>
          <a:prstGeom prst="rect">
            <a:avLst/>
          </a:prstGeom>
          <a:solidFill>
            <a:srgbClr val="FCFB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5" name="Shape 55"/>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6" name="Shape 56"/>
        <p:cNvGrpSpPr/>
        <p:nvPr/>
      </p:nvGrpSpPr>
      <p:grpSpPr>
        <a:xfrm>
          <a:off x="0" y="0"/>
          <a:ext cx="0" cy="0"/>
          <a:chOff x="0" y="0"/>
          <a:chExt cx="0" cy="0"/>
        </a:xfrm>
      </p:grpSpPr>
      <p:sp>
        <p:nvSpPr>
          <p:cNvPr id="57" name="Google Shape;57;g2d529a3aa6a_0_58"/>
          <p:cNvSpPr txBox="1"/>
          <p:nvPr>
            <p:ph type="title"/>
          </p:nvPr>
        </p:nvSpPr>
        <p:spPr>
          <a:xfrm>
            <a:off x="498720" y="712040"/>
            <a:ext cx="13632900" cy="916200"/>
          </a:xfrm>
          <a:prstGeom prst="rect">
            <a:avLst/>
          </a:prstGeom>
          <a:noFill/>
          <a:ln>
            <a:noFill/>
          </a:ln>
        </p:spPr>
        <p:txBody>
          <a:bodyPr anchorCtr="0" anchor="t" bIns="146275" lIns="146275" spcFirstLastPara="1" rIns="146275" wrap="square" tIns="146275">
            <a:normAutofit/>
          </a:bodyPr>
          <a:lstStyle>
            <a:lvl1pPr lvl="0" algn="l">
              <a:lnSpc>
                <a:spcPct val="100000"/>
              </a:lnSpc>
              <a:spcBef>
                <a:spcPts val="0"/>
              </a:spcBef>
              <a:spcAft>
                <a:spcPts val="0"/>
              </a:spcAft>
              <a:buSzPts val="4500"/>
              <a:buNone/>
              <a:defRPr sz="1100"/>
            </a:lvl1pPr>
            <a:lvl2pPr lvl="1" algn="l">
              <a:lnSpc>
                <a:spcPct val="100000"/>
              </a:lnSpc>
              <a:spcBef>
                <a:spcPts val="0"/>
              </a:spcBef>
              <a:spcAft>
                <a:spcPts val="0"/>
              </a:spcAft>
              <a:buSzPts val="4500"/>
              <a:buNone/>
              <a:defRPr sz="1100"/>
            </a:lvl2pPr>
            <a:lvl3pPr lvl="2" algn="l">
              <a:lnSpc>
                <a:spcPct val="100000"/>
              </a:lnSpc>
              <a:spcBef>
                <a:spcPts val="0"/>
              </a:spcBef>
              <a:spcAft>
                <a:spcPts val="0"/>
              </a:spcAft>
              <a:buSzPts val="4500"/>
              <a:buNone/>
              <a:defRPr sz="1100"/>
            </a:lvl3pPr>
            <a:lvl4pPr lvl="3" algn="l">
              <a:lnSpc>
                <a:spcPct val="100000"/>
              </a:lnSpc>
              <a:spcBef>
                <a:spcPts val="0"/>
              </a:spcBef>
              <a:spcAft>
                <a:spcPts val="0"/>
              </a:spcAft>
              <a:buSzPts val="4500"/>
              <a:buNone/>
              <a:defRPr sz="1100"/>
            </a:lvl4pPr>
            <a:lvl5pPr lvl="4" algn="l">
              <a:lnSpc>
                <a:spcPct val="100000"/>
              </a:lnSpc>
              <a:spcBef>
                <a:spcPts val="0"/>
              </a:spcBef>
              <a:spcAft>
                <a:spcPts val="0"/>
              </a:spcAft>
              <a:buSzPts val="4500"/>
              <a:buNone/>
              <a:defRPr sz="1100"/>
            </a:lvl5pPr>
            <a:lvl6pPr lvl="5" algn="l">
              <a:lnSpc>
                <a:spcPct val="100000"/>
              </a:lnSpc>
              <a:spcBef>
                <a:spcPts val="0"/>
              </a:spcBef>
              <a:spcAft>
                <a:spcPts val="0"/>
              </a:spcAft>
              <a:buSzPts val="4500"/>
              <a:buNone/>
              <a:defRPr sz="1100"/>
            </a:lvl6pPr>
            <a:lvl7pPr lvl="6" algn="l">
              <a:lnSpc>
                <a:spcPct val="100000"/>
              </a:lnSpc>
              <a:spcBef>
                <a:spcPts val="0"/>
              </a:spcBef>
              <a:spcAft>
                <a:spcPts val="0"/>
              </a:spcAft>
              <a:buSzPts val="4500"/>
              <a:buNone/>
              <a:defRPr sz="1100"/>
            </a:lvl7pPr>
            <a:lvl8pPr lvl="7" algn="l">
              <a:lnSpc>
                <a:spcPct val="100000"/>
              </a:lnSpc>
              <a:spcBef>
                <a:spcPts val="0"/>
              </a:spcBef>
              <a:spcAft>
                <a:spcPts val="0"/>
              </a:spcAft>
              <a:buSzPts val="4500"/>
              <a:buNone/>
              <a:defRPr sz="1100"/>
            </a:lvl8pPr>
            <a:lvl9pPr lvl="8" algn="l">
              <a:lnSpc>
                <a:spcPct val="100000"/>
              </a:lnSpc>
              <a:spcBef>
                <a:spcPts val="0"/>
              </a:spcBef>
              <a:spcAft>
                <a:spcPts val="0"/>
              </a:spcAft>
              <a:buSzPts val="4500"/>
              <a:buNone/>
              <a:defRPr sz="1100"/>
            </a:lvl9pPr>
          </a:lstStyle>
          <a:p/>
        </p:txBody>
      </p:sp>
      <p:sp>
        <p:nvSpPr>
          <p:cNvPr id="58" name="Google Shape;58;g2d529a3aa6a_0_58"/>
          <p:cNvSpPr txBox="1"/>
          <p:nvPr>
            <p:ph idx="1" type="body"/>
          </p:nvPr>
        </p:nvSpPr>
        <p:spPr>
          <a:xfrm>
            <a:off x="498720" y="1843960"/>
            <a:ext cx="13632900" cy="5466300"/>
          </a:xfrm>
          <a:prstGeom prst="rect">
            <a:avLst/>
          </a:prstGeom>
          <a:noFill/>
          <a:ln>
            <a:noFill/>
          </a:ln>
        </p:spPr>
        <p:txBody>
          <a:bodyPr anchorCtr="0" anchor="t" bIns="146275" lIns="146275" spcFirstLastPara="1" rIns="146275" wrap="square" tIns="146275">
            <a:normAutofit/>
          </a:bodyPr>
          <a:lstStyle>
            <a:lvl1pPr indent="-412750" lvl="0" marL="457200" algn="l">
              <a:lnSpc>
                <a:spcPct val="115000"/>
              </a:lnSpc>
              <a:spcBef>
                <a:spcPts val="0"/>
              </a:spcBef>
              <a:spcAft>
                <a:spcPts val="0"/>
              </a:spcAft>
              <a:buSzPts val="2900"/>
              <a:buChar char="●"/>
              <a:defRPr sz="1100"/>
            </a:lvl1pPr>
            <a:lvl2pPr indent="-368300" lvl="1" marL="914400" algn="l">
              <a:lnSpc>
                <a:spcPct val="115000"/>
              </a:lnSpc>
              <a:spcBef>
                <a:spcPts val="0"/>
              </a:spcBef>
              <a:spcAft>
                <a:spcPts val="0"/>
              </a:spcAft>
              <a:buSzPts val="2200"/>
              <a:buChar char="○"/>
              <a:defRPr sz="1100"/>
            </a:lvl2pPr>
            <a:lvl3pPr indent="-368300" lvl="2" marL="1371600" algn="l">
              <a:lnSpc>
                <a:spcPct val="115000"/>
              </a:lnSpc>
              <a:spcBef>
                <a:spcPts val="0"/>
              </a:spcBef>
              <a:spcAft>
                <a:spcPts val="0"/>
              </a:spcAft>
              <a:buSzPts val="2200"/>
              <a:buChar char="■"/>
              <a:defRPr sz="1100"/>
            </a:lvl3pPr>
            <a:lvl4pPr indent="-368300" lvl="3" marL="1828800" algn="l">
              <a:lnSpc>
                <a:spcPct val="115000"/>
              </a:lnSpc>
              <a:spcBef>
                <a:spcPts val="0"/>
              </a:spcBef>
              <a:spcAft>
                <a:spcPts val="0"/>
              </a:spcAft>
              <a:buSzPts val="2200"/>
              <a:buChar char="●"/>
              <a:defRPr sz="1100"/>
            </a:lvl4pPr>
            <a:lvl5pPr indent="-368300" lvl="4" marL="2286000" algn="l">
              <a:lnSpc>
                <a:spcPct val="115000"/>
              </a:lnSpc>
              <a:spcBef>
                <a:spcPts val="0"/>
              </a:spcBef>
              <a:spcAft>
                <a:spcPts val="0"/>
              </a:spcAft>
              <a:buSzPts val="2200"/>
              <a:buChar char="○"/>
              <a:defRPr sz="1100"/>
            </a:lvl5pPr>
            <a:lvl6pPr indent="-368300" lvl="5" marL="2743200" algn="l">
              <a:lnSpc>
                <a:spcPct val="115000"/>
              </a:lnSpc>
              <a:spcBef>
                <a:spcPts val="0"/>
              </a:spcBef>
              <a:spcAft>
                <a:spcPts val="0"/>
              </a:spcAft>
              <a:buSzPts val="2200"/>
              <a:buChar char="■"/>
              <a:defRPr sz="1100"/>
            </a:lvl6pPr>
            <a:lvl7pPr indent="-368300" lvl="6" marL="3200400" algn="l">
              <a:lnSpc>
                <a:spcPct val="115000"/>
              </a:lnSpc>
              <a:spcBef>
                <a:spcPts val="0"/>
              </a:spcBef>
              <a:spcAft>
                <a:spcPts val="0"/>
              </a:spcAft>
              <a:buSzPts val="2200"/>
              <a:buChar char="●"/>
              <a:defRPr sz="1100"/>
            </a:lvl7pPr>
            <a:lvl8pPr indent="-368300" lvl="7" marL="3657600" algn="l">
              <a:lnSpc>
                <a:spcPct val="115000"/>
              </a:lnSpc>
              <a:spcBef>
                <a:spcPts val="0"/>
              </a:spcBef>
              <a:spcAft>
                <a:spcPts val="0"/>
              </a:spcAft>
              <a:buSzPts val="2200"/>
              <a:buChar char="○"/>
              <a:defRPr sz="1100"/>
            </a:lvl8pPr>
            <a:lvl9pPr indent="-368300" lvl="8" marL="4114800" algn="l">
              <a:lnSpc>
                <a:spcPct val="115000"/>
              </a:lnSpc>
              <a:spcBef>
                <a:spcPts val="0"/>
              </a:spcBef>
              <a:spcAft>
                <a:spcPts val="0"/>
              </a:spcAft>
              <a:buSzPts val="2200"/>
              <a:buChar char="■"/>
              <a:defRPr sz="1100"/>
            </a:lvl9pPr>
          </a:lstStyle>
          <a:p/>
        </p:txBody>
      </p:sp>
      <p:sp>
        <p:nvSpPr>
          <p:cNvPr id="59" name="Google Shape;59;g2d529a3aa6a_0_58"/>
          <p:cNvSpPr txBox="1"/>
          <p:nvPr>
            <p:ph idx="12" type="sldNum"/>
          </p:nvPr>
        </p:nvSpPr>
        <p:spPr>
          <a:xfrm>
            <a:off x="13555933" y="7461147"/>
            <a:ext cx="877800" cy="629700"/>
          </a:xfrm>
          <a:prstGeom prst="rect">
            <a:avLst/>
          </a:prstGeom>
          <a:noFill/>
          <a:ln>
            <a:noFill/>
          </a:ln>
        </p:spPr>
        <p:txBody>
          <a:bodyPr anchorCtr="0" anchor="ctr" bIns="146275" lIns="146275" spcFirstLastPara="1" rIns="146275" wrap="square" tIns="146275">
            <a:normAutofit/>
          </a:bodyPr>
          <a:lstStyle>
            <a:lvl1pPr indent="0" lvl="0"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600"/>
              <a:buFont typeface="Arial"/>
              <a:buNone/>
              <a:defRPr b="0" i="0" sz="16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xml"/><Relationship Id="rId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2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5.png"/><Relationship Id="rId4"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6.png"/><Relationship Id="rId4" Type="http://schemas.openxmlformats.org/officeDocument/2006/relationships/image" Target="../media/image19.png"/><Relationship Id="rId5" Type="http://schemas.openxmlformats.org/officeDocument/2006/relationships/image" Target="../media/image14.png"/><Relationship Id="rId6" Type="http://schemas.openxmlformats.org/officeDocument/2006/relationships/image" Target="../media/image13.png"/><Relationship Id="rId7"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28.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g2d529a3aa6a_0_0"/>
          <p:cNvPicPr preferRelativeResize="0"/>
          <p:nvPr/>
        </p:nvPicPr>
        <p:blipFill rotWithShape="1">
          <a:blip r:embed="rId3">
            <a:alphaModFix amt="62000"/>
          </a:blip>
          <a:srcRect b="0" l="0" r="0" t="0"/>
          <a:stretch/>
        </p:blipFill>
        <p:spPr>
          <a:xfrm>
            <a:off x="13522" y="0"/>
            <a:ext cx="14603357" cy="8229600"/>
          </a:xfrm>
          <a:prstGeom prst="rect">
            <a:avLst/>
          </a:prstGeom>
          <a:noFill/>
          <a:ln>
            <a:noFill/>
          </a:ln>
        </p:spPr>
      </p:pic>
      <p:graphicFrame>
        <p:nvGraphicFramePr>
          <p:cNvPr id="65" name="Google Shape;65;g2d529a3aa6a_0_0"/>
          <p:cNvGraphicFramePr/>
          <p:nvPr/>
        </p:nvGraphicFramePr>
        <p:xfrm>
          <a:off x="8525120" y="1552040"/>
          <a:ext cx="3000000" cy="3000000"/>
        </p:xfrm>
        <a:graphic>
          <a:graphicData uri="http://schemas.openxmlformats.org/drawingml/2006/table">
            <a:tbl>
              <a:tblPr>
                <a:noFill/>
                <a:tableStyleId>{C31B3617-1BE4-46AE-A4F9-F288ECC60089}</a:tableStyleId>
              </a:tblPr>
              <a:tblGrid>
                <a:gridCol w="2429125"/>
                <a:gridCol w="3475800"/>
              </a:tblGrid>
              <a:tr h="515925">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dk1"/>
                          </a:solidFill>
                        </a:rPr>
                        <a:t>Día, Fecha:</a:t>
                      </a:r>
                      <a:endParaRPr b="1" sz="2200" u="none" cap="none" strike="noStrike">
                        <a:solidFill>
                          <a:schemeClr val="dk1"/>
                        </a:solidFill>
                      </a:endParaRPr>
                    </a:p>
                  </a:txBody>
                  <a:tcPr marT="146275" marB="146275" marR="146275" marL="146275"/>
                </a:tc>
                <a:tc>
                  <a:txBody>
                    <a:bodyPr/>
                    <a:lstStyle/>
                    <a:p>
                      <a:pPr indent="0" lvl="0" marL="0" marR="0" rtl="0" algn="l">
                        <a:lnSpc>
                          <a:spcPct val="100000"/>
                        </a:lnSpc>
                        <a:spcBef>
                          <a:spcPts val="0"/>
                        </a:spcBef>
                        <a:spcAft>
                          <a:spcPts val="0"/>
                        </a:spcAft>
                        <a:buClr>
                          <a:srgbClr val="000000"/>
                        </a:buClr>
                        <a:buSzPts val="2200"/>
                        <a:buFont typeface="Arial"/>
                        <a:buNone/>
                      </a:pPr>
                      <a:r>
                        <a:rPr lang="en-US" sz="2200"/>
                        <a:t>Día, xx/xx/2025 </a:t>
                      </a:r>
                      <a:endParaRPr sz="2200" u="none" cap="none" strike="noStrike"/>
                    </a:p>
                  </a:txBody>
                  <a:tcPr marT="146275" marB="146275" marR="146275" marL="146275"/>
                </a:tc>
              </a:tr>
              <a:tr h="580950">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dk1"/>
                          </a:solidFill>
                        </a:rPr>
                        <a:t>Hora de inicio:</a:t>
                      </a:r>
                      <a:endParaRPr b="1" sz="2200" u="none" cap="none" strike="noStrike">
                        <a:solidFill>
                          <a:schemeClr val="dk1"/>
                        </a:solidFill>
                      </a:endParaRPr>
                    </a:p>
                  </a:txBody>
                  <a:tcPr marT="146275" marB="146275" marR="146275" marL="146275"/>
                </a:tc>
                <a:tc>
                  <a:txBody>
                    <a:bodyPr/>
                    <a:lstStyle/>
                    <a:p>
                      <a:pPr indent="0" lvl="0" marL="0" marR="0" rtl="0" algn="l">
                        <a:lnSpc>
                          <a:spcPct val="100000"/>
                        </a:lnSpc>
                        <a:spcBef>
                          <a:spcPts val="0"/>
                        </a:spcBef>
                        <a:spcAft>
                          <a:spcPts val="0"/>
                        </a:spcAft>
                        <a:buClr>
                          <a:srgbClr val="000000"/>
                        </a:buClr>
                        <a:buSzPts val="2200"/>
                        <a:buFont typeface="Arial"/>
                        <a:buNone/>
                      </a:pPr>
                      <a:r>
                        <a:rPr lang="en-US" sz="2200"/>
                        <a:t>xx:xx</a:t>
                      </a:r>
                      <a:endParaRPr sz="2200" u="none" cap="none" strike="noStrike"/>
                    </a:p>
                  </a:txBody>
                  <a:tcPr marT="146275" marB="146275" marR="146275" marL="146275"/>
                </a:tc>
              </a:tr>
            </a:tbl>
          </a:graphicData>
        </a:graphic>
      </p:graphicFrame>
      <p:sp>
        <p:nvSpPr>
          <p:cNvPr id="66" name="Google Shape;66;g2d529a3aa6a_0_0"/>
          <p:cNvSpPr txBox="1"/>
          <p:nvPr/>
        </p:nvSpPr>
        <p:spPr>
          <a:xfrm>
            <a:off x="2304280" y="3613280"/>
            <a:ext cx="10867200" cy="911100"/>
          </a:xfrm>
          <a:prstGeom prst="rect">
            <a:avLst/>
          </a:prstGeom>
          <a:noFill/>
          <a:ln>
            <a:noFill/>
          </a:ln>
        </p:spPr>
        <p:txBody>
          <a:bodyPr anchorCtr="0" anchor="t" bIns="146275" lIns="146275" spcFirstLastPara="1" rIns="146275" wrap="square" tIns="146275">
            <a:spAutoFit/>
          </a:bodyPr>
          <a:lstStyle/>
          <a:p>
            <a:pPr indent="0" lvl="0" marL="0" marR="0" rtl="0" algn="l">
              <a:lnSpc>
                <a:spcPct val="100000"/>
              </a:lnSpc>
              <a:spcBef>
                <a:spcPts val="0"/>
              </a:spcBef>
              <a:spcAft>
                <a:spcPts val="0"/>
              </a:spcAft>
              <a:buClr>
                <a:srgbClr val="000000"/>
              </a:buClr>
              <a:buSzPts val="4000"/>
              <a:buFont typeface="Arial"/>
              <a:buNone/>
            </a:pPr>
            <a:r>
              <a:rPr lang="en-US" sz="4000"/>
              <a:t>Análisis y Diseño de Sistemas 2 </a:t>
            </a:r>
            <a:r>
              <a:rPr b="0" i="0" lang="en-US" sz="4000" u="none" cap="none" strike="noStrike">
                <a:solidFill>
                  <a:srgbClr val="000000"/>
                </a:solidFill>
                <a:latin typeface="Arial"/>
                <a:ea typeface="Arial"/>
                <a:cs typeface="Arial"/>
                <a:sym typeface="Arial"/>
              </a:rPr>
              <a:t>[</a:t>
            </a:r>
            <a:r>
              <a:rPr lang="en-US" sz="4000"/>
              <a:t>SECCIÓN</a:t>
            </a:r>
            <a:r>
              <a:rPr b="0" i="0" lang="en-US" sz="4000" u="none" cap="none" strike="noStrike">
                <a:solidFill>
                  <a:srgbClr val="000000"/>
                </a:solidFill>
                <a:latin typeface="Arial"/>
                <a:ea typeface="Arial"/>
                <a:cs typeface="Arial"/>
                <a:sym typeface="Arial"/>
              </a:rPr>
              <a:t>]</a:t>
            </a:r>
            <a:endParaRPr b="0" i="0" sz="4000" u="none" cap="none" strike="noStrike">
              <a:solidFill>
                <a:srgbClr val="000000"/>
              </a:solidFill>
              <a:latin typeface="Arial"/>
              <a:ea typeface="Arial"/>
              <a:cs typeface="Arial"/>
              <a:sym typeface="Arial"/>
            </a:endParaRPr>
          </a:p>
        </p:txBody>
      </p:sp>
      <p:sp>
        <p:nvSpPr>
          <p:cNvPr id="67" name="Google Shape;67;g2d529a3aa6a_0_0"/>
          <p:cNvSpPr txBox="1"/>
          <p:nvPr/>
        </p:nvSpPr>
        <p:spPr>
          <a:xfrm>
            <a:off x="2845920" y="4641200"/>
            <a:ext cx="8938500" cy="788100"/>
          </a:xfrm>
          <a:prstGeom prst="rect">
            <a:avLst/>
          </a:prstGeom>
          <a:noFill/>
          <a:ln>
            <a:noFill/>
          </a:ln>
        </p:spPr>
        <p:txBody>
          <a:bodyPr anchorCtr="0" anchor="t" bIns="146275" lIns="146275" spcFirstLastPara="1" rIns="146275" wrap="square" tIns="146275">
            <a:spAutoFit/>
          </a:bodyPr>
          <a:lstStyle/>
          <a:p>
            <a:pPr indent="0" lvl="0" marL="0" marR="0" rtl="0" algn="l">
              <a:lnSpc>
                <a:spcPct val="100000"/>
              </a:lnSpc>
              <a:spcBef>
                <a:spcPts val="0"/>
              </a:spcBef>
              <a:spcAft>
                <a:spcPts val="0"/>
              </a:spcAft>
              <a:buClr>
                <a:srgbClr val="000000"/>
              </a:buClr>
              <a:buSzPts val="3200"/>
              <a:buFont typeface="Arial"/>
              <a:buNone/>
            </a:pPr>
            <a:r>
              <a:rPr lang="en-US" sz="3200"/>
              <a:t>Estudiante</a:t>
            </a:r>
            <a:endParaRPr b="0" i="0" sz="32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pic>
        <p:nvPicPr>
          <p:cNvPr descr="preencoded.png" id="73" name="Google Shape;73;p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74" name="Google Shape;74;p1"/>
          <p:cNvPicPr preferRelativeResize="0"/>
          <p:nvPr/>
        </p:nvPicPr>
        <p:blipFill rotWithShape="1">
          <a:blip r:embed="rId4">
            <a:alphaModFix/>
          </a:blip>
          <a:srcRect b="0" l="0" r="0" t="0"/>
          <a:stretch/>
        </p:blipFill>
        <p:spPr>
          <a:xfrm>
            <a:off x="9427488" y="1655088"/>
            <a:ext cx="4919424" cy="4919424"/>
          </a:xfrm>
          <a:prstGeom prst="rect">
            <a:avLst/>
          </a:prstGeom>
          <a:noFill/>
          <a:ln>
            <a:noFill/>
          </a:ln>
        </p:spPr>
      </p:pic>
      <p:sp>
        <p:nvSpPr>
          <p:cNvPr id="75" name="Google Shape;75;p1"/>
          <p:cNvSpPr/>
          <p:nvPr/>
        </p:nvSpPr>
        <p:spPr>
          <a:xfrm>
            <a:off x="793790" y="2184083"/>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Patrones de diseño creacionales</a:t>
            </a:r>
            <a:endParaRPr b="0" i="0" sz="4450" u="none" cap="none" strike="noStrike"/>
          </a:p>
        </p:txBody>
      </p:sp>
      <p:sp>
        <p:nvSpPr>
          <p:cNvPr id="76" name="Google Shape;76;p1"/>
          <p:cNvSpPr/>
          <p:nvPr/>
        </p:nvSpPr>
        <p:spPr>
          <a:xfrm>
            <a:off x="793790" y="3941802"/>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Los patrones de diseño creacionales se enfocan en la creación de objetos de manera sistemática y flexible, facilitando la construcción de sistemas complejos. Estos patrones proporcionan soluciones probadas para problemas comunes de diseño de software.</a:t>
            </a:r>
            <a:endParaRPr b="0" i="0" sz="1750" u="none" cap="none" strike="noStrike"/>
          </a:p>
        </p:txBody>
      </p:sp>
      <p:sp>
        <p:nvSpPr>
          <p:cNvPr id="77" name="Google Shape;77;p1"/>
          <p:cNvSpPr/>
          <p:nvPr/>
        </p:nvSpPr>
        <p:spPr>
          <a:xfrm>
            <a:off x="793790" y="5665470"/>
            <a:ext cx="362903" cy="362903"/>
          </a:xfrm>
          <a:prstGeom prst="roundRect">
            <a:avLst>
              <a:gd fmla="val 25194296"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2"/>
          <p:cNvSpPr/>
          <p:nvPr/>
        </p:nvSpPr>
        <p:spPr>
          <a:xfrm>
            <a:off x="793790" y="1822728"/>
            <a:ext cx="7158633"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Objetivos de la presentación</a:t>
            </a:r>
            <a:endParaRPr b="0" i="0" sz="4450" u="none" cap="none" strike="noStrike"/>
          </a:p>
        </p:txBody>
      </p:sp>
      <p:sp>
        <p:nvSpPr>
          <p:cNvPr id="84" name="Google Shape;84;p2"/>
          <p:cNvSpPr/>
          <p:nvPr/>
        </p:nvSpPr>
        <p:spPr>
          <a:xfrm>
            <a:off x="793790" y="3098483"/>
            <a:ext cx="2845594" cy="106299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2200"/>
              <a:buFont typeface="Alice"/>
              <a:buNone/>
            </a:pPr>
            <a:r>
              <a:rPr b="0" i="0" lang="en-US" sz="2200" u="none" cap="none" strike="noStrike">
                <a:solidFill>
                  <a:srgbClr val="233E32"/>
                </a:solidFill>
                <a:latin typeface="Alice"/>
                <a:ea typeface="Alice"/>
                <a:cs typeface="Alice"/>
                <a:sym typeface="Alice"/>
              </a:rPr>
              <a:t>Comprender los Patrones de Diseño Creacionales</a:t>
            </a:r>
            <a:endParaRPr b="0" i="0" sz="2200" u="none" cap="none" strike="noStrike"/>
          </a:p>
        </p:txBody>
      </p:sp>
      <p:sp>
        <p:nvSpPr>
          <p:cNvPr id="85" name="Google Shape;85;p2"/>
          <p:cNvSpPr/>
          <p:nvPr/>
        </p:nvSpPr>
        <p:spPr>
          <a:xfrm>
            <a:off x="793790" y="4388287"/>
            <a:ext cx="2845594"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Explicar los principales patrones de diseño creacionales y su propósito en el desarrollo de software.</a:t>
            </a:r>
            <a:endParaRPr b="0" i="0" sz="1750" u="none" cap="none" strike="noStrike"/>
          </a:p>
        </p:txBody>
      </p:sp>
      <p:sp>
        <p:nvSpPr>
          <p:cNvPr id="86" name="Google Shape;86;p2"/>
          <p:cNvSpPr/>
          <p:nvPr/>
        </p:nvSpPr>
        <p:spPr>
          <a:xfrm>
            <a:off x="4200406" y="3098483"/>
            <a:ext cx="284559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2200"/>
              <a:buFont typeface="Alice"/>
              <a:buNone/>
            </a:pPr>
            <a:r>
              <a:rPr b="0" i="0" lang="en-US" sz="2200" u="none" cap="none" strike="noStrike">
                <a:solidFill>
                  <a:srgbClr val="233E32"/>
                </a:solidFill>
                <a:latin typeface="Alice"/>
                <a:ea typeface="Alice"/>
                <a:cs typeface="Alice"/>
                <a:sym typeface="Alice"/>
              </a:rPr>
              <a:t>Analizar Casos de Uso Prácticos</a:t>
            </a:r>
            <a:endParaRPr b="0" i="0" sz="2200" u="none" cap="none" strike="noStrike"/>
          </a:p>
        </p:txBody>
      </p:sp>
      <p:sp>
        <p:nvSpPr>
          <p:cNvPr id="87" name="Google Shape;87;p2"/>
          <p:cNvSpPr/>
          <p:nvPr/>
        </p:nvSpPr>
        <p:spPr>
          <a:xfrm>
            <a:off x="4200406" y="4033957"/>
            <a:ext cx="2845594"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Explorar ejemplos específicos de cómo se pueden aplicar estos patrones en situaciones reales.</a:t>
            </a:r>
            <a:endParaRPr b="0" i="0" sz="1750" u="none" cap="none" strike="noStrike"/>
          </a:p>
        </p:txBody>
      </p:sp>
      <p:sp>
        <p:nvSpPr>
          <p:cNvPr id="88" name="Google Shape;88;p2"/>
          <p:cNvSpPr/>
          <p:nvPr/>
        </p:nvSpPr>
        <p:spPr>
          <a:xfrm>
            <a:off x="7607022" y="3098483"/>
            <a:ext cx="284559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2200"/>
              <a:buFont typeface="Alice"/>
              <a:buNone/>
            </a:pPr>
            <a:r>
              <a:rPr b="0" i="0" lang="en-US" sz="2200" u="none" cap="none" strike="noStrike">
                <a:solidFill>
                  <a:srgbClr val="233E32"/>
                </a:solidFill>
                <a:latin typeface="Alice"/>
                <a:ea typeface="Alice"/>
                <a:cs typeface="Alice"/>
                <a:sym typeface="Alice"/>
              </a:rPr>
              <a:t>Fomentar el Diseño de Calidad</a:t>
            </a:r>
            <a:endParaRPr b="0" i="0" sz="2200" u="none" cap="none" strike="noStrike"/>
          </a:p>
        </p:txBody>
      </p:sp>
      <p:sp>
        <p:nvSpPr>
          <p:cNvPr id="89" name="Google Shape;89;p2"/>
          <p:cNvSpPr/>
          <p:nvPr/>
        </p:nvSpPr>
        <p:spPr>
          <a:xfrm>
            <a:off x="7607022" y="4033957"/>
            <a:ext cx="2845594"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Resaltar cómo el uso apropiado de estos patrones puede mejorar la estructura, flexibilidad y mantenibilidad del código.</a:t>
            </a:r>
            <a:endParaRPr b="0" i="0" sz="1750" u="none" cap="none" strike="noStrike"/>
          </a:p>
        </p:txBody>
      </p:sp>
      <p:sp>
        <p:nvSpPr>
          <p:cNvPr id="90" name="Google Shape;90;p2"/>
          <p:cNvSpPr/>
          <p:nvPr/>
        </p:nvSpPr>
        <p:spPr>
          <a:xfrm>
            <a:off x="11013638" y="3098483"/>
            <a:ext cx="2845594"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2200"/>
              <a:buFont typeface="Alice"/>
              <a:buNone/>
            </a:pPr>
            <a:r>
              <a:rPr b="0" i="0" lang="en-US" sz="2200" u="none" cap="none" strike="noStrike">
                <a:solidFill>
                  <a:srgbClr val="233E32"/>
                </a:solidFill>
                <a:latin typeface="Alice"/>
                <a:ea typeface="Alice"/>
                <a:cs typeface="Alice"/>
                <a:sym typeface="Alice"/>
              </a:rPr>
              <a:t>Promover el Pensamiento Creativo</a:t>
            </a:r>
            <a:endParaRPr b="0" i="0" sz="2200" u="none" cap="none" strike="noStrike"/>
          </a:p>
        </p:txBody>
      </p:sp>
      <p:sp>
        <p:nvSpPr>
          <p:cNvPr id="91" name="Google Shape;91;p2"/>
          <p:cNvSpPr/>
          <p:nvPr/>
        </p:nvSpPr>
        <p:spPr>
          <a:xfrm>
            <a:off x="11013638" y="4033957"/>
            <a:ext cx="2845594"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Inspirar a los estudiantes a considerar nuevas formas de resolver problemas de diseño complejos.</a:t>
            </a:r>
            <a:endParaRPr b="0" i="0" sz="17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3"/>
          <p:cNvSpPr/>
          <p:nvPr/>
        </p:nvSpPr>
        <p:spPr>
          <a:xfrm>
            <a:off x="793790" y="1206698"/>
            <a:ext cx="8301752"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¿Qué son los patrones de diseño?</a:t>
            </a:r>
            <a:endParaRPr b="0" i="0" sz="4450" u="none" cap="none" strike="noStrike"/>
          </a:p>
        </p:txBody>
      </p:sp>
      <p:sp>
        <p:nvSpPr>
          <p:cNvPr id="98" name="Google Shape;98;p3"/>
          <p:cNvSpPr/>
          <p:nvPr/>
        </p:nvSpPr>
        <p:spPr>
          <a:xfrm>
            <a:off x="793790" y="2459712"/>
            <a:ext cx="6244709"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Los patrones de diseño son soluciones probadas a problemas recurrentes en el desarrollo de software. Representan buenas prácticas que han demostrado ser efectivas para resolver problemas comunes de diseño de sistemas.</a:t>
            </a:r>
            <a:endParaRPr b="0" i="0" sz="1750" u="none" cap="none" strike="noStrike"/>
          </a:p>
        </p:txBody>
      </p:sp>
      <p:sp>
        <p:nvSpPr>
          <p:cNvPr id="99" name="Google Shape;99;p3"/>
          <p:cNvSpPr/>
          <p:nvPr/>
        </p:nvSpPr>
        <p:spPr>
          <a:xfrm>
            <a:off x="793790" y="4478298"/>
            <a:ext cx="6244709"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Estos patrones describen cómo diseñar los componentes de un sistema de software para hacerlo más flexible, modular y extensible, facilitando su mantenimiento y evolución a largo plazo.</a:t>
            </a:r>
            <a:endParaRPr b="0" i="0" sz="1750" u="none" cap="none" strike="noStrike"/>
          </a:p>
        </p:txBody>
      </p:sp>
      <p:pic>
        <p:nvPicPr>
          <p:cNvPr descr="preencoded.png" id="100" name="Google Shape;100;p3"/>
          <p:cNvPicPr preferRelativeResize="0"/>
          <p:nvPr/>
        </p:nvPicPr>
        <p:blipFill rotWithShape="1">
          <a:blip r:embed="rId3">
            <a:alphaModFix/>
          </a:blip>
          <a:srcRect b="0" l="0" r="0" t="0"/>
          <a:stretch/>
        </p:blipFill>
        <p:spPr>
          <a:xfrm>
            <a:off x="7599521" y="2510790"/>
            <a:ext cx="6244709" cy="425684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p:nvPr/>
        </p:nvSpPr>
        <p:spPr>
          <a:xfrm>
            <a:off x="483870" y="380167"/>
            <a:ext cx="6315551" cy="431959"/>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233E32"/>
              </a:buClr>
              <a:buSzPts val="2700"/>
              <a:buFont typeface="Alice"/>
              <a:buNone/>
            </a:pPr>
            <a:r>
              <a:rPr b="0" i="0" lang="en-US" sz="2700" u="none" cap="none" strike="noStrike">
                <a:solidFill>
                  <a:srgbClr val="233E32"/>
                </a:solidFill>
                <a:latin typeface="Alice"/>
                <a:ea typeface="Alice"/>
                <a:cs typeface="Alice"/>
                <a:sym typeface="Alice"/>
              </a:rPr>
              <a:t>Importancia de los patrones creacionales</a:t>
            </a:r>
            <a:endParaRPr b="0" i="0" sz="2700" u="none" cap="none" strike="noStrike"/>
          </a:p>
        </p:txBody>
      </p:sp>
      <p:sp>
        <p:nvSpPr>
          <p:cNvPr id="107" name="Google Shape;107;p4"/>
          <p:cNvSpPr/>
          <p:nvPr/>
        </p:nvSpPr>
        <p:spPr>
          <a:xfrm>
            <a:off x="483870" y="1088588"/>
            <a:ext cx="13662660" cy="442198"/>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2C2821"/>
              </a:buClr>
              <a:buSzPts val="1050"/>
              <a:buFont typeface="Lora"/>
              <a:buNone/>
            </a:pPr>
            <a:r>
              <a:rPr b="0" i="0" lang="en-US" sz="1050" u="none" cap="none" strike="noStrike">
                <a:solidFill>
                  <a:srgbClr val="2C2821"/>
                </a:solidFill>
                <a:latin typeface="Lora"/>
                <a:ea typeface="Lora"/>
                <a:cs typeface="Lora"/>
                <a:sym typeface="Lora"/>
              </a:rPr>
              <a:t>Los patrones de diseño creacionales son fundamentales para garantizar la correcta creación de objetos en sistemas de software complejos. Permiten aislar el proceso de creación de objetos, mejorando la modularidad, flexibilidad y mantenibilidad del código.</a:t>
            </a:r>
            <a:endParaRPr b="0" i="0" sz="1050" u="none" cap="none" strike="noStrike"/>
          </a:p>
        </p:txBody>
      </p:sp>
      <p:pic>
        <p:nvPicPr>
          <p:cNvPr descr="preencoded.png" id="108" name="Google Shape;108;p4"/>
          <p:cNvPicPr preferRelativeResize="0"/>
          <p:nvPr/>
        </p:nvPicPr>
        <p:blipFill rotWithShape="1">
          <a:blip r:embed="rId3">
            <a:alphaModFix/>
          </a:blip>
          <a:srcRect b="0" l="0" r="0" t="0"/>
          <a:stretch/>
        </p:blipFill>
        <p:spPr>
          <a:xfrm>
            <a:off x="483870" y="1686282"/>
            <a:ext cx="13662660" cy="7651075"/>
          </a:xfrm>
          <a:prstGeom prst="rect">
            <a:avLst/>
          </a:prstGeom>
          <a:noFill/>
          <a:ln>
            <a:noFill/>
          </a:ln>
        </p:spPr>
      </p:pic>
      <p:sp>
        <p:nvSpPr>
          <p:cNvPr id="109" name="Google Shape;109;p4"/>
          <p:cNvSpPr/>
          <p:nvPr/>
        </p:nvSpPr>
        <p:spPr>
          <a:xfrm>
            <a:off x="483870" y="9492853"/>
            <a:ext cx="13662660" cy="221099"/>
          </a:xfrm>
          <a:prstGeom prst="rect">
            <a:avLst/>
          </a:prstGeom>
          <a:noFill/>
          <a:ln>
            <a:noFill/>
          </a:ln>
        </p:spPr>
        <p:txBody>
          <a:bodyPr anchorCtr="0" anchor="t" bIns="0" lIns="0" spcFirstLastPara="1" rIns="0" wrap="square" tIns="0">
            <a:noAutofit/>
          </a:bodyPr>
          <a:lstStyle/>
          <a:p>
            <a:pPr indent="0" lvl="0" marL="0" marR="0" rtl="0" algn="l">
              <a:lnSpc>
                <a:spcPct val="161904"/>
              </a:lnSpc>
              <a:spcBef>
                <a:spcPts val="0"/>
              </a:spcBef>
              <a:spcAft>
                <a:spcPts val="0"/>
              </a:spcAft>
              <a:buClr>
                <a:srgbClr val="2C2821"/>
              </a:buClr>
              <a:buSzPts val="1050"/>
              <a:buFont typeface="Lora"/>
              <a:buNone/>
            </a:pPr>
            <a:r>
              <a:rPr b="0" i="0" lang="en-US" sz="1050" u="none" cap="none" strike="noStrike">
                <a:solidFill>
                  <a:srgbClr val="2C2821"/>
                </a:solidFill>
                <a:latin typeface="Lora"/>
                <a:ea typeface="Lora"/>
                <a:cs typeface="Lora"/>
                <a:sym typeface="Lora"/>
              </a:rPr>
              <a:t>Como se observa en el gráfico, los patrones creacionales son especialmente importantes para lograr una alta modularidad y mantenibilidad en el código.</a:t>
            </a:r>
            <a:endParaRPr b="0" i="0" sz="10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descr="preencoded.png" id="115" name="Google Shape;115;p5"/>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116" name="Google Shape;116;p5"/>
          <p:cNvPicPr preferRelativeResize="0"/>
          <p:nvPr/>
        </p:nvPicPr>
        <p:blipFill rotWithShape="1">
          <a:blip r:embed="rId4">
            <a:alphaModFix/>
          </a:blip>
          <a:srcRect b="0" l="0" r="0" t="0"/>
          <a:stretch/>
        </p:blipFill>
        <p:spPr>
          <a:xfrm>
            <a:off x="9427607" y="2368391"/>
            <a:ext cx="4919186" cy="3492698"/>
          </a:xfrm>
          <a:prstGeom prst="rect">
            <a:avLst/>
          </a:prstGeom>
          <a:noFill/>
          <a:ln>
            <a:noFill/>
          </a:ln>
        </p:spPr>
      </p:pic>
      <p:sp>
        <p:nvSpPr>
          <p:cNvPr id="117" name="Google Shape;117;p5"/>
          <p:cNvSpPr/>
          <p:nvPr/>
        </p:nvSpPr>
        <p:spPr>
          <a:xfrm>
            <a:off x="793790" y="2864525"/>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Factory Method</a:t>
            </a:r>
            <a:endParaRPr b="0" i="0" sz="4450" u="none" cap="none" strike="noStrike"/>
          </a:p>
        </p:txBody>
      </p:sp>
      <p:sp>
        <p:nvSpPr>
          <p:cNvPr id="118" name="Google Shape;118;p5"/>
          <p:cNvSpPr/>
          <p:nvPr/>
        </p:nvSpPr>
        <p:spPr>
          <a:xfrm>
            <a:off x="793790" y="3913465"/>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El patrón de diseño Factory Method es un patrón de creación que permite la creación de objetos sin especificar la clase exacta que se creará. Proporciona una interfaz común para la creación de objetos, lo que permite a las subclases decidir qué clase instanciar.</a:t>
            </a:r>
            <a:endParaRPr b="0" i="0" sz="17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6"/>
          <p:cNvSpPr/>
          <p:nvPr/>
        </p:nvSpPr>
        <p:spPr>
          <a:xfrm>
            <a:off x="790932" y="621387"/>
            <a:ext cx="7436048" cy="706160"/>
          </a:xfrm>
          <a:prstGeom prst="rect">
            <a:avLst/>
          </a:prstGeom>
          <a:noFill/>
          <a:ln>
            <a:noFill/>
          </a:ln>
        </p:spPr>
        <p:txBody>
          <a:bodyPr anchorCtr="0" anchor="t" bIns="0" lIns="0" spcFirstLastPara="1" rIns="0" wrap="square" tIns="0">
            <a:noAutofit/>
          </a:bodyPr>
          <a:lstStyle/>
          <a:p>
            <a:pPr indent="0" lvl="0" marL="0" marR="0" rtl="0" algn="l">
              <a:lnSpc>
                <a:spcPct val="126136"/>
              </a:lnSpc>
              <a:spcBef>
                <a:spcPts val="0"/>
              </a:spcBef>
              <a:spcAft>
                <a:spcPts val="0"/>
              </a:spcAft>
              <a:buClr>
                <a:srgbClr val="233E32"/>
              </a:buClr>
              <a:buSzPts val="4400"/>
              <a:buFont typeface="Alice"/>
              <a:buNone/>
            </a:pPr>
            <a:r>
              <a:rPr b="0" i="0" lang="en-US" sz="4400" u="none" cap="none" strike="noStrike">
                <a:solidFill>
                  <a:srgbClr val="233E32"/>
                </a:solidFill>
                <a:latin typeface="Alice"/>
                <a:ea typeface="Alice"/>
                <a:cs typeface="Alice"/>
                <a:sym typeface="Alice"/>
              </a:rPr>
              <a:t>Propósito del Factory Method</a:t>
            </a:r>
            <a:endParaRPr b="0" i="0" sz="4400" u="none" cap="none" strike="noStrike"/>
          </a:p>
        </p:txBody>
      </p:sp>
      <p:pic>
        <p:nvPicPr>
          <p:cNvPr descr="preencoded.png" id="125" name="Google Shape;125;p6"/>
          <p:cNvPicPr preferRelativeResize="0"/>
          <p:nvPr/>
        </p:nvPicPr>
        <p:blipFill rotWithShape="1">
          <a:blip r:embed="rId3">
            <a:alphaModFix/>
          </a:blip>
          <a:srcRect b="0" l="0" r="0" t="0"/>
          <a:stretch/>
        </p:blipFill>
        <p:spPr>
          <a:xfrm>
            <a:off x="790932" y="1779508"/>
            <a:ext cx="4123492" cy="2548414"/>
          </a:xfrm>
          <a:prstGeom prst="rect">
            <a:avLst/>
          </a:prstGeom>
          <a:noFill/>
          <a:ln>
            <a:noFill/>
          </a:ln>
        </p:spPr>
      </p:pic>
      <p:sp>
        <p:nvSpPr>
          <p:cNvPr id="126" name="Google Shape;126;p6"/>
          <p:cNvSpPr/>
          <p:nvPr/>
        </p:nvSpPr>
        <p:spPr>
          <a:xfrm>
            <a:off x="790932" y="4610338"/>
            <a:ext cx="4123492" cy="70627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Flexibilidad en la creación de objetos</a:t>
            </a:r>
            <a:endParaRPr b="0" i="0" sz="2200" u="none" cap="none" strike="noStrike"/>
          </a:p>
        </p:txBody>
      </p:sp>
      <p:sp>
        <p:nvSpPr>
          <p:cNvPr id="127" name="Google Shape;127;p6"/>
          <p:cNvSpPr/>
          <p:nvPr/>
        </p:nvSpPr>
        <p:spPr>
          <a:xfrm>
            <a:off x="790932" y="5452110"/>
            <a:ext cx="4123492" cy="180736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El patrón Factory Method proporciona una forma de crear objetos sin exponer la lógica de creación a los clientes, lo que permite mayor flexibilidad y extensibilidad en el diseño de sistemas.</a:t>
            </a:r>
            <a:endParaRPr b="0" i="0" sz="1750" u="none" cap="none" strike="noStrike"/>
          </a:p>
        </p:txBody>
      </p:sp>
      <p:pic>
        <p:nvPicPr>
          <p:cNvPr descr="preencoded.png" id="128" name="Google Shape;128;p6"/>
          <p:cNvPicPr preferRelativeResize="0"/>
          <p:nvPr/>
        </p:nvPicPr>
        <p:blipFill rotWithShape="1">
          <a:blip r:embed="rId4">
            <a:alphaModFix/>
          </a:blip>
          <a:srcRect b="0" l="0" r="0" t="0"/>
          <a:stretch/>
        </p:blipFill>
        <p:spPr>
          <a:xfrm>
            <a:off x="5253395" y="1779508"/>
            <a:ext cx="4123492" cy="2548414"/>
          </a:xfrm>
          <a:prstGeom prst="rect">
            <a:avLst/>
          </a:prstGeom>
          <a:noFill/>
          <a:ln>
            <a:noFill/>
          </a:ln>
        </p:spPr>
      </p:pic>
      <p:sp>
        <p:nvSpPr>
          <p:cNvPr id="129" name="Google Shape;129;p6"/>
          <p:cNvSpPr/>
          <p:nvPr/>
        </p:nvSpPr>
        <p:spPr>
          <a:xfrm>
            <a:off x="5253395" y="4610338"/>
            <a:ext cx="4123492" cy="70627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Desacoplamiento de responsabilidades</a:t>
            </a:r>
            <a:endParaRPr b="0" i="0" sz="2200" u="none" cap="none" strike="noStrike"/>
          </a:p>
        </p:txBody>
      </p:sp>
      <p:sp>
        <p:nvSpPr>
          <p:cNvPr id="130" name="Google Shape;130;p6"/>
          <p:cNvSpPr/>
          <p:nvPr/>
        </p:nvSpPr>
        <p:spPr>
          <a:xfrm>
            <a:off x="5253395" y="5452110"/>
            <a:ext cx="4123492" cy="2168843"/>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Al separar la lógica de creación de objetos, el patrón Factory Method promueve un diseño más modular y desacoplado, facilitando el mantenimiento y la evolución del sistema.</a:t>
            </a:r>
            <a:endParaRPr b="0" i="0" sz="1750" u="none" cap="none" strike="noStrike"/>
          </a:p>
        </p:txBody>
      </p:sp>
      <p:pic>
        <p:nvPicPr>
          <p:cNvPr descr="preencoded.png" id="131" name="Google Shape;131;p6"/>
          <p:cNvPicPr preferRelativeResize="0"/>
          <p:nvPr/>
        </p:nvPicPr>
        <p:blipFill rotWithShape="1">
          <a:blip r:embed="rId5">
            <a:alphaModFix/>
          </a:blip>
          <a:srcRect b="0" l="0" r="0" t="0"/>
          <a:stretch/>
        </p:blipFill>
        <p:spPr>
          <a:xfrm>
            <a:off x="9715857" y="1779508"/>
            <a:ext cx="4123492" cy="2548414"/>
          </a:xfrm>
          <a:prstGeom prst="rect">
            <a:avLst/>
          </a:prstGeom>
          <a:noFill/>
          <a:ln>
            <a:noFill/>
          </a:ln>
        </p:spPr>
      </p:pic>
      <p:sp>
        <p:nvSpPr>
          <p:cNvPr id="132" name="Google Shape;132;p6"/>
          <p:cNvSpPr/>
          <p:nvPr/>
        </p:nvSpPr>
        <p:spPr>
          <a:xfrm>
            <a:off x="9715857" y="4610338"/>
            <a:ext cx="3822263" cy="35313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Extensibilidad y polimorfismo</a:t>
            </a:r>
            <a:endParaRPr b="0" i="0" sz="2200" u="none" cap="none" strike="noStrike"/>
          </a:p>
        </p:txBody>
      </p:sp>
      <p:sp>
        <p:nvSpPr>
          <p:cNvPr id="133" name="Google Shape;133;p6"/>
          <p:cNvSpPr/>
          <p:nvPr/>
        </p:nvSpPr>
        <p:spPr>
          <a:xfrm>
            <a:off x="9715857" y="5098971"/>
            <a:ext cx="4123492" cy="1445895"/>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El patrón Factory Method permite agregar nuevos tipos de objetos sin modificar el código existente, gracias a la utilización de polimorfismo.</a:t>
            </a:r>
            <a:endParaRPr b="0" i="0" sz="17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descr="preencoded.png" id="139" name="Google Shape;139;p7"/>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140" name="Google Shape;140;p7"/>
          <p:cNvPicPr preferRelativeResize="0"/>
          <p:nvPr/>
        </p:nvPicPr>
        <p:blipFill rotWithShape="1">
          <a:blip r:embed="rId4">
            <a:alphaModFix/>
          </a:blip>
          <a:srcRect b="0" l="0" r="0" t="0"/>
          <a:stretch/>
        </p:blipFill>
        <p:spPr>
          <a:xfrm>
            <a:off x="9427488" y="2306955"/>
            <a:ext cx="4919305" cy="3615690"/>
          </a:xfrm>
          <a:prstGeom prst="rect">
            <a:avLst/>
          </a:prstGeom>
          <a:noFill/>
          <a:ln>
            <a:noFill/>
          </a:ln>
        </p:spPr>
      </p:pic>
      <p:sp>
        <p:nvSpPr>
          <p:cNvPr id="141" name="Google Shape;141;p7"/>
          <p:cNvSpPr/>
          <p:nvPr/>
        </p:nvSpPr>
        <p:spPr>
          <a:xfrm>
            <a:off x="793790" y="1293852"/>
            <a:ext cx="75564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Ejemplo de uso del Factory Method</a:t>
            </a:r>
            <a:endParaRPr b="0" i="0" sz="4450" u="none" cap="none" strike="noStrike"/>
          </a:p>
        </p:txBody>
      </p:sp>
      <p:sp>
        <p:nvSpPr>
          <p:cNvPr id="142" name="Google Shape;142;p7"/>
          <p:cNvSpPr/>
          <p:nvPr/>
        </p:nvSpPr>
        <p:spPr>
          <a:xfrm>
            <a:off x="793790" y="3051572"/>
            <a:ext cx="7556421"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Un ejemplo común de aplicación del patrón Factory Method es en el contexto de la fabricación de automóviles. Cada modelo de coche tiene su propio proceso de producción, con diferentes piezas y especificaciones. El Factory Method permite encapsular este proceso de creación dentro de una jerarquía de clases, facilitando la adición de nuevos modelos sin alterar el código existente.</a:t>
            </a:r>
            <a:endParaRPr b="0" i="0" sz="1750" u="none" cap="none" strike="noStrike"/>
          </a:p>
        </p:txBody>
      </p:sp>
      <p:sp>
        <p:nvSpPr>
          <p:cNvPr id="143" name="Google Shape;143;p7"/>
          <p:cNvSpPr/>
          <p:nvPr/>
        </p:nvSpPr>
        <p:spPr>
          <a:xfrm>
            <a:off x="793790" y="5484138"/>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De esta manera, la fábrica de coches puede crear diferentes tipos de automóviles mediante la invocación de métodos de creación polimórficos, sin tener que conocer los detalles de la implementación de cada modelo.</a:t>
            </a:r>
            <a:endParaRPr b="0" i="0" sz="17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preencoded.png" id="149" name="Google Shape;149;p8"/>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150" name="Google Shape;150;p8"/>
          <p:cNvPicPr preferRelativeResize="0"/>
          <p:nvPr/>
        </p:nvPicPr>
        <p:blipFill rotWithShape="1">
          <a:blip r:embed="rId4">
            <a:alphaModFix/>
          </a:blip>
          <a:srcRect b="0" l="0" r="0" t="0"/>
          <a:stretch/>
        </p:blipFill>
        <p:spPr>
          <a:xfrm>
            <a:off x="9427488" y="2125861"/>
            <a:ext cx="4919305" cy="3977759"/>
          </a:xfrm>
          <a:prstGeom prst="rect">
            <a:avLst/>
          </a:prstGeom>
          <a:noFill/>
          <a:ln>
            <a:noFill/>
          </a:ln>
        </p:spPr>
      </p:pic>
      <p:sp>
        <p:nvSpPr>
          <p:cNvPr id="151" name="Google Shape;151;p8"/>
          <p:cNvSpPr/>
          <p:nvPr/>
        </p:nvSpPr>
        <p:spPr>
          <a:xfrm>
            <a:off x="793790" y="3045976"/>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Abstract Factory</a:t>
            </a:r>
            <a:endParaRPr b="0" i="0" sz="4450" u="none" cap="none" strike="noStrike"/>
          </a:p>
        </p:txBody>
      </p:sp>
      <p:sp>
        <p:nvSpPr>
          <p:cNvPr id="152" name="Google Shape;152;p8"/>
          <p:cNvSpPr/>
          <p:nvPr/>
        </p:nvSpPr>
        <p:spPr>
          <a:xfrm>
            <a:off x="793790" y="4094917"/>
            <a:ext cx="7556421"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El patrón de diseño Abstract Factory proporciona una interfaz para crear familias de objetos relacionados o dependientes sin especificar sus clases concretas.</a:t>
            </a:r>
            <a:endParaRPr b="0" i="0" sz="175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descr="preencoded.png" id="158" name="Google Shape;158;p9"/>
          <p:cNvPicPr preferRelativeResize="0"/>
          <p:nvPr/>
        </p:nvPicPr>
        <p:blipFill rotWithShape="1">
          <a:blip r:embed="rId3">
            <a:alphaModFix/>
          </a:blip>
          <a:srcRect b="0" l="0" r="0" t="0"/>
          <a:stretch/>
        </p:blipFill>
        <p:spPr>
          <a:xfrm>
            <a:off x="0" y="0"/>
            <a:ext cx="14630400" cy="2835235"/>
          </a:xfrm>
          <a:prstGeom prst="rect">
            <a:avLst/>
          </a:prstGeom>
          <a:noFill/>
          <a:ln>
            <a:noFill/>
          </a:ln>
        </p:spPr>
      </p:pic>
      <p:pic>
        <p:nvPicPr>
          <p:cNvPr descr="preencoded.png" id="159" name="Google Shape;159;p9"/>
          <p:cNvPicPr preferRelativeResize="0"/>
          <p:nvPr/>
        </p:nvPicPr>
        <p:blipFill rotWithShape="1">
          <a:blip r:embed="rId4">
            <a:alphaModFix/>
          </a:blip>
          <a:srcRect b="0" l="0" r="0" t="0"/>
          <a:stretch/>
        </p:blipFill>
        <p:spPr>
          <a:xfrm>
            <a:off x="5547717" y="283488"/>
            <a:ext cx="3534847" cy="2268260"/>
          </a:xfrm>
          <a:prstGeom prst="rect">
            <a:avLst/>
          </a:prstGeom>
          <a:noFill/>
          <a:ln>
            <a:noFill/>
          </a:ln>
        </p:spPr>
      </p:pic>
      <p:sp>
        <p:nvSpPr>
          <p:cNvPr id="160" name="Google Shape;160;p9"/>
          <p:cNvSpPr/>
          <p:nvPr/>
        </p:nvSpPr>
        <p:spPr>
          <a:xfrm>
            <a:off x="793790" y="3550682"/>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Abstract Factory</a:t>
            </a:r>
            <a:endParaRPr b="0" i="0" sz="4450" u="none" cap="none" strike="noStrike"/>
          </a:p>
        </p:txBody>
      </p:sp>
      <p:sp>
        <p:nvSpPr>
          <p:cNvPr id="161" name="Google Shape;161;p9"/>
          <p:cNvSpPr/>
          <p:nvPr/>
        </p:nvSpPr>
        <p:spPr>
          <a:xfrm>
            <a:off x="793790" y="4854773"/>
            <a:ext cx="510302" cy="510302"/>
          </a:xfrm>
          <a:prstGeom prst="roundRect">
            <a:avLst>
              <a:gd fmla="val 6667"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
          <p:cNvSpPr/>
          <p:nvPr/>
        </p:nvSpPr>
        <p:spPr>
          <a:xfrm>
            <a:off x="976074" y="4939784"/>
            <a:ext cx="145613"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2650"/>
              <a:buFont typeface="Alice"/>
              <a:buNone/>
            </a:pPr>
            <a:r>
              <a:rPr b="0" i="0" lang="en-US" sz="2650" u="none" cap="none" strike="noStrike">
                <a:solidFill>
                  <a:srgbClr val="2C2821"/>
                </a:solidFill>
                <a:latin typeface="Alice"/>
                <a:ea typeface="Alice"/>
                <a:cs typeface="Alice"/>
                <a:sym typeface="Alice"/>
              </a:rPr>
              <a:t>1</a:t>
            </a:r>
            <a:endParaRPr b="0" i="0" sz="2650" u="none" cap="none" strike="noStrike"/>
          </a:p>
        </p:txBody>
      </p:sp>
      <p:sp>
        <p:nvSpPr>
          <p:cNvPr id="163" name="Google Shape;163;p9"/>
          <p:cNvSpPr/>
          <p:nvPr/>
        </p:nvSpPr>
        <p:spPr>
          <a:xfrm>
            <a:off x="1530906" y="4854773"/>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Descripción General</a:t>
            </a:r>
            <a:endParaRPr b="0" i="0" sz="2200" u="none" cap="none" strike="noStrike"/>
          </a:p>
        </p:txBody>
      </p:sp>
      <p:sp>
        <p:nvSpPr>
          <p:cNvPr id="164" name="Google Shape;164;p9"/>
          <p:cNvSpPr/>
          <p:nvPr/>
        </p:nvSpPr>
        <p:spPr>
          <a:xfrm>
            <a:off x="1530906" y="5345192"/>
            <a:ext cx="3459242"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El patrón Abstract Factory proporciona una interfaz para crear familias de objetos relacionados o dependientes sin especificar sus clases concretas.</a:t>
            </a:r>
            <a:endParaRPr b="0" i="0" sz="1750" u="none" cap="none" strike="noStrike"/>
          </a:p>
        </p:txBody>
      </p:sp>
      <p:sp>
        <p:nvSpPr>
          <p:cNvPr id="165" name="Google Shape;165;p9"/>
          <p:cNvSpPr/>
          <p:nvPr/>
        </p:nvSpPr>
        <p:spPr>
          <a:xfrm>
            <a:off x="5216962" y="4854773"/>
            <a:ext cx="510302" cy="510302"/>
          </a:xfrm>
          <a:prstGeom prst="roundRect">
            <a:avLst>
              <a:gd fmla="val 6667"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9"/>
          <p:cNvSpPr/>
          <p:nvPr/>
        </p:nvSpPr>
        <p:spPr>
          <a:xfrm>
            <a:off x="5388531" y="4939784"/>
            <a:ext cx="167045"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2650"/>
              <a:buFont typeface="Alice"/>
              <a:buNone/>
            </a:pPr>
            <a:r>
              <a:rPr b="0" i="0" lang="en-US" sz="2650" u="none" cap="none" strike="noStrike">
                <a:solidFill>
                  <a:srgbClr val="2C2821"/>
                </a:solidFill>
                <a:latin typeface="Alice"/>
                <a:ea typeface="Alice"/>
                <a:cs typeface="Alice"/>
                <a:sym typeface="Alice"/>
              </a:rPr>
              <a:t>2</a:t>
            </a:r>
            <a:endParaRPr b="0" i="0" sz="2650" u="none" cap="none" strike="noStrike"/>
          </a:p>
        </p:txBody>
      </p:sp>
      <p:sp>
        <p:nvSpPr>
          <p:cNvPr id="167" name="Google Shape;167;p9"/>
          <p:cNvSpPr/>
          <p:nvPr/>
        </p:nvSpPr>
        <p:spPr>
          <a:xfrm>
            <a:off x="5954078" y="4854773"/>
            <a:ext cx="3459242"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Separación de Responsabilidades</a:t>
            </a:r>
            <a:endParaRPr b="0" i="0" sz="2200" u="none" cap="none" strike="noStrike"/>
          </a:p>
        </p:txBody>
      </p:sp>
      <p:sp>
        <p:nvSpPr>
          <p:cNvPr id="168" name="Google Shape;168;p9"/>
          <p:cNvSpPr/>
          <p:nvPr/>
        </p:nvSpPr>
        <p:spPr>
          <a:xfrm>
            <a:off x="5954078" y="5699522"/>
            <a:ext cx="3459242"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Permite separar la lógica de creación de objetos de la lógica de negocio, lo que facilita el mantenimiento y la extensibilidad del sistema.</a:t>
            </a:r>
            <a:endParaRPr b="0" i="0" sz="1750" u="none" cap="none" strike="noStrike"/>
          </a:p>
        </p:txBody>
      </p:sp>
      <p:sp>
        <p:nvSpPr>
          <p:cNvPr id="169" name="Google Shape;169;p9"/>
          <p:cNvSpPr/>
          <p:nvPr/>
        </p:nvSpPr>
        <p:spPr>
          <a:xfrm>
            <a:off x="9640133" y="4854773"/>
            <a:ext cx="510302" cy="510302"/>
          </a:xfrm>
          <a:prstGeom prst="roundRect">
            <a:avLst>
              <a:gd fmla="val 6667"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9"/>
          <p:cNvSpPr/>
          <p:nvPr/>
        </p:nvSpPr>
        <p:spPr>
          <a:xfrm>
            <a:off x="9812417" y="4939784"/>
            <a:ext cx="165735"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2650"/>
              <a:buFont typeface="Alice"/>
              <a:buNone/>
            </a:pPr>
            <a:r>
              <a:rPr b="0" i="0" lang="en-US" sz="2650" u="none" cap="none" strike="noStrike">
                <a:solidFill>
                  <a:srgbClr val="2C2821"/>
                </a:solidFill>
                <a:latin typeface="Alice"/>
                <a:ea typeface="Alice"/>
                <a:cs typeface="Alice"/>
                <a:sym typeface="Alice"/>
              </a:rPr>
              <a:t>3</a:t>
            </a:r>
            <a:endParaRPr b="0" i="0" sz="2650" u="none" cap="none" strike="noStrike"/>
          </a:p>
        </p:txBody>
      </p:sp>
      <p:sp>
        <p:nvSpPr>
          <p:cNvPr id="171" name="Google Shape;171;p9"/>
          <p:cNvSpPr/>
          <p:nvPr/>
        </p:nvSpPr>
        <p:spPr>
          <a:xfrm>
            <a:off x="10377249" y="4854773"/>
            <a:ext cx="3459242"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C2821"/>
              </a:buClr>
              <a:buSzPts val="2200"/>
              <a:buFont typeface="Alice"/>
              <a:buNone/>
            </a:pPr>
            <a:r>
              <a:rPr b="0" i="0" lang="en-US" sz="2200" u="none" cap="none" strike="noStrike">
                <a:solidFill>
                  <a:srgbClr val="2C2821"/>
                </a:solidFill>
                <a:latin typeface="Alice"/>
                <a:ea typeface="Alice"/>
                <a:cs typeface="Alice"/>
                <a:sym typeface="Alice"/>
              </a:rPr>
              <a:t>Flexibilidad y Adaptabilidad</a:t>
            </a:r>
            <a:endParaRPr b="0" i="0" sz="2200" u="none" cap="none" strike="noStrike"/>
          </a:p>
        </p:txBody>
      </p:sp>
      <p:sp>
        <p:nvSpPr>
          <p:cNvPr id="172" name="Google Shape;172;p9"/>
          <p:cNvSpPr/>
          <p:nvPr/>
        </p:nvSpPr>
        <p:spPr>
          <a:xfrm>
            <a:off x="10377249" y="5699522"/>
            <a:ext cx="3459242"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Facilita el cambio entre implementaciones de la misma funcionalidad sin afectar al código cliente.</a:t>
            </a:r>
            <a:endParaRPr b="0" i="0" sz="175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descr="preencoded.png" id="178" name="Google Shape;178;p10"/>
          <p:cNvPicPr preferRelativeResize="0"/>
          <p:nvPr/>
        </p:nvPicPr>
        <p:blipFill rotWithShape="1">
          <a:blip r:embed="rId3">
            <a:alphaModFix/>
          </a:blip>
          <a:srcRect b="0" l="0" r="0" t="0"/>
          <a:stretch/>
        </p:blipFill>
        <p:spPr>
          <a:xfrm>
            <a:off x="0" y="0"/>
            <a:ext cx="5486400" cy="8229600"/>
          </a:xfrm>
          <a:prstGeom prst="rect">
            <a:avLst/>
          </a:prstGeom>
          <a:noFill/>
          <a:ln>
            <a:noFill/>
          </a:ln>
        </p:spPr>
      </p:pic>
      <p:pic>
        <p:nvPicPr>
          <p:cNvPr descr="preencoded.png" id="179" name="Google Shape;179;p10"/>
          <p:cNvPicPr preferRelativeResize="0"/>
          <p:nvPr/>
        </p:nvPicPr>
        <p:blipFill rotWithShape="1">
          <a:blip r:embed="rId4">
            <a:alphaModFix/>
          </a:blip>
          <a:srcRect b="0" l="0" r="0" t="0"/>
          <a:stretch/>
        </p:blipFill>
        <p:spPr>
          <a:xfrm>
            <a:off x="245388" y="1616988"/>
            <a:ext cx="4995624" cy="4995624"/>
          </a:xfrm>
          <a:prstGeom prst="rect">
            <a:avLst/>
          </a:prstGeom>
          <a:noFill/>
          <a:ln>
            <a:noFill/>
          </a:ln>
        </p:spPr>
      </p:pic>
      <p:sp>
        <p:nvSpPr>
          <p:cNvPr id="180" name="Google Shape;180;p10"/>
          <p:cNvSpPr/>
          <p:nvPr/>
        </p:nvSpPr>
        <p:spPr>
          <a:xfrm>
            <a:off x="6173391" y="1125141"/>
            <a:ext cx="7381042" cy="613410"/>
          </a:xfrm>
          <a:prstGeom prst="rect">
            <a:avLst/>
          </a:prstGeom>
          <a:noFill/>
          <a:ln>
            <a:noFill/>
          </a:ln>
        </p:spPr>
        <p:txBody>
          <a:bodyPr anchorCtr="0" anchor="t" bIns="0" lIns="0" spcFirstLastPara="1" rIns="0" wrap="square" tIns="0">
            <a:noAutofit/>
          </a:bodyPr>
          <a:lstStyle/>
          <a:p>
            <a:pPr indent="0" lvl="0" marL="0" marR="0" rtl="0" algn="l">
              <a:lnSpc>
                <a:spcPct val="124675"/>
              </a:lnSpc>
              <a:spcBef>
                <a:spcPts val="0"/>
              </a:spcBef>
              <a:spcAft>
                <a:spcPts val="0"/>
              </a:spcAft>
              <a:buClr>
                <a:srgbClr val="233E32"/>
              </a:buClr>
              <a:buSzPts val="3850"/>
              <a:buFont typeface="Alice"/>
              <a:buNone/>
            </a:pPr>
            <a:r>
              <a:rPr b="0" i="0" lang="en-US" sz="3850" u="none" cap="none" strike="noStrike">
                <a:solidFill>
                  <a:srgbClr val="233E32"/>
                </a:solidFill>
                <a:latin typeface="Alice"/>
                <a:ea typeface="Alice"/>
                <a:cs typeface="Alice"/>
                <a:sym typeface="Alice"/>
              </a:rPr>
              <a:t>Aplicabilidad del Abstract Factory</a:t>
            </a:r>
            <a:endParaRPr b="0" i="0" sz="3850" u="none" cap="none" strike="noStrike"/>
          </a:p>
        </p:txBody>
      </p:sp>
      <p:sp>
        <p:nvSpPr>
          <p:cNvPr id="181" name="Google Shape;181;p10"/>
          <p:cNvSpPr/>
          <p:nvPr/>
        </p:nvSpPr>
        <p:spPr>
          <a:xfrm>
            <a:off x="6173391" y="2032992"/>
            <a:ext cx="7770019" cy="1256348"/>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El patrón Abstract Factory se aplica cuando se requiere crear familias de objetos relacionados sin especificar sus clases concretas. Es útil en sistemas complejos donde se necesita flexibilidad y extensibilidad para generar diferentes tipos de productos de acuerdo a requisitos cambiantes.</a:t>
            </a:r>
            <a:endParaRPr b="0" i="0" sz="1500" u="none" cap="none" strike="noStrike"/>
          </a:p>
        </p:txBody>
      </p:sp>
      <p:sp>
        <p:nvSpPr>
          <p:cNvPr id="182" name="Google Shape;182;p10"/>
          <p:cNvSpPr/>
          <p:nvPr/>
        </p:nvSpPr>
        <p:spPr>
          <a:xfrm>
            <a:off x="6173391" y="3510082"/>
            <a:ext cx="7770019" cy="3594259"/>
          </a:xfrm>
          <a:prstGeom prst="roundRect">
            <a:avLst>
              <a:gd fmla="val 819" name="adj"/>
            </a:avLst>
          </a:prstGeom>
          <a:noFill/>
          <a:ln cap="flat" cmpd="sng" w="9525">
            <a:solidFill>
              <a:srgbClr val="000000">
                <a:alpha val="784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0"/>
          <p:cNvSpPr/>
          <p:nvPr/>
        </p:nvSpPr>
        <p:spPr>
          <a:xfrm>
            <a:off x="6181011" y="3517702"/>
            <a:ext cx="7754779" cy="1193006"/>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
          <p:cNvSpPr/>
          <p:nvPr/>
        </p:nvSpPr>
        <p:spPr>
          <a:xfrm>
            <a:off x="6377226" y="3643074"/>
            <a:ext cx="3481149" cy="628174"/>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Sistemas con múltiples familias de productos</a:t>
            </a:r>
            <a:endParaRPr b="0" i="0" sz="1500" u="none" cap="none" strike="noStrike"/>
          </a:p>
        </p:txBody>
      </p:sp>
      <p:sp>
        <p:nvSpPr>
          <p:cNvPr id="185" name="Google Shape;185;p10"/>
          <p:cNvSpPr/>
          <p:nvPr/>
        </p:nvSpPr>
        <p:spPr>
          <a:xfrm>
            <a:off x="10258425" y="3643074"/>
            <a:ext cx="3481149" cy="942261"/>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El Abstract Factory permite crear y gestionar diferentes familias de productos de manera coordinada.</a:t>
            </a:r>
            <a:endParaRPr b="0" i="0" sz="1500" u="none" cap="none" strike="noStrike"/>
          </a:p>
        </p:txBody>
      </p:sp>
      <p:sp>
        <p:nvSpPr>
          <p:cNvPr id="186" name="Google Shape;186;p10"/>
          <p:cNvSpPr/>
          <p:nvPr/>
        </p:nvSpPr>
        <p:spPr>
          <a:xfrm>
            <a:off x="6181011" y="4710708"/>
            <a:ext cx="7754779" cy="1193006"/>
          </a:xfrm>
          <a:prstGeom prst="rect">
            <a:avLst/>
          </a:prstGeom>
          <a:solidFill>
            <a:srgbClr val="000000">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0"/>
          <p:cNvSpPr/>
          <p:nvPr/>
        </p:nvSpPr>
        <p:spPr>
          <a:xfrm>
            <a:off x="6377226" y="4836081"/>
            <a:ext cx="3481149" cy="628174"/>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Ocultamiento de detalles de implementación</a:t>
            </a:r>
            <a:endParaRPr b="0" i="0" sz="1500" u="none" cap="none" strike="noStrike"/>
          </a:p>
        </p:txBody>
      </p:sp>
      <p:sp>
        <p:nvSpPr>
          <p:cNvPr id="188" name="Google Shape;188;p10"/>
          <p:cNvSpPr/>
          <p:nvPr/>
        </p:nvSpPr>
        <p:spPr>
          <a:xfrm>
            <a:off x="10258425" y="4836081"/>
            <a:ext cx="3481149" cy="942261"/>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Los clientes solo interactúan con la interfaz de la fábrica abstracta, sin conocer las clases concretas.</a:t>
            </a:r>
            <a:endParaRPr b="0" i="0" sz="1500" u="none" cap="none" strike="noStrike"/>
          </a:p>
        </p:txBody>
      </p:sp>
      <p:sp>
        <p:nvSpPr>
          <p:cNvPr id="189" name="Google Shape;189;p10"/>
          <p:cNvSpPr/>
          <p:nvPr/>
        </p:nvSpPr>
        <p:spPr>
          <a:xfrm>
            <a:off x="6181011" y="5903714"/>
            <a:ext cx="7754779" cy="1193006"/>
          </a:xfrm>
          <a:prstGeom prst="rect">
            <a:avLst/>
          </a:prstGeom>
          <a:solidFill>
            <a:srgbClr val="FFFFFF">
              <a:alpha val="392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0"/>
          <p:cNvSpPr/>
          <p:nvPr/>
        </p:nvSpPr>
        <p:spPr>
          <a:xfrm>
            <a:off x="6377226" y="6029087"/>
            <a:ext cx="3481149" cy="314087"/>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Extensibilidad y flexibilidad</a:t>
            </a:r>
            <a:endParaRPr b="0" i="0" sz="1500" u="none" cap="none" strike="noStrike"/>
          </a:p>
        </p:txBody>
      </p:sp>
      <p:sp>
        <p:nvSpPr>
          <p:cNvPr id="191" name="Google Shape;191;p10"/>
          <p:cNvSpPr/>
          <p:nvPr/>
        </p:nvSpPr>
        <p:spPr>
          <a:xfrm>
            <a:off x="10258425" y="6029087"/>
            <a:ext cx="3481149" cy="942261"/>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Agregar nuevos productos o familias de productos es más sencillo con el patrón Abstract Factory.</a:t>
            </a:r>
            <a:endParaRPr b="0" i="0" sz="150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descr="preencoded.png" id="197" name="Google Shape;197;p11"/>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198" name="Google Shape;198;p11"/>
          <p:cNvPicPr preferRelativeResize="0"/>
          <p:nvPr/>
        </p:nvPicPr>
        <p:blipFill rotWithShape="1">
          <a:blip r:embed="rId4">
            <a:alphaModFix/>
          </a:blip>
          <a:srcRect b="0" l="0" r="0" t="0"/>
          <a:stretch/>
        </p:blipFill>
        <p:spPr>
          <a:xfrm>
            <a:off x="9427488" y="2731175"/>
            <a:ext cx="4919305" cy="2767132"/>
          </a:xfrm>
          <a:prstGeom prst="rect">
            <a:avLst/>
          </a:prstGeom>
          <a:noFill/>
          <a:ln>
            <a:noFill/>
          </a:ln>
        </p:spPr>
      </p:pic>
      <p:sp>
        <p:nvSpPr>
          <p:cNvPr id="199" name="Google Shape;199;p11"/>
          <p:cNvSpPr/>
          <p:nvPr/>
        </p:nvSpPr>
        <p:spPr>
          <a:xfrm>
            <a:off x="793790" y="2864525"/>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Singleton</a:t>
            </a:r>
            <a:endParaRPr b="0" i="0" sz="4450" u="none" cap="none" strike="noStrike"/>
          </a:p>
        </p:txBody>
      </p:sp>
      <p:sp>
        <p:nvSpPr>
          <p:cNvPr id="200" name="Google Shape;200;p11"/>
          <p:cNvSpPr/>
          <p:nvPr/>
        </p:nvSpPr>
        <p:spPr>
          <a:xfrm>
            <a:off x="793790" y="3913465"/>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El patrón de diseño Singleton asegura que una clase tenga una sola instancia y proporciona un punto de acceso global a ella. Esto es útil cuando se requiere un único objeto que coordine acciones en todo el sistema.</a:t>
            </a:r>
            <a:endParaRPr b="0" i="0" sz="1750" u="none" cap="none" strike="noStrik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descr="preencoded.png" id="206" name="Google Shape;206;p12"/>
          <p:cNvPicPr preferRelativeResize="0"/>
          <p:nvPr/>
        </p:nvPicPr>
        <p:blipFill rotWithShape="1">
          <a:blip r:embed="rId3">
            <a:alphaModFix/>
          </a:blip>
          <a:srcRect b="0" l="0" r="0" t="0"/>
          <a:stretch/>
        </p:blipFill>
        <p:spPr>
          <a:xfrm>
            <a:off x="0" y="0"/>
            <a:ext cx="5486400" cy="8229600"/>
          </a:xfrm>
          <a:prstGeom prst="rect">
            <a:avLst/>
          </a:prstGeom>
          <a:noFill/>
          <a:ln>
            <a:noFill/>
          </a:ln>
        </p:spPr>
      </p:pic>
      <p:pic>
        <p:nvPicPr>
          <p:cNvPr descr="preencoded.png" id="207" name="Google Shape;207;p12"/>
          <p:cNvPicPr preferRelativeResize="0"/>
          <p:nvPr/>
        </p:nvPicPr>
        <p:blipFill rotWithShape="1">
          <a:blip r:embed="rId4">
            <a:alphaModFix/>
          </a:blip>
          <a:srcRect b="0" l="0" r="0" t="0"/>
          <a:stretch/>
        </p:blipFill>
        <p:spPr>
          <a:xfrm>
            <a:off x="240744" y="2707124"/>
            <a:ext cx="5004792" cy="2815233"/>
          </a:xfrm>
          <a:prstGeom prst="rect">
            <a:avLst/>
          </a:prstGeom>
          <a:noFill/>
          <a:ln>
            <a:noFill/>
          </a:ln>
        </p:spPr>
      </p:pic>
      <p:sp>
        <p:nvSpPr>
          <p:cNvPr id="208" name="Google Shape;208;p12"/>
          <p:cNvSpPr/>
          <p:nvPr/>
        </p:nvSpPr>
        <p:spPr>
          <a:xfrm>
            <a:off x="6160770" y="684609"/>
            <a:ext cx="4817031" cy="602099"/>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233E32"/>
              </a:buClr>
              <a:buSzPts val="3750"/>
              <a:buFont typeface="Alice"/>
              <a:buNone/>
            </a:pPr>
            <a:r>
              <a:rPr b="0" i="0" lang="en-US" sz="3750" u="none" cap="none" strike="noStrike">
                <a:solidFill>
                  <a:srgbClr val="233E32"/>
                </a:solidFill>
                <a:latin typeface="Alice"/>
                <a:ea typeface="Alice"/>
                <a:cs typeface="Alice"/>
                <a:sym typeface="Alice"/>
              </a:rPr>
              <a:t>Singleton</a:t>
            </a:r>
            <a:endParaRPr b="0" i="0" sz="3750" u="none" cap="none" strike="noStrike"/>
          </a:p>
        </p:txBody>
      </p:sp>
      <p:pic>
        <p:nvPicPr>
          <p:cNvPr descr="preencoded.png" id="209" name="Google Shape;209;p12"/>
          <p:cNvPicPr preferRelativeResize="0"/>
          <p:nvPr/>
        </p:nvPicPr>
        <p:blipFill rotWithShape="1">
          <a:blip r:embed="rId5">
            <a:alphaModFix/>
          </a:blip>
          <a:srcRect b="0" l="0" r="0" t="0"/>
          <a:stretch/>
        </p:blipFill>
        <p:spPr>
          <a:xfrm>
            <a:off x="6160770" y="1575673"/>
            <a:ext cx="481608" cy="481608"/>
          </a:xfrm>
          <a:prstGeom prst="rect">
            <a:avLst/>
          </a:prstGeom>
          <a:noFill/>
          <a:ln>
            <a:noFill/>
          </a:ln>
        </p:spPr>
      </p:pic>
      <p:sp>
        <p:nvSpPr>
          <p:cNvPr id="210" name="Google Shape;210;p12"/>
          <p:cNvSpPr/>
          <p:nvPr/>
        </p:nvSpPr>
        <p:spPr>
          <a:xfrm>
            <a:off x="6160770" y="2249924"/>
            <a:ext cx="2408515" cy="30099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2C2821"/>
              </a:buClr>
              <a:buSzPts val="1850"/>
              <a:buFont typeface="Alice"/>
              <a:buNone/>
            </a:pPr>
            <a:r>
              <a:rPr b="0" i="0" lang="en-US" sz="1850" u="none" cap="none" strike="noStrike">
                <a:solidFill>
                  <a:srgbClr val="2C2821"/>
                </a:solidFill>
                <a:latin typeface="Alice"/>
                <a:ea typeface="Alice"/>
                <a:cs typeface="Alice"/>
                <a:sym typeface="Alice"/>
              </a:rPr>
              <a:t>Definición</a:t>
            </a:r>
            <a:endParaRPr b="0" i="0" sz="1850" u="none" cap="none" strike="noStrike"/>
          </a:p>
        </p:txBody>
      </p:sp>
      <p:sp>
        <p:nvSpPr>
          <p:cNvPr id="211" name="Google Shape;211;p12"/>
          <p:cNvSpPr/>
          <p:nvPr/>
        </p:nvSpPr>
        <p:spPr>
          <a:xfrm>
            <a:off x="6160770" y="2666524"/>
            <a:ext cx="7795260" cy="61626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El patrón Singleton garantiza que una clase tenga una única instancia y proporciona un punto de acceso global a ella.</a:t>
            </a:r>
            <a:endParaRPr b="0" i="0" sz="1500" u="none" cap="none" strike="noStrike"/>
          </a:p>
        </p:txBody>
      </p:sp>
      <p:pic>
        <p:nvPicPr>
          <p:cNvPr descr="preencoded.png" id="212" name="Google Shape;212;p12"/>
          <p:cNvPicPr preferRelativeResize="0"/>
          <p:nvPr/>
        </p:nvPicPr>
        <p:blipFill rotWithShape="1">
          <a:blip r:embed="rId6">
            <a:alphaModFix/>
          </a:blip>
          <a:srcRect b="0" l="0" r="0" t="0"/>
          <a:stretch/>
        </p:blipFill>
        <p:spPr>
          <a:xfrm>
            <a:off x="6160770" y="3860840"/>
            <a:ext cx="481608" cy="481608"/>
          </a:xfrm>
          <a:prstGeom prst="rect">
            <a:avLst/>
          </a:prstGeom>
          <a:noFill/>
          <a:ln>
            <a:noFill/>
          </a:ln>
        </p:spPr>
      </p:pic>
      <p:sp>
        <p:nvSpPr>
          <p:cNvPr id="213" name="Google Shape;213;p12"/>
          <p:cNvSpPr/>
          <p:nvPr/>
        </p:nvSpPr>
        <p:spPr>
          <a:xfrm>
            <a:off x="6160770" y="4535091"/>
            <a:ext cx="2408515" cy="30099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2C2821"/>
              </a:buClr>
              <a:buSzPts val="1850"/>
              <a:buFont typeface="Alice"/>
              <a:buNone/>
            </a:pPr>
            <a:r>
              <a:rPr b="0" i="0" lang="en-US" sz="1850" u="none" cap="none" strike="noStrike">
                <a:solidFill>
                  <a:srgbClr val="2C2821"/>
                </a:solidFill>
                <a:latin typeface="Alice"/>
                <a:ea typeface="Alice"/>
                <a:cs typeface="Alice"/>
                <a:sym typeface="Alice"/>
              </a:rPr>
              <a:t>Instancia Única</a:t>
            </a:r>
            <a:endParaRPr b="0" i="0" sz="1850" u="none" cap="none" strike="noStrike"/>
          </a:p>
        </p:txBody>
      </p:sp>
      <p:sp>
        <p:nvSpPr>
          <p:cNvPr id="214" name="Google Shape;214;p12"/>
          <p:cNvSpPr/>
          <p:nvPr/>
        </p:nvSpPr>
        <p:spPr>
          <a:xfrm>
            <a:off x="6160770" y="4951690"/>
            <a:ext cx="7795260" cy="61626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La clase Singleton controla la creación de su propia instancia y evita que otras clases puedan instanciarla.</a:t>
            </a:r>
            <a:endParaRPr b="0" i="0" sz="1500" u="none" cap="none" strike="noStrike"/>
          </a:p>
        </p:txBody>
      </p:sp>
      <p:pic>
        <p:nvPicPr>
          <p:cNvPr descr="preencoded.png" id="215" name="Google Shape;215;p12"/>
          <p:cNvPicPr preferRelativeResize="0"/>
          <p:nvPr/>
        </p:nvPicPr>
        <p:blipFill rotWithShape="1">
          <a:blip r:embed="rId7">
            <a:alphaModFix/>
          </a:blip>
          <a:srcRect b="0" l="0" r="0" t="0"/>
          <a:stretch/>
        </p:blipFill>
        <p:spPr>
          <a:xfrm>
            <a:off x="6160770" y="6146006"/>
            <a:ext cx="481608" cy="481608"/>
          </a:xfrm>
          <a:prstGeom prst="rect">
            <a:avLst/>
          </a:prstGeom>
          <a:noFill/>
          <a:ln>
            <a:noFill/>
          </a:ln>
        </p:spPr>
      </p:pic>
      <p:sp>
        <p:nvSpPr>
          <p:cNvPr id="216" name="Google Shape;216;p12"/>
          <p:cNvSpPr/>
          <p:nvPr/>
        </p:nvSpPr>
        <p:spPr>
          <a:xfrm>
            <a:off x="6160770" y="6820257"/>
            <a:ext cx="2408515" cy="300990"/>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2C2821"/>
              </a:buClr>
              <a:buSzPts val="1850"/>
              <a:buFont typeface="Alice"/>
              <a:buNone/>
            </a:pPr>
            <a:r>
              <a:rPr b="0" i="0" lang="en-US" sz="1850" u="none" cap="none" strike="noStrike">
                <a:solidFill>
                  <a:srgbClr val="2C2821"/>
                </a:solidFill>
                <a:latin typeface="Alice"/>
                <a:ea typeface="Alice"/>
                <a:cs typeface="Alice"/>
                <a:sym typeface="Alice"/>
              </a:rPr>
              <a:t>Acceso Global</a:t>
            </a:r>
            <a:endParaRPr b="0" i="0" sz="1850" u="none" cap="none" strike="noStrike"/>
          </a:p>
        </p:txBody>
      </p:sp>
      <p:sp>
        <p:nvSpPr>
          <p:cNvPr id="217" name="Google Shape;217;p12"/>
          <p:cNvSpPr/>
          <p:nvPr/>
        </p:nvSpPr>
        <p:spPr>
          <a:xfrm>
            <a:off x="6160770" y="7236857"/>
            <a:ext cx="7795260" cy="30813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2C2821"/>
              </a:buClr>
              <a:buSzPts val="1500"/>
              <a:buFont typeface="Lora"/>
              <a:buNone/>
            </a:pPr>
            <a:r>
              <a:rPr b="0" i="0" lang="en-US" sz="1500" u="none" cap="none" strike="noStrike">
                <a:solidFill>
                  <a:srgbClr val="2C2821"/>
                </a:solidFill>
                <a:latin typeface="Lora"/>
                <a:ea typeface="Lora"/>
                <a:cs typeface="Lora"/>
                <a:sym typeface="Lora"/>
              </a:rPr>
              <a:t>Permite acceder a la única instancia de la clase desde cualquier parte de la aplicación.</a:t>
            </a:r>
            <a:endParaRPr b="0" i="0" sz="150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pic>
        <p:nvPicPr>
          <p:cNvPr descr="preencoded.png" id="223" name="Google Shape;223;p13"/>
          <p:cNvPicPr preferRelativeResize="0"/>
          <p:nvPr/>
        </p:nvPicPr>
        <p:blipFill rotWithShape="1">
          <a:blip r:embed="rId3">
            <a:alphaModFix/>
          </a:blip>
          <a:srcRect b="0" l="0" r="0" t="0"/>
          <a:stretch/>
        </p:blipFill>
        <p:spPr>
          <a:xfrm>
            <a:off x="0" y="0"/>
            <a:ext cx="5486400" cy="8230791"/>
          </a:xfrm>
          <a:prstGeom prst="rect">
            <a:avLst/>
          </a:prstGeom>
          <a:noFill/>
          <a:ln>
            <a:noFill/>
          </a:ln>
        </p:spPr>
      </p:pic>
      <p:pic>
        <p:nvPicPr>
          <p:cNvPr descr="preencoded.png" id="224" name="Google Shape;224;p13"/>
          <p:cNvPicPr preferRelativeResize="0"/>
          <p:nvPr/>
        </p:nvPicPr>
        <p:blipFill rotWithShape="1">
          <a:blip r:embed="rId4">
            <a:alphaModFix/>
          </a:blip>
          <a:srcRect b="0" l="0" r="0" t="0"/>
          <a:stretch/>
        </p:blipFill>
        <p:spPr>
          <a:xfrm>
            <a:off x="205383" y="2687836"/>
            <a:ext cx="5075515" cy="2855000"/>
          </a:xfrm>
          <a:prstGeom prst="rect">
            <a:avLst/>
          </a:prstGeom>
          <a:noFill/>
          <a:ln>
            <a:noFill/>
          </a:ln>
        </p:spPr>
      </p:pic>
      <p:sp>
        <p:nvSpPr>
          <p:cNvPr id="225" name="Google Shape;225;p13"/>
          <p:cNvSpPr/>
          <p:nvPr/>
        </p:nvSpPr>
        <p:spPr>
          <a:xfrm>
            <a:off x="6061591" y="451961"/>
            <a:ext cx="7059097" cy="51351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233E32"/>
              </a:buClr>
              <a:buSzPts val="3200"/>
              <a:buFont typeface="Alice"/>
              <a:buNone/>
            </a:pPr>
            <a:r>
              <a:rPr b="0" i="0" lang="en-US" sz="3200" u="none" cap="none" strike="noStrike">
                <a:solidFill>
                  <a:srgbClr val="233E32"/>
                </a:solidFill>
                <a:latin typeface="Alice"/>
                <a:ea typeface="Alice"/>
                <a:cs typeface="Alice"/>
                <a:sym typeface="Alice"/>
              </a:rPr>
              <a:t>Beneficios y casos de uso del Singleton</a:t>
            </a:r>
            <a:endParaRPr b="0" i="0" sz="3200" u="none" cap="none" strike="noStrike"/>
          </a:p>
        </p:txBody>
      </p:sp>
      <p:sp>
        <p:nvSpPr>
          <p:cNvPr id="226" name="Google Shape;226;p13"/>
          <p:cNvSpPr/>
          <p:nvPr/>
        </p:nvSpPr>
        <p:spPr>
          <a:xfrm>
            <a:off x="6061591" y="1294090"/>
            <a:ext cx="7993618" cy="54233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4250"/>
              <a:buFont typeface="Alice"/>
              <a:buNone/>
            </a:pPr>
            <a:r>
              <a:rPr b="0" i="0" lang="en-US" sz="4250" u="none" cap="none" strike="noStrike">
                <a:solidFill>
                  <a:srgbClr val="2C2821"/>
                </a:solidFill>
                <a:latin typeface="Alice"/>
                <a:ea typeface="Alice"/>
                <a:cs typeface="Alice"/>
                <a:sym typeface="Alice"/>
              </a:rPr>
              <a:t>2</a:t>
            </a:r>
            <a:endParaRPr b="0" i="0" sz="4250" u="none" cap="none" strike="noStrike"/>
          </a:p>
        </p:txBody>
      </p:sp>
      <p:sp>
        <p:nvSpPr>
          <p:cNvPr id="227" name="Google Shape;227;p13"/>
          <p:cNvSpPr/>
          <p:nvPr/>
        </p:nvSpPr>
        <p:spPr>
          <a:xfrm>
            <a:off x="9031129" y="2041803"/>
            <a:ext cx="2054423" cy="256818"/>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2C2821"/>
              </a:buClr>
              <a:buSzPts val="1600"/>
              <a:buFont typeface="Alice"/>
              <a:buNone/>
            </a:pPr>
            <a:r>
              <a:rPr b="0" i="0" lang="en-US" sz="1600" u="none" cap="none" strike="noStrike">
                <a:solidFill>
                  <a:srgbClr val="2C2821"/>
                </a:solidFill>
                <a:latin typeface="Alice"/>
                <a:ea typeface="Alice"/>
                <a:cs typeface="Alice"/>
                <a:sym typeface="Alice"/>
              </a:rPr>
              <a:t>Instancias</a:t>
            </a:r>
            <a:endParaRPr b="0" i="0" sz="1600" u="none" cap="none" strike="noStrike"/>
          </a:p>
        </p:txBody>
      </p:sp>
      <p:sp>
        <p:nvSpPr>
          <p:cNvPr id="228" name="Google Shape;228;p13"/>
          <p:cNvSpPr/>
          <p:nvPr/>
        </p:nvSpPr>
        <p:spPr>
          <a:xfrm>
            <a:off x="6061591" y="2397204"/>
            <a:ext cx="7993618" cy="262890"/>
          </a:xfrm>
          <a:prstGeom prst="rect">
            <a:avLst/>
          </a:prstGeom>
          <a:noFill/>
          <a:ln>
            <a:noFill/>
          </a:ln>
        </p:spPr>
        <p:txBody>
          <a:bodyPr anchorCtr="0" anchor="t" bIns="0" lIns="0" spcFirstLastPara="1" rIns="0" wrap="square" tIns="0">
            <a:noAutofit/>
          </a:bodyPr>
          <a:lstStyle/>
          <a:p>
            <a:pPr indent="0" lvl="0" marL="0" marR="0" rtl="0" algn="ctr">
              <a:lnSpc>
                <a:spcPct val="164000"/>
              </a:lnSpc>
              <a:spcBef>
                <a:spcPts val="0"/>
              </a:spcBef>
              <a:spcAft>
                <a:spcPts val="0"/>
              </a:spcAft>
              <a:buClr>
                <a:srgbClr val="2C2821"/>
              </a:buClr>
              <a:buSzPts val="1250"/>
              <a:buFont typeface="Lora"/>
              <a:buNone/>
            </a:pPr>
            <a:r>
              <a:rPr b="0" i="0" lang="en-US" sz="1250" u="none" cap="none" strike="noStrike">
                <a:solidFill>
                  <a:srgbClr val="2C2821"/>
                </a:solidFill>
                <a:latin typeface="Lora"/>
                <a:ea typeface="Lora"/>
                <a:cs typeface="Lora"/>
                <a:sym typeface="Lora"/>
              </a:rPr>
              <a:t>Garantiza que solo exista una instancia de la clase en todo el sistema.</a:t>
            </a:r>
            <a:endParaRPr b="0" i="0" sz="1250" u="none" cap="none" strike="noStrike"/>
          </a:p>
        </p:txBody>
      </p:sp>
      <p:sp>
        <p:nvSpPr>
          <p:cNvPr id="229" name="Google Shape;229;p13"/>
          <p:cNvSpPr/>
          <p:nvPr/>
        </p:nvSpPr>
        <p:spPr>
          <a:xfrm>
            <a:off x="6061591" y="3235285"/>
            <a:ext cx="7993618" cy="54233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4250"/>
              <a:buFont typeface="Alice"/>
              <a:buNone/>
            </a:pPr>
            <a:r>
              <a:rPr b="0" i="0" lang="en-US" sz="4250" u="none" cap="none" strike="noStrike">
                <a:solidFill>
                  <a:srgbClr val="2C2821"/>
                </a:solidFill>
                <a:latin typeface="Alice"/>
                <a:ea typeface="Alice"/>
                <a:cs typeface="Alice"/>
                <a:sym typeface="Alice"/>
              </a:rPr>
              <a:t>$120K</a:t>
            </a:r>
            <a:endParaRPr b="0" i="0" sz="4250" u="none" cap="none" strike="noStrike"/>
          </a:p>
        </p:txBody>
      </p:sp>
      <p:sp>
        <p:nvSpPr>
          <p:cNvPr id="230" name="Google Shape;230;p13"/>
          <p:cNvSpPr/>
          <p:nvPr/>
        </p:nvSpPr>
        <p:spPr>
          <a:xfrm>
            <a:off x="9031129" y="3982998"/>
            <a:ext cx="2054423" cy="256818"/>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2C2821"/>
              </a:buClr>
              <a:buSzPts val="1600"/>
              <a:buFont typeface="Alice"/>
              <a:buNone/>
            </a:pPr>
            <a:r>
              <a:rPr b="0" i="0" lang="en-US" sz="1600" u="none" cap="none" strike="noStrike">
                <a:solidFill>
                  <a:srgbClr val="2C2821"/>
                </a:solidFill>
                <a:latin typeface="Alice"/>
                <a:ea typeface="Alice"/>
                <a:cs typeface="Alice"/>
                <a:sym typeface="Alice"/>
              </a:rPr>
              <a:t>Reducción de Costos</a:t>
            </a:r>
            <a:endParaRPr b="0" i="0" sz="1600" u="none" cap="none" strike="noStrike"/>
          </a:p>
        </p:txBody>
      </p:sp>
      <p:sp>
        <p:nvSpPr>
          <p:cNvPr id="231" name="Google Shape;231;p13"/>
          <p:cNvSpPr/>
          <p:nvPr/>
        </p:nvSpPr>
        <p:spPr>
          <a:xfrm>
            <a:off x="6061591" y="4338399"/>
            <a:ext cx="7993618" cy="262890"/>
          </a:xfrm>
          <a:prstGeom prst="rect">
            <a:avLst/>
          </a:prstGeom>
          <a:noFill/>
          <a:ln>
            <a:noFill/>
          </a:ln>
        </p:spPr>
        <p:txBody>
          <a:bodyPr anchorCtr="0" anchor="t" bIns="0" lIns="0" spcFirstLastPara="1" rIns="0" wrap="square" tIns="0">
            <a:noAutofit/>
          </a:bodyPr>
          <a:lstStyle/>
          <a:p>
            <a:pPr indent="0" lvl="0" marL="0" marR="0" rtl="0" algn="ctr">
              <a:lnSpc>
                <a:spcPct val="164000"/>
              </a:lnSpc>
              <a:spcBef>
                <a:spcPts val="0"/>
              </a:spcBef>
              <a:spcAft>
                <a:spcPts val="0"/>
              </a:spcAft>
              <a:buClr>
                <a:srgbClr val="2C2821"/>
              </a:buClr>
              <a:buSzPts val="1250"/>
              <a:buFont typeface="Lora"/>
              <a:buNone/>
            </a:pPr>
            <a:r>
              <a:rPr b="0" i="0" lang="en-US" sz="1250" u="none" cap="none" strike="noStrike">
                <a:solidFill>
                  <a:srgbClr val="2C2821"/>
                </a:solidFill>
                <a:latin typeface="Lora"/>
                <a:ea typeface="Lora"/>
                <a:cs typeface="Lora"/>
                <a:sym typeface="Lora"/>
              </a:rPr>
              <a:t>Ahorro significativo en memoria y recursos al evitar múltiples instancias.</a:t>
            </a:r>
            <a:endParaRPr b="0" i="0" sz="1250" u="none" cap="none" strike="noStrike"/>
          </a:p>
        </p:txBody>
      </p:sp>
      <p:sp>
        <p:nvSpPr>
          <p:cNvPr id="232" name="Google Shape;232;p13"/>
          <p:cNvSpPr/>
          <p:nvPr/>
        </p:nvSpPr>
        <p:spPr>
          <a:xfrm>
            <a:off x="6061591" y="5176480"/>
            <a:ext cx="7993618" cy="54233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2C2821"/>
              </a:buClr>
              <a:buSzPts val="4250"/>
              <a:buFont typeface="Alice"/>
              <a:buNone/>
            </a:pPr>
            <a:r>
              <a:rPr b="0" i="0" lang="en-US" sz="4250" u="none" cap="none" strike="noStrike">
                <a:solidFill>
                  <a:srgbClr val="2C2821"/>
                </a:solidFill>
                <a:latin typeface="Alice"/>
                <a:ea typeface="Alice"/>
                <a:cs typeface="Alice"/>
                <a:sym typeface="Alice"/>
              </a:rPr>
              <a:t>99.99%</a:t>
            </a:r>
            <a:endParaRPr b="0" i="0" sz="4250" u="none" cap="none" strike="noStrike"/>
          </a:p>
        </p:txBody>
      </p:sp>
      <p:sp>
        <p:nvSpPr>
          <p:cNvPr id="233" name="Google Shape;233;p13"/>
          <p:cNvSpPr/>
          <p:nvPr/>
        </p:nvSpPr>
        <p:spPr>
          <a:xfrm>
            <a:off x="9031129" y="5924193"/>
            <a:ext cx="2054423" cy="256818"/>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2C2821"/>
              </a:buClr>
              <a:buSzPts val="1600"/>
              <a:buFont typeface="Alice"/>
              <a:buNone/>
            </a:pPr>
            <a:r>
              <a:rPr b="0" i="0" lang="en-US" sz="1600" u="none" cap="none" strike="noStrike">
                <a:solidFill>
                  <a:srgbClr val="2C2821"/>
                </a:solidFill>
                <a:latin typeface="Alice"/>
                <a:ea typeface="Alice"/>
                <a:cs typeface="Alice"/>
                <a:sym typeface="Alice"/>
              </a:rPr>
              <a:t>Disponibilidad</a:t>
            </a:r>
            <a:endParaRPr b="0" i="0" sz="1600" u="none" cap="none" strike="noStrike"/>
          </a:p>
        </p:txBody>
      </p:sp>
      <p:sp>
        <p:nvSpPr>
          <p:cNvPr id="234" name="Google Shape;234;p13"/>
          <p:cNvSpPr/>
          <p:nvPr/>
        </p:nvSpPr>
        <p:spPr>
          <a:xfrm>
            <a:off x="6061591" y="6279594"/>
            <a:ext cx="7993618" cy="262890"/>
          </a:xfrm>
          <a:prstGeom prst="rect">
            <a:avLst/>
          </a:prstGeom>
          <a:noFill/>
          <a:ln>
            <a:noFill/>
          </a:ln>
        </p:spPr>
        <p:txBody>
          <a:bodyPr anchorCtr="0" anchor="t" bIns="0" lIns="0" spcFirstLastPara="1" rIns="0" wrap="square" tIns="0">
            <a:noAutofit/>
          </a:bodyPr>
          <a:lstStyle/>
          <a:p>
            <a:pPr indent="0" lvl="0" marL="0" marR="0" rtl="0" algn="ctr">
              <a:lnSpc>
                <a:spcPct val="164000"/>
              </a:lnSpc>
              <a:spcBef>
                <a:spcPts val="0"/>
              </a:spcBef>
              <a:spcAft>
                <a:spcPts val="0"/>
              </a:spcAft>
              <a:buClr>
                <a:srgbClr val="2C2821"/>
              </a:buClr>
              <a:buSzPts val="1250"/>
              <a:buFont typeface="Lora"/>
              <a:buNone/>
            </a:pPr>
            <a:r>
              <a:rPr b="0" i="0" lang="en-US" sz="1250" u="none" cap="none" strike="noStrike">
                <a:solidFill>
                  <a:srgbClr val="2C2821"/>
                </a:solidFill>
                <a:latin typeface="Lora"/>
                <a:ea typeface="Lora"/>
                <a:cs typeface="Lora"/>
                <a:sym typeface="Lora"/>
              </a:rPr>
              <a:t>Asegura el acceso global a la única instancia existente.</a:t>
            </a:r>
            <a:endParaRPr b="0" i="0" sz="1250" u="none" cap="none" strike="noStrike"/>
          </a:p>
        </p:txBody>
      </p:sp>
      <p:sp>
        <p:nvSpPr>
          <p:cNvPr id="235" name="Google Shape;235;p13"/>
          <p:cNvSpPr/>
          <p:nvPr/>
        </p:nvSpPr>
        <p:spPr>
          <a:xfrm>
            <a:off x="6061591" y="6727269"/>
            <a:ext cx="7993618" cy="1051560"/>
          </a:xfrm>
          <a:prstGeom prst="rect">
            <a:avLst/>
          </a:prstGeom>
          <a:noFill/>
          <a:ln>
            <a:noFill/>
          </a:ln>
        </p:spPr>
        <p:txBody>
          <a:bodyPr anchorCtr="0" anchor="t" bIns="0" lIns="0" spcFirstLastPara="1" rIns="0" wrap="square" tIns="0">
            <a:noAutofit/>
          </a:bodyPr>
          <a:lstStyle/>
          <a:p>
            <a:pPr indent="0" lvl="0" marL="0" marR="0" rtl="0" algn="l">
              <a:lnSpc>
                <a:spcPct val="164000"/>
              </a:lnSpc>
              <a:spcBef>
                <a:spcPts val="0"/>
              </a:spcBef>
              <a:spcAft>
                <a:spcPts val="0"/>
              </a:spcAft>
              <a:buClr>
                <a:srgbClr val="2C2821"/>
              </a:buClr>
              <a:buSzPts val="1250"/>
              <a:buFont typeface="Lora"/>
              <a:buNone/>
            </a:pPr>
            <a:r>
              <a:rPr b="0" i="0" lang="en-US" sz="1250" u="none" cap="none" strike="noStrike">
                <a:solidFill>
                  <a:srgbClr val="2C2821"/>
                </a:solidFill>
                <a:latin typeface="Lora"/>
                <a:ea typeface="Lora"/>
                <a:cs typeface="Lora"/>
                <a:sym typeface="Lora"/>
              </a:rPr>
              <a:t>El patrón Singleton ofrece varios beneficios clave: garantiza una única instancia de la clase, reduce los costos de memoria y recursos, y asegura la disponibilidad global de esa instancia. Es ampliamente utilizado en aplicaciones donde se requiere un punto de acceso único y bien controlado a un recurso compartido.</a:t>
            </a:r>
            <a:endParaRPr b="0" i="0" sz="1250" u="none" cap="none" strike="noStrik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descr="preencoded.png" id="241" name="Google Shape;241;p14"/>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pic>
        <p:nvPicPr>
          <p:cNvPr descr="preencoded.png" id="242" name="Google Shape;242;p14"/>
          <p:cNvPicPr preferRelativeResize="0"/>
          <p:nvPr/>
        </p:nvPicPr>
        <p:blipFill rotWithShape="1">
          <a:blip r:embed="rId4">
            <a:alphaModFix/>
          </a:blip>
          <a:srcRect b="0" l="0" r="0" t="0"/>
          <a:stretch/>
        </p:blipFill>
        <p:spPr>
          <a:xfrm>
            <a:off x="9427488" y="1655088"/>
            <a:ext cx="4919424" cy="4919424"/>
          </a:xfrm>
          <a:prstGeom prst="rect">
            <a:avLst/>
          </a:prstGeom>
          <a:noFill/>
          <a:ln>
            <a:noFill/>
          </a:ln>
        </p:spPr>
      </p:pic>
      <p:sp>
        <p:nvSpPr>
          <p:cNvPr id="243" name="Google Shape;243;p14"/>
          <p:cNvSpPr/>
          <p:nvPr/>
        </p:nvSpPr>
        <p:spPr>
          <a:xfrm>
            <a:off x="793790" y="2864525"/>
            <a:ext cx="567059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233E32"/>
              </a:buClr>
              <a:buSzPts val="4450"/>
              <a:buFont typeface="Alice"/>
              <a:buNone/>
            </a:pPr>
            <a:r>
              <a:rPr b="0" i="0" lang="en-US" sz="4450" u="none" cap="none" strike="noStrike">
                <a:solidFill>
                  <a:srgbClr val="233E32"/>
                </a:solidFill>
                <a:latin typeface="Alice"/>
                <a:ea typeface="Alice"/>
                <a:cs typeface="Alice"/>
                <a:sym typeface="Alice"/>
              </a:rPr>
              <a:t>Builder</a:t>
            </a:r>
            <a:endParaRPr b="0" i="0" sz="4450" u="none" cap="none" strike="noStrike"/>
          </a:p>
        </p:txBody>
      </p:sp>
      <p:sp>
        <p:nvSpPr>
          <p:cNvPr id="244" name="Google Shape;244;p14"/>
          <p:cNvSpPr/>
          <p:nvPr/>
        </p:nvSpPr>
        <p:spPr>
          <a:xfrm>
            <a:off x="793790" y="3913465"/>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2C2821"/>
              </a:buClr>
              <a:buSzPts val="1750"/>
              <a:buFont typeface="Lora"/>
              <a:buNone/>
            </a:pPr>
            <a:r>
              <a:rPr b="0" i="0" lang="en-US" sz="1750" u="none" cap="none" strike="noStrike">
                <a:solidFill>
                  <a:srgbClr val="2C2821"/>
                </a:solidFill>
                <a:latin typeface="Lora"/>
                <a:ea typeface="Lora"/>
                <a:cs typeface="Lora"/>
                <a:sym typeface="Lora"/>
              </a:rPr>
              <a:t>El patrón de diseño Builder es útil cuando se necesita crear objetos complejos que requieren múltiples pasos de inicialización. Permite separar la construcción de un objeto de su representación, lo que facilita la creación de diferentes versiones del mismo objeto.</a:t>
            </a:r>
            <a:endParaRPr b="0" i="0" sz="1750" u="none" cap="none" strike="noStrike"/>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preencoded.png" id="250" name="Google Shape;250;p15"/>
          <p:cNvPicPr preferRelativeResize="0"/>
          <p:nvPr/>
        </p:nvPicPr>
        <p:blipFill rotWithShape="1">
          <a:blip r:embed="rId3">
            <a:alphaModFix/>
          </a:blip>
          <a:srcRect b="0" l="0" r="0" t="0"/>
          <a:stretch/>
        </p:blipFill>
        <p:spPr>
          <a:xfrm>
            <a:off x="0" y="0"/>
            <a:ext cx="14630400" cy="2709863"/>
          </a:xfrm>
          <a:prstGeom prst="rect">
            <a:avLst/>
          </a:prstGeom>
          <a:noFill/>
          <a:ln>
            <a:noFill/>
          </a:ln>
        </p:spPr>
      </p:pic>
      <p:pic>
        <p:nvPicPr>
          <p:cNvPr descr="preencoded.png" id="251" name="Google Shape;251;p15"/>
          <p:cNvPicPr preferRelativeResize="0"/>
          <p:nvPr/>
        </p:nvPicPr>
        <p:blipFill rotWithShape="1">
          <a:blip r:embed="rId4">
            <a:alphaModFix/>
          </a:blip>
          <a:srcRect b="0" l="0" r="0" t="0"/>
          <a:stretch/>
        </p:blipFill>
        <p:spPr>
          <a:xfrm>
            <a:off x="5250537" y="270986"/>
            <a:ext cx="4129207" cy="2167890"/>
          </a:xfrm>
          <a:prstGeom prst="rect">
            <a:avLst/>
          </a:prstGeom>
          <a:noFill/>
          <a:ln>
            <a:noFill/>
          </a:ln>
        </p:spPr>
      </p:pic>
      <p:sp>
        <p:nvSpPr>
          <p:cNvPr id="252" name="Google Shape;252;p15"/>
          <p:cNvSpPr/>
          <p:nvPr/>
        </p:nvSpPr>
        <p:spPr>
          <a:xfrm>
            <a:off x="758666" y="3476863"/>
            <a:ext cx="5419725" cy="677466"/>
          </a:xfrm>
          <a:prstGeom prst="rect">
            <a:avLst/>
          </a:prstGeom>
          <a:noFill/>
          <a:ln>
            <a:noFill/>
          </a:ln>
        </p:spPr>
        <p:txBody>
          <a:bodyPr anchorCtr="0" anchor="t" bIns="0" lIns="0" spcFirstLastPara="1" rIns="0" wrap="square" tIns="0">
            <a:noAutofit/>
          </a:bodyPr>
          <a:lstStyle/>
          <a:p>
            <a:pPr indent="0" lvl="0" marL="0" marR="0" rtl="0" algn="l">
              <a:lnSpc>
                <a:spcPct val="124705"/>
              </a:lnSpc>
              <a:spcBef>
                <a:spcPts val="0"/>
              </a:spcBef>
              <a:spcAft>
                <a:spcPts val="0"/>
              </a:spcAft>
              <a:buClr>
                <a:srgbClr val="233E32"/>
              </a:buClr>
              <a:buSzPts val="4250"/>
              <a:buFont typeface="Alice"/>
              <a:buNone/>
            </a:pPr>
            <a:r>
              <a:rPr b="0" i="0" lang="en-US" sz="4250" u="none" cap="none" strike="noStrike">
                <a:solidFill>
                  <a:srgbClr val="233E32"/>
                </a:solidFill>
                <a:latin typeface="Alice"/>
                <a:ea typeface="Alice"/>
                <a:cs typeface="Alice"/>
                <a:sym typeface="Alice"/>
              </a:rPr>
              <a:t>Utilidad del Builder</a:t>
            </a:r>
            <a:endParaRPr b="0" i="0" sz="4250" u="none" cap="none" strike="noStrike"/>
          </a:p>
        </p:txBody>
      </p:sp>
      <p:sp>
        <p:nvSpPr>
          <p:cNvPr id="253" name="Google Shape;253;p15"/>
          <p:cNvSpPr/>
          <p:nvPr/>
        </p:nvSpPr>
        <p:spPr>
          <a:xfrm>
            <a:off x="758666" y="4479488"/>
            <a:ext cx="4226600" cy="2983111"/>
          </a:xfrm>
          <a:prstGeom prst="roundRect">
            <a:avLst>
              <a:gd fmla="val 1090"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5"/>
          <p:cNvSpPr/>
          <p:nvPr/>
        </p:nvSpPr>
        <p:spPr>
          <a:xfrm>
            <a:off x="975360" y="4696182"/>
            <a:ext cx="3755827" cy="338733"/>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2C2821"/>
              </a:buClr>
              <a:buSzPts val="2100"/>
              <a:buFont typeface="Alice"/>
              <a:buNone/>
            </a:pPr>
            <a:r>
              <a:rPr b="0" i="0" lang="en-US" sz="2100" u="none" cap="none" strike="noStrike">
                <a:solidFill>
                  <a:srgbClr val="2C2821"/>
                </a:solidFill>
                <a:latin typeface="Alice"/>
                <a:ea typeface="Alice"/>
                <a:cs typeface="Alice"/>
                <a:sym typeface="Alice"/>
              </a:rPr>
              <a:t>Creación de Objetos Complejos</a:t>
            </a:r>
            <a:endParaRPr b="0" i="0" sz="2100" u="none" cap="none" strike="noStrike"/>
          </a:p>
        </p:txBody>
      </p:sp>
      <p:sp>
        <p:nvSpPr>
          <p:cNvPr id="255" name="Google Shape;255;p15"/>
          <p:cNvSpPr/>
          <p:nvPr/>
        </p:nvSpPr>
        <p:spPr>
          <a:xfrm>
            <a:off x="975360" y="5164931"/>
            <a:ext cx="3793212" cy="2080974"/>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El patrón Builder permite construir objetos complejos paso a paso, controlando el proceso de construcción y separando la lógica de construcción de la representación del objeto.</a:t>
            </a:r>
            <a:endParaRPr b="0" i="0" sz="1700" u="none" cap="none" strike="noStrike"/>
          </a:p>
        </p:txBody>
      </p:sp>
      <p:sp>
        <p:nvSpPr>
          <p:cNvPr id="256" name="Google Shape;256;p15"/>
          <p:cNvSpPr/>
          <p:nvPr/>
        </p:nvSpPr>
        <p:spPr>
          <a:xfrm>
            <a:off x="5201960" y="4479488"/>
            <a:ext cx="4226600" cy="2983111"/>
          </a:xfrm>
          <a:prstGeom prst="roundRect">
            <a:avLst>
              <a:gd fmla="val 1090"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5"/>
          <p:cNvSpPr/>
          <p:nvPr/>
        </p:nvSpPr>
        <p:spPr>
          <a:xfrm>
            <a:off x="5418653" y="4696182"/>
            <a:ext cx="3117771" cy="338733"/>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2C2821"/>
              </a:buClr>
              <a:buSzPts val="2100"/>
              <a:buFont typeface="Alice"/>
              <a:buNone/>
            </a:pPr>
            <a:r>
              <a:rPr b="0" i="0" lang="en-US" sz="2100" u="none" cap="none" strike="noStrike">
                <a:solidFill>
                  <a:srgbClr val="2C2821"/>
                </a:solidFill>
                <a:latin typeface="Alice"/>
                <a:ea typeface="Alice"/>
                <a:cs typeface="Alice"/>
                <a:sym typeface="Alice"/>
              </a:rPr>
              <a:t>Flexibilidad y Variabilidad</a:t>
            </a:r>
            <a:endParaRPr b="0" i="0" sz="2100" u="none" cap="none" strike="noStrike"/>
          </a:p>
        </p:txBody>
      </p:sp>
      <p:sp>
        <p:nvSpPr>
          <p:cNvPr id="258" name="Google Shape;258;p15"/>
          <p:cNvSpPr/>
          <p:nvPr/>
        </p:nvSpPr>
        <p:spPr>
          <a:xfrm>
            <a:off x="5418653" y="5164931"/>
            <a:ext cx="3793212" cy="1734145"/>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Facilita la creación de diferentes representaciones de un mismo objeto, lo que aporta flexibilidad y permite adaptar la construcción a las necesidades específicas.</a:t>
            </a:r>
            <a:endParaRPr b="0" i="0" sz="1700" u="none" cap="none" strike="noStrike"/>
          </a:p>
        </p:txBody>
      </p:sp>
      <p:sp>
        <p:nvSpPr>
          <p:cNvPr id="259" name="Google Shape;259;p15"/>
          <p:cNvSpPr/>
          <p:nvPr/>
        </p:nvSpPr>
        <p:spPr>
          <a:xfrm>
            <a:off x="9645253" y="4479488"/>
            <a:ext cx="4226600" cy="2983111"/>
          </a:xfrm>
          <a:prstGeom prst="roundRect">
            <a:avLst>
              <a:gd fmla="val 1090" name="adj"/>
            </a:avLst>
          </a:prstGeom>
          <a:solidFill>
            <a:srgbClr val="F0EDE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5"/>
          <p:cNvSpPr/>
          <p:nvPr/>
        </p:nvSpPr>
        <p:spPr>
          <a:xfrm>
            <a:off x="9861947" y="4696182"/>
            <a:ext cx="2709863" cy="338733"/>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2C2821"/>
              </a:buClr>
              <a:buSzPts val="2100"/>
              <a:buFont typeface="Alice"/>
              <a:buNone/>
            </a:pPr>
            <a:r>
              <a:rPr b="0" i="0" lang="en-US" sz="2100" u="none" cap="none" strike="noStrike">
                <a:solidFill>
                  <a:srgbClr val="2C2821"/>
                </a:solidFill>
                <a:latin typeface="Alice"/>
                <a:ea typeface="Alice"/>
                <a:cs typeface="Alice"/>
                <a:sym typeface="Alice"/>
              </a:rPr>
              <a:t>Encapsulación</a:t>
            </a:r>
            <a:endParaRPr b="0" i="0" sz="2100" u="none" cap="none" strike="noStrike"/>
          </a:p>
        </p:txBody>
      </p:sp>
      <p:sp>
        <p:nvSpPr>
          <p:cNvPr id="261" name="Google Shape;261;p15"/>
          <p:cNvSpPr/>
          <p:nvPr/>
        </p:nvSpPr>
        <p:spPr>
          <a:xfrm>
            <a:off x="9861947" y="5164931"/>
            <a:ext cx="3793212" cy="1387316"/>
          </a:xfrm>
          <a:prstGeom prst="rect">
            <a:avLst/>
          </a:prstGeom>
          <a:noFill/>
          <a:ln>
            <a:noFill/>
          </a:ln>
        </p:spPr>
        <p:txBody>
          <a:bodyPr anchorCtr="0" anchor="t" bIns="0" lIns="0" spcFirstLastPara="1" rIns="0" wrap="square" tIns="0">
            <a:noAutofit/>
          </a:bodyPr>
          <a:lstStyle/>
          <a:p>
            <a:pPr indent="0" lvl="0" marL="0" marR="0" rtl="0" algn="l">
              <a:lnSpc>
                <a:spcPct val="158823"/>
              </a:lnSpc>
              <a:spcBef>
                <a:spcPts val="0"/>
              </a:spcBef>
              <a:spcAft>
                <a:spcPts val="0"/>
              </a:spcAft>
              <a:buClr>
                <a:srgbClr val="2C2821"/>
              </a:buClr>
              <a:buSzPts val="1700"/>
              <a:buFont typeface="Lora"/>
              <a:buNone/>
            </a:pPr>
            <a:r>
              <a:rPr b="0" i="0" lang="en-US" sz="1700" u="none" cap="none" strike="noStrike">
                <a:solidFill>
                  <a:srgbClr val="2C2821"/>
                </a:solidFill>
                <a:latin typeface="Lora"/>
                <a:ea typeface="Lora"/>
                <a:cs typeface="Lora"/>
                <a:sym typeface="Lora"/>
              </a:rPr>
              <a:t>Encapsula la complejidad de la creación de un objeto, ocultando los detalles del proceso de construcción del cliente.</a:t>
            </a:r>
            <a:endParaRPr b="0" i="0" sz="170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2024-11-04T01:43:03Z</dcterms:created>
  <dc:creator>PptxGenJS</dc:creator>
</cp:coreProperties>
</file>