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8229600" cx="14630400"/>
  <p:notesSz cx="8229600" cy="14630400"/>
  <p:embeddedFontLst>
    <p:embeddedFont>
      <p:font typeface="Libre Baskerville"/>
      <p:regular r:id="rId22"/>
      <p:bold r:id="rId23"/>
      <p:italic r:id="rId24"/>
    </p:embeddedFont>
    <p:embeddedFont>
      <p:font typeface="DM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9" roundtripDataSignature="AMtx7mgglSTNi+9LHqx0vUpBuWfeLL/Y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33062C5-6F47-4E36-8261-E63455912B96}">
  <a:tblStyle styleId="{C33062C5-6F47-4E36-8261-E63455912B9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LibreBaskerville-regular.fntdata"/><Relationship Id="rId21" Type="http://schemas.openxmlformats.org/officeDocument/2006/relationships/slide" Target="slides/slide16.xml"/><Relationship Id="rId24" Type="http://schemas.openxmlformats.org/officeDocument/2006/relationships/font" Target="fonts/LibreBaskerville-italic.fntdata"/><Relationship Id="rId23" Type="http://schemas.openxmlformats.org/officeDocument/2006/relationships/font" Target="fonts/LibreBaskerville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DMSans-bold.fntdata"/><Relationship Id="rId25" Type="http://schemas.openxmlformats.org/officeDocument/2006/relationships/font" Target="fonts/DMSans-regular.fntdata"/><Relationship Id="rId28" Type="http://schemas.openxmlformats.org/officeDocument/2006/relationships/font" Target="fonts/DMSans-boldItalic.fntdata"/><Relationship Id="rId27" Type="http://schemas.openxmlformats.org/officeDocument/2006/relationships/font" Target="fonts/DM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118ddf4136_0_0:notes"/>
          <p:cNvSpPr/>
          <p:nvPr>
            <p:ph idx="2" type="sldImg"/>
          </p:nvPr>
        </p:nvSpPr>
        <p:spPr>
          <a:xfrm>
            <a:off x="457560" y="1097280"/>
            <a:ext cx="73152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g3118ddf4136_0_0:notes"/>
          <p:cNvSpPr txBox="1"/>
          <p:nvPr>
            <p:ph idx="1" type="body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" name="Google Shape;14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" name="Google Shape;17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" name="Google Shape;20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" name="Google Shape;23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" name="Google Shape;26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9" name="Google Shape;29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2" name="Google Shape;32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" name="Google Shape;35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8" name="Google Shape;38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bg>
      <p:bgPr>
        <a:solidFill>
          <a:srgbClr val="000000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1" name="Google Shape;41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bg>
      <p:bgPr>
        <a:solidFill>
          <a:srgbClr val="000000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4" name="Google Shape;44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bg>
      <p:bgPr>
        <a:solidFill>
          <a:srgbClr val="000000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7" name="Google Shape;47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4 master">
  <p:cSld name="Slide 14 master">
    <p:bg>
      <p:bgPr>
        <a:solidFill>
          <a:srgbClr val="000000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0" name="Google Shape;50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5 master">
  <p:cSld name="Slide 15 master">
    <p:bg>
      <p:bgPr>
        <a:solidFill>
          <a:srgbClr val="000000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3" name="Google Shape;53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118ddf4136_0_58"/>
          <p:cNvSpPr txBox="1"/>
          <p:nvPr>
            <p:ph type="title"/>
          </p:nvPr>
        </p:nvSpPr>
        <p:spPr>
          <a:xfrm>
            <a:off x="498720" y="712040"/>
            <a:ext cx="136329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9pPr>
          </a:lstStyle>
          <a:p/>
        </p:txBody>
      </p:sp>
      <p:sp>
        <p:nvSpPr>
          <p:cNvPr id="58" name="Google Shape;58;g3118ddf4136_0_58"/>
          <p:cNvSpPr txBox="1"/>
          <p:nvPr>
            <p:ph idx="1" type="body"/>
          </p:nvPr>
        </p:nvSpPr>
        <p:spPr>
          <a:xfrm>
            <a:off x="498720" y="1843960"/>
            <a:ext cx="13632900" cy="54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412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  <a:defRPr sz="1100"/>
            </a:lvl1pPr>
            <a:lvl2pPr indent="-3683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1100"/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1100"/>
            </a:lvl3pPr>
            <a:lvl4pPr indent="-3683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1100"/>
            </a:lvl4pPr>
            <a:lvl5pPr indent="-3683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1100"/>
            </a:lvl5pPr>
            <a:lvl6pPr indent="-3683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1100"/>
            </a:lvl6pPr>
            <a:lvl7pPr indent="-3683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1100"/>
            </a:lvl7pPr>
            <a:lvl8pPr indent="-3683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1100"/>
            </a:lvl8pPr>
            <a:lvl9pPr indent="-3683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1100"/>
            </a:lvl9pPr>
          </a:lstStyle>
          <a:p/>
        </p:txBody>
      </p:sp>
      <p:sp>
        <p:nvSpPr>
          <p:cNvPr id="59" name="Google Shape;59;g3118ddf4136_0_58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Relationship Id="rId5" Type="http://schemas.openxmlformats.org/officeDocument/2006/relationships/image" Target="../media/image34.png"/><Relationship Id="rId6" Type="http://schemas.openxmlformats.org/officeDocument/2006/relationships/image" Target="../media/image54.png"/><Relationship Id="rId7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Relationship Id="rId4" Type="http://schemas.openxmlformats.org/officeDocument/2006/relationships/image" Target="../media/image20.png"/><Relationship Id="rId5" Type="http://schemas.openxmlformats.org/officeDocument/2006/relationships/image" Target="../media/image26.png"/><Relationship Id="rId6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5.png"/><Relationship Id="rId4" Type="http://schemas.openxmlformats.org/officeDocument/2006/relationships/image" Target="../media/image2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0.png"/><Relationship Id="rId4" Type="http://schemas.openxmlformats.org/officeDocument/2006/relationships/image" Target="../media/image5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5.png"/><Relationship Id="rId4" Type="http://schemas.openxmlformats.org/officeDocument/2006/relationships/image" Target="../media/image32.png"/><Relationship Id="rId5" Type="http://schemas.openxmlformats.org/officeDocument/2006/relationships/image" Target="../media/image3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7.png"/><Relationship Id="rId4" Type="http://schemas.openxmlformats.org/officeDocument/2006/relationships/image" Target="../media/image3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6.png"/><Relationship Id="rId4" Type="http://schemas.openxmlformats.org/officeDocument/2006/relationships/image" Target="../media/image41.png"/><Relationship Id="rId5" Type="http://schemas.openxmlformats.org/officeDocument/2006/relationships/image" Target="../media/image44.png"/><Relationship Id="rId6" Type="http://schemas.openxmlformats.org/officeDocument/2006/relationships/image" Target="../media/image43.png"/><Relationship Id="rId7" Type="http://schemas.openxmlformats.org/officeDocument/2006/relationships/image" Target="../media/image4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51.png"/><Relationship Id="rId6" Type="http://schemas.openxmlformats.org/officeDocument/2006/relationships/image" Target="../media/image5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7.png"/><Relationship Id="rId6" Type="http://schemas.openxmlformats.org/officeDocument/2006/relationships/image" Target="../media/image52.png"/><Relationship Id="rId7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g3118ddf4136_0_0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3522" y="0"/>
            <a:ext cx="14603357" cy="82296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5" name="Google Shape;65;g3118ddf4136_0_0"/>
          <p:cNvGraphicFramePr/>
          <p:nvPr/>
        </p:nvGraphicFramePr>
        <p:xfrm>
          <a:off x="8525120" y="1552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{C33062C5-6F47-4E36-8261-E63455912B96}</a:tableStyleId>
              </a:tblPr>
              <a:tblGrid>
                <a:gridCol w="2429125"/>
                <a:gridCol w="3475800"/>
              </a:tblGrid>
              <a:tr h="515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b="1" sz="2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46275" marB="146275" marR="146275" marL="1462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/>
                        <a:t>Día, xx/xx/2025 </a:t>
                      </a:r>
                      <a:endParaRPr sz="2200" u="none" cap="none" strike="noStrike"/>
                    </a:p>
                  </a:txBody>
                  <a:tcPr marT="146275" marB="146275" marR="146275" marL="146275"/>
                </a:tc>
              </a:tr>
              <a:tr h="58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2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46275" marB="146275" marR="146275" marL="1462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/>
                        <a:t>xx:xx</a:t>
                      </a:r>
                      <a:endParaRPr sz="2200" u="none" cap="none" strike="noStrike"/>
                    </a:p>
                  </a:txBody>
                  <a:tcPr marT="146275" marB="146275" marR="146275" marL="146275"/>
                </a:tc>
              </a:tr>
            </a:tbl>
          </a:graphicData>
        </a:graphic>
      </p:graphicFrame>
      <p:sp>
        <p:nvSpPr>
          <p:cNvPr id="66" name="Google Shape;66;g3118ddf4136_0_0"/>
          <p:cNvSpPr txBox="1"/>
          <p:nvPr/>
        </p:nvSpPr>
        <p:spPr>
          <a:xfrm>
            <a:off x="2304280" y="3613280"/>
            <a:ext cx="10867200" cy="9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/>
              <a:t>Análisis y Diseño de Sistemas 2 </a:t>
            </a: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4000"/>
              <a:t>SECCIÓN</a:t>
            </a: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g3118ddf4136_0_0"/>
          <p:cNvSpPr txBox="1"/>
          <p:nvPr/>
        </p:nvSpPr>
        <p:spPr>
          <a:xfrm>
            <a:off x="2845920" y="4641200"/>
            <a:ext cx="8938500" cy="7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/>
              <a:t>Estudiante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3" name="Google Shape;7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4" name="Google Shape;7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27488" y="2202418"/>
            <a:ext cx="4919305" cy="3824764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"/>
          <p:cNvSpPr/>
          <p:nvPr/>
        </p:nvSpPr>
        <p:spPr>
          <a:xfrm>
            <a:off x="793790" y="2328624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4450"/>
              <a:buFont typeface="Libre Baskerville"/>
              <a:buNone/>
            </a:pPr>
            <a:r>
              <a:rPr b="0" i="0" lang="en-US" sz="445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Despliegue y operación en DevOps</a:t>
            </a:r>
            <a:endParaRPr b="0" i="0" sz="4450" u="none" cap="none" strike="noStrike"/>
          </a:p>
        </p:txBody>
      </p:sp>
      <p:sp>
        <p:nvSpPr>
          <p:cNvPr id="76" name="Google Shape;76;p1"/>
          <p:cNvSpPr/>
          <p:nvPr/>
        </p:nvSpPr>
        <p:spPr>
          <a:xfrm>
            <a:off x="793790" y="4086344"/>
            <a:ext cx="7556421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En esta presentación, exploraremos los conceptos clave del despliegue y la operación en el contexto del paradigma DevOps. Desde la automatización del despliegue hasta las prácticas de monitorización en producción, analizaremos cómo estas metodologías pueden mejorar la eficiencia y la fiabilidad de los sistemas informáticos.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"/>
          <p:cNvSpPr/>
          <p:nvPr/>
        </p:nvSpPr>
        <p:spPr>
          <a:xfrm>
            <a:off x="793790" y="2004060"/>
            <a:ext cx="130428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4450"/>
              <a:buFont typeface="Libre Baskerville"/>
              <a:buNone/>
            </a:pPr>
            <a:r>
              <a:rPr b="0" i="0" lang="en-US" sz="445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¿Qué es el despliegue automatizado (Release)?</a:t>
            </a:r>
            <a:endParaRPr b="0" i="0" sz="4450" u="none" cap="none" strike="noStrike"/>
          </a:p>
        </p:txBody>
      </p:sp>
      <p:sp>
        <p:nvSpPr>
          <p:cNvPr id="83" name="Google Shape;83;p2"/>
          <p:cNvSpPr/>
          <p:nvPr/>
        </p:nvSpPr>
        <p:spPr>
          <a:xfrm>
            <a:off x="793790" y="398859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2200"/>
              <a:buFont typeface="Libre Baskerville"/>
              <a:buNone/>
            </a:pPr>
            <a:r>
              <a:rPr b="0" i="0" lang="en-US" sz="220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Definición</a:t>
            </a:r>
            <a:endParaRPr b="0" i="0" sz="2200" u="none" cap="none" strike="noStrike"/>
          </a:p>
        </p:txBody>
      </p:sp>
      <p:sp>
        <p:nvSpPr>
          <p:cNvPr id="84" name="Google Shape;84;p2"/>
          <p:cNvSpPr/>
          <p:nvPr/>
        </p:nvSpPr>
        <p:spPr>
          <a:xfrm>
            <a:off x="793790" y="4569738"/>
            <a:ext cx="6244709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El despliegue automatizado se refiere al proceso de llevar el software desde el entorno de desarrollo al entorno de producción de manera automatizada, sin intervención manual.</a:t>
            </a:r>
            <a:endParaRPr b="0" i="0" sz="1750" u="none" cap="none" strike="noStrike"/>
          </a:p>
        </p:txBody>
      </p:sp>
      <p:sp>
        <p:nvSpPr>
          <p:cNvPr id="85" name="Google Shape;85;p2"/>
          <p:cNvSpPr/>
          <p:nvPr/>
        </p:nvSpPr>
        <p:spPr>
          <a:xfrm>
            <a:off x="7599521" y="398859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2200"/>
              <a:buFont typeface="Libre Baskerville"/>
              <a:buNone/>
            </a:pPr>
            <a:r>
              <a:rPr b="0" i="0" lang="en-US" sz="220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Proceso Ágil</a:t>
            </a:r>
            <a:endParaRPr b="0" i="0" sz="2200" u="none" cap="none" strike="noStrike"/>
          </a:p>
        </p:txBody>
      </p:sp>
      <p:sp>
        <p:nvSpPr>
          <p:cNvPr id="86" name="Google Shape;86;p2"/>
          <p:cNvSpPr/>
          <p:nvPr/>
        </p:nvSpPr>
        <p:spPr>
          <a:xfrm>
            <a:off x="7599521" y="4569738"/>
            <a:ext cx="6244709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Esta práctica es clave en metodologías ágiles como DevOps, permitiendo entregar nuevas funcionalidades de manera rápida y fiable.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2" name="Google Shape;9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3" name="Google Shape;9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68433" y="2261354"/>
            <a:ext cx="5037415" cy="3706773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3"/>
          <p:cNvSpPr/>
          <p:nvPr/>
        </p:nvSpPr>
        <p:spPr>
          <a:xfrm>
            <a:off x="628412" y="637699"/>
            <a:ext cx="7887176" cy="1122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3500"/>
              <a:buFont typeface="Libre Baskerville"/>
              <a:buNone/>
            </a:pPr>
            <a:r>
              <a:rPr b="0" i="0" lang="en-US" sz="350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Beneficios de la automatización en el despliegue</a:t>
            </a:r>
            <a:endParaRPr b="0" i="0" sz="3500" u="none" cap="none" strike="noStrike"/>
          </a:p>
        </p:txBody>
      </p:sp>
      <p:pic>
        <p:nvPicPr>
          <p:cNvPr descr="preencoded.png" id="95" name="Google Shape;95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412" y="2029063"/>
            <a:ext cx="448866" cy="448866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3"/>
          <p:cNvSpPr/>
          <p:nvPr/>
        </p:nvSpPr>
        <p:spPr>
          <a:xfrm>
            <a:off x="628412" y="2657475"/>
            <a:ext cx="2294334" cy="2805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Libre Baskerville"/>
              <a:buNone/>
            </a:pPr>
            <a:r>
              <a:rPr b="0" i="0" lang="en-US" sz="175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Rapidez y eficiencia</a:t>
            </a:r>
            <a:endParaRPr b="0" i="0" sz="1750" u="none" cap="none" strike="noStrike"/>
          </a:p>
        </p:txBody>
      </p:sp>
      <p:sp>
        <p:nvSpPr>
          <p:cNvPr id="97" name="Google Shape;97;p3"/>
          <p:cNvSpPr/>
          <p:nvPr/>
        </p:nvSpPr>
        <p:spPr>
          <a:xfrm>
            <a:off x="628412" y="3045619"/>
            <a:ext cx="7887176" cy="2871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400"/>
              <a:buFont typeface="DM Sans"/>
              <a:buNone/>
            </a:pPr>
            <a:r>
              <a:rPr b="0" i="0" lang="en-US" sz="14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La automatización acelera el proceso de despliegue, reduciendo errores y tiempos de entrega.</a:t>
            </a:r>
            <a:endParaRPr b="0" i="0" sz="1400" u="none" cap="none" strike="noStrike"/>
          </a:p>
        </p:txBody>
      </p:sp>
      <p:pic>
        <p:nvPicPr>
          <p:cNvPr descr="preencoded.png" id="98" name="Google Shape;98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412" y="3871436"/>
            <a:ext cx="448866" cy="448866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3"/>
          <p:cNvSpPr/>
          <p:nvPr/>
        </p:nvSpPr>
        <p:spPr>
          <a:xfrm>
            <a:off x="628412" y="4499848"/>
            <a:ext cx="2802017" cy="2805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Libre Baskerville"/>
              <a:buNone/>
            </a:pPr>
            <a:r>
              <a:rPr b="0" i="0" lang="en-US" sz="175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Consistencia y fiabilidad</a:t>
            </a:r>
            <a:endParaRPr b="0" i="0" sz="1750" u="none" cap="none" strike="noStrike"/>
          </a:p>
        </p:txBody>
      </p:sp>
      <p:sp>
        <p:nvSpPr>
          <p:cNvPr id="100" name="Google Shape;100;p3"/>
          <p:cNvSpPr/>
          <p:nvPr/>
        </p:nvSpPr>
        <p:spPr>
          <a:xfrm>
            <a:off x="628412" y="4887992"/>
            <a:ext cx="7887176" cy="5743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400"/>
              <a:buFont typeface="DM Sans"/>
              <a:buNone/>
            </a:pPr>
            <a:r>
              <a:rPr b="0" i="0" lang="en-US" sz="14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Los despliegues automatizados garantizan una implementación uniforme y predecible en todos los entornos.</a:t>
            </a:r>
            <a:endParaRPr b="0" i="0" sz="1400" u="none" cap="none" strike="noStrike"/>
          </a:p>
        </p:txBody>
      </p:sp>
      <p:pic>
        <p:nvPicPr>
          <p:cNvPr descr="preencoded.png" id="101" name="Google Shape;101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412" y="6000988"/>
            <a:ext cx="448866" cy="448866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3"/>
          <p:cNvSpPr/>
          <p:nvPr/>
        </p:nvSpPr>
        <p:spPr>
          <a:xfrm>
            <a:off x="628412" y="6629400"/>
            <a:ext cx="2244328" cy="2805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Libre Baskerville"/>
              <a:buNone/>
            </a:pPr>
            <a:r>
              <a:rPr b="0" i="0" lang="en-US" sz="175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Escalabilidad</a:t>
            </a:r>
            <a:endParaRPr b="0" i="0" sz="1750" u="none" cap="none" strike="noStrike"/>
          </a:p>
        </p:txBody>
      </p:sp>
      <p:sp>
        <p:nvSpPr>
          <p:cNvPr id="103" name="Google Shape;103;p3"/>
          <p:cNvSpPr/>
          <p:nvPr/>
        </p:nvSpPr>
        <p:spPr>
          <a:xfrm>
            <a:off x="628412" y="7017544"/>
            <a:ext cx="7887176" cy="5743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400"/>
              <a:buFont typeface="DM Sans"/>
              <a:buNone/>
            </a:pPr>
            <a:r>
              <a:rPr b="0" i="0" lang="en-US" sz="14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La automatización permite escalar el proceso de despliegue a medida que crece la complejidad de la aplicación.</a:t>
            </a:r>
            <a:endParaRPr b="0" i="0" sz="140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/>
          <p:nvPr/>
        </p:nvSpPr>
        <p:spPr>
          <a:xfrm>
            <a:off x="687705" y="541853"/>
            <a:ext cx="13254990" cy="12280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75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3850"/>
              <a:buFont typeface="Libre Baskerville"/>
              <a:buNone/>
            </a:pPr>
            <a:r>
              <a:rPr b="0" i="0" lang="en-US" sz="385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Estrategias para minimizar riesgos: Despliegue azul/verde</a:t>
            </a:r>
            <a:endParaRPr b="0" i="0" sz="3850" u="none" cap="none" strike="noStrike"/>
          </a:p>
        </p:txBody>
      </p:sp>
      <p:pic>
        <p:nvPicPr>
          <p:cNvPr descr="preencoded.png" id="110" name="Google Shape;11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81231" y="2162770"/>
            <a:ext cx="1640205" cy="1132046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4"/>
          <p:cNvSpPr/>
          <p:nvPr/>
        </p:nvSpPr>
        <p:spPr>
          <a:xfrm>
            <a:off x="3946565" y="2672596"/>
            <a:ext cx="109537" cy="392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900"/>
              <a:buFont typeface="Libre Baskerville"/>
              <a:buNone/>
            </a:pPr>
            <a:r>
              <a:rPr b="0" i="0" lang="en-US" sz="19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</a:t>
            </a:r>
            <a:endParaRPr b="0" i="0" sz="1900" u="none" cap="none" strike="noStrike"/>
          </a:p>
        </p:txBody>
      </p:sp>
      <p:sp>
        <p:nvSpPr>
          <p:cNvPr id="112" name="Google Shape;112;p4"/>
          <p:cNvSpPr/>
          <p:nvPr/>
        </p:nvSpPr>
        <p:spPr>
          <a:xfrm>
            <a:off x="5017889" y="2359223"/>
            <a:ext cx="2456140" cy="3069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900"/>
              <a:buFont typeface="Libre Baskerville"/>
              <a:buNone/>
            </a:pPr>
            <a:r>
              <a:rPr b="0" i="0" lang="en-US" sz="19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Producción Azul</a:t>
            </a:r>
            <a:endParaRPr b="0" i="0" sz="1900" u="none" cap="none" strike="noStrike"/>
          </a:p>
        </p:txBody>
      </p:sp>
      <p:sp>
        <p:nvSpPr>
          <p:cNvPr id="113" name="Google Shape;113;p4"/>
          <p:cNvSpPr/>
          <p:nvPr/>
        </p:nvSpPr>
        <p:spPr>
          <a:xfrm>
            <a:off x="5017889" y="2784038"/>
            <a:ext cx="4647724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500"/>
              <a:buFont typeface="DM Sans"/>
              <a:buNone/>
            </a:pPr>
            <a:r>
              <a:rPr b="0" i="0" lang="en-US" sz="15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La versión actual del software sigue en producción.</a:t>
            </a:r>
            <a:endParaRPr b="0" i="0" sz="1500" u="none" cap="none" strike="noStrike"/>
          </a:p>
        </p:txBody>
      </p:sp>
      <p:sp>
        <p:nvSpPr>
          <p:cNvPr id="114" name="Google Shape;114;p4"/>
          <p:cNvSpPr/>
          <p:nvPr/>
        </p:nvSpPr>
        <p:spPr>
          <a:xfrm>
            <a:off x="4870490" y="3309818"/>
            <a:ext cx="9023152" cy="11430"/>
          </a:xfrm>
          <a:prstGeom prst="roundRect">
            <a:avLst>
              <a:gd fmla="val 722022" name="adj"/>
            </a:avLst>
          </a:prstGeom>
          <a:solidFill>
            <a:srgbClr val="DDD3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5" name="Google Shape;11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61128" y="3343870"/>
            <a:ext cx="3280529" cy="1132046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4"/>
          <p:cNvSpPr/>
          <p:nvPr/>
        </p:nvSpPr>
        <p:spPr>
          <a:xfrm>
            <a:off x="3925610" y="3713440"/>
            <a:ext cx="151328" cy="392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900"/>
              <a:buFont typeface="Libre Baskerville"/>
              <a:buNone/>
            </a:pPr>
            <a:r>
              <a:rPr b="0" i="0" lang="en-US" sz="19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</a:t>
            </a:r>
            <a:endParaRPr b="0" i="0" sz="1900" u="none" cap="none" strike="noStrike"/>
          </a:p>
        </p:txBody>
      </p:sp>
      <p:sp>
        <p:nvSpPr>
          <p:cNvPr id="117" name="Google Shape;117;p4"/>
          <p:cNvSpPr/>
          <p:nvPr/>
        </p:nvSpPr>
        <p:spPr>
          <a:xfrm>
            <a:off x="5838111" y="3540323"/>
            <a:ext cx="2456140" cy="3069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900"/>
              <a:buFont typeface="Libre Baskerville"/>
              <a:buNone/>
            </a:pPr>
            <a:r>
              <a:rPr b="0" i="0" lang="en-US" sz="19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Producción Verde</a:t>
            </a:r>
            <a:endParaRPr b="0" i="0" sz="1900" u="none" cap="none" strike="noStrike"/>
          </a:p>
        </p:txBody>
      </p:sp>
      <p:sp>
        <p:nvSpPr>
          <p:cNvPr id="118" name="Google Shape;118;p4"/>
          <p:cNvSpPr/>
          <p:nvPr/>
        </p:nvSpPr>
        <p:spPr>
          <a:xfrm>
            <a:off x="5838111" y="3965138"/>
            <a:ext cx="496693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500"/>
              <a:buFont typeface="DM Sans"/>
              <a:buNone/>
            </a:pPr>
            <a:r>
              <a:rPr b="0" i="0" lang="en-US" sz="15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La nueva versión del software se despliega en paralelo.</a:t>
            </a:r>
            <a:endParaRPr b="0" i="0" sz="1500" u="none" cap="none" strike="noStrike"/>
          </a:p>
        </p:txBody>
      </p:sp>
      <p:sp>
        <p:nvSpPr>
          <p:cNvPr id="119" name="Google Shape;119;p4"/>
          <p:cNvSpPr/>
          <p:nvPr/>
        </p:nvSpPr>
        <p:spPr>
          <a:xfrm>
            <a:off x="5690711" y="4490918"/>
            <a:ext cx="8202930" cy="11430"/>
          </a:xfrm>
          <a:prstGeom prst="roundRect">
            <a:avLst>
              <a:gd fmla="val 722022" name="adj"/>
            </a:avLst>
          </a:prstGeom>
          <a:solidFill>
            <a:srgbClr val="DDD3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0" name="Google Shape;120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40907" y="4524970"/>
            <a:ext cx="4920853" cy="113204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4"/>
          <p:cNvSpPr/>
          <p:nvPr/>
        </p:nvSpPr>
        <p:spPr>
          <a:xfrm>
            <a:off x="3925610" y="4894540"/>
            <a:ext cx="151328" cy="392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900"/>
              <a:buFont typeface="Libre Baskerville"/>
              <a:buNone/>
            </a:pPr>
            <a:r>
              <a:rPr b="0" i="0" lang="en-US" sz="19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</a:t>
            </a:r>
            <a:endParaRPr b="0" i="0" sz="1900" u="none" cap="none" strike="noStrike"/>
          </a:p>
        </p:txBody>
      </p:sp>
      <p:sp>
        <p:nvSpPr>
          <p:cNvPr id="122" name="Google Shape;122;p4"/>
          <p:cNvSpPr/>
          <p:nvPr/>
        </p:nvSpPr>
        <p:spPr>
          <a:xfrm>
            <a:off x="6658213" y="4721423"/>
            <a:ext cx="3228499" cy="3069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900"/>
              <a:buFont typeface="Libre Baskerville"/>
              <a:buNone/>
            </a:pPr>
            <a:r>
              <a:rPr b="0" i="0" lang="en-US" sz="19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Pruebas y Monitorización</a:t>
            </a:r>
            <a:endParaRPr b="0" i="0" sz="1900" u="none" cap="none" strike="noStrike"/>
          </a:p>
        </p:txBody>
      </p:sp>
      <p:sp>
        <p:nvSpPr>
          <p:cNvPr id="123" name="Google Shape;123;p4"/>
          <p:cNvSpPr/>
          <p:nvPr/>
        </p:nvSpPr>
        <p:spPr>
          <a:xfrm>
            <a:off x="6658213" y="5146238"/>
            <a:ext cx="546246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500"/>
              <a:buFont typeface="DM Sans"/>
              <a:buNone/>
            </a:pPr>
            <a:r>
              <a:rPr b="0" i="0" lang="en-US" sz="15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Se evalúa el rendimiento y la estabilidad de la nueva versión.</a:t>
            </a:r>
            <a:endParaRPr b="0" i="0" sz="1500" u="none" cap="none" strike="noStrike"/>
          </a:p>
        </p:txBody>
      </p:sp>
      <p:sp>
        <p:nvSpPr>
          <p:cNvPr id="124" name="Google Shape;124;p4"/>
          <p:cNvSpPr/>
          <p:nvPr/>
        </p:nvSpPr>
        <p:spPr>
          <a:xfrm>
            <a:off x="6510814" y="5672018"/>
            <a:ext cx="7382828" cy="11430"/>
          </a:xfrm>
          <a:prstGeom prst="roundRect">
            <a:avLst>
              <a:gd fmla="val 722022" name="adj"/>
            </a:avLst>
          </a:prstGeom>
          <a:solidFill>
            <a:srgbClr val="DDD3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5" name="Google Shape;125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0804" y="5706070"/>
            <a:ext cx="6561177" cy="1132046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4"/>
          <p:cNvSpPr/>
          <p:nvPr/>
        </p:nvSpPr>
        <p:spPr>
          <a:xfrm>
            <a:off x="3929539" y="6075640"/>
            <a:ext cx="143708" cy="392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900"/>
              <a:buFont typeface="Libre Baskerville"/>
              <a:buNone/>
            </a:pPr>
            <a:r>
              <a:rPr b="0" i="0" lang="en-US" sz="19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4</a:t>
            </a:r>
            <a:endParaRPr b="0" i="0" sz="1900" u="none" cap="none" strike="noStrike"/>
          </a:p>
        </p:txBody>
      </p:sp>
      <p:sp>
        <p:nvSpPr>
          <p:cNvPr id="127" name="Google Shape;127;p4"/>
          <p:cNvSpPr/>
          <p:nvPr/>
        </p:nvSpPr>
        <p:spPr>
          <a:xfrm>
            <a:off x="7478435" y="5902523"/>
            <a:ext cx="2888933" cy="3069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900"/>
              <a:buFont typeface="Libre Baskerville"/>
              <a:buNone/>
            </a:pPr>
            <a:r>
              <a:rPr b="0" i="0" lang="en-US" sz="19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Cambio de Interruptor</a:t>
            </a:r>
            <a:endParaRPr b="0" i="0" sz="1900" u="none" cap="none" strike="noStrike"/>
          </a:p>
        </p:txBody>
      </p:sp>
      <p:sp>
        <p:nvSpPr>
          <p:cNvPr id="128" name="Google Shape;128;p4"/>
          <p:cNvSpPr/>
          <p:nvPr/>
        </p:nvSpPr>
        <p:spPr>
          <a:xfrm>
            <a:off x="7478435" y="6327338"/>
            <a:ext cx="506218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500"/>
              <a:buFont typeface="DM Sans"/>
              <a:buNone/>
            </a:pPr>
            <a:r>
              <a:rPr b="0" i="0" lang="en-US" sz="15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Si la nueva versión es exitosa, se cambia el tráfico a ella.</a:t>
            </a:r>
            <a:endParaRPr b="0" i="0" sz="1500" u="none" cap="none" strike="noStrike"/>
          </a:p>
        </p:txBody>
      </p:sp>
      <p:sp>
        <p:nvSpPr>
          <p:cNvPr id="129" name="Google Shape;129;p4"/>
          <p:cNvSpPr/>
          <p:nvPr/>
        </p:nvSpPr>
        <p:spPr>
          <a:xfrm>
            <a:off x="687705" y="7059097"/>
            <a:ext cx="1325499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500"/>
              <a:buFont typeface="DM Sans"/>
              <a:buNone/>
            </a:pPr>
            <a:r>
              <a:rPr b="0" i="0" lang="en-US" sz="15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El despliegue azul/verde es una estrategia de despliegue que minimiza los riesgos al mantener dos entornos de producción idénticos. Esto permite implementar nuevas versiones del software sin interrumpir el servicio a los usuarios.</a:t>
            </a:r>
            <a:endParaRPr b="0" i="0" sz="150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5" name="Google Shape;13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6" name="Google Shape;13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0744" y="2406848"/>
            <a:ext cx="5004792" cy="3415784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5"/>
          <p:cNvSpPr/>
          <p:nvPr/>
        </p:nvSpPr>
        <p:spPr>
          <a:xfrm>
            <a:off x="6160770" y="586264"/>
            <a:ext cx="7795260" cy="12041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3750"/>
              <a:buFont typeface="Libre Baskerville"/>
              <a:buNone/>
            </a:pPr>
            <a:r>
              <a:rPr b="0" i="0" lang="en-US" sz="375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Estrategias para minimizar riesgos: Canary releases</a:t>
            </a:r>
            <a:endParaRPr b="0" i="0" sz="3750" u="none" cap="none" strike="noStrike"/>
          </a:p>
        </p:txBody>
      </p:sp>
      <p:sp>
        <p:nvSpPr>
          <p:cNvPr id="138" name="Google Shape;138;p5"/>
          <p:cNvSpPr/>
          <p:nvPr/>
        </p:nvSpPr>
        <p:spPr>
          <a:xfrm>
            <a:off x="6438305" y="2079427"/>
            <a:ext cx="22860" cy="5563791"/>
          </a:xfrm>
          <a:prstGeom prst="roundRect">
            <a:avLst>
              <a:gd fmla="val 354008" name="adj"/>
            </a:avLst>
          </a:prstGeom>
          <a:solidFill>
            <a:srgbClr val="DDD3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6643628" y="2501384"/>
            <a:ext cx="674370" cy="22860"/>
          </a:xfrm>
          <a:prstGeom prst="roundRect">
            <a:avLst>
              <a:gd fmla="val 354008" name="adj"/>
            </a:avLst>
          </a:prstGeom>
          <a:solidFill>
            <a:srgbClr val="DDD3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6232981" y="2296120"/>
            <a:ext cx="433507" cy="433507"/>
          </a:xfrm>
          <a:prstGeom prst="roundRect">
            <a:avLst>
              <a:gd fmla="val 18668" name="adj"/>
            </a:avLst>
          </a:prstGeom>
          <a:solidFill>
            <a:srgbClr val="F7EDD4"/>
          </a:solidFill>
          <a:ln cap="flat" cmpd="sng" w="9525">
            <a:solidFill>
              <a:srgbClr val="DDD3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6385262" y="2368391"/>
            <a:ext cx="128826" cy="288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250"/>
              <a:buFont typeface="Libre Baskerville"/>
              <a:buNone/>
            </a:pPr>
            <a:r>
              <a:rPr b="0" i="0" lang="en-US" sz="225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</a:t>
            </a:r>
            <a:endParaRPr b="0" i="0" sz="2250" u="none" cap="none" strike="noStrike"/>
          </a:p>
        </p:txBody>
      </p:sp>
      <p:sp>
        <p:nvSpPr>
          <p:cNvPr id="142" name="Google Shape;142;p5"/>
          <p:cNvSpPr/>
          <p:nvPr/>
        </p:nvSpPr>
        <p:spPr>
          <a:xfrm>
            <a:off x="7509391" y="2272070"/>
            <a:ext cx="2408515" cy="300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850"/>
              <a:buFont typeface="Libre Baskerville"/>
              <a:buNone/>
            </a:pPr>
            <a:r>
              <a:rPr b="0" i="0" lang="en-US" sz="185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Despliegue gradual</a:t>
            </a:r>
            <a:endParaRPr b="0" i="0" sz="1850" u="none" cap="none" strike="noStrike"/>
          </a:p>
        </p:txBody>
      </p:sp>
      <p:sp>
        <p:nvSpPr>
          <p:cNvPr id="143" name="Google Shape;143;p5"/>
          <p:cNvSpPr/>
          <p:nvPr/>
        </p:nvSpPr>
        <p:spPr>
          <a:xfrm>
            <a:off x="7509391" y="2688550"/>
            <a:ext cx="6446639" cy="924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500"/>
              <a:buFont typeface="DM Sans"/>
              <a:buNone/>
            </a:pPr>
            <a:r>
              <a:rPr b="0" i="0" lang="en-US" sz="15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Las Canary releases permiten implementar nuevas funcionalidades o cambios a un pequeño porcentaje de usuarios, antes de realizar un despliegue completo.</a:t>
            </a:r>
            <a:endParaRPr b="0" i="0" sz="1500" u="none" cap="none" strike="noStrike"/>
          </a:p>
        </p:txBody>
      </p:sp>
      <p:sp>
        <p:nvSpPr>
          <p:cNvPr id="144" name="Google Shape;144;p5"/>
          <p:cNvSpPr/>
          <p:nvPr/>
        </p:nvSpPr>
        <p:spPr>
          <a:xfrm>
            <a:off x="6643628" y="4420195"/>
            <a:ext cx="674370" cy="22860"/>
          </a:xfrm>
          <a:prstGeom prst="roundRect">
            <a:avLst>
              <a:gd fmla="val 354008" name="adj"/>
            </a:avLst>
          </a:prstGeom>
          <a:solidFill>
            <a:srgbClr val="DDD3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6232981" y="4214932"/>
            <a:ext cx="433507" cy="433507"/>
          </a:xfrm>
          <a:prstGeom prst="roundRect">
            <a:avLst>
              <a:gd fmla="val 18668" name="adj"/>
            </a:avLst>
          </a:prstGeom>
          <a:solidFill>
            <a:srgbClr val="F7EDD4"/>
          </a:solidFill>
          <a:ln cap="flat" cmpd="sng" w="9525">
            <a:solidFill>
              <a:srgbClr val="DDD3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6360735" y="4287203"/>
            <a:ext cx="177998" cy="288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250"/>
              <a:buFont typeface="Libre Baskerville"/>
              <a:buNone/>
            </a:pPr>
            <a:r>
              <a:rPr b="0" i="0" lang="en-US" sz="225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</a:t>
            </a:r>
            <a:endParaRPr b="0" i="0" sz="2250" u="none" cap="none" strike="noStrike"/>
          </a:p>
        </p:txBody>
      </p:sp>
      <p:sp>
        <p:nvSpPr>
          <p:cNvPr id="147" name="Google Shape;147;p5"/>
          <p:cNvSpPr/>
          <p:nvPr/>
        </p:nvSpPr>
        <p:spPr>
          <a:xfrm>
            <a:off x="7509391" y="4190881"/>
            <a:ext cx="3771781" cy="300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850"/>
              <a:buFont typeface="Libre Baskerville"/>
              <a:buNone/>
            </a:pPr>
            <a:r>
              <a:rPr b="0" i="0" lang="en-US" sz="185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Monitorización en tiempo real</a:t>
            </a:r>
            <a:endParaRPr b="0" i="0" sz="1850" u="none" cap="none" strike="noStrike"/>
          </a:p>
        </p:txBody>
      </p:sp>
      <p:sp>
        <p:nvSpPr>
          <p:cNvPr id="148" name="Google Shape;148;p5"/>
          <p:cNvSpPr/>
          <p:nvPr/>
        </p:nvSpPr>
        <p:spPr>
          <a:xfrm>
            <a:off x="7509391" y="4607362"/>
            <a:ext cx="6446639" cy="924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500"/>
              <a:buFont typeface="DM Sans"/>
              <a:buNone/>
            </a:pPr>
            <a:r>
              <a:rPr b="0" i="0" lang="en-US" sz="15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Durante el Canary release, se monitoriza cuidadosamente el rendimiento, la estabilidad y la retroalimentación de los usuarios para evaluar el impacto.</a:t>
            </a:r>
            <a:endParaRPr b="0" i="0" sz="1500" u="none" cap="none" strike="noStrike"/>
          </a:p>
        </p:txBody>
      </p:sp>
      <p:sp>
        <p:nvSpPr>
          <p:cNvPr id="149" name="Google Shape;149;p5"/>
          <p:cNvSpPr/>
          <p:nvPr/>
        </p:nvSpPr>
        <p:spPr>
          <a:xfrm>
            <a:off x="6643628" y="6339007"/>
            <a:ext cx="674370" cy="22860"/>
          </a:xfrm>
          <a:prstGeom prst="roundRect">
            <a:avLst>
              <a:gd fmla="val 354008" name="adj"/>
            </a:avLst>
          </a:prstGeom>
          <a:solidFill>
            <a:srgbClr val="DDD3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6232981" y="6133743"/>
            <a:ext cx="433507" cy="433507"/>
          </a:xfrm>
          <a:prstGeom prst="roundRect">
            <a:avLst>
              <a:gd fmla="val 18668" name="adj"/>
            </a:avLst>
          </a:prstGeom>
          <a:solidFill>
            <a:srgbClr val="F7EDD4"/>
          </a:solidFill>
          <a:ln cap="flat" cmpd="sng" w="9525">
            <a:solidFill>
              <a:srgbClr val="DDD3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6360735" y="6206014"/>
            <a:ext cx="177998" cy="288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250"/>
              <a:buFont typeface="Libre Baskerville"/>
              <a:buNone/>
            </a:pPr>
            <a:r>
              <a:rPr b="0" i="0" lang="en-US" sz="225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</a:t>
            </a:r>
            <a:endParaRPr b="0" i="0" sz="2250" u="none" cap="none" strike="noStrike"/>
          </a:p>
        </p:txBody>
      </p:sp>
      <p:sp>
        <p:nvSpPr>
          <p:cNvPr id="152" name="Google Shape;152;p5"/>
          <p:cNvSpPr/>
          <p:nvPr/>
        </p:nvSpPr>
        <p:spPr>
          <a:xfrm>
            <a:off x="7509391" y="6109692"/>
            <a:ext cx="2540437" cy="300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850"/>
              <a:buFont typeface="Libre Baskerville"/>
              <a:buNone/>
            </a:pPr>
            <a:r>
              <a:rPr b="0" i="0" lang="en-US" sz="185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Aumento progresivo</a:t>
            </a:r>
            <a:endParaRPr b="0" i="0" sz="1850" u="none" cap="none" strike="noStrike"/>
          </a:p>
        </p:txBody>
      </p:sp>
      <p:sp>
        <p:nvSpPr>
          <p:cNvPr id="153" name="Google Shape;153;p5"/>
          <p:cNvSpPr/>
          <p:nvPr/>
        </p:nvSpPr>
        <p:spPr>
          <a:xfrm>
            <a:off x="7509391" y="6526173"/>
            <a:ext cx="6446639" cy="924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500"/>
              <a:buFont typeface="DM Sans"/>
              <a:buNone/>
            </a:pPr>
            <a:r>
              <a:rPr b="0" i="0" lang="en-US" sz="15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Si el Canary release es exitoso, se puede incrementar gradualmente el porcentaje de usuarios con acceso a la nueva funcionalidad hasta llegar al 100%.</a:t>
            </a:r>
            <a:endParaRPr b="0" i="0" sz="150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9" name="Google Shape;15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0" name="Google Shape;16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9675" y="2717840"/>
            <a:ext cx="4966930" cy="279392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6"/>
          <p:cNvSpPr/>
          <p:nvPr/>
        </p:nvSpPr>
        <p:spPr>
          <a:xfrm>
            <a:off x="6213396" y="702826"/>
            <a:ext cx="7690009" cy="19473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4050"/>
              <a:buFont typeface="Libre Baskerville"/>
              <a:buNone/>
            </a:pPr>
            <a:r>
              <a:rPr b="0" i="0" lang="en-US" sz="405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Entrega continua (CD) vs despliegue continuo: definición</a:t>
            </a:r>
            <a:endParaRPr b="0" i="0" sz="4050" u="none" cap="none" strike="noStrike"/>
          </a:p>
        </p:txBody>
      </p:sp>
      <p:sp>
        <p:nvSpPr>
          <p:cNvPr id="162" name="Google Shape;162;p6"/>
          <p:cNvSpPr/>
          <p:nvPr/>
        </p:nvSpPr>
        <p:spPr>
          <a:xfrm>
            <a:off x="6213396" y="3195399"/>
            <a:ext cx="467320" cy="467320"/>
          </a:xfrm>
          <a:prstGeom prst="roundRect">
            <a:avLst>
              <a:gd fmla="val 18671" name="adj"/>
            </a:avLst>
          </a:prstGeom>
          <a:solidFill>
            <a:srgbClr val="F7EDD4"/>
          </a:solidFill>
          <a:ln cap="flat" cmpd="sng" w="9525">
            <a:solidFill>
              <a:srgbClr val="DDD3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6377583" y="3273266"/>
            <a:ext cx="138946" cy="311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450"/>
              <a:buFont typeface="Libre Baskerville"/>
              <a:buNone/>
            </a:pPr>
            <a:r>
              <a:rPr b="0" i="0" lang="en-US" sz="245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</a:t>
            </a:r>
            <a:endParaRPr b="0" i="0" sz="2450" u="none" cap="none" strike="noStrike"/>
          </a:p>
        </p:txBody>
      </p:sp>
      <p:sp>
        <p:nvSpPr>
          <p:cNvPr id="164" name="Google Shape;164;p6"/>
          <p:cNvSpPr/>
          <p:nvPr/>
        </p:nvSpPr>
        <p:spPr>
          <a:xfrm>
            <a:off x="6888361" y="3195399"/>
            <a:ext cx="2945725" cy="324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000"/>
              <a:buFont typeface="Libre Baskerville"/>
              <a:buNone/>
            </a:pPr>
            <a:r>
              <a:rPr b="0" i="0" lang="en-US" sz="20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Entrega continua (CD)</a:t>
            </a:r>
            <a:endParaRPr b="0" i="0" sz="2000" u="none" cap="none" strike="noStrike"/>
          </a:p>
        </p:txBody>
      </p:sp>
      <p:sp>
        <p:nvSpPr>
          <p:cNvPr id="165" name="Google Shape;165;p6"/>
          <p:cNvSpPr/>
          <p:nvPr/>
        </p:nvSpPr>
        <p:spPr>
          <a:xfrm>
            <a:off x="6888361" y="3644503"/>
            <a:ext cx="3066217" cy="1994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600"/>
              <a:buFont typeface="DM Sans"/>
              <a:buNone/>
            </a:pPr>
            <a:r>
              <a:rPr b="0" i="0" lang="en-US" sz="16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Es la práctica de entregar software de forma frecuente y automatizada a los usuarios finales, mediante la combinación de construcción, pruebas y despliegue.</a:t>
            </a:r>
            <a:endParaRPr b="0" i="0" sz="1600" u="none" cap="none" strike="noStrike"/>
          </a:p>
        </p:txBody>
      </p:sp>
      <p:sp>
        <p:nvSpPr>
          <p:cNvPr id="166" name="Google Shape;166;p6"/>
          <p:cNvSpPr/>
          <p:nvPr/>
        </p:nvSpPr>
        <p:spPr>
          <a:xfrm>
            <a:off x="10162223" y="3195399"/>
            <a:ext cx="467320" cy="467320"/>
          </a:xfrm>
          <a:prstGeom prst="roundRect">
            <a:avLst>
              <a:gd fmla="val 18671" name="adj"/>
            </a:avLst>
          </a:prstGeom>
          <a:solidFill>
            <a:srgbClr val="F7EDD4"/>
          </a:solidFill>
          <a:ln cap="flat" cmpd="sng" w="9525">
            <a:solidFill>
              <a:srgbClr val="DDD3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10299859" y="3273266"/>
            <a:ext cx="191929" cy="311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450"/>
              <a:buFont typeface="Libre Baskerville"/>
              <a:buNone/>
            </a:pPr>
            <a:r>
              <a:rPr b="0" i="0" lang="en-US" sz="245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</a:t>
            </a:r>
            <a:endParaRPr b="0" i="0" sz="2450" u="none" cap="none" strike="noStrike"/>
          </a:p>
        </p:txBody>
      </p:sp>
      <p:sp>
        <p:nvSpPr>
          <p:cNvPr id="168" name="Google Shape;168;p6"/>
          <p:cNvSpPr/>
          <p:nvPr/>
        </p:nvSpPr>
        <p:spPr>
          <a:xfrm>
            <a:off x="10837188" y="3195399"/>
            <a:ext cx="2743319" cy="324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000"/>
              <a:buFont typeface="Libre Baskerville"/>
              <a:buNone/>
            </a:pPr>
            <a:r>
              <a:rPr b="0" i="0" lang="en-US" sz="20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Despliegue continuo</a:t>
            </a:r>
            <a:endParaRPr b="0" i="0" sz="2000" u="none" cap="none" strike="noStrike"/>
          </a:p>
        </p:txBody>
      </p:sp>
      <p:sp>
        <p:nvSpPr>
          <p:cNvPr id="169" name="Google Shape;169;p6"/>
          <p:cNvSpPr/>
          <p:nvPr/>
        </p:nvSpPr>
        <p:spPr>
          <a:xfrm>
            <a:off x="10837188" y="3644503"/>
            <a:ext cx="3066217" cy="1994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600"/>
              <a:buFont typeface="DM Sans"/>
              <a:buNone/>
            </a:pPr>
            <a:r>
              <a:rPr b="0" i="0" lang="en-US" sz="16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Es una extensión de la entrega continua, donde cada cambio aprobado en el código se implementa automáticamente en producción sin intervención humana.</a:t>
            </a:r>
            <a:endParaRPr b="0" i="0" sz="1600" u="none" cap="none" strike="noStrike"/>
          </a:p>
        </p:txBody>
      </p:sp>
      <p:sp>
        <p:nvSpPr>
          <p:cNvPr id="170" name="Google Shape;170;p6"/>
          <p:cNvSpPr/>
          <p:nvPr/>
        </p:nvSpPr>
        <p:spPr>
          <a:xfrm>
            <a:off x="6213396" y="6080284"/>
            <a:ext cx="467320" cy="467320"/>
          </a:xfrm>
          <a:prstGeom prst="roundRect">
            <a:avLst>
              <a:gd fmla="val 18671" name="adj"/>
            </a:avLst>
          </a:prstGeom>
          <a:solidFill>
            <a:srgbClr val="F7EDD4"/>
          </a:solidFill>
          <a:ln cap="flat" cmpd="sng" w="9525">
            <a:solidFill>
              <a:srgbClr val="DDD3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"/>
          <p:cNvSpPr/>
          <p:nvPr/>
        </p:nvSpPr>
        <p:spPr>
          <a:xfrm>
            <a:off x="6351032" y="6158151"/>
            <a:ext cx="191929" cy="311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450"/>
              <a:buFont typeface="Libre Baskerville"/>
              <a:buNone/>
            </a:pPr>
            <a:r>
              <a:rPr b="0" i="0" lang="en-US" sz="245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</a:t>
            </a:r>
            <a:endParaRPr b="0" i="0" sz="2450" u="none" cap="none" strike="noStrike"/>
          </a:p>
        </p:txBody>
      </p:sp>
      <p:sp>
        <p:nvSpPr>
          <p:cNvPr id="172" name="Google Shape;172;p6"/>
          <p:cNvSpPr/>
          <p:nvPr/>
        </p:nvSpPr>
        <p:spPr>
          <a:xfrm>
            <a:off x="6888361" y="6080284"/>
            <a:ext cx="2596753" cy="324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000"/>
              <a:buFont typeface="Libre Baskerville"/>
              <a:buNone/>
            </a:pPr>
            <a:r>
              <a:rPr b="0" i="0" lang="en-US" sz="20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Diferencias clave</a:t>
            </a:r>
            <a:endParaRPr b="0" i="0" sz="2000" u="none" cap="none" strike="noStrike"/>
          </a:p>
        </p:txBody>
      </p:sp>
      <p:sp>
        <p:nvSpPr>
          <p:cNvPr id="173" name="Google Shape;173;p6"/>
          <p:cNvSpPr/>
          <p:nvPr/>
        </p:nvSpPr>
        <p:spPr>
          <a:xfrm>
            <a:off x="6888361" y="6529387"/>
            <a:ext cx="7015043" cy="9972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600"/>
              <a:buFont typeface="DM Sans"/>
              <a:buNone/>
            </a:pPr>
            <a:r>
              <a:rPr b="0" i="0" lang="en-US" sz="16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La entrega continua implica un paso manual de aprobación antes del despliegue, mientras que el despliegue continuo lo hace de forma automática.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9" name="Google Shape;17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0" name="Google Shape;18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89745" y="2789039"/>
            <a:ext cx="4994791" cy="2651403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7"/>
          <p:cNvSpPr/>
          <p:nvPr/>
        </p:nvSpPr>
        <p:spPr>
          <a:xfrm>
            <a:off x="688181" y="697825"/>
            <a:ext cx="7767637" cy="1843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75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3850"/>
              <a:buFont typeface="Libre Baskerville"/>
              <a:buNone/>
            </a:pPr>
            <a:r>
              <a:rPr b="0" i="0" lang="en-US" sz="385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Entrega continua (CD) vs despliegue continuo: usos en DevOps</a:t>
            </a:r>
            <a:endParaRPr b="0" i="0" sz="3850" u="none" cap="none" strike="noStrike"/>
          </a:p>
        </p:txBody>
      </p:sp>
      <p:sp>
        <p:nvSpPr>
          <p:cNvPr id="182" name="Google Shape;182;p7"/>
          <p:cNvSpPr/>
          <p:nvPr/>
        </p:nvSpPr>
        <p:spPr>
          <a:xfrm>
            <a:off x="688181" y="2836188"/>
            <a:ext cx="3785592" cy="2721531"/>
          </a:xfrm>
          <a:prstGeom prst="roundRect">
            <a:avLst>
              <a:gd fmla="val 3035" name="adj"/>
            </a:avLst>
          </a:prstGeom>
          <a:solidFill>
            <a:srgbClr val="F7EDD4"/>
          </a:solidFill>
          <a:ln cap="flat" cmpd="sng" w="9525">
            <a:solidFill>
              <a:srgbClr val="DDD3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892373" y="3040380"/>
            <a:ext cx="2789039" cy="3071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900"/>
              <a:buFont typeface="Libre Baskerville"/>
              <a:buNone/>
            </a:pPr>
            <a:r>
              <a:rPr b="0" i="0" lang="en-US" sz="19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Entrega continua (CD)</a:t>
            </a:r>
            <a:endParaRPr b="0" i="0" sz="1900" u="none" cap="none" strike="noStrike"/>
          </a:p>
        </p:txBody>
      </p:sp>
      <p:sp>
        <p:nvSpPr>
          <p:cNvPr id="184" name="Google Shape;184;p7"/>
          <p:cNvSpPr/>
          <p:nvPr/>
        </p:nvSpPr>
        <p:spPr>
          <a:xfrm>
            <a:off x="892373" y="3465433"/>
            <a:ext cx="3377208" cy="18880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500"/>
              <a:buFont typeface="DM Sans"/>
              <a:buNone/>
            </a:pPr>
            <a:r>
              <a:rPr b="0" i="0" lang="en-US" sz="15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La entrega continua se enfoca en automatizar el proceso de integración y despliegue de software, lo que permite hacer entregas frecuentes y consistentes a los usuarios finales.</a:t>
            </a:r>
            <a:endParaRPr b="0" i="0" sz="1500" u="none" cap="none" strike="noStrike"/>
          </a:p>
        </p:txBody>
      </p:sp>
      <p:sp>
        <p:nvSpPr>
          <p:cNvPr id="185" name="Google Shape;185;p7"/>
          <p:cNvSpPr/>
          <p:nvPr/>
        </p:nvSpPr>
        <p:spPr>
          <a:xfrm>
            <a:off x="4670346" y="2836188"/>
            <a:ext cx="3785592" cy="2721531"/>
          </a:xfrm>
          <a:prstGeom prst="roundRect">
            <a:avLst>
              <a:gd fmla="val 3035" name="adj"/>
            </a:avLst>
          </a:prstGeom>
          <a:solidFill>
            <a:srgbClr val="F7EDD4"/>
          </a:solidFill>
          <a:ln cap="flat" cmpd="sng" w="9525">
            <a:solidFill>
              <a:srgbClr val="DDD3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4874538" y="3040380"/>
            <a:ext cx="2597348" cy="3071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900"/>
              <a:buFont typeface="Libre Baskerville"/>
              <a:buNone/>
            </a:pPr>
            <a:r>
              <a:rPr b="0" i="0" lang="en-US" sz="19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Despliegue continuo</a:t>
            </a:r>
            <a:endParaRPr b="0" i="0" sz="1900" u="none" cap="none" strike="noStrike"/>
          </a:p>
        </p:txBody>
      </p:sp>
      <p:sp>
        <p:nvSpPr>
          <p:cNvPr id="187" name="Google Shape;187;p7"/>
          <p:cNvSpPr/>
          <p:nvPr/>
        </p:nvSpPr>
        <p:spPr>
          <a:xfrm>
            <a:off x="4874538" y="3465433"/>
            <a:ext cx="3377208" cy="18880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500"/>
              <a:buFont typeface="DM Sans"/>
              <a:buNone/>
            </a:pPr>
            <a:r>
              <a:rPr b="0" i="0" lang="en-US" sz="15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El despliegue continuo va un paso más allá, automatizando el proceso de despliegue a producción después de cada cambio. Esto reduce el tiempo entre la introducción de un cambio y su llegada a los usuarios.</a:t>
            </a:r>
            <a:endParaRPr b="0" i="0" sz="1500" u="none" cap="none" strike="noStrike"/>
          </a:p>
        </p:txBody>
      </p:sp>
      <p:sp>
        <p:nvSpPr>
          <p:cNvPr id="188" name="Google Shape;188;p7"/>
          <p:cNvSpPr/>
          <p:nvPr/>
        </p:nvSpPr>
        <p:spPr>
          <a:xfrm>
            <a:off x="688181" y="5754291"/>
            <a:ext cx="7767637" cy="1777484"/>
          </a:xfrm>
          <a:prstGeom prst="roundRect">
            <a:avLst>
              <a:gd fmla="val 4646" name="adj"/>
            </a:avLst>
          </a:prstGeom>
          <a:solidFill>
            <a:srgbClr val="F7EDD4"/>
          </a:solidFill>
          <a:ln cap="flat" cmpd="sng" w="9525">
            <a:solidFill>
              <a:srgbClr val="DDD3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892373" y="5958483"/>
            <a:ext cx="2457926" cy="3071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900"/>
              <a:buFont typeface="Libre Baskerville"/>
              <a:buNone/>
            </a:pPr>
            <a:r>
              <a:rPr b="0" i="0" lang="en-US" sz="19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Usos en DevOps</a:t>
            </a:r>
            <a:endParaRPr b="0" i="0" sz="1900" u="none" cap="none" strike="noStrike"/>
          </a:p>
        </p:txBody>
      </p:sp>
      <p:sp>
        <p:nvSpPr>
          <p:cNvPr id="190" name="Google Shape;190;p7"/>
          <p:cNvSpPr/>
          <p:nvPr/>
        </p:nvSpPr>
        <p:spPr>
          <a:xfrm>
            <a:off x="892373" y="6383536"/>
            <a:ext cx="7359253" cy="9440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500"/>
              <a:buFont typeface="DM Sans"/>
              <a:buNone/>
            </a:pPr>
            <a:r>
              <a:rPr b="0" i="0" lang="en-US" sz="15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Ambas prácticas son fundamentales en DevOps, ya que permiten un flujo de trabajo ágil, la entrega de valor de manera iterativa y la detección temprana de problemas.</a:t>
            </a:r>
            <a:endParaRPr b="0" i="0" sz="150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"/>
          <p:cNvSpPr/>
          <p:nvPr/>
        </p:nvSpPr>
        <p:spPr>
          <a:xfrm>
            <a:off x="758666" y="1042630"/>
            <a:ext cx="12852202" cy="677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05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4250"/>
              <a:buFont typeface="Libre Baskerville"/>
              <a:buNone/>
            </a:pPr>
            <a:r>
              <a:rPr b="0" i="0" lang="en-US" sz="425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¿Qué es la operación en producción (Operate)?</a:t>
            </a:r>
            <a:endParaRPr b="0" i="0" sz="4250" u="none" cap="none" strike="noStrike"/>
          </a:p>
        </p:txBody>
      </p:sp>
      <p:pic>
        <p:nvPicPr>
          <p:cNvPr descr="preencoded.png" id="197" name="Google Shape;19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666" y="2153603"/>
            <a:ext cx="4154210" cy="2567464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8"/>
          <p:cNvSpPr/>
          <p:nvPr/>
        </p:nvSpPr>
        <p:spPr>
          <a:xfrm>
            <a:off x="758666" y="4992053"/>
            <a:ext cx="4154210" cy="677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100"/>
              <a:buFont typeface="Libre Baskerville"/>
              <a:buNone/>
            </a:pPr>
            <a:r>
              <a:rPr b="0" i="0" lang="en-US" sz="21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Gestión de Aplicaciones en Producción</a:t>
            </a:r>
            <a:endParaRPr b="0" i="0" sz="2100" u="none" cap="none" strike="noStrike"/>
          </a:p>
        </p:txBody>
      </p:sp>
      <p:sp>
        <p:nvSpPr>
          <p:cNvPr id="199" name="Google Shape;199;p8"/>
          <p:cNvSpPr/>
          <p:nvPr/>
        </p:nvSpPr>
        <p:spPr>
          <a:xfrm>
            <a:off x="758666" y="5799534"/>
            <a:ext cx="4154210" cy="13873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00"/>
              <a:buFont typeface="DM Sans"/>
              <a:buNone/>
            </a:pPr>
            <a:r>
              <a:rPr b="0" i="0" lang="en-US" sz="17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La operación en producción implica monitorear, mantener y optimizar las aplicaciones en funcionamiento, asegurando su estabilidad y rendimiento.</a:t>
            </a:r>
            <a:endParaRPr b="0" i="0" sz="1700" u="none" cap="none" strike="noStrike"/>
          </a:p>
        </p:txBody>
      </p:sp>
      <p:pic>
        <p:nvPicPr>
          <p:cNvPr descr="preencoded.png" id="200" name="Google Shape;20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8036" y="2153603"/>
            <a:ext cx="4154210" cy="2567464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8"/>
          <p:cNvSpPr/>
          <p:nvPr/>
        </p:nvSpPr>
        <p:spPr>
          <a:xfrm>
            <a:off x="5238036" y="4992053"/>
            <a:ext cx="3952280" cy="3387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100"/>
              <a:buFont typeface="Libre Baskerville"/>
              <a:buNone/>
            </a:pPr>
            <a:r>
              <a:rPr b="0" i="0" lang="en-US" sz="21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Ciclo de Vida del Despliegue</a:t>
            </a:r>
            <a:endParaRPr b="0" i="0" sz="2100" u="none" cap="none" strike="noStrike"/>
          </a:p>
        </p:txBody>
      </p:sp>
      <p:sp>
        <p:nvSpPr>
          <p:cNvPr id="202" name="Google Shape;202;p8"/>
          <p:cNvSpPr/>
          <p:nvPr/>
        </p:nvSpPr>
        <p:spPr>
          <a:xfrm>
            <a:off x="5238036" y="5460802"/>
            <a:ext cx="4154210" cy="13873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00"/>
              <a:buFont typeface="DM Sans"/>
              <a:buNone/>
            </a:pPr>
            <a:r>
              <a:rPr b="0" i="0" lang="en-US" sz="17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Este proceso abarca desde la implementación inicial hasta la gestión del ciclo de vida completo de las aplicaciones en producción.</a:t>
            </a:r>
            <a:endParaRPr b="0" i="0" sz="1700" u="none" cap="none" strike="noStrike"/>
          </a:p>
        </p:txBody>
      </p:sp>
      <p:pic>
        <p:nvPicPr>
          <p:cNvPr descr="preencoded.png" id="203" name="Google Shape;20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17405" y="2153603"/>
            <a:ext cx="4154329" cy="2567464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8"/>
          <p:cNvSpPr/>
          <p:nvPr/>
        </p:nvSpPr>
        <p:spPr>
          <a:xfrm>
            <a:off x="9717405" y="4992053"/>
            <a:ext cx="4029789" cy="3387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100"/>
              <a:buFont typeface="Libre Baskerville"/>
              <a:buNone/>
            </a:pPr>
            <a:r>
              <a:rPr b="0" i="0" lang="en-US" sz="21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Responsabilidad Compartida</a:t>
            </a:r>
            <a:endParaRPr b="0" i="0" sz="2100" u="none" cap="none" strike="noStrike"/>
          </a:p>
        </p:txBody>
      </p:sp>
      <p:sp>
        <p:nvSpPr>
          <p:cNvPr id="205" name="Google Shape;205;p8"/>
          <p:cNvSpPr/>
          <p:nvPr/>
        </p:nvSpPr>
        <p:spPr>
          <a:xfrm>
            <a:off x="9717405" y="5460802"/>
            <a:ext cx="4154329" cy="13873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00"/>
              <a:buFont typeface="DM Sans"/>
              <a:buNone/>
            </a:pPr>
            <a:r>
              <a:rPr b="0" i="0" lang="en-US" sz="17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El equipo de operaciones colabora con desarrolladores y administradores de sistemas para garantizar la entrega continua y la fiabilidad del servicio.</a:t>
            </a:r>
            <a:endParaRPr b="0" i="0" sz="1700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1" name="Google Shape;21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3960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2" name="Google Shape;21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3781" y="239554"/>
            <a:ext cx="3662839" cy="1916906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9"/>
          <p:cNvSpPr/>
          <p:nvPr/>
        </p:nvSpPr>
        <p:spPr>
          <a:xfrm>
            <a:off x="670798" y="3223736"/>
            <a:ext cx="12596336" cy="599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3750"/>
              <a:buFont typeface="Libre Baskerville"/>
              <a:buNone/>
            </a:pPr>
            <a:r>
              <a:rPr b="0" i="0" lang="en-US" sz="375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Prácticas para gestionar aplicaciones en producción</a:t>
            </a:r>
            <a:endParaRPr b="0" i="0" sz="3750" u="none" cap="none" strike="noStrike"/>
          </a:p>
        </p:txBody>
      </p:sp>
      <p:sp>
        <p:nvSpPr>
          <p:cNvPr id="214" name="Google Shape;214;p9"/>
          <p:cNvSpPr/>
          <p:nvPr/>
        </p:nvSpPr>
        <p:spPr>
          <a:xfrm>
            <a:off x="670798" y="4325779"/>
            <a:ext cx="431244" cy="431244"/>
          </a:xfrm>
          <a:prstGeom prst="roundRect">
            <a:avLst>
              <a:gd fmla="val 18669" name="adj"/>
            </a:avLst>
          </a:prstGeom>
          <a:solidFill>
            <a:srgbClr val="F7EDD4"/>
          </a:solidFill>
          <a:ln cap="flat" cmpd="sng" w="9525">
            <a:solidFill>
              <a:srgbClr val="DDD3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"/>
          <p:cNvSpPr/>
          <p:nvPr/>
        </p:nvSpPr>
        <p:spPr>
          <a:xfrm>
            <a:off x="822246" y="4397573"/>
            <a:ext cx="128230" cy="287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250"/>
              <a:buFont typeface="Libre Baskerville"/>
              <a:buNone/>
            </a:pPr>
            <a:r>
              <a:rPr b="0" i="0" lang="en-US" sz="225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</a:t>
            </a:r>
            <a:endParaRPr b="0" i="0" sz="2250" u="none" cap="none" strike="noStrike"/>
          </a:p>
        </p:txBody>
      </p:sp>
      <p:sp>
        <p:nvSpPr>
          <p:cNvPr id="216" name="Google Shape;216;p9"/>
          <p:cNvSpPr/>
          <p:nvPr/>
        </p:nvSpPr>
        <p:spPr>
          <a:xfrm>
            <a:off x="1293614" y="4325779"/>
            <a:ext cx="3257312" cy="299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850"/>
              <a:buFont typeface="Libre Baskerville"/>
              <a:buNone/>
            </a:pPr>
            <a:r>
              <a:rPr b="0" i="0" lang="en-US" sz="185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Planificación de capacidad</a:t>
            </a:r>
            <a:endParaRPr b="0" i="0" sz="1850" u="none" cap="none" strike="noStrike"/>
          </a:p>
        </p:txBody>
      </p:sp>
      <p:sp>
        <p:nvSpPr>
          <p:cNvPr id="217" name="Google Shape;217;p9"/>
          <p:cNvSpPr/>
          <p:nvPr/>
        </p:nvSpPr>
        <p:spPr>
          <a:xfrm>
            <a:off x="1293614" y="4740116"/>
            <a:ext cx="5925860" cy="920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500"/>
              <a:buFont typeface="DM Sans"/>
              <a:buNone/>
            </a:pPr>
            <a:r>
              <a:rPr b="0" i="0" lang="en-US" sz="15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Monitorizar constantemente el uso de recursos y planificar la escalabilidad de la infraestructura para satisfacer las necesidades cambiantes.</a:t>
            </a:r>
            <a:endParaRPr b="0" i="0" sz="1500" u="none" cap="none" strike="noStrike"/>
          </a:p>
        </p:txBody>
      </p:sp>
      <p:sp>
        <p:nvSpPr>
          <p:cNvPr id="218" name="Google Shape;218;p9"/>
          <p:cNvSpPr/>
          <p:nvPr/>
        </p:nvSpPr>
        <p:spPr>
          <a:xfrm>
            <a:off x="7411045" y="4325779"/>
            <a:ext cx="431244" cy="431244"/>
          </a:xfrm>
          <a:prstGeom prst="roundRect">
            <a:avLst>
              <a:gd fmla="val 18669" name="adj"/>
            </a:avLst>
          </a:prstGeom>
          <a:solidFill>
            <a:srgbClr val="F7EDD4"/>
          </a:solidFill>
          <a:ln cap="flat" cmpd="sng" w="9525">
            <a:solidFill>
              <a:srgbClr val="DDD3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"/>
          <p:cNvSpPr/>
          <p:nvPr/>
        </p:nvSpPr>
        <p:spPr>
          <a:xfrm>
            <a:off x="7538085" y="4397573"/>
            <a:ext cx="177165" cy="287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250"/>
              <a:buFont typeface="Libre Baskerville"/>
              <a:buNone/>
            </a:pPr>
            <a:r>
              <a:rPr b="0" i="0" lang="en-US" sz="225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</a:t>
            </a:r>
            <a:endParaRPr b="0" i="0" sz="2250" u="none" cap="none" strike="noStrike"/>
          </a:p>
        </p:txBody>
      </p:sp>
      <p:sp>
        <p:nvSpPr>
          <p:cNvPr id="220" name="Google Shape;220;p9"/>
          <p:cNvSpPr/>
          <p:nvPr/>
        </p:nvSpPr>
        <p:spPr>
          <a:xfrm>
            <a:off x="8033861" y="4325779"/>
            <a:ext cx="2642354" cy="299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850"/>
              <a:buFont typeface="Libre Baskerville"/>
              <a:buNone/>
            </a:pPr>
            <a:r>
              <a:rPr b="0" i="0" lang="en-US" sz="185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Gestión de incidentes</a:t>
            </a:r>
            <a:endParaRPr b="0" i="0" sz="1850" u="none" cap="none" strike="noStrike"/>
          </a:p>
        </p:txBody>
      </p:sp>
      <p:sp>
        <p:nvSpPr>
          <p:cNvPr id="221" name="Google Shape;221;p9"/>
          <p:cNvSpPr/>
          <p:nvPr/>
        </p:nvSpPr>
        <p:spPr>
          <a:xfrm>
            <a:off x="8033861" y="4740116"/>
            <a:ext cx="5925860" cy="613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500"/>
              <a:buFont typeface="DM Sans"/>
              <a:buNone/>
            </a:pPr>
            <a:r>
              <a:rPr b="0" i="0" lang="en-US" sz="15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Establecer procedimientos claros para detectar, investigar y resolver rápidamente los problemas que surjan en producción.</a:t>
            </a:r>
            <a:endParaRPr b="0" i="0" sz="1500" u="none" cap="none" strike="noStrike"/>
          </a:p>
        </p:txBody>
      </p:sp>
      <p:sp>
        <p:nvSpPr>
          <p:cNvPr id="222" name="Google Shape;222;p9"/>
          <p:cNvSpPr/>
          <p:nvPr/>
        </p:nvSpPr>
        <p:spPr>
          <a:xfrm>
            <a:off x="670798" y="6067425"/>
            <a:ext cx="431244" cy="431244"/>
          </a:xfrm>
          <a:prstGeom prst="roundRect">
            <a:avLst>
              <a:gd fmla="val 18669" name="adj"/>
            </a:avLst>
          </a:prstGeom>
          <a:solidFill>
            <a:srgbClr val="F7EDD4"/>
          </a:solidFill>
          <a:ln cap="flat" cmpd="sng" w="9525">
            <a:solidFill>
              <a:srgbClr val="DDD3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"/>
          <p:cNvSpPr/>
          <p:nvPr/>
        </p:nvSpPr>
        <p:spPr>
          <a:xfrm>
            <a:off x="797838" y="6139220"/>
            <a:ext cx="177165" cy="287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250"/>
              <a:buFont typeface="Libre Baskerville"/>
              <a:buNone/>
            </a:pPr>
            <a:r>
              <a:rPr b="0" i="0" lang="en-US" sz="225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</a:t>
            </a:r>
            <a:endParaRPr b="0" i="0" sz="2250" u="none" cap="none" strike="noStrike"/>
          </a:p>
        </p:txBody>
      </p:sp>
      <p:sp>
        <p:nvSpPr>
          <p:cNvPr id="224" name="Google Shape;224;p9"/>
          <p:cNvSpPr/>
          <p:nvPr/>
        </p:nvSpPr>
        <p:spPr>
          <a:xfrm>
            <a:off x="1293614" y="6067425"/>
            <a:ext cx="3464719" cy="299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850"/>
              <a:buFont typeface="Libre Baskerville"/>
              <a:buNone/>
            </a:pPr>
            <a:r>
              <a:rPr b="0" i="0" lang="en-US" sz="185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Implementación de mejoras</a:t>
            </a:r>
            <a:endParaRPr b="0" i="0" sz="1850" u="none" cap="none" strike="noStrike"/>
          </a:p>
        </p:txBody>
      </p:sp>
      <p:sp>
        <p:nvSpPr>
          <p:cNvPr id="225" name="Google Shape;225;p9"/>
          <p:cNvSpPr/>
          <p:nvPr/>
        </p:nvSpPr>
        <p:spPr>
          <a:xfrm>
            <a:off x="1293614" y="6481763"/>
            <a:ext cx="5925860" cy="613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500"/>
              <a:buFont typeface="DM Sans"/>
              <a:buNone/>
            </a:pPr>
            <a:r>
              <a:rPr b="0" i="0" lang="en-US" sz="15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Utilizar datos de monitorización para identificar oportunidades de optimización y llevar a cabo actualizaciones continuas.</a:t>
            </a:r>
            <a:endParaRPr b="0" i="0" sz="1500" u="none" cap="none" strike="noStrike"/>
          </a:p>
        </p:txBody>
      </p:sp>
      <p:sp>
        <p:nvSpPr>
          <p:cNvPr id="226" name="Google Shape;226;p9"/>
          <p:cNvSpPr/>
          <p:nvPr/>
        </p:nvSpPr>
        <p:spPr>
          <a:xfrm>
            <a:off x="7411045" y="6067425"/>
            <a:ext cx="431244" cy="431244"/>
          </a:xfrm>
          <a:prstGeom prst="roundRect">
            <a:avLst>
              <a:gd fmla="val 18669" name="adj"/>
            </a:avLst>
          </a:prstGeom>
          <a:solidFill>
            <a:srgbClr val="F7EDD4"/>
          </a:solidFill>
          <a:ln cap="flat" cmpd="sng" w="9525">
            <a:solidFill>
              <a:srgbClr val="DDD3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9"/>
          <p:cNvSpPr/>
          <p:nvPr/>
        </p:nvSpPr>
        <p:spPr>
          <a:xfrm>
            <a:off x="7542490" y="6139220"/>
            <a:ext cx="168235" cy="287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250"/>
              <a:buFont typeface="Libre Baskerville"/>
              <a:buNone/>
            </a:pPr>
            <a:r>
              <a:rPr b="0" i="0" lang="en-US" sz="225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4</a:t>
            </a:r>
            <a:endParaRPr b="0" i="0" sz="2250" u="none" cap="none" strike="noStrike"/>
          </a:p>
        </p:txBody>
      </p:sp>
      <p:sp>
        <p:nvSpPr>
          <p:cNvPr id="228" name="Google Shape;228;p9"/>
          <p:cNvSpPr/>
          <p:nvPr/>
        </p:nvSpPr>
        <p:spPr>
          <a:xfrm>
            <a:off x="8033861" y="6067425"/>
            <a:ext cx="3310652" cy="299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850"/>
              <a:buFont typeface="Libre Baskerville"/>
              <a:buNone/>
            </a:pPr>
            <a:r>
              <a:rPr b="0" i="0" lang="en-US" sz="185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Mantenimiento preventivo</a:t>
            </a:r>
            <a:endParaRPr b="0" i="0" sz="1850" u="none" cap="none" strike="noStrike"/>
          </a:p>
        </p:txBody>
      </p:sp>
      <p:sp>
        <p:nvSpPr>
          <p:cNvPr id="229" name="Google Shape;229;p9"/>
          <p:cNvSpPr/>
          <p:nvPr/>
        </p:nvSpPr>
        <p:spPr>
          <a:xfrm>
            <a:off x="8033861" y="6481763"/>
            <a:ext cx="5925860" cy="920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500"/>
              <a:buFont typeface="DM Sans"/>
              <a:buNone/>
            </a:pPr>
            <a:r>
              <a:rPr b="0" i="0" lang="en-US" sz="15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Programar tareas de mantenimiento regulares para prevenir problemas y garantizar el correcto funcionamiento de la aplicación.</a:t>
            </a:r>
            <a:endParaRPr b="0" i="0" sz="1500" u="none" cap="none" strike="noStrik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"/>
          <p:cNvSpPr/>
          <p:nvPr/>
        </p:nvSpPr>
        <p:spPr>
          <a:xfrm>
            <a:off x="793790" y="1105376"/>
            <a:ext cx="130428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4450"/>
              <a:buFont typeface="Libre Baskerville"/>
              <a:buNone/>
            </a:pPr>
            <a:r>
              <a:rPr b="0" i="0" lang="en-US" sz="445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¿Qué es la monitorización continua (Monitor)?</a:t>
            </a:r>
            <a:endParaRPr b="0" i="0" sz="4450" u="none" cap="none" strike="noStrike"/>
          </a:p>
        </p:txBody>
      </p:sp>
      <p:sp>
        <p:nvSpPr>
          <p:cNvPr id="236" name="Google Shape;236;p10"/>
          <p:cNvSpPr/>
          <p:nvPr/>
        </p:nvSpPr>
        <p:spPr>
          <a:xfrm>
            <a:off x="793790" y="3089910"/>
            <a:ext cx="2845594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2200"/>
              <a:buFont typeface="Libre Baskerville"/>
              <a:buNone/>
            </a:pPr>
            <a:r>
              <a:rPr b="0" i="0" lang="en-US" sz="220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Supervisión en tiempo real</a:t>
            </a:r>
            <a:endParaRPr b="0" i="0" sz="2200" u="none" cap="none" strike="noStrike"/>
          </a:p>
        </p:txBody>
      </p:sp>
      <p:sp>
        <p:nvSpPr>
          <p:cNvPr id="237" name="Google Shape;237;p10"/>
          <p:cNvSpPr/>
          <p:nvPr/>
        </p:nvSpPr>
        <p:spPr>
          <a:xfrm>
            <a:off x="793790" y="4025384"/>
            <a:ext cx="2845594" cy="2540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La monitorización continua implica la recolección y análisis de datos de las aplicaciones y sistemas en producción de manera constante y en tiempo real.</a:t>
            </a:r>
            <a:endParaRPr b="0" i="0" sz="1750" u="none" cap="none" strike="noStrike"/>
          </a:p>
        </p:txBody>
      </p:sp>
      <p:sp>
        <p:nvSpPr>
          <p:cNvPr id="238" name="Google Shape;238;p10"/>
          <p:cNvSpPr/>
          <p:nvPr/>
        </p:nvSpPr>
        <p:spPr>
          <a:xfrm>
            <a:off x="4200406" y="3089910"/>
            <a:ext cx="2845594" cy="1062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2200"/>
              <a:buFont typeface="Libre Baskerville"/>
              <a:buNone/>
            </a:pPr>
            <a:r>
              <a:rPr b="0" i="0" lang="en-US" sz="220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Detección temprana de problemas</a:t>
            </a:r>
            <a:endParaRPr b="0" i="0" sz="2200" u="none" cap="none" strike="noStrike"/>
          </a:p>
        </p:txBody>
      </p:sp>
      <p:sp>
        <p:nvSpPr>
          <p:cNvPr id="239" name="Google Shape;239;p10"/>
          <p:cNvSpPr/>
          <p:nvPr/>
        </p:nvSpPr>
        <p:spPr>
          <a:xfrm>
            <a:off x="4200406" y="4379714"/>
            <a:ext cx="2845594" cy="2540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Permite identificar y solucionar problemas de forma rápida antes de que se conviertan en incidentes mayores, mejorando la fiabilidad y el rendimiento del sistema.</a:t>
            </a:r>
            <a:endParaRPr b="0" i="0" sz="1750" u="none" cap="none" strike="noStrike"/>
          </a:p>
        </p:txBody>
      </p:sp>
      <p:sp>
        <p:nvSpPr>
          <p:cNvPr id="240" name="Google Shape;240;p10"/>
          <p:cNvSpPr/>
          <p:nvPr/>
        </p:nvSpPr>
        <p:spPr>
          <a:xfrm>
            <a:off x="7607022" y="308991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2200"/>
              <a:buFont typeface="Libre Baskerville"/>
              <a:buNone/>
            </a:pPr>
            <a:r>
              <a:rPr b="0" i="0" lang="en-US" sz="220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Mejora continua</a:t>
            </a:r>
            <a:endParaRPr b="0" i="0" sz="2200" u="none" cap="none" strike="noStrike"/>
          </a:p>
        </p:txBody>
      </p:sp>
      <p:sp>
        <p:nvSpPr>
          <p:cNvPr id="241" name="Google Shape;241;p10"/>
          <p:cNvSpPr/>
          <p:nvPr/>
        </p:nvSpPr>
        <p:spPr>
          <a:xfrm>
            <a:off x="7607022" y="3671054"/>
            <a:ext cx="2845594" cy="2540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Los datos recopilados pueden usarse para analizar tendencias y tomar decisiones informadas que optimicen el rendimiento a largo plazo.</a:t>
            </a:r>
            <a:endParaRPr b="0" i="0" sz="1750" u="none" cap="none" strike="noStrike"/>
          </a:p>
        </p:txBody>
      </p:sp>
      <p:pic>
        <p:nvPicPr>
          <p:cNvPr descr="preencoded.png" id="242" name="Google Shape;24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13638" y="3118247"/>
            <a:ext cx="2845594" cy="215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48" name="Google Shape;24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9" name="Google Shape;24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88078" y="2677716"/>
            <a:ext cx="4998244" cy="287405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1"/>
          <p:cNvSpPr/>
          <p:nvPr/>
        </p:nvSpPr>
        <p:spPr>
          <a:xfrm>
            <a:off x="683300" y="945833"/>
            <a:ext cx="7777401" cy="1220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3800"/>
              <a:buFont typeface="Libre Baskerville"/>
              <a:buNone/>
            </a:pPr>
            <a:r>
              <a:rPr b="0" i="0" lang="en-US" sz="380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Importancia de la supervisión en tiempo real</a:t>
            </a:r>
            <a:endParaRPr b="0" i="0" sz="3800" u="none" cap="none" strike="noStrike"/>
          </a:p>
        </p:txBody>
      </p:sp>
      <p:sp>
        <p:nvSpPr>
          <p:cNvPr id="251" name="Google Shape;251;p11"/>
          <p:cNvSpPr/>
          <p:nvPr/>
        </p:nvSpPr>
        <p:spPr>
          <a:xfrm>
            <a:off x="683300" y="2458998"/>
            <a:ext cx="7777401" cy="4824651"/>
          </a:xfrm>
          <a:prstGeom prst="roundRect">
            <a:avLst>
              <a:gd fmla="val 1700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1"/>
          <p:cNvSpPr/>
          <p:nvPr/>
        </p:nvSpPr>
        <p:spPr>
          <a:xfrm>
            <a:off x="690920" y="2466618"/>
            <a:ext cx="7762161" cy="1498997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1"/>
          <p:cNvSpPr/>
          <p:nvPr/>
        </p:nvSpPr>
        <p:spPr>
          <a:xfrm>
            <a:off x="886063" y="2591276"/>
            <a:ext cx="3486983" cy="312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500"/>
              <a:buFont typeface="DM Sans"/>
              <a:buNone/>
            </a:pPr>
            <a:r>
              <a:rPr b="0" i="0" lang="en-US" sz="15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Detección ágil de problemas</a:t>
            </a:r>
            <a:endParaRPr b="0" i="0" sz="1500" u="none" cap="none" strike="noStrike"/>
          </a:p>
        </p:txBody>
      </p:sp>
      <p:sp>
        <p:nvSpPr>
          <p:cNvPr id="254" name="Google Shape;254;p11"/>
          <p:cNvSpPr/>
          <p:nvPr/>
        </p:nvSpPr>
        <p:spPr>
          <a:xfrm>
            <a:off x="4770953" y="2591276"/>
            <a:ext cx="3486983" cy="124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500"/>
              <a:buFont typeface="DM Sans"/>
              <a:buNone/>
            </a:pPr>
            <a:r>
              <a:rPr b="0" i="0" lang="en-US" sz="15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La monitorización en tiempo real permite identificar y resolver problemas de manera rápida, evitando mayores interrupciones.</a:t>
            </a:r>
            <a:endParaRPr b="0" i="0" sz="1500" u="none" cap="none" strike="noStrike"/>
          </a:p>
        </p:txBody>
      </p:sp>
      <p:sp>
        <p:nvSpPr>
          <p:cNvPr id="255" name="Google Shape;255;p11"/>
          <p:cNvSpPr/>
          <p:nvPr/>
        </p:nvSpPr>
        <p:spPr>
          <a:xfrm>
            <a:off x="690920" y="3965615"/>
            <a:ext cx="7762161" cy="1811417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1"/>
          <p:cNvSpPr/>
          <p:nvPr/>
        </p:nvSpPr>
        <p:spPr>
          <a:xfrm>
            <a:off x="886063" y="4090273"/>
            <a:ext cx="3486983" cy="312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500"/>
              <a:buFont typeface="DM Sans"/>
              <a:buNone/>
            </a:pPr>
            <a:r>
              <a:rPr b="0" i="0" lang="en-US" sz="15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Mejora de la experiencia del usuario</a:t>
            </a:r>
            <a:endParaRPr b="0" i="0" sz="1500" u="none" cap="none" strike="noStrike"/>
          </a:p>
        </p:txBody>
      </p:sp>
      <p:sp>
        <p:nvSpPr>
          <p:cNvPr id="257" name="Google Shape;257;p11"/>
          <p:cNvSpPr/>
          <p:nvPr/>
        </p:nvSpPr>
        <p:spPr>
          <a:xfrm>
            <a:off x="4770953" y="4090273"/>
            <a:ext cx="3486983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500"/>
              <a:buFont typeface="DM Sans"/>
              <a:buNone/>
            </a:pPr>
            <a:r>
              <a:rPr b="0" i="0" lang="en-US" sz="15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Al mantener un seguimiento constante del rendimiento de la aplicación, se puede garantizar una experiencia fluida y sin interrupciones para los usuarios.</a:t>
            </a:r>
            <a:endParaRPr b="0" i="0" sz="1500" u="none" cap="none" strike="noStrike"/>
          </a:p>
        </p:txBody>
      </p:sp>
      <p:sp>
        <p:nvSpPr>
          <p:cNvPr id="258" name="Google Shape;258;p11"/>
          <p:cNvSpPr/>
          <p:nvPr/>
        </p:nvSpPr>
        <p:spPr>
          <a:xfrm>
            <a:off x="690920" y="5777032"/>
            <a:ext cx="7762161" cy="1498997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1"/>
          <p:cNvSpPr/>
          <p:nvPr/>
        </p:nvSpPr>
        <p:spPr>
          <a:xfrm>
            <a:off x="886063" y="5901690"/>
            <a:ext cx="3486983" cy="312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500"/>
              <a:buFont typeface="DM Sans"/>
              <a:buNone/>
            </a:pPr>
            <a:r>
              <a:rPr b="0" i="0" lang="en-US" sz="15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Aumento de la eficiencia operativa</a:t>
            </a:r>
            <a:endParaRPr b="0" i="0" sz="1500" u="none" cap="none" strike="noStrike"/>
          </a:p>
        </p:txBody>
      </p:sp>
      <p:sp>
        <p:nvSpPr>
          <p:cNvPr id="260" name="Google Shape;260;p11"/>
          <p:cNvSpPr/>
          <p:nvPr/>
        </p:nvSpPr>
        <p:spPr>
          <a:xfrm>
            <a:off x="4770953" y="5901690"/>
            <a:ext cx="3486983" cy="124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500"/>
              <a:buFont typeface="DM Sans"/>
              <a:buNone/>
            </a:pPr>
            <a:r>
              <a:rPr b="0" i="0" lang="en-US" sz="15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La supervisión en tiempo real facilita la optimización de los recursos y procesos, generando ahorros y mejoras continuas.</a:t>
            </a:r>
            <a:endParaRPr b="0" i="0" sz="1500" u="none" cap="none" strike="noStrike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6" name="Google Shape;26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323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7" name="Google Shape;26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5867" y="2611160"/>
            <a:ext cx="4954667" cy="3010019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2"/>
          <p:cNvSpPr/>
          <p:nvPr/>
        </p:nvSpPr>
        <p:spPr>
          <a:xfrm>
            <a:off x="6230660" y="584716"/>
            <a:ext cx="7655481" cy="1328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01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4150"/>
              <a:buFont typeface="Libre Baskerville"/>
              <a:buNone/>
            </a:pPr>
            <a:r>
              <a:rPr b="0" i="0" lang="en-US" sz="415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Herramientas para el despliegue automatizado</a:t>
            </a:r>
            <a:endParaRPr b="0" i="0" sz="4150" u="none" cap="none" strike="noStrike"/>
          </a:p>
        </p:txBody>
      </p:sp>
      <p:sp>
        <p:nvSpPr>
          <p:cNvPr id="269" name="Google Shape;269;p12"/>
          <p:cNvSpPr/>
          <p:nvPr/>
        </p:nvSpPr>
        <p:spPr>
          <a:xfrm>
            <a:off x="6230660" y="2232660"/>
            <a:ext cx="3721418" cy="2601158"/>
          </a:xfrm>
          <a:prstGeom prst="roundRect">
            <a:avLst>
              <a:gd fmla="val 3434" name="adj"/>
            </a:avLst>
          </a:prstGeom>
          <a:solidFill>
            <a:srgbClr val="F7EDD4"/>
          </a:solidFill>
          <a:ln cap="flat" cmpd="sng" w="9525">
            <a:solidFill>
              <a:srgbClr val="DDD3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2"/>
          <p:cNvSpPr/>
          <p:nvPr/>
        </p:nvSpPr>
        <p:spPr>
          <a:xfrm>
            <a:off x="6450925" y="2452926"/>
            <a:ext cx="2658070" cy="332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050"/>
              <a:buFont typeface="Libre Baskerville"/>
              <a:buNone/>
            </a:pPr>
            <a:r>
              <a:rPr b="0" i="0" lang="en-US" sz="205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Jenkins</a:t>
            </a:r>
            <a:endParaRPr b="0" i="0" sz="2050" u="none" cap="none" strike="noStrike"/>
          </a:p>
        </p:txBody>
      </p:sp>
      <p:sp>
        <p:nvSpPr>
          <p:cNvPr id="271" name="Google Shape;271;p12"/>
          <p:cNvSpPr/>
          <p:nvPr/>
        </p:nvSpPr>
        <p:spPr>
          <a:xfrm>
            <a:off x="6450925" y="2912745"/>
            <a:ext cx="3280886" cy="1360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650"/>
              <a:buFont typeface="DM Sans"/>
              <a:buNone/>
            </a:pPr>
            <a:r>
              <a:rPr b="0" i="0" lang="en-US" sz="16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Herramienta de código abierto líder para la automatización de la integración continua y el despliegue de aplicaciones.</a:t>
            </a:r>
            <a:endParaRPr b="0" i="0" sz="1650" u="none" cap="none" strike="noStrike"/>
          </a:p>
        </p:txBody>
      </p:sp>
      <p:sp>
        <p:nvSpPr>
          <p:cNvPr id="272" name="Google Shape;272;p12"/>
          <p:cNvSpPr/>
          <p:nvPr/>
        </p:nvSpPr>
        <p:spPr>
          <a:xfrm>
            <a:off x="10164723" y="2232660"/>
            <a:ext cx="3721418" cy="2601158"/>
          </a:xfrm>
          <a:prstGeom prst="roundRect">
            <a:avLst>
              <a:gd fmla="val 3434" name="adj"/>
            </a:avLst>
          </a:prstGeom>
          <a:solidFill>
            <a:srgbClr val="F7EDD4"/>
          </a:solidFill>
          <a:ln cap="flat" cmpd="sng" w="9525">
            <a:solidFill>
              <a:srgbClr val="DDD3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2"/>
          <p:cNvSpPr/>
          <p:nvPr/>
        </p:nvSpPr>
        <p:spPr>
          <a:xfrm>
            <a:off x="10384988" y="2452926"/>
            <a:ext cx="2658070" cy="332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050"/>
              <a:buFont typeface="Libre Baskerville"/>
              <a:buNone/>
            </a:pPr>
            <a:r>
              <a:rPr b="0" i="0" lang="en-US" sz="205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Ansible</a:t>
            </a:r>
            <a:endParaRPr b="0" i="0" sz="2050" u="none" cap="none" strike="noStrike"/>
          </a:p>
        </p:txBody>
      </p:sp>
      <p:sp>
        <p:nvSpPr>
          <p:cNvPr id="274" name="Google Shape;274;p12"/>
          <p:cNvSpPr/>
          <p:nvPr/>
        </p:nvSpPr>
        <p:spPr>
          <a:xfrm>
            <a:off x="10384988" y="2912745"/>
            <a:ext cx="3280886" cy="1700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650"/>
              <a:buFont typeface="DM Sans"/>
              <a:buNone/>
            </a:pPr>
            <a:r>
              <a:rPr b="0" i="0" lang="en-US" sz="16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Sistema de automatización de infraestructura que facilita la configuración y el despliegue de aplicaciones en múltiples entornos.</a:t>
            </a:r>
            <a:endParaRPr b="0" i="0" sz="1650" u="none" cap="none" strike="noStrike"/>
          </a:p>
        </p:txBody>
      </p:sp>
      <p:sp>
        <p:nvSpPr>
          <p:cNvPr id="275" name="Google Shape;275;p12"/>
          <p:cNvSpPr/>
          <p:nvPr/>
        </p:nvSpPr>
        <p:spPr>
          <a:xfrm>
            <a:off x="6230660" y="5046464"/>
            <a:ext cx="3721418" cy="2601158"/>
          </a:xfrm>
          <a:prstGeom prst="roundRect">
            <a:avLst>
              <a:gd fmla="val 3434" name="adj"/>
            </a:avLst>
          </a:prstGeom>
          <a:solidFill>
            <a:srgbClr val="F7EDD4"/>
          </a:solidFill>
          <a:ln cap="flat" cmpd="sng" w="9525">
            <a:solidFill>
              <a:srgbClr val="DDD3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2"/>
          <p:cNvSpPr/>
          <p:nvPr/>
        </p:nvSpPr>
        <p:spPr>
          <a:xfrm>
            <a:off x="6450925" y="5266730"/>
            <a:ext cx="2658070" cy="332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050"/>
              <a:buFont typeface="Libre Baskerville"/>
              <a:buNone/>
            </a:pPr>
            <a:r>
              <a:rPr b="0" i="0" lang="en-US" sz="205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Docker</a:t>
            </a:r>
            <a:endParaRPr b="0" i="0" sz="2050" u="none" cap="none" strike="noStrike"/>
          </a:p>
        </p:txBody>
      </p:sp>
      <p:sp>
        <p:nvSpPr>
          <p:cNvPr id="277" name="Google Shape;277;p12"/>
          <p:cNvSpPr/>
          <p:nvPr/>
        </p:nvSpPr>
        <p:spPr>
          <a:xfrm>
            <a:off x="6450925" y="5726549"/>
            <a:ext cx="3280886" cy="1360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650"/>
              <a:buFont typeface="DM Sans"/>
              <a:buNone/>
            </a:pPr>
            <a:r>
              <a:rPr b="0" i="0" lang="en-US" sz="16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Plataforma de contenedores que permite empaquetar y desplegar aplicaciones de manera consistente y portable.</a:t>
            </a:r>
            <a:endParaRPr b="0" i="0" sz="1650" u="none" cap="none" strike="noStrike"/>
          </a:p>
        </p:txBody>
      </p:sp>
      <p:sp>
        <p:nvSpPr>
          <p:cNvPr id="278" name="Google Shape;278;p12"/>
          <p:cNvSpPr/>
          <p:nvPr/>
        </p:nvSpPr>
        <p:spPr>
          <a:xfrm>
            <a:off x="10164723" y="5046464"/>
            <a:ext cx="3721418" cy="2601158"/>
          </a:xfrm>
          <a:prstGeom prst="roundRect">
            <a:avLst>
              <a:gd fmla="val 3434" name="adj"/>
            </a:avLst>
          </a:prstGeom>
          <a:solidFill>
            <a:srgbClr val="F7EDD4"/>
          </a:solidFill>
          <a:ln cap="flat" cmpd="sng" w="9525">
            <a:solidFill>
              <a:srgbClr val="DDD3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2"/>
          <p:cNvSpPr/>
          <p:nvPr/>
        </p:nvSpPr>
        <p:spPr>
          <a:xfrm>
            <a:off x="10384988" y="5266730"/>
            <a:ext cx="2658070" cy="332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050"/>
              <a:buFont typeface="Libre Baskerville"/>
              <a:buNone/>
            </a:pPr>
            <a:r>
              <a:rPr b="0" i="0" lang="en-US" sz="205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Kubernetes</a:t>
            </a:r>
            <a:endParaRPr b="0" i="0" sz="2050" u="none" cap="none" strike="noStrike"/>
          </a:p>
        </p:txBody>
      </p:sp>
      <p:sp>
        <p:nvSpPr>
          <p:cNvPr id="280" name="Google Shape;280;p12"/>
          <p:cNvSpPr/>
          <p:nvPr/>
        </p:nvSpPr>
        <p:spPr>
          <a:xfrm>
            <a:off x="10384988" y="5726549"/>
            <a:ext cx="3280886" cy="1700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650"/>
              <a:buFont typeface="DM Sans"/>
              <a:buNone/>
            </a:pPr>
            <a:r>
              <a:rPr b="0" i="0" lang="en-US" sz="16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Sistema de orquestación de contenedores que facilita la automatización del despliegue, escalado y gestión de aplicaciones.</a:t>
            </a:r>
            <a:endParaRPr b="0" i="0" sz="1650" u="none" cap="none" strike="noStrike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86" name="Google Shape;2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60604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13"/>
          <p:cNvSpPr/>
          <p:nvPr/>
        </p:nvSpPr>
        <p:spPr>
          <a:xfrm>
            <a:off x="729626" y="3345050"/>
            <a:ext cx="109833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4100"/>
              <a:buFont typeface="Libre Baskerville"/>
              <a:buNone/>
            </a:pPr>
            <a:r>
              <a:rPr b="0" i="0" lang="en-US" sz="410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Herramientas para la entrega continua</a:t>
            </a:r>
            <a:endParaRPr b="0" i="0" sz="4100" u="none" cap="none" strike="noStrike"/>
          </a:p>
        </p:txBody>
      </p:sp>
      <p:pic>
        <p:nvPicPr>
          <p:cNvPr descr="preencoded.png" id="288" name="Google Shape;28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9615" y="4309229"/>
            <a:ext cx="521137" cy="521137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3"/>
          <p:cNvSpPr/>
          <p:nvPr/>
        </p:nvSpPr>
        <p:spPr>
          <a:xfrm>
            <a:off x="729615" y="5038844"/>
            <a:ext cx="2606040" cy="325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050"/>
              <a:buFont typeface="Libre Baskerville"/>
              <a:buNone/>
            </a:pPr>
            <a:r>
              <a:rPr b="0" i="0" lang="en-US" sz="205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GitHub</a:t>
            </a:r>
            <a:endParaRPr b="0" i="0" sz="2050" u="none" cap="none" strike="noStrike"/>
          </a:p>
        </p:txBody>
      </p:sp>
      <p:sp>
        <p:nvSpPr>
          <p:cNvPr id="290" name="Google Shape;290;p13"/>
          <p:cNvSpPr/>
          <p:nvPr/>
        </p:nvSpPr>
        <p:spPr>
          <a:xfrm>
            <a:off x="729615" y="5489615"/>
            <a:ext cx="3058239" cy="20009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600"/>
              <a:buFont typeface="DM Sans"/>
              <a:buNone/>
            </a:pPr>
            <a:r>
              <a:rPr b="0" i="0" lang="en-US" sz="16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Plataforma de control de versiones y desarrollo de software que facilita la colaboración y automatización de los procesos de entrega continua.</a:t>
            </a:r>
            <a:endParaRPr b="0" i="0" sz="1600" u="none" cap="none" strike="noStrike"/>
          </a:p>
        </p:txBody>
      </p:sp>
      <p:pic>
        <p:nvPicPr>
          <p:cNvPr descr="preencoded.png" id="291" name="Google Shape;291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00513" y="4309229"/>
            <a:ext cx="521137" cy="521137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3"/>
          <p:cNvSpPr/>
          <p:nvPr/>
        </p:nvSpPr>
        <p:spPr>
          <a:xfrm>
            <a:off x="4100513" y="5038844"/>
            <a:ext cx="2606040" cy="325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050"/>
              <a:buFont typeface="Libre Baskerville"/>
              <a:buNone/>
            </a:pPr>
            <a:r>
              <a:rPr b="0" i="0" lang="en-US" sz="205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Jenkins</a:t>
            </a:r>
            <a:endParaRPr b="0" i="0" sz="2050" u="none" cap="none" strike="noStrike"/>
          </a:p>
        </p:txBody>
      </p:sp>
      <p:sp>
        <p:nvSpPr>
          <p:cNvPr id="293" name="Google Shape;293;p13"/>
          <p:cNvSpPr/>
          <p:nvPr/>
        </p:nvSpPr>
        <p:spPr>
          <a:xfrm>
            <a:off x="4100513" y="5489615"/>
            <a:ext cx="3058358" cy="20009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600"/>
              <a:buFont typeface="DM Sans"/>
              <a:buNone/>
            </a:pPr>
            <a:r>
              <a:rPr b="0" i="0" lang="en-US" sz="16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Herramienta de código abierto para la automatización de la construcción, pruebas y despliegue de aplicaciones, clave en la implementación de CD.</a:t>
            </a:r>
            <a:endParaRPr b="0" i="0" sz="1600" u="none" cap="none" strike="noStrike"/>
          </a:p>
        </p:txBody>
      </p:sp>
      <p:pic>
        <p:nvPicPr>
          <p:cNvPr descr="preencoded.png" id="294" name="Google Shape;294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71529" y="4309229"/>
            <a:ext cx="521137" cy="521137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3"/>
          <p:cNvSpPr/>
          <p:nvPr/>
        </p:nvSpPr>
        <p:spPr>
          <a:xfrm>
            <a:off x="7471529" y="5038844"/>
            <a:ext cx="2606040" cy="325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050"/>
              <a:buFont typeface="Libre Baskerville"/>
              <a:buNone/>
            </a:pPr>
            <a:r>
              <a:rPr b="0" i="0" lang="en-US" sz="205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GitLab</a:t>
            </a:r>
            <a:endParaRPr b="0" i="0" sz="2050" u="none" cap="none" strike="noStrike"/>
          </a:p>
        </p:txBody>
      </p:sp>
      <p:sp>
        <p:nvSpPr>
          <p:cNvPr id="296" name="Google Shape;296;p13"/>
          <p:cNvSpPr/>
          <p:nvPr/>
        </p:nvSpPr>
        <p:spPr>
          <a:xfrm>
            <a:off x="7471529" y="5489615"/>
            <a:ext cx="3058239" cy="20009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600"/>
              <a:buFont typeface="DM Sans"/>
              <a:buNone/>
            </a:pPr>
            <a:r>
              <a:rPr b="0" i="0" lang="en-US" sz="16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Solución integral que combina el control de versiones, la construcción, el despliegue y el monitoreo, permitiendo llevar a cabo un flujo de entrega continua.</a:t>
            </a:r>
            <a:endParaRPr b="0" i="0" sz="1600" u="none" cap="none" strike="noStrike"/>
          </a:p>
        </p:txBody>
      </p:sp>
      <p:pic>
        <p:nvPicPr>
          <p:cNvPr descr="preencoded.png" id="297" name="Google Shape;297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842427" y="4309229"/>
            <a:ext cx="521137" cy="521137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3"/>
          <p:cNvSpPr/>
          <p:nvPr/>
        </p:nvSpPr>
        <p:spPr>
          <a:xfrm>
            <a:off x="10842427" y="5038844"/>
            <a:ext cx="2606040" cy="325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050"/>
              <a:buFont typeface="Libre Baskerville"/>
              <a:buNone/>
            </a:pPr>
            <a:r>
              <a:rPr b="0" i="0" lang="en-US" sz="205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CircleCI</a:t>
            </a:r>
            <a:endParaRPr b="0" i="0" sz="2050" u="none" cap="none" strike="noStrike"/>
          </a:p>
        </p:txBody>
      </p:sp>
      <p:sp>
        <p:nvSpPr>
          <p:cNvPr id="299" name="Google Shape;299;p13"/>
          <p:cNvSpPr/>
          <p:nvPr/>
        </p:nvSpPr>
        <p:spPr>
          <a:xfrm>
            <a:off x="10842427" y="5489615"/>
            <a:ext cx="3058358" cy="20009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600"/>
              <a:buFont typeface="DM Sans"/>
              <a:buNone/>
            </a:pPr>
            <a:r>
              <a:rPr b="0" i="0" lang="en-US" sz="16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Servicio de integración y entrega continua que automatiza la compilación, pruebas y despliegue de aplicaciones de manera ágil y eficiente.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4"/>
          <p:cNvSpPr/>
          <p:nvPr/>
        </p:nvSpPr>
        <p:spPr>
          <a:xfrm>
            <a:off x="756050" y="876300"/>
            <a:ext cx="138744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05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4250"/>
              <a:buFont typeface="Libre Baskerville"/>
              <a:buNone/>
            </a:pPr>
            <a:r>
              <a:rPr b="0" i="0" lang="en-US" sz="425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Herramientas para la operación en producción</a:t>
            </a:r>
            <a:endParaRPr b="0" i="0" sz="4250" u="none" cap="none" strike="noStrike"/>
          </a:p>
        </p:txBody>
      </p:sp>
      <p:pic>
        <p:nvPicPr>
          <p:cNvPr descr="preencoded.png" id="306" name="Google Shape;30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6047" y="1983343"/>
            <a:ext cx="3036570" cy="1876663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14"/>
          <p:cNvSpPr/>
          <p:nvPr/>
        </p:nvSpPr>
        <p:spPr>
          <a:xfrm>
            <a:off x="756047" y="4129921"/>
            <a:ext cx="3036570" cy="6750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100"/>
              <a:buFont typeface="Libre Baskerville"/>
              <a:buNone/>
            </a:pPr>
            <a:r>
              <a:rPr b="0" i="0" lang="en-US" sz="21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Gestión de aplicaciones</a:t>
            </a:r>
            <a:endParaRPr b="0" i="0" sz="2100" u="none" cap="none" strike="noStrike"/>
          </a:p>
        </p:txBody>
      </p:sp>
      <p:sp>
        <p:nvSpPr>
          <p:cNvPr id="308" name="Google Shape;308;p14"/>
          <p:cNvSpPr/>
          <p:nvPr/>
        </p:nvSpPr>
        <p:spPr>
          <a:xfrm>
            <a:off x="756047" y="4934545"/>
            <a:ext cx="3036570" cy="24186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00"/>
              <a:buFont typeface="DM Sans"/>
              <a:buNone/>
            </a:pPr>
            <a:r>
              <a:rPr b="0" i="0" lang="en-US" sz="17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Herramientas como servidores de aplicaciones y orquestadores de contenedores facilitan la implementación y el escalado de aplicaciones en producción.</a:t>
            </a:r>
            <a:endParaRPr b="0" i="0" sz="1700" u="none" cap="none" strike="noStrike"/>
          </a:p>
        </p:txBody>
      </p:sp>
      <p:pic>
        <p:nvPicPr>
          <p:cNvPr descr="preencoded.png" id="309" name="Google Shape;30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6586" y="1983343"/>
            <a:ext cx="3036570" cy="1876663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14"/>
          <p:cNvSpPr/>
          <p:nvPr/>
        </p:nvSpPr>
        <p:spPr>
          <a:xfrm>
            <a:off x="4116586" y="4129921"/>
            <a:ext cx="3036570" cy="6750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100"/>
              <a:buFont typeface="Libre Baskerville"/>
              <a:buNone/>
            </a:pPr>
            <a:r>
              <a:rPr b="0" i="0" lang="en-US" sz="21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Monitorización de Rendimiento</a:t>
            </a:r>
            <a:endParaRPr b="0" i="0" sz="2100" u="none" cap="none" strike="noStrike"/>
          </a:p>
        </p:txBody>
      </p:sp>
      <p:sp>
        <p:nvSpPr>
          <p:cNvPr id="311" name="Google Shape;311;p14"/>
          <p:cNvSpPr/>
          <p:nvPr/>
        </p:nvSpPr>
        <p:spPr>
          <a:xfrm>
            <a:off x="4116586" y="4934545"/>
            <a:ext cx="3036570" cy="1727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00"/>
              <a:buFont typeface="DM Sans"/>
              <a:buNone/>
            </a:pPr>
            <a:r>
              <a:rPr b="0" i="0" lang="en-US" sz="17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Soluciones de monitorización proporcionan visibilidad sobre el estado y el rendimiento de las aplicaciones desplegadas en entornos de producción.</a:t>
            </a:r>
            <a:endParaRPr b="0" i="0" sz="1700" u="none" cap="none" strike="noStrike"/>
          </a:p>
        </p:txBody>
      </p:sp>
      <p:pic>
        <p:nvPicPr>
          <p:cNvPr descr="preencoded.png" id="312" name="Google Shape;31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77125" y="1983343"/>
            <a:ext cx="3036570" cy="1876663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4"/>
          <p:cNvSpPr/>
          <p:nvPr/>
        </p:nvSpPr>
        <p:spPr>
          <a:xfrm>
            <a:off x="7477125" y="4129921"/>
            <a:ext cx="3036570" cy="6750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100"/>
              <a:buFont typeface="Libre Baskerville"/>
              <a:buNone/>
            </a:pPr>
            <a:r>
              <a:rPr b="0" i="0" lang="en-US" sz="21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Gestión de Incidencias</a:t>
            </a:r>
            <a:endParaRPr b="0" i="0" sz="2100" u="none" cap="none" strike="noStrike"/>
          </a:p>
        </p:txBody>
      </p:sp>
      <p:sp>
        <p:nvSpPr>
          <p:cNvPr id="314" name="Google Shape;314;p14"/>
          <p:cNvSpPr/>
          <p:nvPr/>
        </p:nvSpPr>
        <p:spPr>
          <a:xfrm>
            <a:off x="7477125" y="4934545"/>
            <a:ext cx="3036570" cy="20731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00"/>
              <a:buFont typeface="DM Sans"/>
              <a:buNone/>
            </a:pPr>
            <a:r>
              <a:rPr b="0" i="0" lang="en-US" sz="17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Herramientas de gestión de incidencias y tickets permiten a los equipos de operaciones responder y resolver problemas de manera ágil y organizada.</a:t>
            </a:r>
            <a:endParaRPr b="0" i="0" sz="1700" u="none" cap="none" strike="noStrike"/>
          </a:p>
        </p:txBody>
      </p:sp>
      <p:pic>
        <p:nvPicPr>
          <p:cNvPr descr="preencoded.png" id="315" name="Google Shape;31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837664" y="1983343"/>
            <a:ext cx="3036689" cy="1876782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14"/>
          <p:cNvSpPr/>
          <p:nvPr/>
        </p:nvSpPr>
        <p:spPr>
          <a:xfrm>
            <a:off x="10837664" y="4130040"/>
            <a:ext cx="3036689" cy="6750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100"/>
              <a:buFont typeface="Libre Baskerville"/>
              <a:buNone/>
            </a:pPr>
            <a:r>
              <a:rPr b="0" i="0" lang="en-US" sz="21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Automatización de Procesos</a:t>
            </a:r>
            <a:endParaRPr b="0" i="0" sz="2100" u="none" cap="none" strike="noStrike"/>
          </a:p>
        </p:txBody>
      </p:sp>
      <p:sp>
        <p:nvSpPr>
          <p:cNvPr id="317" name="Google Shape;317;p14"/>
          <p:cNvSpPr/>
          <p:nvPr/>
        </p:nvSpPr>
        <p:spPr>
          <a:xfrm>
            <a:off x="10837664" y="4934664"/>
            <a:ext cx="3036689" cy="20731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00"/>
              <a:buFont typeface="DM Sans"/>
              <a:buNone/>
            </a:pPr>
            <a:r>
              <a:rPr b="0" i="0" lang="en-US" sz="17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Herramientas de automatización como scripts y orquestadores facilitan la gestión y el mantenimiento de las aplicaciones en producción.</a:t>
            </a:r>
            <a:endParaRPr b="0" i="0" sz="1700" u="none" cap="none" strike="noStrike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23" name="Google Shape;32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6104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4" name="Google Shape;32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5095" y="260985"/>
            <a:ext cx="3580209" cy="208847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5"/>
          <p:cNvSpPr/>
          <p:nvPr/>
        </p:nvSpPr>
        <p:spPr>
          <a:xfrm>
            <a:off x="730925" y="3510558"/>
            <a:ext cx="12402622" cy="652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4100"/>
              <a:buFont typeface="Libre Baskerville"/>
              <a:buNone/>
            </a:pPr>
            <a:r>
              <a:rPr b="0" i="0" lang="en-US" sz="410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Herramientas para la monitorización continua</a:t>
            </a:r>
            <a:endParaRPr b="0" i="0" sz="4100" u="none" cap="none" strike="noStrike"/>
          </a:p>
        </p:txBody>
      </p:sp>
      <p:pic>
        <p:nvPicPr>
          <p:cNvPr descr="preencoded.png" id="326" name="Google Shape;32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0925" y="4476393"/>
            <a:ext cx="522089" cy="522089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5"/>
          <p:cNvSpPr/>
          <p:nvPr/>
        </p:nvSpPr>
        <p:spPr>
          <a:xfrm>
            <a:off x="730925" y="5207318"/>
            <a:ext cx="3593783" cy="32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050"/>
              <a:buFont typeface="Libre Baskerville"/>
              <a:buNone/>
            </a:pPr>
            <a:r>
              <a:rPr b="0" i="0" lang="en-US" sz="205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Dashboards en tiempo real</a:t>
            </a:r>
            <a:endParaRPr b="0" i="0" sz="2050" u="none" cap="none" strike="noStrike"/>
          </a:p>
        </p:txBody>
      </p:sp>
      <p:sp>
        <p:nvSpPr>
          <p:cNvPr id="328" name="Google Shape;328;p15"/>
          <p:cNvSpPr/>
          <p:nvPr/>
        </p:nvSpPr>
        <p:spPr>
          <a:xfrm>
            <a:off x="730925" y="5658922"/>
            <a:ext cx="4180642" cy="13363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600"/>
              <a:buFont typeface="DM Sans"/>
              <a:buNone/>
            </a:pPr>
            <a:r>
              <a:rPr b="0" i="0" lang="en-US" sz="16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Herramientas como Grafana o Kibana permiten crear dashboards personalizados que ofrecen una visión general del rendimiento y el estado de los sistemas.</a:t>
            </a:r>
            <a:endParaRPr b="0" i="0" sz="1600" u="none" cap="none" strike="noStrike"/>
          </a:p>
        </p:txBody>
      </p:sp>
      <p:pic>
        <p:nvPicPr>
          <p:cNvPr descr="preencoded.png" id="329" name="Google Shape;32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24820" y="4476393"/>
            <a:ext cx="522089" cy="522089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15"/>
          <p:cNvSpPr/>
          <p:nvPr/>
        </p:nvSpPr>
        <p:spPr>
          <a:xfrm>
            <a:off x="5224820" y="5207318"/>
            <a:ext cx="3092768" cy="32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050"/>
              <a:buFont typeface="Libre Baskerville"/>
              <a:buNone/>
            </a:pPr>
            <a:r>
              <a:rPr b="0" i="0" lang="en-US" sz="205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Alertas y notificaciones</a:t>
            </a:r>
            <a:endParaRPr b="0" i="0" sz="2050" u="none" cap="none" strike="noStrike"/>
          </a:p>
        </p:txBody>
      </p:sp>
      <p:sp>
        <p:nvSpPr>
          <p:cNvPr id="331" name="Google Shape;331;p15"/>
          <p:cNvSpPr/>
          <p:nvPr/>
        </p:nvSpPr>
        <p:spPr>
          <a:xfrm>
            <a:off x="5224820" y="5658922"/>
            <a:ext cx="4180642" cy="1670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600"/>
              <a:buFont typeface="DM Sans"/>
              <a:buNone/>
            </a:pPr>
            <a:r>
              <a:rPr b="0" i="0" lang="en-US" sz="16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Sistemas de monitorización como Prometheus o Datadog permiten configurar alertas que notifican rápidamente a los equipos sobre problemas o tendencias preocupantes.</a:t>
            </a:r>
            <a:endParaRPr b="0" i="0" sz="1600" u="none" cap="none" strike="noStrike"/>
          </a:p>
        </p:txBody>
      </p:sp>
      <p:pic>
        <p:nvPicPr>
          <p:cNvPr descr="preencoded.png" id="332" name="Google Shape;33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18715" y="4476393"/>
            <a:ext cx="522089" cy="52208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5"/>
          <p:cNvSpPr/>
          <p:nvPr/>
        </p:nvSpPr>
        <p:spPr>
          <a:xfrm>
            <a:off x="9718715" y="5207318"/>
            <a:ext cx="2610445" cy="32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050"/>
              <a:buFont typeface="Libre Baskerville"/>
              <a:buNone/>
            </a:pPr>
            <a:r>
              <a:rPr b="0" i="0" lang="en-US" sz="205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Análisis de logs</a:t>
            </a:r>
            <a:endParaRPr b="0" i="0" sz="2050" u="none" cap="none" strike="noStrike"/>
          </a:p>
        </p:txBody>
      </p:sp>
      <p:sp>
        <p:nvSpPr>
          <p:cNvPr id="334" name="Google Shape;334;p15"/>
          <p:cNvSpPr/>
          <p:nvPr/>
        </p:nvSpPr>
        <p:spPr>
          <a:xfrm>
            <a:off x="9718715" y="5658922"/>
            <a:ext cx="4180642" cy="13363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600"/>
              <a:buFont typeface="DM Sans"/>
              <a:buNone/>
            </a:pPr>
            <a:r>
              <a:rPr b="0" i="0" lang="en-US" sz="16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Herramientas como Elasticsearch y Splunk facilitan el análisis en profundidad de logs para detectar y solucionar problemas de manera proactiva.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2024-11-04T05:21:58Z</dcterms:created>
  <dc:creator>PptxGenJS</dc:creator>
</cp:coreProperties>
</file>