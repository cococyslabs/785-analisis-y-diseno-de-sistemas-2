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8229600" cx="14630400"/>
  <p:notesSz cx="8229600" cy="14630400"/>
  <p:embeddedFontLst>
    <p:embeddedFont>
      <p:font typeface="Nobile"/>
      <p:regular r:id="rId22"/>
      <p:bold r:id="rId23"/>
      <p:italic r:id="rId24"/>
      <p:boldItalic r:id="rId25"/>
    </p:embeddedFont>
    <p:embeddedFont>
      <p:font typeface="Fraunces ExtraBold"/>
      <p:bold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hPpMJZJpBg7wEkI2aq//SvYifM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A79C43-1EDC-480D-9E40-B68AE495965E}">
  <a:tblStyle styleId="{60A79C43-1EDC-480D-9E40-B68AE495965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Nobile-regular.fntdata"/><Relationship Id="rId21" Type="http://schemas.openxmlformats.org/officeDocument/2006/relationships/slide" Target="slides/slide16.xml"/><Relationship Id="rId24" Type="http://schemas.openxmlformats.org/officeDocument/2006/relationships/font" Target="fonts/Nobile-italic.fntdata"/><Relationship Id="rId23" Type="http://schemas.openxmlformats.org/officeDocument/2006/relationships/font" Target="fonts/Nobile-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FrauncesExtraBold-bold.fntdata"/><Relationship Id="rId25" Type="http://schemas.openxmlformats.org/officeDocument/2006/relationships/font" Target="fonts/Nobile-boldItalic.fntdata"/><Relationship Id="rId28" Type="http://customschemas.google.com/relationships/presentationmetadata" Target="metadata"/><Relationship Id="rId27" Type="http://schemas.openxmlformats.org/officeDocument/2006/relationships/font" Target="fonts/FrauncesExtraBol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d529fe4428_0_0: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g2d529fe4428_0_0: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17"/>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7"/>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sp>
        <p:nvSpPr>
          <p:cNvPr id="14" name="Google Shape;14;p18"/>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8"/>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sp>
        <p:nvSpPr>
          <p:cNvPr id="17" name="Google Shape;17;p19"/>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9"/>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sp>
        <p:nvSpPr>
          <p:cNvPr id="20" name="Google Shape;20;p20"/>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0"/>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21"/>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1"/>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sp>
        <p:nvSpPr>
          <p:cNvPr id="26" name="Google Shape;26;p22"/>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2"/>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sp>
        <p:nvSpPr>
          <p:cNvPr id="29" name="Google Shape;29;p23"/>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3"/>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1" name="Shape 31"/>
        <p:cNvGrpSpPr/>
        <p:nvPr/>
      </p:nvGrpSpPr>
      <p:grpSpPr>
        <a:xfrm>
          <a:off x="0" y="0"/>
          <a:ext cx="0" cy="0"/>
          <a:chOff x="0" y="0"/>
          <a:chExt cx="0" cy="0"/>
        </a:xfrm>
      </p:grpSpPr>
      <p:sp>
        <p:nvSpPr>
          <p:cNvPr id="32" name="Google Shape;32;p24"/>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4"/>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4" name="Shape 34"/>
        <p:cNvGrpSpPr/>
        <p:nvPr/>
      </p:nvGrpSpPr>
      <p:grpSpPr>
        <a:xfrm>
          <a:off x="0" y="0"/>
          <a:ext cx="0" cy="0"/>
          <a:chOff x="0" y="0"/>
          <a:chExt cx="0" cy="0"/>
        </a:xfrm>
      </p:grpSpPr>
      <p:sp>
        <p:nvSpPr>
          <p:cNvPr id="35" name="Google Shape;35;p25"/>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5"/>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37" name="Shape 37"/>
        <p:cNvGrpSpPr/>
        <p:nvPr/>
      </p:nvGrpSpPr>
      <p:grpSpPr>
        <a:xfrm>
          <a:off x="0" y="0"/>
          <a:ext cx="0" cy="0"/>
          <a:chOff x="0" y="0"/>
          <a:chExt cx="0" cy="0"/>
        </a:xfrm>
      </p:grpSpPr>
      <p:sp>
        <p:nvSpPr>
          <p:cNvPr id="38" name="Google Shape;38;p26"/>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6"/>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40" name="Shape 40"/>
        <p:cNvGrpSpPr/>
        <p:nvPr/>
      </p:nvGrpSpPr>
      <p:grpSpPr>
        <a:xfrm>
          <a:off x="0" y="0"/>
          <a:ext cx="0" cy="0"/>
          <a:chOff x="0" y="0"/>
          <a:chExt cx="0" cy="0"/>
        </a:xfrm>
      </p:grpSpPr>
      <p:sp>
        <p:nvSpPr>
          <p:cNvPr id="41" name="Google Shape;41;p27"/>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7"/>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43" name="Shape 43"/>
        <p:cNvGrpSpPr/>
        <p:nvPr/>
      </p:nvGrpSpPr>
      <p:grpSpPr>
        <a:xfrm>
          <a:off x="0" y="0"/>
          <a:ext cx="0" cy="0"/>
          <a:chOff x="0" y="0"/>
          <a:chExt cx="0" cy="0"/>
        </a:xfrm>
      </p:grpSpPr>
      <p:sp>
        <p:nvSpPr>
          <p:cNvPr id="44" name="Google Shape;44;p28"/>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8"/>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46" name="Shape 46"/>
        <p:cNvGrpSpPr/>
        <p:nvPr/>
      </p:nvGrpSpPr>
      <p:grpSpPr>
        <a:xfrm>
          <a:off x="0" y="0"/>
          <a:ext cx="0" cy="0"/>
          <a:chOff x="0" y="0"/>
          <a:chExt cx="0" cy="0"/>
        </a:xfrm>
      </p:grpSpPr>
      <p:sp>
        <p:nvSpPr>
          <p:cNvPr id="47" name="Google Shape;47;p29"/>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9"/>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49" name="Shape 49"/>
        <p:cNvGrpSpPr/>
        <p:nvPr/>
      </p:nvGrpSpPr>
      <p:grpSpPr>
        <a:xfrm>
          <a:off x="0" y="0"/>
          <a:ext cx="0" cy="0"/>
          <a:chOff x="0" y="0"/>
          <a:chExt cx="0" cy="0"/>
        </a:xfrm>
      </p:grpSpPr>
      <p:sp>
        <p:nvSpPr>
          <p:cNvPr id="50" name="Google Shape;50;p30"/>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0"/>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52" name="Shape 52"/>
        <p:cNvGrpSpPr/>
        <p:nvPr/>
      </p:nvGrpSpPr>
      <p:grpSpPr>
        <a:xfrm>
          <a:off x="0" y="0"/>
          <a:ext cx="0" cy="0"/>
          <a:chOff x="0" y="0"/>
          <a:chExt cx="0" cy="0"/>
        </a:xfrm>
      </p:grpSpPr>
      <p:sp>
        <p:nvSpPr>
          <p:cNvPr id="53" name="Google Shape;53;p31"/>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1"/>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5" name="Shape 55"/>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6" name="Shape 56"/>
        <p:cNvGrpSpPr/>
        <p:nvPr/>
      </p:nvGrpSpPr>
      <p:grpSpPr>
        <a:xfrm>
          <a:off x="0" y="0"/>
          <a:ext cx="0" cy="0"/>
          <a:chOff x="0" y="0"/>
          <a:chExt cx="0" cy="0"/>
        </a:xfrm>
      </p:grpSpPr>
      <p:sp>
        <p:nvSpPr>
          <p:cNvPr id="57" name="Google Shape;57;g2d529fe4428_0_58"/>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sz="1100"/>
            </a:lvl1pPr>
            <a:lvl2pPr lvl="1" algn="l">
              <a:lnSpc>
                <a:spcPct val="100000"/>
              </a:lnSpc>
              <a:spcBef>
                <a:spcPts val="0"/>
              </a:spcBef>
              <a:spcAft>
                <a:spcPts val="0"/>
              </a:spcAft>
              <a:buSzPts val="4500"/>
              <a:buNone/>
              <a:defRPr sz="1100"/>
            </a:lvl2pPr>
            <a:lvl3pPr lvl="2" algn="l">
              <a:lnSpc>
                <a:spcPct val="100000"/>
              </a:lnSpc>
              <a:spcBef>
                <a:spcPts val="0"/>
              </a:spcBef>
              <a:spcAft>
                <a:spcPts val="0"/>
              </a:spcAft>
              <a:buSzPts val="4500"/>
              <a:buNone/>
              <a:defRPr sz="1100"/>
            </a:lvl3pPr>
            <a:lvl4pPr lvl="3" algn="l">
              <a:lnSpc>
                <a:spcPct val="100000"/>
              </a:lnSpc>
              <a:spcBef>
                <a:spcPts val="0"/>
              </a:spcBef>
              <a:spcAft>
                <a:spcPts val="0"/>
              </a:spcAft>
              <a:buSzPts val="4500"/>
              <a:buNone/>
              <a:defRPr sz="1100"/>
            </a:lvl4pPr>
            <a:lvl5pPr lvl="4" algn="l">
              <a:lnSpc>
                <a:spcPct val="100000"/>
              </a:lnSpc>
              <a:spcBef>
                <a:spcPts val="0"/>
              </a:spcBef>
              <a:spcAft>
                <a:spcPts val="0"/>
              </a:spcAft>
              <a:buSzPts val="4500"/>
              <a:buNone/>
              <a:defRPr sz="1100"/>
            </a:lvl5pPr>
            <a:lvl6pPr lvl="5" algn="l">
              <a:lnSpc>
                <a:spcPct val="100000"/>
              </a:lnSpc>
              <a:spcBef>
                <a:spcPts val="0"/>
              </a:spcBef>
              <a:spcAft>
                <a:spcPts val="0"/>
              </a:spcAft>
              <a:buSzPts val="4500"/>
              <a:buNone/>
              <a:defRPr sz="1100"/>
            </a:lvl6pPr>
            <a:lvl7pPr lvl="6" algn="l">
              <a:lnSpc>
                <a:spcPct val="100000"/>
              </a:lnSpc>
              <a:spcBef>
                <a:spcPts val="0"/>
              </a:spcBef>
              <a:spcAft>
                <a:spcPts val="0"/>
              </a:spcAft>
              <a:buSzPts val="4500"/>
              <a:buNone/>
              <a:defRPr sz="1100"/>
            </a:lvl7pPr>
            <a:lvl8pPr lvl="7" algn="l">
              <a:lnSpc>
                <a:spcPct val="100000"/>
              </a:lnSpc>
              <a:spcBef>
                <a:spcPts val="0"/>
              </a:spcBef>
              <a:spcAft>
                <a:spcPts val="0"/>
              </a:spcAft>
              <a:buSzPts val="4500"/>
              <a:buNone/>
              <a:defRPr sz="1100"/>
            </a:lvl8pPr>
            <a:lvl9pPr lvl="8" algn="l">
              <a:lnSpc>
                <a:spcPct val="100000"/>
              </a:lnSpc>
              <a:spcBef>
                <a:spcPts val="0"/>
              </a:spcBef>
              <a:spcAft>
                <a:spcPts val="0"/>
              </a:spcAft>
              <a:buSzPts val="4500"/>
              <a:buNone/>
              <a:defRPr sz="1100"/>
            </a:lvl9pPr>
          </a:lstStyle>
          <a:p/>
        </p:txBody>
      </p:sp>
      <p:sp>
        <p:nvSpPr>
          <p:cNvPr id="58" name="Google Shape;58;g2d529fe4428_0_58"/>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412750" lvl="0" marL="457200" algn="l">
              <a:lnSpc>
                <a:spcPct val="115000"/>
              </a:lnSpc>
              <a:spcBef>
                <a:spcPts val="0"/>
              </a:spcBef>
              <a:spcAft>
                <a:spcPts val="0"/>
              </a:spcAft>
              <a:buSzPts val="2900"/>
              <a:buChar char="●"/>
              <a:defRPr sz="1100"/>
            </a:lvl1pPr>
            <a:lvl2pPr indent="-368300" lvl="1" marL="914400" algn="l">
              <a:lnSpc>
                <a:spcPct val="115000"/>
              </a:lnSpc>
              <a:spcBef>
                <a:spcPts val="0"/>
              </a:spcBef>
              <a:spcAft>
                <a:spcPts val="0"/>
              </a:spcAft>
              <a:buSzPts val="2200"/>
              <a:buChar char="○"/>
              <a:defRPr sz="1100"/>
            </a:lvl2pPr>
            <a:lvl3pPr indent="-368300" lvl="2" marL="1371600" algn="l">
              <a:lnSpc>
                <a:spcPct val="115000"/>
              </a:lnSpc>
              <a:spcBef>
                <a:spcPts val="0"/>
              </a:spcBef>
              <a:spcAft>
                <a:spcPts val="0"/>
              </a:spcAft>
              <a:buSzPts val="2200"/>
              <a:buChar char="■"/>
              <a:defRPr sz="1100"/>
            </a:lvl3pPr>
            <a:lvl4pPr indent="-368300" lvl="3" marL="1828800" algn="l">
              <a:lnSpc>
                <a:spcPct val="115000"/>
              </a:lnSpc>
              <a:spcBef>
                <a:spcPts val="0"/>
              </a:spcBef>
              <a:spcAft>
                <a:spcPts val="0"/>
              </a:spcAft>
              <a:buSzPts val="2200"/>
              <a:buChar char="●"/>
              <a:defRPr sz="1100"/>
            </a:lvl4pPr>
            <a:lvl5pPr indent="-368300" lvl="4" marL="2286000" algn="l">
              <a:lnSpc>
                <a:spcPct val="115000"/>
              </a:lnSpc>
              <a:spcBef>
                <a:spcPts val="0"/>
              </a:spcBef>
              <a:spcAft>
                <a:spcPts val="0"/>
              </a:spcAft>
              <a:buSzPts val="2200"/>
              <a:buChar char="○"/>
              <a:defRPr sz="1100"/>
            </a:lvl5pPr>
            <a:lvl6pPr indent="-368300" lvl="5" marL="2743200" algn="l">
              <a:lnSpc>
                <a:spcPct val="115000"/>
              </a:lnSpc>
              <a:spcBef>
                <a:spcPts val="0"/>
              </a:spcBef>
              <a:spcAft>
                <a:spcPts val="0"/>
              </a:spcAft>
              <a:buSzPts val="2200"/>
              <a:buChar char="■"/>
              <a:defRPr sz="1100"/>
            </a:lvl6pPr>
            <a:lvl7pPr indent="-368300" lvl="6" marL="3200400" algn="l">
              <a:lnSpc>
                <a:spcPct val="115000"/>
              </a:lnSpc>
              <a:spcBef>
                <a:spcPts val="0"/>
              </a:spcBef>
              <a:spcAft>
                <a:spcPts val="0"/>
              </a:spcAft>
              <a:buSzPts val="2200"/>
              <a:buChar char="●"/>
              <a:defRPr sz="1100"/>
            </a:lvl7pPr>
            <a:lvl8pPr indent="-368300" lvl="7" marL="3657600" algn="l">
              <a:lnSpc>
                <a:spcPct val="115000"/>
              </a:lnSpc>
              <a:spcBef>
                <a:spcPts val="0"/>
              </a:spcBef>
              <a:spcAft>
                <a:spcPts val="0"/>
              </a:spcAft>
              <a:buSzPts val="2200"/>
              <a:buChar char="○"/>
              <a:defRPr sz="1100"/>
            </a:lvl8pPr>
            <a:lvl9pPr indent="-368300" lvl="8" marL="4114800" algn="l">
              <a:lnSpc>
                <a:spcPct val="115000"/>
              </a:lnSpc>
              <a:spcBef>
                <a:spcPts val="0"/>
              </a:spcBef>
              <a:spcAft>
                <a:spcPts val="0"/>
              </a:spcAft>
              <a:buSzPts val="2200"/>
              <a:buChar char="■"/>
              <a:defRPr sz="1100"/>
            </a:lvl9pPr>
          </a:lstStyle>
          <a:p/>
        </p:txBody>
      </p:sp>
      <p:sp>
        <p:nvSpPr>
          <p:cNvPr id="59" name="Google Shape;59;g2d529fe4428_0_58"/>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6.png"/><Relationship Id="rId4" Type="http://schemas.openxmlformats.org/officeDocument/2006/relationships/image" Target="../media/image14.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5.png"/><Relationship Id="rId6" Type="http://schemas.openxmlformats.org/officeDocument/2006/relationships/image" Target="../media/image23.png"/><Relationship Id="rId7"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14.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image" Target="../media/image22.png"/><Relationship Id="rId5" Type="http://schemas.openxmlformats.org/officeDocument/2006/relationships/image" Target="../media/image19.png"/><Relationship Id="rId6"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g2d529fe4428_0_0"/>
          <p:cNvPicPr preferRelativeResize="0"/>
          <p:nvPr/>
        </p:nvPicPr>
        <p:blipFill rotWithShape="1">
          <a:blip r:embed="rId3">
            <a:alphaModFix amt="62000"/>
          </a:blip>
          <a:srcRect b="0" l="0" r="0" t="0"/>
          <a:stretch/>
        </p:blipFill>
        <p:spPr>
          <a:xfrm>
            <a:off x="13522" y="0"/>
            <a:ext cx="14603357" cy="8229600"/>
          </a:xfrm>
          <a:prstGeom prst="rect">
            <a:avLst/>
          </a:prstGeom>
          <a:noFill/>
          <a:ln>
            <a:noFill/>
          </a:ln>
        </p:spPr>
      </p:pic>
      <p:graphicFrame>
        <p:nvGraphicFramePr>
          <p:cNvPr id="65" name="Google Shape;65;g2d529fe4428_0_0"/>
          <p:cNvGraphicFramePr/>
          <p:nvPr/>
        </p:nvGraphicFramePr>
        <p:xfrm>
          <a:off x="8525120" y="1552040"/>
          <a:ext cx="3000000" cy="3000000"/>
        </p:xfrm>
        <a:graphic>
          <a:graphicData uri="http://schemas.openxmlformats.org/drawingml/2006/table">
            <a:tbl>
              <a:tblPr>
                <a:noFill/>
                <a:tableStyleId>{60A79C43-1EDC-480D-9E40-B68AE495965E}</a:tableStyleId>
              </a:tblPr>
              <a:tblGrid>
                <a:gridCol w="2429125"/>
                <a:gridCol w="3475800"/>
              </a:tblGrid>
              <a:tr h="515925">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dk1"/>
                          </a:solidFill>
                        </a:rPr>
                        <a:t>Día, Fecha:</a:t>
                      </a:r>
                      <a:endParaRPr b="1" sz="2200" u="none" cap="none" strike="noStrike">
                        <a:solidFill>
                          <a:schemeClr val="dk1"/>
                        </a:solidFill>
                      </a:endParaRPr>
                    </a:p>
                  </a:txBody>
                  <a:tcPr marT="146275" marB="146275" marR="146275" marL="146275"/>
                </a:tc>
                <a:tc>
                  <a:txBody>
                    <a:bodyPr/>
                    <a:lstStyle/>
                    <a:p>
                      <a:pPr indent="0" lvl="0" marL="0" marR="0" rtl="0" algn="l">
                        <a:lnSpc>
                          <a:spcPct val="100000"/>
                        </a:lnSpc>
                        <a:spcBef>
                          <a:spcPts val="0"/>
                        </a:spcBef>
                        <a:spcAft>
                          <a:spcPts val="0"/>
                        </a:spcAft>
                        <a:buClr>
                          <a:srgbClr val="000000"/>
                        </a:buClr>
                        <a:buSzPts val="2200"/>
                        <a:buFont typeface="Arial"/>
                        <a:buNone/>
                      </a:pPr>
                      <a:r>
                        <a:rPr lang="en-US" sz="2200"/>
                        <a:t>Día, xx/xx/2025 </a:t>
                      </a:r>
                      <a:endParaRPr sz="2200" u="none" cap="none" strike="noStrike"/>
                    </a:p>
                  </a:txBody>
                  <a:tcPr marT="146275" marB="146275" marR="146275" marL="146275"/>
                </a:tc>
              </a:tr>
              <a:tr h="580950">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dk1"/>
                          </a:solidFill>
                        </a:rPr>
                        <a:t>Hora de inicio:</a:t>
                      </a:r>
                      <a:endParaRPr b="1" sz="2200" u="none" cap="none" strike="noStrike">
                        <a:solidFill>
                          <a:schemeClr val="dk1"/>
                        </a:solidFill>
                      </a:endParaRPr>
                    </a:p>
                  </a:txBody>
                  <a:tcPr marT="146275" marB="146275" marR="146275" marL="146275"/>
                </a:tc>
                <a:tc>
                  <a:txBody>
                    <a:bodyPr/>
                    <a:lstStyle/>
                    <a:p>
                      <a:pPr indent="0" lvl="0" marL="0" marR="0" rtl="0" algn="l">
                        <a:lnSpc>
                          <a:spcPct val="100000"/>
                        </a:lnSpc>
                        <a:spcBef>
                          <a:spcPts val="0"/>
                        </a:spcBef>
                        <a:spcAft>
                          <a:spcPts val="0"/>
                        </a:spcAft>
                        <a:buClr>
                          <a:srgbClr val="000000"/>
                        </a:buClr>
                        <a:buSzPts val="2200"/>
                        <a:buFont typeface="Arial"/>
                        <a:buNone/>
                      </a:pPr>
                      <a:r>
                        <a:rPr lang="en-US" sz="2200"/>
                        <a:t>xx:xx</a:t>
                      </a:r>
                      <a:endParaRPr sz="2200" u="none" cap="none" strike="noStrike"/>
                    </a:p>
                  </a:txBody>
                  <a:tcPr marT="146275" marB="146275" marR="146275" marL="146275"/>
                </a:tc>
              </a:tr>
            </a:tbl>
          </a:graphicData>
        </a:graphic>
      </p:graphicFrame>
      <p:sp>
        <p:nvSpPr>
          <p:cNvPr id="66" name="Google Shape;66;g2d529fe4428_0_0"/>
          <p:cNvSpPr txBox="1"/>
          <p:nvPr/>
        </p:nvSpPr>
        <p:spPr>
          <a:xfrm>
            <a:off x="2304280" y="3613280"/>
            <a:ext cx="10867200" cy="9111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4000"/>
              <a:buFont typeface="Arial"/>
              <a:buNone/>
            </a:pPr>
            <a:r>
              <a:rPr lang="en-US" sz="4000"/>
              <a:t>Análisis y Diseño de Sistemas 2 </a:t>
            </a:r>
            <a:r>
              <a:rPr b="0" i="0" lang="en-US" sz="4000" u="none" cap="none" strike="noStrike">
                <a:solidFill>
                  <a:srgbClr val="000000"/>
                </a:solidFill>
                <a:latin typeface="Arial"/>
                <a:ea typeface="Arial"/>
                <a:cs typeface="Arial"/>
                <a:sym typeface="Arial"/>
              </a:rPr>
              <a:t>[</a:t>
            </a:r>
            <a:r>
              <a:rPr lang="en-US" sz="4000"/>
              <a:t>SECCIÓN</a:t>
            </a:r>
            <a:r>
              <a:rPr b="0" i="0" lang="en-US" sz="4000" u="none" cap="none" strike="noStrike">
                <a:solidFill>
                  <a:srgbClr val="000000"/>
                </a:solidFill>
                <a:latin typeface="Arial"/>
                <a:ea typeface="Arial"/>
                <a:cs typeface="Arial"/>
                <a:sym typeface="Arial"/>
              </a:rPr>
              <a:t>]</a:t>
            </a:r>
            <a:endParaRPr b="0" i="0" sz="4000" u="none" cap="none" strike="noStrike">
              <a:solidFill>
                <a:srgbClr val="000000"/>
              </a:solidFill>
              <a:latin typeface="Arial"/>
              <a:ea typeface="Arial"/>
              <a:cs typeface="Arial"/>
              <a:sym typeface="Arial"/>
            </a:endParaRPr>
          </a:p>
        </p:txBody>
      </p:sp>
      <p:sp>
        <p:nvSpPr>
          <p:cNvPr id="67" name="Google Shape;67;g2d529fe4428_0_0"/>
          <p:cNvSpPr txBox="1"/>
          <p:nvPr/>
        </p:nvSpPr>
        <p:spPr>
          <a:xfrm>
            <a:off x="2845920" y="4641200"/>
            <a:ext cx="8938500" cy="7881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3200"/>
              <a:buFont typeface="Arial"/>
              <a:buNone/>
            </a:pPr>
            <a:r>
              <a:rPr lang="en-US" sz="3200"/>
              <a:t>Estudiante</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descr="preencoded.png" id="73" name="Google Shape;73;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74" name="Google Shape;74;p1"/>
          <p:cNvSpPr/>
          <p:nvPr/>
        </p:nvSpPr>
        <p:spPr>
          <a:xfrm>
            <a:off x="793790" y="1648301"/>
            <a:ext cx="7556421" cy="2126337"/>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4450"/>
              <a:buFont typeface="Fraunces ExtraBold"/>
              <a:buNone/>
            </a:pPr>
            <a:r>
              <a:rPr b="1" i="0" lang="en-US" sz="4450" u="none" cap="none" strike="noStrike">
                <a:solidFill>
                  <a:srgbClr val="3B4540"/>
                </a:solidFill>
                <a:latin typeface="Fraunces ExtraBold"/>
                <a:ea typeface="Fraunces ExtraBold"/>
                <a:cs typeface="Fraunces ExtraBold"/>
                <a:sym typeface="Fraunces ExtraBold"/>
              </a:rPr>
              <a:t>Patrones estructurales y de comportamiento en diseño de software</a:t>
            </a:r>
            <a:endParaRPr b="0" i="0" sz="4450" u="none" cap="none" strike="noStrike"/>
          </a:p>
        </p:txBody>
      </p:sp>
      <p:sp>
        <p:nvSpPr>
          <p:cNvPr id="75" name="Google Shape;75;p1"/>
          <p:cNvSpPr/>
          <p:nvPr/>
        </p:nvSpPr>
        <p:spPr>
          <a:xfrm>
            <a:off x="793790" y="4114800"/>
            <a:ext cx="7556421"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Los patrones de diseño son soluciones probadas a problemas recurrentes en el desarrollo de software. Los patrones estructurales abordan la composición de clases y objetos, mientras que los patrones de comportamiento se enfocan en la interacción y comunicación entre ellos.</a:t>
            </a:r>
            <a:endParaRPr b="0" i="0" sz="1750" u="none" cap="none" strike="noStrike"/>
          </a:p>
        </p:txBody>
      </p:sp>
      <p:sp>
        <p:nvSpPr>
          <p:cNvPr id="76" name="Google Shape;76;p1"/>
          <p:cNvSpPr/>
          <p:nvPr/>
        </p:nvSpPr>
        <p:spPr>
          <a:xfrm>
            <a:off x="793790" y="6201370"/>
            <a:ext cx="362903" cy="362903"/>
          </a:xfrm>
          <a:prstGeom prst="roundRect">
            <a:avLst>
              <a:gd fmla="val 25194296"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descr="preencoded.png" id="82" name="Google Shape;82;p2"/>
          <p:cNvPicPr preferRelativeResize="0"/>
          <p:nvPr/>
        </p:nvPicPr>
        <p:blipFill rotWithShape="1">
          <a:blip r:embed="rId3">
            <a:alphaModFix/>
          </a:blip>
          <a:srcRect b="0" l="0" r="0" t="0"/>
          <a:stretch/>
        </p:blipFill>
        <p:spPr>
          <a:xfrm>
            <a:off x="9144000" y="0"/>
            <a:ext cx="5486400" cy="8230433"/>
          </a:xfrm>
          <a:prstGeom prst="rect">
            <a:avLst/>
          </a:prstGeom>
          <a:noFill/>
          <a:ln>
            <a:noFill/>
          </a:ln>
        </p:spPr>
      </p:pic>
      <p:sp>
        <p:nvSpPr>
          <p:cNvPr id="83" name="Google Shape;83;p2"/>
          <p:cNvSpPr/>
          <p:nvPr/>
        </p:nvSpPr>
        <p:spPr>
          <a:xfrm>
            <a:off x="650200" y="510778"/>
            <a:ext cx="4644390" cy="580549"/>
          </a:xfrm>
          <a:prstGeom prst="rect">
            <a:avLst/>
          </a:prstGeom>
          <a:noFill/>
          <a:ln>
            <a:noFill/>
          </a:ln>
        </p:spPr>
        <p:txBody>
          <a:bodyPr anchorCtr="0" anchor="t" bIns="0" lIns="0" spcFirstLastPara="1" rIns="0" wrap="square" tIns="0">
            <a:noAutofit/>
          </a:bodyPr>
          <a:lstStyle/>
          <a:p>
            <a:pPr indent="0" lvl="0" marL="0" marR="0" rtl="0" algn="l">
              <a:lnSpc>
                <a:spcPct val="124657"/>
              </a:lnSpc>
              <a:spcBef>
                <a:spcPts val="0"/>
              </a:spcBef>
              <a:spcAft>
                <a:spcPts val="0"/>
              </a:spcAft>
              <a:buClr>
                <a:srgbClr val="3B4540"/>
              </a:buClr>
              <a:buSzPts val="3650"/>
              <a:buFont typeface="Fraunces ExtraBold"/>
              <a:buNone/>
            </a:pPr>
            <a:r>
              <a:rPr b="1" i="0" lang="en-US" sz="3650" u="none" cap="none" strike="noStrike">
                <a:solidFill>
                  <a:srgbClr val="3B4540"/>
                </a:solidFill>
                <a:latin typeface="Fraunces ExtraBold"/>
                <a:ea typeface="Fraunces ExtraBold"/>
                <a:cs typeface="Fraunces ExtraBold"/>
                <a:sym typeface="Fraunces ExtraBold"/>
              </a:rPr>
              <a:t>Introducción</a:t>
            </a:r>
            <a:endParaRPr b="0" i="0" sz="3650" u="none" cap="none" strike="noStrike"/>
          </a:p>
        </p:txBody>
      </p:sp>
      <p:pic>
        <p:nvPicPr>
          <p:cNvPr descr="preencoded.png" id="84" name="Google Shape;84;p2"/>
          <p:cNvPicPr preferRelativeResize="0"/>
          <p:nvPr/>
        </p:nvPicPr>
        <p:blipFill rotWithShape="1">
          <a:blip r:embed="rId4">
            <a:alphaModFix/>
          </a:blip>
          <a:srcRect b="0" l="0" r="0" t="0"/>
          <a:stretch/>
        </p:blipFill>
        <p:spPr>
          <a:xfrm>
            <a:off x="650200" y="1369933"/>
            <a:ext cx="464344" cy="464344"/>
          </a:xfrm>
          <a:prstGeom prst="rect">
            <a:avLst/>
          </a:prstGeom>
          <a:noFill/>
          <a:ln>
            <a:noFill/>
          </a:ln>
        </p:spPr>
      </p:pic>
      <p:sp>
        <p:nvSpPr>
          <p:cNvPr id="85" name="Google Shape;85;p2"/>
          <p:cNvSpPr/>
          <p:nvPr/>
        </p:nvSpPr>
        <p:spPr>
          <a:xfrm>
            <a:off x="650200" y="2020014"/>
            <a:ext cx="2322195" cy="29015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1800"/>
              <a:buFont typeface="Fraunces ExtraBold"/>
              <a:buNone/>
            </a:pPr>
            <a:r>
              <a:rPr b="1" i="0" lang="en-US" sz="1800" u="none" cap="none" strike="noStrike">
                <a:solidFill>
                  <a:srgbClr val="405449"/>
                </a:solidFill>
                <a:latin typeface="Fraunces ExtraBold"/>
                <a:ea typeface="Fraunces ExtraBold"/>
                <a:cs typeface="Fraunces ExtraBold"/>
                <a:sym typeface="Fraunces ExtraBold"/>
              </a:rPr>
              <a:t>Conceptos Clave</a:t>
            </a:r>
            <a:endParaRPr b="0" i="0" sz="1800" u="none" cap="none" strike="noStrike"/>
          </a:p>
        </p:txBody>
      </p:sp>
      <p:sp>
        <p:nvSpPr>
          <p:cNvPr id="86" name="Google Shape;86;p2"/>
          <p:cNvSpPr/>
          <p:nvPr/>
        </p:nvSpPr>
        <p:spPr>
          <a:xfrm>
            <a:off x="650200" y="2421612"/>
            <a:ext cx="7843599" cy="89154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405449"/>
              </a:buClr>
              <a:buSzPts val="1450"/>
              <a:buFont typeface="Nobile"/>
              <a:buNone/>
            </a:pPr>
            <a:r>
              <a:rPr b="0" i="0" lang="en-US" sz="1450" u="none" cap="none" strike="noStrike">
                <a:solidFill>
                  <a:srgbClr val="405449"/>
                </a:solidFill>
                <a:latin typeface="Nobile"/>
                <a:ea typeface="Nobile"/>
                <a:cs typeface="Nobile"/>
                <a:sym typeface="Nobile"/>
              </a:rPr>
              <a:t>Exploramos los fundamentos de los patrones de diseño estructurales y de comportamiento, herramientas esenciales para desarrollar software modular y escalable.</a:t>
            </a:r>
            <a:endParaRPr b="0" i="0" sz="1450" u="none" cap="none" strike="noStrike"/>
          </a:p>
        </p:txBody>
      </p:sp>
      <p:pic>
        <p:nvPicPr>
          <p:cNvPr descr="preencoded.png" id="87" name="Google Shape;87;p2"/>
          <p:cNvPicPr preferRelativeResize="0"/>
          <p:nvPr/>
        </p:nvPicPr>
        <p:blipFill rotWithShape="1">
          <a:blip r:embed="rId5">
            <a:alphaModFix/>
          </a:blip>
          <a:srcRect b="0" l="0" r="0" t="0"/>
          <a:stretch/>
        </p:blipFill>
        <p:spPr>
          <a:xfrm>
            <a:off x="650200" y="3870365"/>
            <a:ext cx="464344" cy="464344"/>
          </a:xfrm>
          <a:prstGeom prst="rect">
            <a:avLst/>
          </a:prstGeom>
          <a:noFill/>
          <a:ln>
            <a:noFill/>
          </a:ln>
        </p:spPr>
      </p:pic>
      <p:sp>
        <p:nvSpPr>
          <p:cNvPr id="88" name="Google Shape;88;p2"/>
          <p:cNvSpPr/>
          <p:nvPr/>
        </p:nvSpPr>
        <p:spPr>
          <a:xfrm>
            <a:off x="650200" y="4520446"/>
            <a:ext cx="2676644" cy="29015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1800"/>
              <a:buFont typeface="Fraunces ExtraBold"/>
              <a:buNone/>
            </a:pPr>
            <a:r>
              <a:rPr b="1" i="0" lang="en-US" sz="1800" u="none" cap="none" strike="noStrike">
                <a:solidFill>
                  <a:srgbClr val="405449"/>
                </a:solidFill>
                <a:latin typeface="Fraunces ExtraBold"/>
                <a:ea typeface="Fraunces ExtraBold"/>
                <a:cs typeface="Fraunces ExtraBold"/>
                <a:sym typeface="Fraunces ExtraBold"/>
              </a:rPr>
              <a:t>Aplicaciones Prácticas</a:t>
            </a:r>
            <a:endParaRPr b="0" i="0" sz="1800" u="none" cap="none" strike="noStrike"/>
          </a:p>
        </p:txBody>
      </p:sp>
      <p:sp>
        <p:nvSpPr>
          <p:cNvPr id="89" name="Google Shape;89;p2"/>
          <p:cNvSpPr/>
          <p:nvPr/>
        </p:nvSpPr>
        <p:spPr>
          <a:xfrm>
            <a:off x="650200" y="4922044"/>
            <a:ext cx="7843599" cy="59436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405449"/>
              </a:buClr>
              <a:buSzPts val="1450"/>
              <a:buFont typeface="Nobile"/>
              <a:buNone/>
            </a:pPr>
            <a:r>
              <a:rPr b="0" i="0" lang="en-US" sz="1450" u="none" cap="none" strike="noStrike">
                <a:solidFill>
                  <a:srgbClr val="405449"/>
                </a:solidFill>
                <a:latin typeface="Nobile"/>
                <a:ea typeface="Nobile"/>
                <a:cs typeface="Nobile"/>
                <a:sym typeface="Nobile"/>
              </a:rPr>
              <a:t>Analizamos cómo estos patrones de diseño resuelven problemas comunes en el desarrollo de software, simplificando la complejidad y mejorando la mantenibilidad.</a:t>
            </a:r>
            <a:endParaRPr b="0" i="0" sz="1450" u="none" cap="none" strike="noStrike"/>
          </a:p>
        </p:txBody>
      </p:sp>
      <p:pic>
        <p:nvPicPr>
          <p:cNvPr descr="preencoded.png" id="90" name="Google Shape;90;p2"/>
          <p:cNvPicPr preferRelativeResize="0"/>
          <p:nvPr/>
        </p:nvPicPr>
        <p:blipFill rotWithShape="1">
          <a:blip r:embed="rId6">
            <a:alphaModFix/>
          </a:blip>
          <a:srcRect b="0" l="0" r="0" t="0"/>
          <a:stretch/>
        </p:blipFill>
        <p:spPr>
          <a:xfrm>
            <a:off x="650200" y="6073616"/>
            <a:ext cx="464344" cy="464344"/>
          </a:xfrm>
          <a:prstGeom prst="rect">
            <a:avLst/>
          </a:prstGeom>
          <a:noFill/>
          <a:ln>
            <a:noFill/>
          </a:ln>
        </p:spPr>
      </p:pic>
      <p:sp>
        <p:nvSpPr>
          <p:cNvPr id="91" name="Google Shape;91;p2"/>
          <p:cNvSpPr/>
          <p:nvPr/>
        </p:nvSpPr>
        <p:spPr>
          <a:xfrm>
            <a:off x="650200" y="6723697"/>
            <a:ext cx="2322195" cy="29015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1800"/>
              <a:buFont typeface="Fraunces ExtraBold"/>
              <a:buNone/>
            </a:pPr>
            <a:r>
              <a:rPr b="1" i="0" lang="en-US" sz="1800" u="none" cap="none" strike="noStrike">
                <a:solidFill>
                  <a:srgbClr val="405449"/>
                </a:solidFill>
                <a:latin typeface="Fraunces ExtraBold"/>
                <a:ea typeface="Fraunces ExtraBold"/>
                <a:cs typeface="Fraunces ExtraBold"/>
                <a:sym typeface="Fraunces ExtraBold"/>
              </a:rPr>
              <a:t>Hacia el Futuro</a:t>
            </a:r>
            <a:endParaRPr b="0" i="0" sz="1800" u="none" cap="none" strike="noStrike"/>
          </a:p>
        </p:txBody>
      </p:sp>
      <p:sp>
        <p:nvSpPr>
          <p:cNvPr id="92" name="Google Shape;92;p2"/>
          <p:cNvSpPr/>
          <p:nvPr/>
        </p:nvSpPr>
        <p:spPr>
          <a:xfrm>
            <a:off x="650200" y="7125295"/>
            <a:ext cx="7843599" cy="59436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405449"/>
              </a:buClr>
              <a:buSzPts val="1450"/>
              <a:buFont typeface="Nobile"/>
              <a:buNone/>
            </a:pPr>
            <a:r>
              <a:rPr b="0" i="0" lang="en-US" sz="1450" u="none" cap="none" strike="noStrike">
                <a:solidFill>
                  <a:srgbClr val="405449"/>
                </a:solidFill>
                <a:latin typeface="Nobile"/>
                <a:ea typeface="Nobile"/>
                <a:cs typeface="Nobile"/>
                <a:sym typeface="Nobile"/>
              </a:rPr>
              <a:t>Exploramos el impacto de estos patrones en el diseño de sistemas modernos y la importancia de dominar estas técnicas para ser un desarrollador de software eficaz.</a:t>
            </a:r>
            <a:endParaRPr b="0" i="0" sz="14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descr="preencoded.png" id="98" name="Google Shape;98;p3"/>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99" name="Google Shape;99;p3"/>
          <p:cNvSpPr/>
          <p:nvPr/>
        </p:nvSpPr>
        <p:spPr>
          <a:xfrm>
            <a:off x="6207443" y="727710"/>
            <a:ext cx="7701915" cy="1287542"/>
          </a:xfrm>
          <a:prstGeom prst="rect">
            <a:avLst/>
          </a:prstGeom>
          <a:noFill/>
          <a:ln>
            <a:noFill/>
          </a:ln>
        </p:spPr>
        <p:txBody>
          <a:bodyPr anchorCtr="0" anchor="t" bIns="0" lIns="0" spcFirstLastPara="1" rIns="0" wrap="square" tIns="0">
            <a:noAutofit/>
          </a:bodyPr>
          <a:lstStyle/>
          <a:p>
            <a:pPr indent="0" lvl="0" marL="0" marR="0" rtl="0" algn="l">
              <a:lnSpc>
                <a:spcPct val="124691"/>
              </a:lnSpc>
              <a:spcBef>
                <a:spcPts val="0"/>
              </a:spcBef>
              <a:spcAft>
                <a:spcPts val="0"/>
              </a:spcAft>
              <a:buClr>
                <a:srgbClr val="3B4540"/>
              </a:buClr>
              <a:buSzPts val="4050"/>
              <a:buFont typeface="Fraunces ExtraBold"/>
              <a:buNone/>
            </a:pPr>
            <a:r>
              <a:rPr b="1" i="0" lang="en-US" sz="4050" u="none" cap="none" strike="noStrike">
                <a:solidFill>
                  <a:srgbClr val="3B4540"/>
                </a:solidFill>
                <a:latin typeface="Fraunces ExtraBold"/>
                <a:ea typeface="Fraunces ExtraBold"/>
                <a:cs typeface="Fraunces ExtraBold"/>
                <a:sym typeface="Fraunces ExtraBold"/>
              </a:rPr>
              <a:t>Patrones estructurales: descripción general</a:t>
            </a:r>
            <a:endParaRPr b="0" i="0" sz="4050" u="none" cap="none" strike="noStrike"/>
          </a:p>
        </p:txBody>
      </p:sp>
      <p:sp>
        <p:nvSpPr>
          <p:cNvPr id="100" name="Google Shape;100;p3"/>
          <p:cNvSpPr/>
          <p:nvPr/>
        </p:nvSpPr>
        <p:spPr>
          <a:xfrm>
            <a:off x="6207443" y="2555915"/>
            <a:ext cx="463510" cy="463510"/>
          </a:xfrm>
          <a:prstGeom prst="roundRect">
            <a:avLst>
              <a:gd fmla="val 40006"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6362105" y="2633067"/>
            <a:ext cx="154186" cy="3090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05449"/>
              </a:buClr>
              <a:buSzPts val="2400"/>
              <a:buFont typeface="Fraunces ExtraBold"/>
              <a:buNone/>
            </a:pPr>
            <a:r>
              <a:rPr b="1" i="0" lang="en-US" sz="2400" u="none" cap="none" strike="noStrike">
                <a:solidFill>
                  <a:srgbClr val="405449"/>
                </a:solidFill>
                <a:latin typeface="Fraunces ExtraBold"/>
                <a:ea typeface="Fraunces ExtraBold"/>
                <a:cs typeface="Fraunces ExtraBold"/>
                <a:sym typeface="Fraunces ExtraBold"/>
              </a:rPr>
              <a:t>1</a:t>
            </a:r>
            <a:endParaRPr b="0" i="0" sz="2400" u="none" cap="none" strike="noStrike"/>
          </a:p>
        </p:txBody>
      </p:sp>
      <p:sp>
        <p:nvSpPr>
          <p:cNvPr id="102" name="Google Shape;102;p3"/>
          <p:cNvSpPr/>
          <p:nvPr/>
        </p:nvSpPr>
        <p:spPr>
          <a:xfrm>
            <a:off x="6876931" y="2555915"/>
            <a:ext cx="3078480" cy="64365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000"/>
              <a:buFont typeface="Fraunces ExtraBold"/>
              <a:buNone/>
            </a:pPr>
            <a:r>
              <a:rPr b="1" i="0" lang="en-US" sz="2000" u="none" cap="none" strike="noStrike">
                <a:solidFill>
                  <a:srgbClr val="405449"/>
                </a:solidFill>
                <a:latin typeface="Fraunces ExtraBold"/>
                <a:ea typeface="Fraunces ExtraBold"/>
                <a:cs typeface="Fraunces ExtraBold"/>
                <a:sym typeface="Fraunces ExtraBold"/>
              </a:rPr>
              <a:t>Organización de componentes</a:t>
            </a:r>
            <a:endParaRPr b="0" i="0" sz="2000" u="none" cap="none" strike="noStrike"/>
          </a:p>
        </p:txBody>
      </p:sp>
      <p:sp>
        <p:nvSpPr>
          <p:cNvPr id="103" name="Google Shape;103;p3"/>
          <p:cNvSpPr/>
          <p:nvPr/>
        </p:nvSpPr>
        <p:spPr>
          <a:xfrm>
            <a:off x="6876931" y="3323153"/>
            <a:ext cx="3078480" cy="131826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405449"/>
              </a:buClr>
              <a:buSzPts val="1600"/>
              <a:buFont typeface="Nobile"/>
              <a:buNone/>
            </a:pPr>
            <a:r>
              <a:rPr b="0" i="0" lang="en-US" sz="1600" u="none" cap="none" strike="noStrike">
                <a:solidFill>
                  <a:srgbClr val="405449"/>
                </a:solidFill>
                <a:latin typeface="Nobile"/>
                <a:ea typeface="Nobile"/>
                <a:cs typeface="Nobile"/>
                <a:sym typeface="Nobile"/>
              </a:rPr>
              <a:t>Los patrones estructurales se enfocan en cómo los objetos y las clases se componen para crear estructuras más grandes.</a:t>
            </a:r>
            <a:endParaRPr b="0" i="0" sz="1600" u="none" cap="none" strike="noStrike"/>
          </a:p>
        </p:txBody>
      </p:sp>
      <p:sp>
        <p:nvSpPr>
          <p:cNvPr id="104" name="Google Shape;104;p3"/>
          <p:cNvSpPr/>
          <p:nvPr/>
        </p:nvSpPr>
        <p:spPr>
          <a:xfrm>
            <a:off x="10161389" y="2555915"/>
            <a:ext cx="463510" cy="463510"/>
          </a:xfrm>
          <a:prstGeom prst="roundRect">
            <a:avLst>
              <a:gd fmla="val 40006"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10292120" y="2633067"/>
            <a:ext cx="201930" cy="3090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05449"/>
              </a:buClr>
              <a:buSzPts val="2400"/>
              <a:buFont typeface="Fraunces ExtraBold"/>
              <a:buNone/>
            </a:pPr>
            <a:r>
              <a:rPr b="1" i="0" lang="en-US" sz="2400" u="none" cap="none" strike="noStrike">
                <a:solidFill>
                  <a:srgbClr val="405449"/>
                </a:solidFill>
                <a:latin typeface="Fraunces ExtraBold"/>
                <a:ea typeface="Fraunces ExtraBold"/>
                <a:cs typeface="Fraunces ExtraBold"/>
                <a:sym typeface="Fraunces ExtraBold"/>
              </a:rPr>
              <a:t>2</a:t>
            </a:r>
            <a:endParaRPr b="0" i="0" sz="2400" u="none" cap="none" strike="noStrike"/>
          </a:p>
        </p:txBody>
      </p:sp>
      <p:sp>
        <p:nvSpPr>
          <p:cNvPr id="106" name="Google Shape;106;p3"/>
          <p:cNvSpPr/>
          <p:nvPr/>
        </p:nvSpPr>
        <p:spPr>
          <a:xfrm>
            <a:off x="10830878" y="2555915"/>
            <a:ext cx="3078480" cy="64365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000"/>
              <a:buFont typeface="Fraunces ExtraBold"/>
              <a:buNone/>
            </a:pPr>
            <a:r>
              <a:rPr b="1" i="0" lang="en-US" sz="2000" u="none" cap="none" strike="noStrike">
                <a:solidFill>
                  <a:srgbClr val="405449"/>
                </a:solidFill>
                <a:latin typeface="Fraunces ExtraBold"/>
                <a:ea typeface="Fraunces ExtraBold"/>
                <a:cs typeface="Fraunces ExtraBold"/>
                <a:sym typeface="Fraunces ExtraBold"/>
              </a:rPr>
              <a:t>Flexibilidad y adaptabilidad</a:t>
            </a:r>
            <a:endParaRPr b="0" i="0" sz="2000" u="none" cap="none" strike="noStrike"/>
          </a:p>
        </p:txBody>
      </p:sp>
      <p:sp>
        <p:nvSpPr>
          <p:cNvPr id="107" name="Google Shape;107;p3"/>
          <p:cNvSpPr/>
          <p:nvPr/>
        </p:nvSpPr>
        <p:spPr>
          <a:xfrm>
            <a:off x="10830878" y="3323153"/>
            <a:ext cx="3078480" cy="1647825"/>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405449"/>
              </a:buClr>
              <a:buSzPts val="1600"/>
              <a:buFont typeface="Nobile"/>
              <a:buNone/>
            </a:pPr>
            <a:r>
              <a:rPr b="0" i="0" lang="en-US" sz="1600" u="none" cap="none" strike="noStrike">
                <a:solidFill>
                  <a:srgbClr val="405449"/>
                </a:solidFill>
                <a:latin typeface="Nobile"/>
                <a:ea typeface="Nobile"/>
                <a:cs typeface="Nobile"/>
                <a:sym typeface="Nobile"/>
              </a:rPr>
              <a:t>Permiten que los sistemas se adapten a diferentes requisitos y escenarios sin necesidad de modificar su estructura interna.</a:t>
            </a:r>
            <a:endParaRPr b="0" i="0" sz="1600" u="none" cap="none" strike="noStrike"/>
          </a:p>
        </p:txBody>
      </p:sp>
      <p:sp>
        <p:nvSpPr>
          <p:cNvPr id="108" name="Google Shape;108;p3"/>
          <p:cNvSpPr/>
          <p:nvPr/>
        </p:nvSpPr>
        <p:spPr>
          <a:xfrm>
            <a:off x="6207443" y="5408652"/>
            <a:ext cx="463510" cy="463510"/>
          </a:xfrm>
          <a:prstGeom prst="roundRect">
            <a:avLst>
              <a:gd fmla="val 40006"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6345793" y="5485805"/>
            <a:ext cx="186690" cy="3090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05449"/>
              </a:buClr>
              <a:buSzPts val="2400"/>
              <a:buFont typeface="Fraunces ExtraBold"/>
              <a:buNone/>
            </a:pPr>
            <a:r>
              <a:rPr b="1" i="0" lang="en-US" sz="2400" u="none" cap="none" strike="noStrike">
                <a:solidFill>
                  <a:srgbClr val="405449"/>
                </a:solidFill>
                <a:latin typeface="Fraunces ExtraBold"/>
                <a:ea typeface="Fraunces ExtraBold"/>
                <a:cs typeface="Fraunces ExtraBold"/>
                <a:sym typeface="Fraunces ExtraBold"/>
              </a:rPr>
              <a:t>3</a:t>
            </a:r>
            <a:endParaRPr b="0" i="0" sz="2400" u="none" cap="none" strike="noStrike"/>
          </a:p>
        </p:txBody>
      </p:sp>
      <p:sp>
        <p:nvSpPr>
          <p:cNvPr id="110" name="Google Shape;110;p3"/>
          <p:cNvSpPr/>
          <p:nvPr/>
        </p:nvSpPr>
        <p:spPr>
          <a:xfrm>
            <a:off x="6876931" y="5408652"/>
            <a:ext cx="3022640" cy="32182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000"/>
              <a:buFont typeface="Fraunces ExtraBold"/>
              <a:buNone/>
            </a:pPr>
            <a:r>
              <a:rPr b="1" i="0" lang="en-US" sz="2000" u="none" cap="none" strike="noStrike">
                <a:solidFill>
                  <a:srgbClr val="405449"/>
                </a:solidFill>
                <a:latin typeface="Fraunces ExtraBold"/>
                <a:ea typeface="Fraunces ExtraBold"/>
                <a:cs typeface="Fraunces ExtraBold"/>
                <a:sym typeface="Fraunces ExtraBold"/>
              </a:rPr>
              <a:t>Reutilización de código</a:t>
            </a:r>
            <a:endParaRPr b="0" i="0" sz="2000" u="none" cap="none" strike="noStrike"/>
          </a:p>
        </p:txBody>
      </p:sp>
      <p:sp>
        <p:nvSpPr>
          <p:cNvPr id="111" name="Google Shape;111;p3"/>
          <p:cNvSpPr/>
          <p:nvPr/>
        </p:nvSpPr>
        <p:spPr>
          <a:xfrm>
            <a:off x="6876931" y="5854065"/>
            <a:ext cx="3078480" cy="1647825"/>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405449"/>
              </a:buClr>
              <a:buSzPts val="1600"/>
              <a:buFont typeface="Nobile"/>
              <a:buNone/>
            </a:pPr>
            <a:r>
              <a:rPr b="0" i="0" lang="en-US" sz="1600" u="none" cap="none" strike="noStrike">
                <a:solidFill>
                  <a:srgbClr val="405449"/>
                </a:solidFill>
                <a:latin typeface="Nobile"/>
                <a:ea typeface="Nobile"/>
                <a:cs typeface="Nobile"/>
                <a:sym typeface="Nobile"/>
              </a:rPr>
              <a:t>Facilitan la reutilización de componentes y patrones ya probados, mejorando la eficiencia y mantenibilidad del software.</a:t>
            </a:r>
            <a:endParaRPr b="0" i="0" sz="1600" u="none" cap="none" strike="noStrike"/>
          </a:p>
        </p:txBody>
      </p:sp>
      <p:sp>
        <p:nvSpPr>
          <p:cNvPr id="112" name="Google Shape;112;p3"/>
          <p:cNvSpPr/>
          <p:nvPr/>
        </p:nvSpPr>
        <p:spPr>
          <a:xfrm>
            <a:off x="10161389" y="5408652"/>
            <a:ext cx="463510" cy="463510"/>
          </a:xfrm>
          <a:prstGeom prst="roundRect">
            <a:avLst>
              <a:gd fmla="val 40006"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10288072" y="5485805"/>
            <a:ext cx="210026" cy="3090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05449"/>
              </a:buClr>
              <a:buSzPts val="2400"/>
              <a:buFont typeface="Fraunces ExtraBold"/>
              <a:buNone/>
            </a:pPr>
            <a:r>
              <a:rPr b="1" i="0" lang="en-US" sz="2400" u="none" cap="none" strike="noStrike">
                <a:solidFill>
                  <a:srgbClr val="405449"/>
                </a:solidFill>
                <a:latin typeface="Fraunces ExtraBold"/>
                <a:ea typeface="Fraunces ExtraBold"/>
                <a:cs typeface="Fraunces ExtraBold"/>
                <a:sym typeface="Fraunces ExtraBold"/>
              </a:rPr>
              <a:t>4</a:t>
            </a:r>
            <a:endParaRPr b="0" i="0" sz="2400" u="none" cap="none" strike="noStrike"/>
          </a:p>
        </p:txBody>
      </p:sp>
      <p:sp>
        <p:nvSpPr>
          <p:cNvPr id="114" name="Google Shape;114;p3"/>
          <p:cNvSpPr/>
          <p:nvPr/>
        </p:nvSpPr>
        <p:spPr>
          <a:xfrm>
            <a:off x="10830878" y="5408652"/>
            <a:ext cx="3078480" cy="64365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000"/>
              <a:buFont typeface="Fraunces ExtraBold"/>
              <a:buNone/>
            </a:pPr>
            <a:r>
              <a:rPr b="1" i="0" lang="en-US" sz="2000" u="none" cap="none" strike="noStrike">
                <a:solidFill>
                  <a:srgbClr val="405449"/>
                </a:solidFill>
                <a:latin typeface="Fraunces ExtraBold"/>
                <a:ea typeface="Fraunces ExtraBold"/>
                <a:cs typeface="Fraunces ExtraBold"/>
                <a:sym typeface="Fraunces ExtraBold"/>
              </a:rPr>
              <a:t>Abstracción y encapsulamiento</a:t>
            </a:r>
            <a:endParaRPr b="0" i="0" sz="2000" u="none" cap="none" strike="noStrike"/>
          </a:p>
        </p:txBody>
      </p:sp>
      <p:sp>
        <p:nvSpPr>
          <p:cNvPr id="115" name="Google Shape;115;p3"/>
          <p:cNvSpPr/>
          <p:nvPr/>
        </p:nvSpPr>
        <p:spPr>
          <a:xfrm>
            <a:off x="10830878" y="6175891"/>
            <a:ext cx="3078480" cy="131826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405449"/>
              </a:buClr>
              <a:buSzPts val="1600"/>
              <a:buFont typeface="Nobile"/>
              <a:buNone/>
            </a:pPr>
            <a:r>
              <a:rPr b="0" i="0" lang="en-US" sz="1600" u="none" cap="none" strike="noStrike">
                <a:solidFill>
                  <a:srgbClr val="405449"/>
                </a:solidFill>
                <a:latin typeface="Nobile"/>
                <a:ea typeface="Nobile"/>
                <a:cs typeface="Nobile"/>
                <a:sym typeface="Nobile"/>
              </a:rPr>
              <a:t>Ayudan a ocultar la complejidad y a exponer solo la funcionalidad necesaria, aumentando la modularidad.</a:t>
            </a:r>
            <a:endParaRPr b="0" i="0" sz="160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p:nvPr/>
        </p:nvSpPr>
        <p:spPr>
          <a:xfrm>
            <a:off x="735925" y="578882"/>
            <a:ext cx="9763839" cy="656987"/>
          </a:xfrm>
          <a:prstGeom prst="rect">
            <a:avLst/>
          </a:prstGeom>
          <a:noFill/>
          <a:ln>
            <a:noFill/>
          </a:ln>
        </p:spPr>
        <p:txBody>
          <a:bodyPr anchorCtr="0" anchor="t" bIns="0" lIns="0" spcFirstLastPara="1" rIns="0" wrap="square" tIns="0">
            <a:noAutofit/>
          </a:bodyPr>
          <a:lstStyle/>
          <a:p>
            <a:pPr indent="0" lvl="0" marL="0" marR="0" rtl="0" algn="l">
              <a:lnSpc>
                <a:spcPct val="125609"/>
              </a:lnSpc>
              <a:spcBef>
                <a:spcPts val="0"/>
              </a:spcBef>
              <a:spcAft>
                <a:spcPts val="0"/>
              </a:spcAft>
              <a:buClr>
                <a:srgbClr val="3B4540"/>
              </a:buClr>
              <a:buSzPts val="4100"/>
              <a:buFont typeface="Fraunces ExtraBold"/>
              <a:buNone/>
            </a:pPr>
            <a:r>
              <a:rPr b="1" i="0" lang="en-US" sz="4100" u="none" cap="none" strike="noStrike">
                <a:solidFill>
                  <a:srgbClr val="3B4540"/>
                </a:solidFill>
                <a:latin typeface="Fraunces ExtraBold"/>
                <a:ea typeface="Fraunces ExtraBold"/>
                <a:cs typeface="Fraunces ExtraBold"/>
                <a:sym typeface="Fraunces ExtraBold"/>
              </a:rPr>
              <a:t>Adapter: propósito y ejemplos de uso</a:t>
            </a:r>
            <a:endParaRPr b="0" i="0" sz="4100" u="none" cap="none" strike="noStrike"/>
          </a:p>
        </p:txBody>
      </p:sp>
      <p:pic>
        <p:nvPicPr>
          <p:cNvPr descr="preencoded.png" id="122" name="Google Shape;122;p4"/>
          <p:cNvPicPr preferRelativeResize="0"/>
          <p:nvPr/>
        </p:nvPicPr>
        <p:blipFill rotWithShape="1">
          <a:blip r:embed="rId3">
            <a:alphaModFix/>
          </a:blip>
          <a:srcRect b="0" l="0" r="0" t="0"/>
          <a:stretch/>
        </p:blipFill>
        <p:spPr>
          <a:xfrm>
            <a:off x="2939891" y="1656397"/>
            <a:ext cx="2171105" cy="1547932"/>
          </a:xfrm>
          <a:prstGeom prst="rect">
            <a:avLst/>
          </a:prstGeom>
          <a:noFill/>
          <a:ln>
            <a:noFill/>
          </a:ln>
        </p:spPr>
      </p:pic>
      <p:sp>
        <p:nvSpPr>
          <p:cNvPr id="123" name="Google Shape;123;p4"/>
          <p:cNvSpPr/>
          <p:nvPr/>
        </p:nvSpPr>
        <p:spPr>
          <a:xfrm>
            <a:off x="3959781" y="2420660"/>
            <a:ext cx="131207" cy="420529"/>
          </a:xfrm>
          <a:prstGeom prst="rect">
            <a:avLst/>
          </a:prstGeom>
          <a:noFill/>
          <a:ln>
            <a:noFill/>
          </a:ln>
        </p:spPr>
        <p:txBody>
          <a:bodyPr anchorCtr="0" anchor="t" bIns="0" lIns="0" spcFirstLastPara="1" rIns="0" wrap="square" tIns="0">
            <a:noAutofit/>
          </a:bodyPr>
          <a:lstStyle/>
          <a:p>
            <a:pPr indent="0" lvl="0" marL="0" marR="0" rtl="0" algn="ctr">
              <a:lnSpc>
                <a:spcPct val="160975"/>
              </a:lnSpc>
              <a:spcBef>
                <a:spcPts val="0"/>
              </a:spcBef>
              <a:spcAft>
                <a:spcPts val="0"/>
              </a:spcAft>
              <a:buClr>
                <a:srgbClr val="405449"/>
              </a:buClr>
              <a:buSzPts val="2050"/>
              <a:buFont typeface="Fraunces ExtraBold"/>
              <a:buNone/>
            </a:pPr>
            <a:r>
              <a:rPr b="1" i="0" lang="en-US" sz="2050" u="none" cap="none" strike="noStrike">
                <a:solidFill>
                  <a:srgbClr val="405449"/>
                </a:solidFill>
                <a:latin typeface="Fraunces ExtraBold"/>
                <a:ea typeface="Fraunces ExtraBold"/>
                <a:cs typeface="Fraunces ExtraBold"/>
                <a:sym typeface="Fraunces ExtraBold"/>
              </a:rPr>
              <a:t>1</a:t>
            </a:r>
            <a:endParaRPr b="0" i="0" sz="2050" u="none" cap="none" strike="noStrike"/>
          </a:p>
        </p:txBody>
      </p:sp>
      <p:sp>
        <p:nvSpPr>
          <p:cNvPr id="124" name="Google Shape;124;p4"/>
          <p:cNvSpPr/>
          <p:nvPr/>
        </p:nvSpPr>
        <p:spPr>
          <a:xfrm>
            <a:off x="5321260" y="1866662"/>
            <a:ext cx="3013234" cy="32861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405449"/>
              </a:buClr>
              <a:buSzPts val="2050"/>
              <a:buFont typeface="Fraunces ExtraBold"/>
              <a:buNone/>
            </a:pPr>
            <a:r>
              <a:rPr b="1" i="0" lang="en-US" sz="2050" u="none" cap="none" strike="noStrike">
                <a:solidFill>
                  <a:srgbClr val="405449"/>
                </a:solidFill>
                <a:latin typeface="Fraunces ExtraBold"/>
                <a:ea typeface="Fraunces ExtraBold"/>
                <a:cs typeface="Fraunces ExtraBold"/>
                <a:sym typeface="Fraunces ExtraBold"/>
              </a:rPr>
              <a:t>Conversión de interfaz</a:t>
            </a:r>
            <a:endParaRPr b="0" i="0" sz="2050" u="none" cap="none" strike="noStrike"/>
          </a:p>
        </p:txBody>
      </p:sp>
      <p:sp>
        <p:nvSpPr>
          <p:cNvPr id="125" name="Google Shape;125;p4"/>
          <p:cNvSpPr/>
          <p:nvPr/>
        </p:nvSpPr>
        <p:spPr>
          <a:xfrm>
            <a:off x="5321260" y="2321362"/>
            <a:ext cx="8362950" cy="672703"/>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405449"/>
              </a:buClr>
              <a:buSzPts val="1650"/>
              <a:buFont typeface="Nobile"/>
              <a:buNone/>
            </a:pPr>
            <a:r>
              <a:rPr b="0" i="0" lang="en-US" sz="1650" u="none" cap="none" strike="noStrike">
                <a:solidFill>
                  <a:srgbClr val="405449"/>
                </a:solidFill>
                <a:latin typeface="Nobile"/>
                <a:ea typeface="Nobile"/>
                <a:cs typeface="Nobile"/>
                <a:sym typeface="Nobile"/>
              </a:rPr>
              <a:t>Adapta una interfaz a otra para permitir la interoperabilidad entre sistemas incompatibles.</a:t>
            </a:r>
            <a:endParaRPr b="0" i="0" sz="1650" u="none" cap="none" strike="noStrike"/>
          </a:p>
        </p:txBody>
      </p:sp>
      <p:sp>
        <p:nvSpPr>
          <p:cNvPr id="126" name="Google Shape;126;p4"/>
          <p:cNvSpPr/>
          <p:nvPr/>
        </p:nvSpPr>
        <p:spPr>
          <a:xfrm>
            <a:off x="5163503" y="3220998"/>
            <a:ext cx="8678466" cy="11430"/>
          </a:xfrm>
          <a:prstGeom prst="roundRect">
            <a:avLst>
              <a:gd fmla="val 1655736" name="adj"/>
            </a:avLst>
          </a:prstGeom>
          <a:solidFill>
            <a:srgbClr val="CED9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7" name="Google Shape;127;p4"/>
          <p:cNvPicPr preferRelativeResize="0"/>
          <p:nvPr/>
        </p:nvPicPr>
        <p:blipFill rotWithShape="1">
          <a:blip r:embed="rId4">
            <a:alphaModFix/>
          </a:blip>
          <a:srcRect b="0" l="0" r="0" t="0"/>
          <a:stretch/>
        </p:blipFill>
        <p:spPr>
          <a:xfrm>
            <a:off x="1854398" y="3256836"/>
            <a:ext cx="4342209" cy="1547932"/>
          </a:xfrm>
          <a:prstGeom prst="rect">
            <a:avLst/>
          </a:prstGeom>
          <a:noFill/>
          <a:ln>
            <a:noFill/>
          </a:ln>
        </p:spPr>
      </p:pic>
      <p:sp>
        <p:nvSpPr>
          <p:cNvPr id="128" name="Google Shape;128;p4"/>
          <p:cNvSpPr/>
          <p:nvPr/>
        </p:nvSpPr>
        <p:spPr>
          <a:xfrm>
            <a:off x="3939540" y="3820478"/>
            <a:ext cx="171807" cy="420529"/>
          </a:xfrm>
          <a:prstGeom prst="rect">
            <a:avLst/>
          </a:prstGeom>
          <a:noFill/>
          <a:ln>
            <a:noFill/>
          </a:ln>
        </p:spPr>
        <p:txBody>
          <a:bodyPr anchorCtr="0" anchor="t" bIns="0" lIns="0" spcFirstLastPara="1" rIns="0" wrap="square" tIns="0">
            <a:noAutofit/>
          </a:bodyPr>
          <a:lstStyle/>
          <a:p>
            <a:pPr indent="0" lvl="0" marL="0" marR="0" rtl="0" algn="ctr">
              <a:lnSpc>
                <a:spcPct val="160975"/>
              </a:lnSpc>
              <a:spcBef>
                <a:spcPts val="0"/>
              </a:spcBef>
              <a:spcAft>
                <a:spcPts val="0"/>
              </a:spcAft>
              <a:buClr>
                <a:srgbClr val="405449"/>
              </a:buClr>
              <a:buSzPts val="2050"/>
              <a:buFont typeface="Fraunces ExtraBold"/>
              <a:buNone/>
            </a:pPr>
            <a:r>
              <a:rPr b="1" i="0" lang="en-US" sz="2050" u="none" cap="none" strike="noStrike">
                <a:solidFill>
                  <a:srgbClr val="405449"/>
                </a:solidFill>
                <a:latin typeface="Fraunces ExtraBold"/>
                <a:ea typeface="Fraunces ExtraBold"/>
                <a:cs typeface="Fraunces ExtraBold"/>
                <a:sym typeface="Fraunces ExtraBold"/>
              </a:rPr>
              <a:t>2</a:t>
            </a:r>
            <a:endParaRPr b="0" i="0" sz="2050" u="none" cap="none" strike="noStrike"/>
          </a:p>
        </p:txBody>
      </p:sp>
      <p:sp>
        <p:nvSpPr>
          <p:cNvPr id="129" name="Google Shape;129;p4"/>
          <p:cNvSpPr/>
          <p:nvPr/>
        </p:nvSpPr>
        <p:spPr>
          <a:xfrm>
            <a:off x="6406872" y="3467100"/>
            <a:ext cx="3698677" cy="32861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405449"/>
              </a:buClr>
              <a:buSzPts val="2050"/>
              <a:buFont typeface="Fraunces ExtraBold"/>
              <a:buNone/>
            </a:pPr>
            <a:r>
              <a:rPr b="1" i="0" lang="en-US" sz="2050" u="none" cap="none" strike="noStrike">
                <a:solidFill>
                  <a:srgbClr val="405449"/>
                </a:solidFill>
                <a:latin typeface="Fraunces ExtraBold"/>
                <a:ea typeface="Fraunces ExtraBold"/>
                <a:cs typeface="Fraunces ExtraBold"/>
                <a:sym typeface="Fraunces ExtraBold"/>
              </a:rPr>
              <a:t>Abstracción de complejidad</a:t>
            </a:r>
            <a:endParaRPr b="0" i="0" sz="2050" u="none" cap="none" strike="noStrike"/>
          </a:p>
        </p:txBody>
      </p:sp>
      <p:sp>
        <p:nvSpPr>
          <p:cNvPr id="130" name="Google Shape;130;p4"/>
          <p:cNvSpPr/>
          <p:nvPr/>
        </p:nvSpPr>
        <p:spPr>
          <a:xfrm>
            <a:off x="6406872" y="3921800"/>
            <a:ext cx="7277338" cy="672703"/>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405449"/>
              </a:buClr>
              <a:buSzPts val="1650"/>
              <a:buFont typeface="Nobile"/>
              <a:buNone/>
            </a:pPr>
            <a:r>
              <a:rPr b="0" i="0" lang="en-US" sz="1650" u="none" cap="none" strike="noStrike">
                <a:solidFill>
                  <a:srgbClr val="405449"/>
                </a:solidFill>
                <a:latin typeface="Nobile"/>
                <a:ea typeface="Nobile"/>
                <a:cs typeface="Nobile"/>
                <a:sym typeface="Nobile"/>
              </a:rPr>
              <a:t>Oculta la complejidad de la implementación detrás de una interfaz simple y unificada.</a:t>
            </a:r>
            <a:endParaRPr b="0" i="0" sz="1650" u="none" cap="none" strike="noStrike"/>
          </a:p>
        </p:txBody>
      </p:sp>
      <p:sp>
        <p:nvSpPr>
          <p:cNvPr id="131" name="Google Shape;131;p4"/>
          <p:cNvSpPr/>
          <p:nvPr/>
        </p:nvSpPr>
        <p:spPr>
          <a:xfrm>
            <a:off x="6249114" y="4821436"/>
            <a:ext cx="7592854" cy="11430"/>
          </a:xfrm>
          <a:prstGeom prst="roundRect">
            <a:avLst>
              <a:gd fmla="val 1655736" name="adj"/>
            </a:avLst>
          </a:prstGeom>
          <a:solidFill>
            <a:srgbClr val="CED9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2" name="Google Shape;132;p4"/>
          <p:cNvPicPr preferRelativeResize="0"/>
          <p:nvPr/>
        </p:nvPicPr>
        <p:blipFill rotWithShape="1">
          <a:blip r:embed="rId5">
            <a:alphaModFix/>
          </a:blip>
          <a:srcRect b="0" l="0" r="0" t="0"/>
          <a:stretch/>
        </p:blipFill>
        <p:spPr>
          <a:xfrm>
            <a:off x="768787" y="4857274"/>
            <a:ext cx="6513433" cy="1547932"/>
          </a:xfrm>
          <a:prstGeom prst="rect">
            <a:avLst/>
          </a:prstGeom>
          <a:noFill/>
          <a:ln>
            <a:noFill/>
          </a:ln>
        </p:spPr>
      </p:pic>
      <p:sp>
        <p:nvSpPr>
          <p:cNvPr id="133" name="Google Shape;133;p4"/>
          <p:cNvSpPr/>
          <p:nvPr/>
        </p:nvSpPr>
        <p:spPr>
          <a:xfrm>
            <a:off x="3946088" y="5420916"/>
            <a:ext cx="158829" cy="420529"/>
          </a:xfrm>
          <a:prstGeom prst="rect">
            <a:avLst/>
          </a:prstGeom>
          <a:noFill/>
          <a:ln>
            <a:noFill/>
          </a:ln>
        </p:spPr>
        <p:txBody>
          <a:bodyPr anchorCtr="0" anchor="t" bIns="0" lIns="0" spcFirstLastPara="1" rIns="0" wrap="square" tIns="0">
            <a:noAutofit/>
          </a:bodyPr>
          <a:lstStyle/>
          <a:p>
            <a:pPr indent="0" lvl="0" marL="0" marR="0" rtl="0" algn="ctr">
              <a:lnSpc>
                <a:spcPct val="160975"/>
              </a:lnSpc>
              <a:spcBef>
                <a:spcPts val="0"/>
              </a:spcBef>
              <a:spcAft>
                <a:spcPts val="0"/>
              </a:spcAft>
              <a:buClr>
                <a:srgbClr val="405449"/>
              </a:buClr>
              <a:buSzPts val="2050"/>
              <a:buFont typeface="Fraunces ExtraBold"/>
              <a:buNone/>
            </a:pPr>
            <a:r>
              <a:rPr b="1" i="0" lang="en-US" sz="2050" u="none" cap="none" strike="noStrike">
                <a:solidFill>
                  <a:srgbClr val="405449"/>
                </a:solidFill>
                <a:latin typeface="Fraunces ExtraBold"/>
                <a:ea typeface="Fraunces ExtraBold"/>
                <a:cs typeface="Fraunces ExtraBold"/>
                <a:sym typeface="Fraunces ExtraBold"/>
              </a:rPr>
              <a:t>3</a:t>
            </a:r>
            <a:endParaRPr b="0" i="0" sz="2050" u="none" cap="none" strike="noStrike"/>
          </a:p>
        </p:txBody>
      </p:sp>
      <p:sp>
        <p:nvSpPr>
          <p:cNvPr id="134" name="Google Shape;134;p4"/>
          <p:cNvSpPr/>
          <p:nvPr/>
        </p:nvSpPr>
        <p:spPr>
          <a:xfrm>
            <a:off x="7492484" y="5067538"/>
            <a:ext cx="3737848" cy="32861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405449"/>
              </a:buClr>
              <a:buSzPts val="2050"/>
              <a:buFont typeface="Fraunces ExtraBold"/>
              <a:buNone/>
            </a:pPr>
            <a:r>
              <a:rPr b="1" i="0" lang="en-US" sz="2050" u="none" cap="none" strike="noStrike">
                <a:solidFill>
                  <a:srgbClr val="405449"/>
                </a:solidFill>
                <a:latin typeface="Fraunces ExtraBold"/>
                <a:ea typeface="Fraunces ExtraBold"/>
                <a:cs typeface="Fraunces ExtraBold"/>
                <a:sym typeface="Fraunces ExtraBold"/>
              </a:rPr>
              <a:t>Flexibilidad y extensibilidad</a:t>
            </a:r>
            <a:endParaRPr b="0" i="0" sz="2050" u="none" cap="none" strike="noStrike"/>
          </a:p>
        </p:txBody>
      </p:sp>
      <p:sp>
        <p:nvSpPr>
          <p:cNvPr id="135" name="Google Shape;135;p4"/>
          <p:cNvSpPr/>
          <p:nvPr/>
        </p:nvSpPr>
        <p:spPr>
          <a:xfrm>
            <a:off x="7492484" y="5522238"/>
            <a:ext cx="6191726" cy="672703"/>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405449"/>
              </a:buClr>
              <a:buSzPts val="1650"/>
              <a:buFont typeface="Nobile"/>
              <a:buNone/>
            </a:pPr>
            <a:r>
              <a:rPr b="0" i="0" lang="en-US" sz="1650" u="none" cap="none" strike="noStrike">
                <a:solidFill>
                  <a:srgbClr val="405449"/>
                </a:solidFill>
                <a:latin typeface="Nobile"/>
                <a:ea typeface="Nobile"/>
                <a:cs typeface="Nobile"/>
                <a:sym typeface="Nobile"/>
              </a:rPr>
              <a:t>Permite agregar nuevas implementaciones sin alterar el código existente.</a:t>
            </a:r>
            <a:endParaRPr b="0" i="0" sz="1650" u="none" cap="none" strike="noStrike"/>
          </a:p>
        </p:txBody>
      </p:sp>
      <p:sp>
        <p:nvSpPr>
          <p:cNvPr id="136" name="Google Shape;136;p4"/>
          <p:cNvSpPr/>
          <p:nvPr/>
        </p:nvSpPr>
        <p:spPr>
          <a:xfrm>
            <a:off x="735925" y="6641663"/>
            <a:ext cx="13158549" cy="1009055"/>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405449"/>
              </a:buClr>
              <a:buSzPts val="1650"/>
              <a:buFont typeface="Nobile"/>
              <a:buNone/>
            </a:pPr>
            <a:r>
              <a:rPr b="0" i="0" lang="en-US" sz="1650" u="none" cap="none" strike="noStrike">
                <a:solidFill>
                  <a:srgbClr val="405449"/>
                </a:solidFill>
                <a:latin typeface="Nobile"/>
                <a:ea typeface="Nobile"/>
                <a:cs typeface="Nobile"/>
                <a:sym typeface="Nobile"/>
              </a:rPr>
              <a:t>El patrón Adapter es una solución elegante para integrar componentes o subsistemas que no son compatibles entre sí. Al encapsular la complejidad de la adaptación, este patrón facilita la extensibilidad y el mantenimiento del sistema a lo largo del tiempo.</a:t>
            </a:r>
            <a:endParaRPr b="0" i="0" sz="16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p:nvPr/>
        </p:nvSpPr>
        <p:spPr>
          <a:xfrm>
            <a:off x="790218" y="623173"/>
            <a:ext cx="12275939" cy="705564"/>
          </a:xfrm>
          <a:prstGeom prst="rect">
            <a:avLst/>
          </a:prstGeom>
          <a:noFill/>
          <a:ln>
            <a:noFill/>
          </a:ln>
        </p:spPr>
        <p:txBody>
          <a:bodyPr anchorCtr="0" anchor="t" bIns="0" lIns="0" spcFirstLastPara="1" rIns="0" wrap="square" tIns="0">
            <a:noAutofit/>
          </a:bodyPr>
          <a:lstStyle/>
          <a:p>
            <a:pPr indent="0" lvl="0" marL="0" marR="0" rtl="0" algn="l">
              <a:lnSpc>
                <a:spcPct val="126136"/>
              </a:lnSpc>
              <a:spcBef>
                <a:spcPts val="0"/>
              </a:spcBef>
              <a:spcAft>
                <a:spcPts val="0"/>
              </a:spcAft>
              <a:buClr>
                <a:srgbClr val="3B4540"/>
              </a:buClr>
              <a:buSzPts val="4400"/>
              <a:buFont typeface="Fraunces ExtraBold"/>
              <a:buNone/>
            </a:pPr>
            <a:r>
              <a:rPr b="1" i="0" lang="en-US" sz="4400" u="none" cap="none" strike="noStrike">
                <a:solidFill>
                  <a:srgbClr val="3B4540"/>
                </a:solidFill>
                <a:latin typeface="Fraunces ExtraBold"/>
                <a:ea typeface="Fraunces ExtraBold"/>
                <a:cs typeface="Fraunces ExtraBold"/>
                <a:sym typeface="Fraunces ExtraBold"/>
              </a:rPr>
              <a:t>Proxy: definición y escenarios donde es útil</a:t>
            </a:r>
            <a:endParaRPr b="0" i="0" sz="4400" u="none" cap="none" strike="noStrike"/>
          </a:p>
        </p:txBody>
      </p:sp>
      <p:sp>
        <p:nvSpPr>
          <p:cNvPr id="143" name="Google Shape;143;p5"/>
          <p:cNvSpPr/>
          <p:nvPr/>
        </p:nvSpPr>
        <p:spPr>
          <a:xfrm>
            <a:off x="790218" y="1780222"/>
            <a:ext cx="2174915" cy="1300639"/>
          </a:xfrm>
          <a:prstGeom prst="roundRect">
            <a:avLst>
              <a:gd fmla="val 15623"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1015960" y="2204799"/>
            <a:ext cx="140851" cy="451485"/>
          </a:xfrm>
          <a:prstGeom prst="rect">
            <a:avLst/>
          </a:prstGeom>
          <a:noFill/>
          <a:ln>
            <a:noFill/>
          </a:ln>
        </p:spPr>
        <p:txBody>
          <a:bodyPr anchorCtr="0" anchor="t" bIns="0" lIns="0" spcFirstLastPara="1" rIns="0" wrap="square" tIns="0">
            <a:noAutofit/>
          </a:bodyPr>
          <a:lstStyle/>
          <a:p>
            <a:pPr indent="0" lvl="0" marL="0" marR="0" rtl="0" algn="ctr">
              <a:lnSpc>
                <a:spcPct val="161363"/>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1</a:t>
            </a:r>
            <a:endParaRPr b="0" i="0" sz="2200" u="none" cap="none" strike="noStrike"/>
          </a:p>
        </p:txBody>
      </p:sp>
      <p:sp>
        <p:nvSpPr>
          <p:cNvPr id="145" name="Google Shape;145;p5"/>
          <p:cNvSpPr/>
          <p:nvPr/>
        </p:nvSpPr>
        <p:spPr>
          <a:xfrm>
            <a:off x="3190875" y="2005965"/>
            <a:ext cx="2822258" cy="35266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Definición</a:t>
            </a:r>
            <a:endParaRPr b="0" i="0" sz="2200" u="none" cap="none" strike="noStrike"/>
          </a:p>
        </p:txBody>
      </p:sp>
      <p:sp>
        <p:nvSpPr>
          <p:cNvPr id="146" name="Google Shape;146;p5"/>
          <p:cNvSpPr/>
          <p:nvPr/>
        </p:nvSpPr>
        <p:spPr>
          <a:xfrm>
            <a:off x="3190875" y="2494002"/>
            <a:ext cx="9221272" cy="36111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Un patrón Proxy proporciona un intermediario entre un cliente y un objeto de destino.</a:t>
            </a:r>
            <a:endParaRPr b="0" i="0" sz="1750" u="none" cap="none" strike="noStrike"/>
          </a:p>
        </p:txBody>
      </p:sp>
      <p:sp>
        <p:nvSpPr>
          <p:cNvPr id="147" name="Google Shape;147;p5"/>
          <p:cNvSpPr/>
          <p:nvPr/>
        </p:nvSpPr>
        <p:spPr>
          <a:xfrm>
            <a:off x="3078004" y="3065621"/>
            <a:ext cx="10649307" cy="15240"/>
          </a:xfrm>
          <a:prstGeom prst="roundRect">
            <a:avLst>
              <a:gd fmla="val 1333362" name="adj"/>
            </a:avLst>
          </a:prstGeom>
          <a:solidFill>
            <a:srgbClr val="CED9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790218" y="3193733"/>
            <a:ext cx="4349948" cy="1661755"/>
          </a:xfrm>
          <a:prstGeom prst="roundRect">
            <a:avLst>
              <a:gd fmla="val 12228"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a:off x="1015960" y="3798808"/>
            <a:ext cx="184428" cy="451485"/>
          </a:xfrm>
          <a:prstGeom prst="rect">
            <a:avLst/>
          </a:prstGeom>
          <a:noFill/>
          <a:ln>
            <a:noFill/>
          </a:ln>
        </p:spPr>
        <p:txBody>
          <a:bodyPr anchorCtr="0" anchor="t" bIns="0" lIns="0" spcFirstLastPara="1" rIns="0" wrap="square" tIns="0">
            <a:noAutofit/>
          </a:bodyPr>
          <a:lstStyle/>
          <a:p>
            <a:pPr indent="0" lvl="0" marL="0" marR="0" rtl="0" algn="ctr">
              <a:lnSpc>
                <a:spcPct val="161363"/>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2</a:t>
            </a:r>
            <a:endParaRPr b="0" i="0" sz="2200" u="none" cap="none" strike="noStrike"/>
          </a:p>
        </p:txBody>
      </p:sp>
      <p:sp>
        <p:nvSpPr>
          <p:cNvPr id="150" name="Google Shape;150;p5"/>
          <p:cNvSpPr/>
          <p:nvPr/>
        </p:nvSpPr>
        <p:spPr>
          <a:xfrm>
            <a:off x="5365909" y="3419475"/>
            <a:ext cx="2822258" cy="35266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Escenarios de uso</a:t>
            </a:r>
            <a:endParaRPr b="0" i="0" sz="2200" u="none" cap="none" strike="noStrike"/>
          </a:p>
        </p:txBody>
      </p:sp>
      <p:sp>
        <p:nvSpPr>
          <p:cNvPr id="151" name="Google Shape;151;p5"/>
          <p:cNvSpPr/>
          <p:nvPr/>
        </p:nvSpPr>
        <p:spPr>
          <a:xfrm>
            <a:off x="5365909" y="3907512"/>
            <a:ext cx="8248531" cy="722233"/>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Cuando se necesita controlar el acceso a un objeto, añadir funcionalidad o manejar recursos remotos.</a:t>
            </a:r>
            <a:endParaRPr b="0" i="0" sz="1750" u="none" cap="none" strike="noStrike"/>
          </a:p>
        </p:txBody>
      </p:sp>
      <p:sp>
        <p:nvSpPr>
          <p:cNvPr id="152" name="Google Shape;152;p5"/>
          <p:cNvSpPr/>
          <p:nvPr/>
        </p:nvSpPr>
        <p:spPr>
          <a:xfrm>
            <a:off x="5253037" y="4840248"/>
            <a:ext cx="8474273" cy="15240"/>
          </a:xfrm>
          <a:prstGeom prst="roundRect">
            <a:avLst>
              <a:gd fmla="val 1333362" name="adj"/>
            </a:avLst>
          </a:prstGeom>
          <a:solidFill>
            <a:srgbClr val="CED9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790218" y="4968359"/>
            <a:ext cx="6524982" cy="1300639"/>
          </a:xfrm>
          <a:prstGeom prst="roundRect">
            <a:avLst>
              <a:gd fmla="val 15623"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1015960" y="5392936"/>
            <a:ext cx="170378" cy="451485"/>
          </a:xfrm>
          <a:prstGeom prst="rect">
            <a:avLst/>
          </a:prstGeom>
          <a:noFill/>
          <a:ln>
            <a:noFill/>
          </a:ln>
        </p:spPr>
        <p:txBody>
          <a:bodyPr anchorCtr="0" anchor="t" bIns="0" lIns="0" spcFirstLastPara="1" rIns="0" wrap="square" tIns="0">
            <a:noAutofit/>
          </a:bodyPr>
          <a:lstStyle/>
          <a:p>
            <a:pPr indent="0" lvl="0" marL="0" marR="0" rtl="0" algn="ctr">
              <a:lnSpc>
                <a:spcPct val="161363"/>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3</a:t>
            </a:r>
            <a:endParaRPr b="0" i="0" sz="2200" u="none" cap="none" strike="noStrike"/>
          </a:p>
        </p:txBody>
      </p:sp>
      <p:sp>
        <p:nvSpPr>
          <p:cNvPr id="155" name="Google Shape;155;p5"/>
          <p:cNvSpPr/>
          <p:nvPr/>
        </p:nvSpPr>
        <p:spPr>
          <a:xfrm>
            <a:off x="7540942" y="5194102"/>
            <a:ext cx="2822258" cy="35266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Ventajas</a:t>
            </a:r>
            <a:endParaRPr b="0" i="0" sz="2200" u="none" cap="none" strike="noStrike"/>
          </a:p>
        </p:txBody>
      </p:sp>
      <p:sp>
        <p:nvSpPr>
          <p:cNvPr id="156" name="Google Shape;156;p5"/>
          <p:cNvSpPr/>
          <p:nvPr/>
        </p:nvSpPr>
        <p:spPr>
          <a:xfrm>
            <a:off x="7540942" y="5682139"/>
            <a:ext cx="5846921" cy="36111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Flexibilidad, seguridad y optimización del rendimiento.</a:t>
            </a:r>
            <a:endParaRPr b="0" i="0" sz="1750" u="none" cap="none" strike="noStrike"/>
          </a:p>
        </p:txBody>
      </p:sp>
      <p:sp>
        <p:nvSpPr>
          <p:cNvPr id="157" name="Google Shape;157;p5"/>
          <p:cNvSpPr/>
          <p:nvPr/>
        </p:nvSpPr>
        <p:spPr>
          <a:xfrm>
            <a:off x="790218" y="6522958"/>
            <a:ext cx="13049964" cy="108335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El patrón Proxy es útil en diversos escenarios, como controlar el acceso a recursos sensibles, añadir funcionalidad adicional a un objeto sin modificarlo directamente, o manejar objetos remotos de manera transparente. Esto permite mejorar la seguridad, flexibilidad y eficiencia del sistema.</a:t>
            </a:r>
            <a:endParaRPr b="0" i="0" sz="1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descr="preencoded.png" id="163" name="Google Shape;163;p6"/>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64" name="Google Shape;164;p6"/>
          <p:cNvSpPr/>
          <p:nvPr/>
        </p:nvSpPr>
        <p:spPr>
          <a:xfrm>
            <a:off x="6151245" y="828437"/>
            <a:ext cx="7814310" cy="1780937"/>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3B4540"/>
              </a:buClr>
              <a:buSzPts val="3700"/>
              <a:buFont typeface="Fraunces ExtraBold"/>
              <a:buNone/>
            </a:pPr>
            <a:r>
              <a:rPr b="1" i="0" lang="en-US" sz="3700" u="none" cap="none" strike="noStrike">
                <a:solidFill>
                  <a:srgbClr val="3B4540"/>
                </a:solidFill>
                <a:latin typeface="Fraunces ExtraBold"/>
                <a:ea typeface="Fraunces ExtraBold"/>
                <a:cs typeface="Fraunces ExtraBold"/>
                <a:sym typeface="Fraunces ExtraBold"/>
              </a:rPr>
              <a:t>Patrones de comportamiento: explicación de su rol en la interacción entre objetos</a:t>
            </a:r>
            <a:endParaRPr b="0" i="0" sz="3700" u="none" cap="none" strike="noStrike"/>
          </a:p>
        </p:txBody>
      </p:sp>
      <p:sp>
        <p:nvSpPr>
          <p:cNvPr id="165" name="Google Shape;165;p6"/>
          <p:cNvSpPr/>
          <p:nvPr/>
        </p:nvSpPr>
        <p:spPr>
          <a:xfrm>
            <a:off x="6151245" y="2894290"/>
            <a:ext cx="3812262" cy="2614374"/>
          </a:xfrm>
          <a:prstGeom prst="roundRect">
            <a:avLst>
              <a:gd fmla="val 6540"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p:nvPr/>
        </p:nvSpPr>
        <p:spPr>
          <a:xfrm>
            <a:off x="6341150" y="3084195"/>
            <a:ext cx="2620328" cy="296823"/>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405449"/>
              </a:buClr>
              <a:buSzPts val="1850"/>
              <a:buFont typeface="Fraunces ExtraBold"/>
              <a:buNone/>
            </a:pPr>
            <a:r>
              <a:rPr b="1" i="0" lang="en-US" sz="1850" u="none" cap="none" strike="noStrike">
                <a:solidFill>
                  <a:srgbClr val="405449"/>
                </a:solidFill>
                <a:latin typeface="Fraunces ExtraBold"/>
                <a:ea typeface="Fraunces ExtraBold"/>
                <a:cs typeface="Fraunces ExtraBold"/>
                <a:sym typeface="Fraunces ExtraBold"/>
              </a:rPr>
              <a:t>Interacción Dinámica</a:t>
            </a:r>
            <a:endParaRPr b="0" i="0" sz="1850" u="none" cap="none" strike="noStrike"/>
          </a:p>
        </p:txBody>
      </p:sp>
      <p:sp>
        <p:nvSpPr>
          <p:cNvPr id="167" name="Google Shape;167;p6"/>
          <p:cNvSpPr/>
          <p:nvPr/>
        </p:nvSpPr>
        <p:spPr>
          <a:xfrm>
            <a:off x="6341150" y="3494961"/>
            <a:ext cx="3432453" cy="1519833"/>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405449"/>
              </a:buClr>
              <a:buSzPts val="1450"/>
              <a:buFont typeface="Nobile"/>
              <a:buNone/>
            </a:pPr>
            <a:r>
              <a:rPr b="0" i="0" lang="en-US" sz="1450" u="none" cap="none" strike="noStrike">
                <a:solidFill>
                  <a:srgbClr val="405449"/>
                </a:solidFill>
                <a:latin typeface="Nobile"/>
                <a:ea typeface="Nobile"/>
                <a:cs typeface="Nobile"/>
                <a:sym typeface="Nobile"/>
              </a:rPr>
              <a:t>Los patrones de comportamiento se enfocan en cómo los objetos interactúan y se comunican entre sí a lo largo del tiempo, facilitando una coordinación flexible y dinámica.</a:t>
            </a:r>
            <a:endParaRPr b="0" i="0" sz="1450" u="none" cap="none" strike="noStrike"/>
          </a:p>
        </p:txBody>
      </p:sp>
      <p:sp>
        <p:nvSpPr>
          <p:cNvPr id="168" name="Google Shape;168;p6"/>
          <p:cNvSpPr/>
          <p:nvPr/>
        </p:nvSpPr>
        <p:spPr>
          <a:xfrm>
            <a:off x="10153412" y="2894290"/>
            <a:ext cx="3812262" cy="2614374"/>
          </a:xfrm>
          <a:prstGeom prst="roundRect">
            <a:avLst>
              <a:gd fmla="val 6540"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10343317" y="3084195"/>
            <a:ext cx="3297436" cy="296823"/>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405449"/>
              </a:buClr>
              <a:buSzPts val="1850"/>
              <a:buFont typeface="Fraunces ExtraBold"/>
              <a:buNone/>
            </a:pPr>
            <a:r>
              <a:rPr b="1" i="0" lang="en-US" sz="1850" u="none" cap="none" strike="noStrike">
                <a:solidFill>
                  <a:srgbClr val="405449"/>
                </a:solidFill>
                <a:latin typeface="Fraunces ExtraBold"/>
                <a:ea typeface="Fraunces ExtraBold"/>
                <a:cs typeface="Fraunces ExtraBold"/>
                <a:sym typeface="Fraunces ExtraBold"/>
              </a:rPr>
              <a:t>Responsabilidad Específica</a:t>
            </a:r>
            <a:endParaRPr b="0" i="0" sz="1850" u="none" cap="none" strike="noStrike"/>
          </a:p>
        </p:txBody>
      </p:sp>
      <p:sp>
        <p:nvSpPr>
          <p:cNvPr id="170" name="Google Shape;170;p6"/>
          <p:cNvSpPr/>
          <p:nvPr/>
        </p:nvSpPr>
        <p:spPr>
          <a:xfrm>
            <a:off x="10343317" y="3494961"/>
            <a:ext cx="3432453" cy="1823799"/>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405449"/>
              </a:buClr>
              <a:buSzPts val="1450"/>
              <a:buFont typeface="Nobile"/>
              <a:buNone/>
            </a:pPr>
            <a:r>
              <a:rPr b="0" i="0" lang="en-US" sz="1450" u="none" cap="none" strike="noStrike">
                <a:solidFill>
                  <a:srgbClr val="405449"/>
                </a:solidFill>
                <a:latin typeface="Nobile"/>
                <a:ea typeface="Nobile"/>
                <a:cs typeface="Nobile"/>
                <a:sym typeface="Nobile"/>
              </a:rPr>
              <a:t>Cada patrón de comportamiento tiene un propósito bien definido, como notificar cambios, delegar tareas o encapsular comandos, lo que permite una separación de responsabilidades clara.</a:t>
            </a:r>
            <a:endParaRPr b="0" i="0" sz="1450" u="none" cap="none" strike="noStrike"/>
          </a:p>
        </p:txBody>
      </p:sp>
      <p:sp>
        <p:nvSpPr>
          <p:cNvPr id="171" name="Google Shape;171;p6"/>
          <p:cNvSpPr/>
          <p:nvPr/>
        </p:nvSpPr>
        <p:spPr>
          <a:xfrm>
            <a:off x="6151245" y="5698569"/>
            <a:ext cx="7814310" cy="1702475"/>
          </a:xfrm>
          <a:prstGeom prst="roundRect">
            <a:avLst>
              <a:gd fmla="val 10043"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6341150" y="5888474"/>
            <a:ext cx="3408283" cy="296823"/>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405449"/>
              </a:buClr>
              <a:buSzPts val="1850"/>
              <a:buFont typeface="Fraunces ExtraBold"/>
              <a:buNone/>
            </a:pPr>
            <a:r>
              <a:rPr b="1" i="0" lang="en-US" sz="1850" u="none" cap="none" strike="noStrike">
                <a:solidFill>
                  <a:srgbClr val="405449"/>
                </a:solidFill>
                <a:latin typeface="Fraunces ExtraBold"/>
                <a:ea typeface="Fraunces ExtraBold"/>
                <a:cs typeface="Fraunces ExtraBold"/>
                <a:sym typeface="Fraunces ExtraBold"/>
              </a:rPr>
              <a:t>Flexibilidad y Extensibilidad</a:t>
            </a:r>
            <a:endParaRPr b="0" i="0" sz="1850" u="none" cap="none" strike="noStrike"/>
          </a:p>
        </p:txBody>
      </p:sp>
      <p:sp>
        <p:nvSpPr>
          <p:cNvPr id="173" name="Google Shape;173;p6"/>
          <p:cNvSpPr/>
          <p:nvPr/>
        </p:nvSpPr>
        <p:spPr>
          <a:xfrm>
            <a:off x="6341150" y="6299240"/>
            <a:ext cx="7434501" cy="9119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405449"/>
              </a:buClr>
              <a:buSzPts val="1450"/>
              <a:buFont typeface="Nobile"/>
              <a:buNone/>
            </a:pPr>
            <a:r>
              <a:rPr b="0" i="0" lang="en-US" sz="1450" u="none" cap="none" strike="noStrike">
                <a:solidFill>
                  <a:srgbClr val="405449"/>
                </a:solidFill>
                <a:latin typeface="Nobile"/>
                <a:ea typeface="Nobile"/>
                <a:cs typeface="Nobile"/>
                <a:sym typeface="Nobile"/>
              </a:rPr>
              <a:t>Estos patrones permiten a los objetos adaptarse a diferentes contextos y escenarios, lo que facilita el desarrollo de sistemas escalables y fáciles de mantener.</a:t>
            </a:r>
            <a:endParaRPr b="0" i="0" sz="14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descr="preencoded.png" id="179" name="Google Shape;179;p7"/>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80" name="Google Shape;180;p7"/>
          <p:cNvSpPr/>
          <p:nvPr/>
        </p:nvSpPr>
        <p:spPr>
          <a:xfrm>
            <a:off x="636270" y="784979"/>
            <a:ext cx="7871460" cy="1136094"/>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3B4540"/>
              </a:buClr>
              <a:buSzPts val="3550"/>
              <a:buFont typeface="Fraunces ExtraBold"/>
              <a:buNone/>
            </a:pPr>
            <a:r>
              <a:rPr b="1" i="0" lang="en-US" sz="3550" u="none" cap="none" strike="noStrike">
                <a:solidFill>
                  <a:srgbClr val="3B4540"/>
                </a:solidFill>
                <a:latin typeface="Fraunces ExtraBold"/>
                <a:ea typeface="Fraunces ExtraBold"/>
                <a:cs typeface="Fraunces ExtraBold"/>
                <a:sym typeface="Fraunces ExtraBold"/>
              </a:rPr>
              <a:t>Observer: utilidad para notificar cambios en el estado</a:t>
            </a:r>
            <a:endParaRPr b="0" i="0" sz="3550" u="none" cap="none" strike="noStrike"/>
          </a:p>
        </p:txBody>
      </p:sp>
      <p:sp>
        <p:nvSpPr>
          <p:cNvPr id="181" name="Google Shape;181;p7"/>
          <p:cNvSpPr/>
          <p:nvPr/>
        </p:nvSpPr>
        <p:spPr>
          <a:xfrm>
            <a:off x="897493" y="2193727"/>
            <a:ext cx="22860" cy="5250775"/>
          </a:xfrm>
          <a:prstGeom prst="roundRect">
            <a:avLst>
              <a:gd fmla="val 715736" name="adj"/>
            </a:avLst>
          </a:prstGeom>
          <a:solidFill>
            <a:srgbClr val="CED9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1090553" y="2591157"/>
            <a:ext cx="636270" cy="22860"/>
          </a:xfrm>
          <a:prstGeom prst="roundRect">
            <a:avLst>
              <a:gd fmla="val 715736" name="adj"/>
            </a:avLst>
          </a:prstGeom>
          <a:solidFill>
            <a:srgbClr val="CED9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p:nvPr/>
        </p:nvSpPr>
        <p:spPr>
          <a:xfrm>
            <a:off x="704433" y="2398157"/>
            <a:ext cx="408980" cy="408980"/>
          </a:xfrm>
          <a:prstGeom prst="roundRect">
            <a:avLst>
              <a:gd fmla="val 40006"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p:nvPr/>
        </p:nvSpPr>
        <p:spPr>
          <a:xfrm>
            <a:off x="840879" y="2466261"/>
            <a:ext cx="136088" cy="27265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05449"/>
              </a:buClr>
              <a:buSzPts val="2100"/>
              <a:buFont typeface="Fraunces ExtraBold"/>
              <a:buNone/>
            </a:pPr>
            <a:r>
              <a:rPr b="1" i="0" lang="en-US" sz="2100" u="none" cap="none" strike="noStrike">
                <a:solidFill>
                  <a:srgbClr val="405449"/>
                </a:solidFill>
                <a:latin typeface="Fraunces ExtraBold"/>
                <a:ea typeface="Fraunces ExtraBold"/>
                <a:cs typeface="Fraunces ExtraBold"/>
                <a:sym typeface="Fraunces ExtraBold"/>
              </a:rPr>
              <a:t>1</a:t>
            </a:r>
            <a:endParaRPr b="0" i="0" sz="2100" u="none" cap="none" strike="noStrike"/>
          </a:p>
        </p:txBody>
      </p:sp>
      <p:sp>
        <p:nvSpPr>
          <p:cNvPr id="185" name="Google Shape;185;p7"/>
          <p:cNvSpPr/>
          <p:nvPr/>
        </p:nvSpPr>
        <p:spPr>
          <a:xfrm>
            <a:off x="1908691" y="2375416"/>
            <a:ext cx="2611517" cy="284083"/>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05449"/>
              </a:buClr>
              <a:buSzPts val="1750"/>
              <a:buFont typeface="Fraunces ExtraBold"/>
              <a:buNone/>
            </a:pPr>
            <a:r>
              <a:rPr b="1" i="0" lang="en-US" sz="1750" u="none" cap="none" strike="noStrike">
                <a:solidFill>
                  <a:srgbClr val="405449"/>
                </a:solidFill>
                <a:latin typeface="Fraunces ExtraBold"/>
                <a:ea typeface="Fraunces ExtraBold"/>
                <a:cs typeface="Fraunces ExtraBold"/>
                <a:sym typeface="Fraunces ExtraBold"/>
              </a:rPr>
              <a:t>Observar y Reaccionar</a:t>
            </a:r>
            <a:endParaRPr b="0" i="0" sz="1750" u="none" cap="none" strike="noStrike"/>
          </a:p>
        </p:txBody>
      </p:sp>
      <p:sp>
        <p:nvSpPr>
          <p:cNvPr id="186" name="Google Shape;186;p7"/>
          <p:cNvSpPr/>
          <p:nvPr/>
        </p:nvSpPr>
        <p:spPr>
          <a:xfrm>
            <a:off x="1908691" y="2768560"/>
            <a:ext cx="6599039" cy="87260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405449"/>
              </a:buClr>
              <a:buSzPts val="1400"/>
              <a:buFont typeface="Nobile"/>
              <a:buNone/>
            </a:pPr>
            <a:r>
              <a:rPr b="0" i="0" lang="en-US" sz="1400" u="none" cap="none" strike="noStrike">
                <a:solidFill>
                  <a:srgbClr val="405449"/>
                </a:solidFill>
                <a:latin typeface="Nobile"/>
                <a:ea typeface="Nobile"/>
                <a:cs typeface="Nobile"/>
                <a:sym typeface="Nobile"/>
              </a:rPr>
              <a:t>El patrón Observer permite que objetos observadores se suscriban a un objeto sujeto. Cuando el sujeto sufre un cambio de estado, notifica a los observadores registrados para que puedan reaccionar en consecuencia.</a:t>
            </a:r>
            <a:endParaRPr b="0" i="0" sz="1400" u="none" cap="none" strike="noStrike"/>
          </a:p>
        </p:txBody>
      </p:sp>
      <p:sp>
        <p:nvSpPr>
          <p:cNvPr id="187" name="Google Shape;187;p7"/>
          <p:cNvSpPr/>
          <p:nvPr/>
        </p:nvSpPr>
        <p:spPr>
          <a:xfrm>
            <a:off x="1090553" y="4401979"/>
            <a:ext cx="636270" cy="22860"/>
          </a:xfrm>
          <a:prstGeom prst="roundRect">
            <a:avLst>
              <a:gd fmla="val 715736" name="adj"/>
            </a:avLst>
          </a:prstGeom>
          <a:solidFill>
            <a:srgbClr val="CED9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704433" y="4208978"/>
            <a:ext cx="408980" cy="408980"/>
          </a:xfrm>
          <a:prstGeom prst="roundRect">
            <a:avLst>
              <a:gd fmla="val 40006"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p:nvPr/>
        </p:nvSpPr>
        <p:spPr>
          <a:xfrm>
            <a:off x="819805" y="4277082"/>
            <a:ext cx="178118" cy="27265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05449"/>
              </a:buClr>
              <a:buSzPts val="2100"/>
              <a:buFont typeface="Fraunces ExtraBold"/>
              <a:buNone/>
            </a:pPr>
            <a:r>
              <a:rPr b="1" i="0" lang="en-US" sz="2100" u="none" cap="none" strike="noStrike">
                <a:solidFill>
                  <a:srgbClr val="405449"/>
                </a:solidFill>
                <a:latin typeface="Fraunces ExtraBold"/>
                <a:ea typeface="Fraunces ExtraBold"/>
                <a:cs typeface="Fraunces ExtraBold"/>
                <a:sym typeface="Fraunces ExtraBold"/>
              </a:rPr>
              <a:t>2</a:t>
            </a:r>
            <a:endParaRPr b="0" i="0" sz="2100" u="none" cap="none" strike="noStrike"/>
          </a:p>
        </p:txBody>
      </p:sp>
      <p:sp>
        <p:nvSpPr>
          <p:cNvPr id="190" name="Google Shape;190;p7"/>
          <p:cNvSpPr/>
          <p:nvPr/>
        </p:nvSpPr>
        <p:spPr>
          <a:xfrm>
            <a:off x="1908691" y="4186238"/>
            <a:ext cx="3602236" cy="284083"/>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05449"/>
              </a:buClr>
              <a:buSzPts val="1750"/>
              <a:buFont typeface="Fraunces ExtraBold"/>
              <a:buNone/>
            </a:pPr>
            <a:r>
              <a:rPr b="1" i="0" lang="en-US" sz="1750" u="none" cap="none" strike="noStrike">
                <a:solidFill>
                  <a:srgbClr val="405449"/>
                </a:solidFill>
                <a:latin typeface="Fraunces ExtraBold"/>
                <a:ea typeface="Fraunces ExtraBold"/>
                <a:cs typeface="Fraunces ExtraBold"/>
                <a:sym typeface="Fraunces ExtraBold"/>
              </a:rPr>
              <a:t>Flexibilidad y Desacoplamiento</a:t>
            </a:r>
            <a:endParaRPr b="0" i="0" sz="1750" u="none" cap="none" strike="noStrike"/>
          </a:p>
        </p:txBody>
      </p:sp>
      <p:sp>
        <p:nvSpPr>
          <p:cNvPr id="191" name="Google Shape;191;p7"/>
          <p:cNvSpPr/>
          <p:nvPr/>
        </p:nvSpPr>
        <p:spPr>
          <a:xfrm>
            <a:off x="1908691" y="4579382"/>
            <a:ext cx="6599039" cy="87260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405449"/>
              </a:buClr>
              <a:buSzPts val="1400"/>
              <a:buFont typeface="Nobile"/>
              <a:buNone/>
            </a:pPr>
            <a:r>
              <a:rPr b="0" i="0" lang="en-US" sz="1400" u="none" cap="none" strike="noStrike">
                <a:solidFill>
                  <a:srgbClr val="405449"/>
                </a:solidFill>
                <a:latin typeface="Nobile"/>
                <a:ea typeface="Nobile"/>
                <a:cs typeface="Nobile"/>
                <a:sym typeface="Nobile"/>
              </a:rPr>
              <a:t>Esta separación del sujeto y los observadores permite una mayor flexibilidad y desacoplamiento entre los componentes, lo que facilita el mantenimiento y la extensibilidad del sistema.</a:t>
            </a:r>
            <a:endParaRPr b="0" i="0" sz="1400" u="none" cap="none" strike="noStrike"/>
          </a:p>
        </p:txBody>
      </p:sp>
      <p:sp>
        <p:nvSpPr>
          <p:cNvPr id="192" name="Google Shape;192;p7"/>
          <p:cNvSpPr/>
          <p:nvPr/>
        </p:nvSpPr>
        <p:spPr>
          <a:xfrm>
            <a:off x="1090553" y="6212800"/>
            <a:ext cx="636270" cy="22860"/>
          </a:xfrm>
          <a:prstGeom prst="roundRect">
            <a:avLst>
              <a:gd fmla="val 715736" name="adj"/>
            </a:avLst>
          </a:prstGeom>
          <a:solidFill>
            <a:srgbClr val="CED9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p:nvPr/>
        </p:nvSpPr>
        <p:spPr>
          <a:xfrm>
            <a:off x="704433" y="6019800"/>
            <a:ext cx="408980" cy="408980"/>
          </a:xfrm>
          <a:prstGeom prst="roundRect">
            <a:avLst>
              <a:gd fmla="val 40006"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a:off x="826591" y="6087904"/>
            <a:ext cx="164663" cy="27265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05449"/>
              </a:buClr>
              <a:buSzPts val="2100"/>
              <a:buFont typeface="Fraunces ExtraBold"/>
              <a:buNone/>
            </a:pPr>
            <a:r>
              <a:rPr b="1" i="0" lang="en-US" sz="2100" u="none" cap="none" strike="noStrike">
                <a:solidFill>
                  <a:srgbClr val="405449"/>
                </a:solidFill>
                <a:latin typeface="Fraunces ExtraBold"/>
                <a:ea typeface="Fraunces ExtraBold"/>
                <a:cs typeface="Fraunces ExtraBold"/>
                <a:sym typeface="Fraunces ExtraBold"/>
              </a:rPr>
              <a:t>3</a:t>
            </a:r>
            <a:endParaRPr b="0" i="0" sz="2100" u="none" cap="none" strike="noStrike"/>
          </a:p>
        </p:txBody>
      </p:sp>
      <p:sp>
        <p:nvSpPr>
          <p:cNvPr id="195" name="Google Shape;195;p7"/>
          <p:cNvSpPr/>
          <p:nvPr/>
        </p:nvSpPr>
        <p:spPr>
          <a:xfrm>
            <a:off x="1908691" y="5997059"/>
            <a:ext cx="2596396" cy="284083"/>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05449"/>
              </a:buClr>
              <a:buSzPts val="1750"/>
              <a:buFont typeface="Fraunces ExtraBold"/>
              <a:buNone/>
            </a:pPr>
            <a:r>
              <a:rPr b="1" i="0" lang="en-US" sz="1750" u="none" cap="none" strike="noStrike">
                <a:solidFill>
                  <a:srgbClr val="405449"/>
                </a:solidFill>
                <a:latin typeface="Fraunces ExtraBold"/>
                <a:ea typeface="Fraunces ExtraBold"/>
                <a:cs typeface="Fraunces ExtraBold"/>
                <a:sym typeface="Fraunces ExtraBold"/>
              </a:rPr>
              <a:t>Aplicaciones Comunes</a:t>
            </a:r>
            <a:endParaRPr b="0" i="0" sz="1750" u="none" cap="none" strike="noStrike"/>
          </a:p>
        </p:txBody>
      </p:sp>
      <p:sp>
        <p:nvSpPr>
          <p:cNvPr id="196" name="Google Shape;196;p7"/>
          <p:cNvSpPr/>
          <p:nvPr/>
        </p:nvSpPr>
        <p:spPr>
          <a:xfrm>
            <a:off x="1908691" y="6390203"/>
            <a:ext cx="6599039" cy="87260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405449"/>
              </a:buClr>
              <a:buSzPts val="1400"/>
              <a:buFont typeface="Nobile"/>
              <a:buNone/>
            </a:pPr>
            <a:r>
              <a:rPr b="0" i="0" lang="en-US" sz="1400" u="none" cap="none" strike="noStrike">
                <a:solidFill>
                  <a:srgbClr val="405449"/>
                </a:solidFill>
                <a:latin typeface="Nobile"/>
                <a:ea typeface="Nobile"/>
                <a:cs typeface="Nobile"/>
                <a:sym typeface="Nobile"/>
              </a:rPr>
              <a:t>El patrón Observer es útil en escenarios como interfaces de usuario, sistemas de control de eventos, y monitoreo de cambios en bases de datos o servicios web.</a:t>
            </a:r>
            <a:endParaRPr b="0" i="0" sz="140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descr="preencoded.png" id="202" name="Google Shape;202;p8"/>
          <p:cNvPicPr preferRelativeResize="0"/>
          <p:nvPr/>
        </p:nvPicPr>
        <p:blipFill rotWithShape="1">
          <a:blip r:embed="rId3">
            <a:alphaModFix/>
          </a:blip>
          <a:srcRect b="0" l="0" r="0" t="0"/>
          <a:stretch/>
        </p:blipFill>
        <p:spPr>
          <a:xfrm>
            <a:off x="0" y="0"/>
            <a:ext cx="5486400" cy="8231743"/>
          </a:xfrm>
          <a:prstGeom prst="rect">
            <a:avLst/>
          </a:prstGeom>
          <a:noFill/>
          <a:ln>
            <a:noFill/>
          </a:ln>
        </p:spPr>
      </p:pic>
      <p:sp>
        <p:nvSpPr>
          <p:cNvPr id="203" name="Google Shape;203;p8"/>
          <p:cNvSpPr/>
          <p:nvPr/>
        </p:nvSpPr>
        <p:spPr>
          <a:xfrm>
            <a:off x="6081951" y="467916"/>
            <a:ext cx="7952899" cy="1595199"/>
          </a:xfrm>
          <a:prstGeom prst="rect">
            <a:avLst/>
          </a:prstGeom>
          <a:noFill/>
          <a:ln>
            <a:noFill/>
          </a:ln>
        </p:spPr>
        <p:txBody>
          <a:bodyPr anchorCtr="0" anchor="t" bIns="0" lIns="0" spcFirstLastPara="1" rIns="0" wrap="square" tIns="0">
            <a:noAutofit/>
          </a:bodyPr>
          <a:lstStyle/>
          <a:p>
            <a:pPr indent="0" lvl="0" marL="0" marR="0" rtl="0" algn="l">
              <a:lnSpc>
                <a:spcPct val="123880"/>
              </a:lnSpc>
              <a:spcBef>
                <a:spcPts val="0"/>
              </a:spcBef>
              <a:spcAft>
                <a:spcPts val="0"/>
              </a:spcAft>
              <a:buClr>
                <a:srgbClr val="3B4540"/>
              </a:buClr>
              <a:buSzPts val="3350"/>
              <a:buFont typeface="Fraunces ExtraBold"/>
              <a:buNone/>
            </a:pPr>
            <a:r>
              <a:rPr b="1" i="0" lang="en-US" sz="3350" u="none" cap="none" strike="noStrike">
                <a:solidFill>
                  <a:srgbClr val="3B4540"/>
                </a:solidFill>
                <a:latin typeface="Fraunces ExtraBold"/>
                <a:ea typeface="Fraunces ExtraBold"/>
                <a:cs typeface="Fraunces ExtraBold"/>
                <a:sym typeface="Fraunces ExtraBold"/>
              </a:rPr>
              <a:t>Strategy: Cómo Permite Intercambiar Algoritmos en Tiempo de Ejecución</a:t>
            </a:r>
            <a:endParaRPr b="0" i="0" sz="3350" u="none" cap="none" strike="noStrike"/>
          </a:p>
        </p:txBody>
      </p:sp>
      <p:pic>
        <p:nvPicPr>
          <p:cNvPr descr="preencoded.png" id="204" name="Google Shape;204;p8"/>
          <p:cNvPicPr preferRelativeResize="0"/>
          <p:nvPr/>
        </p:nvPicPr>
        <p:blipFill rotWithShape="1">
          <a:blip r:embed="rId4">
            <a:alphaModFix/>
          </a:blip>
          <a:srcRect b="0" l="0" r="0" t="0"/>
          <a:stretch/>
        </p:blipFill>
        <p:spPr>
          <a:xfrm>
            <a:off x="6081951" y="2318385"/>
            <a:ext cx="850821" cy="1361361"/>
          </a:xfrm>
          <a:prstGeom prst="rect">
            <a:avLst/>
          </a:prstGeom>
          <a:noFill/>
          <a:ln>
            <a:noFill/>
          </a:ln>
        </p:spPr>
      </p:pic>
      <p:sp>
        <p:nvSpPr>
          <p:cNvPr id="205" name="Google Shape;205;p8"/>
          <p:cNvSpPr/>
          <p:nvPr/>
        </p:nvSpPr>
        <p:spPr>
          <a:xfrm>
            <a:off x="7188041" y="2488525"/>
            <a:ext cx="2127171" cy="265867"/>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405449"/>
              </a:buClr>
              <a:buSzPts val="1650"/>
              <a:buFont typeface="Fraunces ExtraBold"/>
              <a:buNone/>
            </a:pPr>
            <a:r>
              <a:rPr b="1" i="0" lang="en-US" sz="1650" u="none" cap="none" strike="noStrike">
                <a:solidFill>
                  <a:srgbClr val="405449"/>
                </a:solidFill>
                <a:latin typeface="Fraunces ExtraBold"/>
                <a:ea typeface="Fraunces ExtraBold"/>
                <a:cs typeface="Fraunces ExtraBold"/>
                <a:sym typeface="Fraunces ExtraBold"/>
              </a:rPr>
              <a:t>Contexto Flexible</a:t>
            </a:r>
            <a:endParaRPr b="0" i="0" sz="1650" u="none" cap="none" strike="noStrike"/>
          </a:p>
        </p:txBody>
      </p:sp>
      <p:sp>
        <p:nvSpPr>
          <p:cNvPr id="206" name="Google Shape;206;p8"/>
          <p:cNvSpPr/>
          <p:nvPr/>
        </p:nvSpPr>
        <p:spPr>
          <a:xfrm>
            <a:off x="7188041" y="2856428"/>
            <a:ext cx="6846808" cy="544354"/>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405449"/>
              </a:buClr>
              <a:buSzPts val="1300"/>
              <a:buFont typeface="Nobile"/>
              <a:buNone/>
            </a:pPr>
            <a:r>
              <a:rPr b="0" i="0" lang="en-US" sz="1300" u="none" cap="none" strike="noStrike">
                <a:solidFill>
                  <a:srgbClr val="405449"/>
                </a:solidFill>
                <a:latin typeface="Nobile"/>
                <a:ea typeface="Nobile"/>
                <a:cs typeface="Nobile"/>
                <a:sym typeface="Nobile"/>
              </a:rPr>
              <a:t>El patrón de diseño Strategy permite encapsular diferentes algoritmos o comportamientos dentro de objetos específicos.</a:t>
            </a:r>
            <a:endParaRPr b="0" i="0" sz="1300" u="none" cap="none" strike="noStrike"/>
          </a:p>
        </p:txBody>
      </p:sp>
      <p:pic>
        <p:nvPicPr>
          <p:cNvPr descr="preencoded.png" id="207" name="Google Shape;207;p8"/>
          <p:cNvPicPr preferRelativeResize="0"/>
          <p:nvPr/>
        </p:nvPicPr>
        <p:blipFill rotWithShape="1">
          <a:blip r:embed="rId5">
            <a:alphaModFix/>
          </a:blip>
          <a:srcRect b="0" l="0" r="0" t="0"/>
          <a:stretch/>
        </p:blipFill>
        <p:spPr>
          <a:xfrm>
            <a:off x="6081951" y="3679746"/>
            <a:ext cx="850821" cy="1361361"/>
          </a:xfrm>
          <a:prstGeom prst="rect">
            <a:avLst/>
          </a:prstGeom>
          <a:noFill/>
          <a:ln>
            <a:noFill/>
          </a:ln>
        </p:spPr>
      </p:pic>
      <p:sp>
        <p:nvSpPr>
          <p:cNvPr id="208" name="Google Shape;208;p8"/>
          <p:cNvSpPr/>
          <p:nvPr/>
        </p:nvSpPr>
        <p:spPr>
          <a:xfrm>
            <a:off x="7188041" y="3849886"/>
            <a:ext cx="2440067" cy="265867"/>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405449"/>
              </a:buClr>
              <a:buSzPts val="1650"/>
              <a:buFont typeface="Fraunces ExtraBold"/>
              <a:buNone/>
            </a:pPr>
            <a:r>
              <a:rPr b="1" i="0" lang="en-US" sz="1650" u="none" cap="none" strike="noStrike">
                <a:solidFill>
                  <a:srgbClr val="405449"/>
                </a:solidFill>
                <a:latin typeface="Fraunces ExtraBold"/>
                <a:ea typeface="Fraunces ExtraBold"/>
                <a:cs typeface="Fraunces ExtraBold"/>
                <a:sym typeface="Fraunces ExtraBold"/>
              </a:rPr>
              <a:t>Intercambio Dinámico</a:t>
            </a:r>
            <a:endParaRPr b="0" i="0" sz="1650" u="none" cap="none" strike="noStrike"/>
          </a:p>
        </p:txBody>
      </p:sp>
      <p:sp>
        <p:nvSpPr>
          <p:cNvPr id="209" name="Google Shape;209;p8"/>
          <p:cNvSpPr/>
          <p:nvPr/>
        </p:nvSpPr>
        <p:spPr>
          <a:xfrm>
            <a:off x="7188041" y="4217789"/>
            <a:ext cx="6846808" cy="544354"/>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405449"/>
              </a:buClr>
              <a:buSzPts val="1300"/>
              <a:buFont typeface="Nobile"/>
              <a:buNone/>
            </a:pPr>
            <a:r>
              <a:rPr b="0" i="0" lang="en-US" sz="1300" u="none" cap="none" strike="noStrike">
                <a:solidFill>
                  <a:srgbClr val="405449"/>
                </a:solidFill>
                <a:latin typeface="Nobile"/>
                <a:ea typeface="Nobile"/>
                <a:cs typeface="Nobile"/>
                <a:sym typeface="Nobile"/>
              </a:rPr>
              <a:t>Esto hace posible seleccionar y utilizar el algoritmo más apropiado para cada situación en tiempo de ejecución.</a:t>
            </a:r>
            <a:endParaRPr b="0" i="0" sz="1300" u="none" cap="none" strike="noStrike"/>
          </a:p>
        </p:txBody>
      </p:sp>
      <p:pic>
        <p:nvPicPr>
          <p:cNvPr descr="preencoded.png" id="210" name="Google Shape;210;p8"/>
          <p:cNvPicPr preferRelativeResize="0"/>
          <p:nvPr/>
        </p:nvPicPr>
        <p:blipFill rotWithShape="1">
          <a:blip r:embed="rId6">
            <a:alphaModFix/>
          </a:blip>
          <a:srcRect b="0" l="0" r="0" t="0"/>
          <a:stretch/>
        </p:blipFill>
        <p:spPr>
          <a:xfrm>
            <a:off x="6081951" y="5041106"/>
            <a:ext cx="850821" cy="1361361"/>
          </a:xfrm>
          <a:prstGeom prst="rect">
            <a:avLst/>
          </a:prstGeom>
          <a:noFill/>
          <a:ln>
            <a:noFill/>
          </a:ln>
        </p:spPr>
      </p:pic>
      <p:sp>
        <p:nvSpPr>
          <p:cNvPr id="211" name="Google Shape;211;p8"/>
          <p:cNvSpPr/>
          <p:nvPr/>
        </p:nvSpPr>
        <p:spPr>
          <a:xfrm>
            <a:off x="7188041" y="5211247"/>
            <a:ext cx="2487454" cy="265867"/>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405449"/>
              </a:buClr>
              <a:buSzPts val="1650"/>
              <a:buFont typeface="Fraunces ExtraBold"/>
              <a:buNone/>
            </a:pPr>
            <a:r>
              <a:rPr b="1" i="0" lang="en-US" sz="1650" u="none" cap="none" strike="noStrike">
                <a:solidFill>
                  <a:srgbClr val="405449"/>
                </a:solidFill>
                <a:latin typeface="Fraunces ExtraBold"/>
                <a:ea typeface="Fraunces ExtraBold"/>
                <a:cs typeface="Fraunces ExtraBold"/>
                <a:sym typeface="Fraunces ExtraBold"/>
              </a:rPr>
              <a:t>Familias de Algoritmos</a:t>
            </a:r>
            <a:endParaRPr b="0" i="0" sz="1650" u="none" cap="none" strike="noStrike"/>
          </a:p>
        </p:txBody>
      </p:sp>
      <p:sp>
        <p:nvSpPr>
          <p:cNvPr id="212" name="Google Shape;212;p8"/>
          <p:cNvSpPr/>
          <p:nvPr/>
        </p:nvSpPr>
        <p:spPr>
          <a:xfrm>
            <a:off x="7188041" y="5579150"/>
            <a:ext cx="6846808" cy="544354"/>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405449"/>
              </a:buClr>
              <a:buSzPts val="1300"/>
              <a:buFont typeface="Nobile"/>
              <a:buNone/>
            </a:pPr>
            <a:r>
              <a:rPr b="0" i="0" lang="en-US" sz="1300" u="none" cap="none" strike="noStrike">
                <a:solidFill>
                  <a:srgbClr val="405449"/>
                </a:solidFill>
                <a:latin typeface="Nobile"/>
                <a:ea typeface="Nobile"/>
                <a:cs typeface="Nobile"/>
                <a:sym typeface="Nobile"/>
              </a:rPr>
              <a:t>Los algoritmos encapsulados pueden pertenecer a una misma familia, lo que facilita su mantenimiento y evolución.</a:t>
            </a:r>
            <a:endParaRPr b="0" i="0" sz="1300" u="none" cap="none" strike="noStrike"/>
          </a:p>
        </p:txBody>
      </p:sp>
      <p:pic>
        <p:nvPicPr>
          <p:cNvPr descr="preencoded.png" id="213" name="Google Shape;213;p8"/>
          <p:cNvPicPr preferRelativeResize="0"/>
          <p:nvPr/>
        </p:nvPicPr>
        <p:blipFill rotWithShape="1">
          <a:blip r:embed="rId7">
            <a:alphaModFix/>
          </a:blip>
          <a:srcRect b="0" l="0" r="0" t="0"/>
          <a:stretch/>
        </p:blipFill>
        <p:spPr>
          <a:xfrm>
            <a:off x="6081951" y="6402467"/>
            <a:ext cx="850821" cy="1361361"/>
          </a:xfrm>
          <a:prstGeom prst="rect">
            <a:avLst/>
          </a:prstGeom>
          <a:noFill/>
          <a:ln>
            <a:noFill/>
          </a:ln>
        </p:spPr>
      </p:pic>
      <p:sp>
        <p:nvSpPr>
          <p:cNvPr id="214" name="Google Shape;214;p8"/>
          <p:cNvSpPr/>
          <p:nvPr/>
        </p:nvSpPr>
        <p:spPr>
          <a:xfrm>
            <a:off x="7188041" y="6572607"/>
            <a:ext cx="2127171" cy="265867"/>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405449"/>
              </a:buClr>
              <a:buSzPts val="1650"/>
              <a:buFont typeface="Fraunces ExtraBold"/>
              <a:buNone/>
            </a:pPr>
            <a:r>
              <a:rPr b="1" i="0" lang="en-US" sz="1650" u="none" cap="none" strike="noStrike">
                <a:solidFill>
                  <a:srgbClr val="405449"/>
                </a:solidFill>
                <a:latin typeface="Fraunces ExtraBold"/>
                <a:ea typeface="Fraunces ExtraBold"/>
                <a:cs typeface="Fraunces ExtraBold"/>
                <a:sym typeface="Fraunces ExtraBold"/>
              </a:rPr>
              <a:t>Desacoplamiento</a:t>
            </a:r>
            <a:endParaRPr b="0" i="0" sz="1650" u="none" cap="none" strike="noStrike"/>
          </a:p>
        </p:txBody>
      </p:sp>
      <p:sp>
        <p:nvSpPr>
          <p:cNvPr id="215" name="Google Shape;215;p8"/>
          <p:cNvSpPr/>
          <p:nvPr/>
        </p:nvSpPr>
        <p:spPr>
          <a:xfrm>
            <a:off x="7188041" y="6940510"/>
            <a:ext cx="6846808" cy="544354"/>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405449"/>
              </a:buClr>
              <a:buSzPts val="1300"/>
              <a:buFont typeface="Nobile"/>
              <a:buNone/>
            </a:pPr>
            <a:r>
              <a:rPr b="0" i="0" lang="en-US" sz="1300" u="none" cap="none" strike="noStrike">
                <a:solidFill>
                  <a:srgbClr val="405449"/>
                </a:solidFill>
                <a:latin typeface="Nobile"/>
                <a:ea typeface="Nobile"/>
                <a:cs typeface="Nobile"/>
                <a:sym typeface="Nobile"/>
              </a:rPr>
              <a:t>El patrón Strategy separa la lógica del cliente de la implementación de los algoritmos, mejorando la flexibilidad y escalabilidad del diseño.</a:t>
            </a:r>
            <a:endParaRPr b="0" i="0" sz="130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9"/>
          <p:cNvSpPr/>
          <p:nvPr/>
        </p:nvSpPr>
        <p:spPr>
          <a:xfrm>
            <a:off x="735925" y="578882"/>
            <a:ext cx="10461784" cy="656987"/>
          </a:xfrm>
          <a:prstGeom prst="rect">
            <a:avLst/>
          </a:prstGeom>
          <a:noFill/>
          <a:ln>
            <a:noFill/>
          </a:ln>
        </p:spPr>
        <p:txBody>
          <a:bodyPr anchorCtr="0" anchor="t" bIns="0" lIns="0" spcFirstLastPara="1" rIns="0" wrap="square" tIns="0">
            <a:noAutofit/>
          </a:bodyPr>
          <a:lstStyle/>
          <a:p>
            <a:pPr indent="0" lvl="0" marL="0" marR="0" rtl="0" algn="l">
              <a:lnSpc>
                <a:spcPct val="125609"/>
              </a:lnSpc>
              <a:spcBef>
                <a:spcPts val="0"/>
              </a:spcBef>
              <a:spcAft>
                <a:spcPts val="0"/>
              </a:spcAft>
              <a:buClr>
                <a:srgbClr val="3B4540"/>
              </a:buClr>
              <a:buSzPts val="4100"/>
              <a:buFont typeface="Fraunces ExtraBold"/>
              <a:buNone/>
            </a:pPr>
            <a:r>
              <a:rPr b="1" i="0" lang="en-US" sz="4100" u="none" cap="none" strike="noStrike">
                <a:solidFill>
                  <a:srgbClr val="3B4540"/>
                </a:solidFill>
                <a:latin typeface="Fraunces ExtraBold"/>
                <a:ea typeface="Fraunces ExtraBold"/>
                <a:cs typeface="Fraunces ExtraBold"/>
                <a:sym typeface="Fraunces ExtraBold"/>
              </a:rPr>
              <a:t>Command: definición y ejemplos de uso</a:t>
            </a:r>
            <a:endParaRPr b="0" i="0" sz="4100" u="none" cap="none" strike="noStrike"/>
          </a:p>
        </p:txBody>
      </p:sp>
      <p:pic>
        <p:nvPicPr>
          <p:cNvPr descr="preencoded.png" id="222" name="Google Shape;222;p9"/>
          <p:cNvPicPr preferRelativeResize="0"/>
          <p:nvPr/>
        </p:nvPicPr>
        <p:blipFill rotWithShape="1">
          <a:blip r:embed="rId3">
            <a:alphaModFix/>
          </a:blip>
          <a:srcRect b="0" l="0" r="0" t="0"/>
          <a:stretch/>
        </p:blipFill>
        <p:spPr>
          <a:xfrm>
            <a:off x="2939891" y="1656397"/>
            <a:ext cx="2171105" cy="1547932"/>
          </a:xfrm>
          <a:prstGeom prst="rect">
            <a:avLst/>
          </a:prstGeom>
          <a:noFill/>
          <a:ln>
            <a:noFill/>
          </a:ln>
        </p:spPr>
      </p:pic>
      <p:sp>
        <p:nvSpPr>
          <p:cNvPr id="223" name="Google Shape;223;p9"/>
          <p:cNvSpPr/>
          <p:nvPr/>
        </p:nvSpPr>
        <p:spPr>
          <a:xfrm>
            <a:off x="3959781" y="2420660"/>
            <a:ext cx="131207" cy="420529"/>
          </a:xfrm>
          <a:prstGeom prst="rect">
            <a:avLst/>
          </a:prstGeom>
          <a:noFill/>
          <a:ln>
            <a:noFill/>
          </a:ln>
        </p:spPr>
        <p:txBody>
          <a:bodyPr anchorCtr="0" anchor="t" bIns="0" lIns="0" spcFirstLastPara="1" rIns="0" wrap="square" tIns="0">
            <a:noAutofit/>
          </a:bodyPr>
          <a:lstStyle/>
          <a:p>
            <a:pPr indent="0" lvl="0" marL="0" marR="0" rtl="0" algn="ctr">
              <a:lnSpc>
                <a:spcPct val="160975"/>
              </a:lnSpc>
              <a:spcBef>
                <a:spcPts val="0"/>
              </a:spcBef>
              <a:spcAft>
                <a:spcPts val="0"/>
              </a:spcAft>
              <a:buClr>
                <a:srgbClr val="405449"/>
              </a:buClr>
              <a:buSzPts val="2050"/>
              <a:buFont typeface="Fraunces ExtraBold"/>
              <a:buNone/>
            </a:pPr>
            <a:r>
              <a:rPr b="1" i="0" lang="en-US" sz="2050" u="none" cap="none" strike="noStrike">
                <a:solidFill>
                  <a:srgbClr val="405449"/>
                </a:solidFill>
                <a:latin typeface="Fraunces ExtraBold"/>
                <a:ea typeface="Fraunces ExtraBold"/>
                <a:cs typeface="Fraunces ExtraBold"/>
                <a:sym typeface="Fraunces ExtraBold"/>
              </a:rPr>
              <a:t>1</a:t>
            </a:r>
            <a:endParaRPr b="0" i="0" sz="2050" u="none" cap="none" strike="noStrike"/>
          </a:p>
        </p:txBody>
      </p:sp>
      <p:sp>
        <p:nvSpPr>
          <p:cNvPr id="224" name="Google Shape;224;p9"/>
          <p:cNvSpPr/>
          <p:nvPr/>
        </p:nvSpPr>
        <p:spPr>
          <a:xfrm>
            <a:off x="5321260" y="1866662"/>
            <a:ext cx="2628424" cy="32861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405449"/>
              </a:buClr>
              <a:buSzPts val="2050"/>
              <a:buFont typeface="Fraunces ExtraBold"/>
              <a:buNone/>
            </a:pPr>
            <a:r>
              <a:rPr b="1" i="0" lang="en-US" sz="2050" u="none" cap="none" strike="noStrike">
                <a:solidFill>
                  <a:srgbClr val="405449"/>
                </a:solidFill>
                <a:latin typeface="Fraunces ExtraBold"/>
                <a:ea typeface="Fraunces ExtraBold"/>
                <a:cs typeface="Fraunces ExtraBold"/>
                <a:sym typeface="Fraunces ExtraBold"/>
              </a:rPr>
              <a:t>Encapsular</a:t>
            </a:r>
            <a:endParaRPr b="0" i="0" sz="2050" u="none" cap="none" strike="noStrike"/>
          </a:p>
        </p:txBody>
      </p:sp>
      <p:sp>
        <p:nvSpPr>
          <p:cNvPr id="225" name="Google Shape;225;p9"/>
          <p:cNvSpPr/>
          <p:nvPr/>
        </p:nvSpPr>
        <p:spPr>
          <a:xfrm>
            <a:off x="5321260" y="2321362"/>
            <a:ext cx="8362950" cy="672703"/>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405449"/>
              </a:buClr>
              <a:buSzPts val="1650"/>
              <a:buFont typeface="Nobile"/>
              <a:buNone/>
            </a:pPr>
            <a:r>
              <a:rPr b="0" i="0" lang="en-US" sz="1650" u="none" cap="none" strike="noStrike">
                <a:solidFill>
                  <a:srgbClr val="405449"/>
                </a:solidFill>
                <a:latin typeface="Nobile"/>
                <a:ea typeface="Nobile"/>
                <a:cs typeface="Nobile"/>
                <a:sym typeface="Nobile"/>
              </a:rPr>
              <a:t>El patrón Command encapsula una solicitud como un objeto, permitiendo parametrizar clientes con diferentes solicitudes.</a:t>
            </a:r>
            <a:endParaRPr b="0" i="0" sz="1650" u="none" cap="none" strike="noStrike"/>
          </a:p>
        </p:txBody>
      </p:sp>
      <p:sp>
        <p:nvSpPr>
          <p:cNvPr id="226" name="Google Shape;226;p9"/>
          <p:cNvSpPr/>
          <p:nvPr/>
        </p:nvSpPr>
        <p:spPr>
          <a:xfrm>
            <a:off x="5163503" y="3220998"/>
            <a:ext cx="8678466" cy="11430"/>
          </a:xfrm>
          <a:prstGeom prst="roundRect">
            <a:avLst>
              <a:gd fmla="val 1655736" name="adj"/>
            </a:avLst>
          </a:prstGeom>
          <a:solidFill>
            <a:srgbClr val="CED9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7" name="Google Shape;227;p9"/>
          <p:cNvPicPr preferRelativeResize="0"/>
          <p:nvPr/>
        </p:nvPicPr>
        <p:blipFill rotWithShape="1">
          <a:blip r:embed="rId4">
            <a:alphaModFix/>
          </a:blip>
          <a:srcRect b="0" l="0" r="0" t="0"/>
          <a:stretch/>
        </p:blipFill>
        <p:spPr>
          <a:xfrm>
            <a:off x="1854398" y="3256836"/>
            <a:ext cx="4342209" cy="1547932"/>
          </a:xfrm>
          <a:prstGeom prst="rect">
            <a:avLst/>
          </a:prstGeom>
          <a:noFill/>
          <a:ln>
            <a:noFill/>
          </a:ln>
        </p:spPr>
      </p:pic>
      <p:sp>
        <p:nvSpPr>
          <p:cNvPr id="228" name="Google Shape;228;p9"/>
          <p:cNvSpPr/>
          <p:nvPr/>
        </p:nvSpPr>
        <p:spPr>
          <a:xfrm>
            <a:off x="3939540" y="3820478"/>
            <a:ext cx="171807" cy="420529"/>
          </a:xfrm>
          <a:prstGeom prst="rect">
            <a:avLst/>
          </a:prstGeom>
          <a:noFill/>
          <a:ln>
            <a:noFill/>
          </a:ln>
        </p:spPr>
        <p:txBody>
          <a:bodyPr anchorCtr="0" anchor="t" bIns="0" lIns="0" spcFirstLastPara="1" rIns="0" wrap="square" tIns="0">
            <a:noAutofit/>
          </a:bodyPr>
          <a:lstStyle/>
          <a:p>
            <a:pPr indent="0" lvl="0" marL="0" marR="0" rtl="0" algn="ctr">
              <a:lnSpc>
                <a:spcPct val="160975"/>
              </a:lnSpc>
              <a:spcBef>
                <a:spcPts val="0"/>
              </a:spcBef>
              <a:spcAft>
                <a:spcPts val="0"/>
              </a:spcAft>
              <a:buClr>
                <a:srgbClr val="405449"/>
              </a:buClr>
              <a:buSzPts val="2050"/>
              <a:buFont typeface="Fraunces ExtraBold"/>
              <a:buNone/>
            </a:pPr>
            <a:r>
              <a:rPr b="1" i="0" lang="en-US" sz="2050" u="none" cap="none" strike="noStrike">
                <a:solidFill>
                  <a:srgbClr val="405449"/>
                </a:solidFill>
                <a:latin typeface="Fraunces ExtraBold"/>
                <a:ea typeface="Fraunces ExtraBold"/>
                <a:cs typeface="Fraunces ExtraBold"/>
                <a:sym typeface="Fraunces ExtraBold"/>
              </a:rPr>
              <a:t>2</a:t>
            </a:r>
            <a:endParaRPr b="0" i="0" sz="2050" u="none" cap="none" strike="noStrike"/>
          </a:p>
        </p:txBody>
      </p:sp>
      <p:sp>
        <p:nvSpPr>
          <p:cNvPr id="229" name="Google Shape;229;p9"/>
          <p:cNvSpPr/>
          <p:nvPr/>
        </p:nvSpPr>
        <p:spPr>
          <a:xfrm>
            <a:off x="6406872" y="3467100"/>
            <a:ext cx="2628424" cy="32861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405449"/>
              </a:buClr>
              <a:buSzPts val="2050"/>
              <a:buFont typeface="Fraunces ExtraBold"/>
              <a:buNone/>
            </a:pPr>
            <a:r>
              <a:rPr b="1" i="0" lang="en-US" sz="2050" u="none" cap="none" strike="noStrike">
                <a:solidFill>
                  <a:srgbClr val="405449"/>
                </a:solidFill>
                <a:latin typeface="Fraunces ExtraBold"/>
                <a:ea typeface="Fraunces ExtraBold"/>
                <a:cs typeface="Fraunces ExtraBold"/>
                <a:sym typeface="Fraunces ExtraBold"/>
              </a:rPr>
              <a:t>Desacoplar</a:t>
            </a:r>
            <a:endParaRPr b="0" i="0" sz="2050" u="none" cap="none" strike="noStrike"/>
          </a:p>
        </p:txBody>
      </p:sp>
      <p:sp>
        <p:nvSpPr>
          <p:cNvPr id="230" name="Google Shape;230;p9"/>
          <p:cNvSpPr/>
          <p:nvPr/>
        </p:nvSpPr>
        <p:spPr>
          <a:xfrm>
            <a:off x="6406872" y="3921800"/>
            <a:ext cx="7277338" cy="672703"/>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405449"/>
              </a:buClr>
              <a:buSzPts val="1650"/>
              <a:buFont typeface="Nobile"/>
              <a:buNone/>
            </a:pPr>
            <a:r>
              <a:rPr b="0" i="0" lang="en-US" sz="1650" u="none" cap="none" strike="noStrike">
                <a:solidFill>
                  <a:srgbClr val="405449"/>
                </a:solidFill>
                <a:latin typeface="Nobile"/>
                <a:ea typeface="Nobile"/>
                <a:cs typeface="Nobile"/>
                <a:sym typeface="Nobile"/>
              </a:rPr>
              <a:t>Separa el objeto que invoca la operación del objeto que la implementa, fomentando un diseño desacoplado.</a:t>
            </a:r>
            <a:endParaRPr b="0" i="0" sz="1650" u="none" cap="none" strike="noStrike"/>
          </a:p>
        </p:txBody>
      </p:sp>
      <p:sp>
        <p:nvSpPr>
          <p:cNvPr id="231" name="Google Shape;231;p9"/>
          <p:cNvSpPr/>
          <p:nvPr/>
        </p:nvSpPr>
        <p:spPr>
          <a:xfrm>
            <a:off x="6249114" y="4821436"/>
            <a:ext cx="7592854" cy="11430"/>
          </a:xfrm>
          <a:prstGeom prst="roundRect">
            <a:avLst>
              <a:gd fmla="val 1655736" name="adj"/>
            </a:avLst>
          </a:prstGeom>
          <a:solidFill>
            <a:srgbClr val="CED9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2" name="Google Shape;232;p9"/>
          <p:cNvPicPr preferRelativeResize="0"/>
          <p:nvPr/>
        </p:nvPicPr>
        <p:blipFill rotWithShape="1">
          <a:blip r:embed="rId5">
            <a:alphaModFix/>
          </a:blip>
          <a:srcRect b="0" l="0" r="0" t="0"/>
          <a:stretch/>
        </p:blipFill>
        <p:spPr>
          <a:xfrm>
            <a:off x="768787" y="4857274"/>
            <a:ext cx="6513433" cy="1547932"/>
          </a:xfrm>
          <a:prstGeom prst="rect">
            <a:avLst/>
          </a:prstGeom>
          <a:noFill/>
          <a:ln>
            <a:noFill/>
          </a:ln>
        </p:spPr>
      </p:pic>
      <p:sp>
        <p:nvSpPr>
          <p:cNvPr id="233" name="Google Shape;233;p9"/>
          <p:cNvSpPr/>
          <p:nvPr/>
        </p:nvSpPr>
        <p:spPr>
          <a:xfrm>
            <a:off x="3946088" y="5420916"/>
            <a:ext cx="158829" cy="420529"/>
          </a:xfrm>
          <a:prstGeom prst="rect">
            <a:avLst/>
          </a:prstGeom>
          <a:noFill/>
          <a:ln>
            <a:noFill/>
          </a:ln>
        </p:spPr>
        <p:txBody>
          <a:bodyPr anchorCtr="0" anchor="t" bIns="0" lIns="0" spcFirstLastPara="1" rIns="0" wrap="square" tIns="0">
            <a:noAutofit/>
          </a:bodyPr>
          <a:lstStyle/>
          <a:p>
            <a:pPr indent="0" lvl="0" marL="0" marR="0" rtl="0" algn="ctr">
              <a:lnSpc>
                <a:spcPct val="160975"/>
              </a:lnSpc>
              <a:spcBef>
                <a:spcPts val="0"/>
              </a:spcBef>
              <a:spcAft>
                <a:spcPts val="0"/>
              </a:spcAft>
              <a:buClr>
                <a:srgbClr val="405449"/>
              </a:buClr>
              <a:buSzPts val="2050"/>
              <a:buFont typeface="Fraunces ExtraBold"/>
              <a:buNone/>
            </a:pPr>
            <a:r>
              <a:rPr b="1" i="0" lang="en-US" sz="2050" u="none" cap="none" strike="noStrike">
                <a:solidFill>
                  <a:srgbClr val="405449"/>
                </a:solidFill>
                <a:latin typeface="Fraunces ExtraBold"/>
                <a:ea typeface="Fraunces ExtraBold"/>
                <a:cs typeface="Fraunces ExtraBold"/>
                <a:sym typeface="Fraunces ExtraBold"/>
              </a:rPr>
              <a:t>3</a:t>
            </a:r>
            <a:endParaRPr b="0" i="0" sz="2050" u="none" cap="none" strike="noStrike"/>
          </a:p>
        </p:txBody>
      </p:sp>
      <p:sp>
        <p:nvSpPr>
          <p:cNvPr id="234" name="Google Shape;234;p9"/>
          <p:cNvSpPr/>
          <p:nvPr/>
        </p:nvSpPr>
        <p:spPr>
          <a:xfrm>
            <a:off x="7492484" y="5067538"/>
            <a:ext cx="2628424" cy="32861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405449"/>
              </a:buClr>
              <a:buSzPts val="2050"/>
              <a:buFont typeface="Fraunces ExtraBold"/>
              <a:buNone/>
            </a:pPr>
            <a:r>
              <a:rPr b="1" i="0" lang="en-US" sz="2050" u="none" cap="none" strike="noStrike">
                <a:solidFill>
                  <a:srgbClr val="405449"/>
                </a:solidFill>
                <a:latin typeface="Fraunces ExtraBold"/>
                <a:ea typeface="Fraunces ExtraBold"/>
                <a:cs typeface="Fraunces ExtraBold"/>
                <a:sym typeface="Fraunces ExtraBold"/>
              </a:rPr>
              <a:t>Extender</a:t>
            </a:r>
            <a:endParaRPr b="0" i="0" sz="2050" u="none" cap="none" strike="noStrike"/>
          </a:p>
        </p:txBody>
      </p:sp>
      <p:sp>
        <p:nvSpPr>
          <p:cNvPr id="235" name="Google Shape;235;p9"/>
          <p:cNvSpPr/>
          <p:nvPr/>
        </p:nvSpPr>
        <p:spPr>
          <a:xfrm>
            <a:off x="7492484" y="5522238"/>
            <a:ext cx="6191726" cy="672703"/>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405449"/>
              </a:buClr>
              <a:buSzPts val="1650"/>
              <a:buFont typeface="Nobile"/>
              <a:buNone/>
            </a:pPr>
            <a:r>
              <a:rPr b="0" i="0" lang="en-US" sz="1650" u="none" cap="none" strike="noStrike">
                <a:solidFill>
                  <a:srgbClr val="405449"/>
                </a:solidFill>
                <a:latin typeface="Nobile"/>
                <a:ea typeface="Nobile"/>
                <a:cs typeface="Nobile"/>
                <a:sym typeface="Nobile"/>
              </a:rPr>
              <a:t>Permite extender fácilmente el sistema con nuevos comandos sin modificar el código existente.</a:t>
            </a:r>
            <a:endParaRPr b="0" i="0" sz="1650" u="none" cap="none" strike="noStrike"/>
          </a:p>
        </p:txBody>
      </p:sp>
      <p:sp>
        <p:nvSpPr>
          <p:cNvPr id="236" name="Google Shape;236;p9"/>
          <p:cNvSpPr/>
          <p:nvPr/>
        </p:nvSpPr>
        <p:spPr>
          <a:xfrm>
            <a:off x="735925" y="6641663"/>
            <a:ext cx="13158549" cy="1009055"/>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405449"/>
              </a:buClr>
              <a:buSzPts val="1650"/>
              <a:buFont typeface="Nobile"/>
              <a:buNone/>
            </a:pPr>
            <a:r>
              <a:rPr b="0" i="0" lang="en-US" sz="1650" u="none" cap="none" strike="noStrike">
                <a:solidFill>
                  <a:srgbClr val="405449"/>
                </a:solidFill>
                <a:latin typeface="Nobile"/>
                <a:ea typeface="Nobile"/>
                <a:cs typeface="Nobile"/>
                <a:sym typeface="Nobile"/>
              </a:rPr>
              <a:t>El patrón Command encapsula una solicitud como un objeto, desacoplando el emisor de la solicitud del receptor que la ejecuta. Esto permite parametrizar clientes con diferentes solicitudes, facilitando la extensibilidad del sistema al agregar nuevos comandos sin afectar el código existente.</a:t>
            </a:r>
            <a:endParaRPr b="0" i="0" sz="165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0"/>
          <p:cNvSpPr/>
          <p:nvPr/>
        </p:nvSpPr>
        <p:spPr>
          <a:xfrm>
            <a:off x="793790" y="1636990"/>
            <a:ext cx="11026259"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4450"/>
              <a:buFont typeface="Fraunces ExtraBold"/>
              <a:buNone/>
            </a:pPr>
            <a:r>
              <a:rPr b="1" i="0" lang="en-US" sz="4450" u="none" cap="none" strike="noStrike">
                <a:solidFill>
                  <a:srgbClr val="3B4540"/>
                </a:solidFill>
                <a:latin typeface="Fraunces ExtraBold"/>
                <a:ea typeface="Fraunces ExtraBold"/>
                <a:cs typeface="Fraunces ExtraBold"/>
                <a:sym typeface="Fraunces ExtraBold"/>
              </a:rPr>
              <a:t>Ventajas de utilizar patrones de diseño</a:t>
            </a:r>
            <a:endParaRPr b="0" i="0" sz="4450" u="none" cap="none" strike="noStrike"/>
          </a:p>
        </p:txBody>
      </p:sp>
      <p:sp>
        <p:nvSpPr>
          <p:cNvPr id="243" name="Google Shape;243;p10"/>
          <p:cNvSpPr/>
          <p:nvPr/>
        </p:nvSpPr>
        <p:spPr>
          <a:xfrm>
            <a:off x="793790" y="2912745"/>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B4540"/>
              </a:buClr>
              <a:buSzPts val="2200"/>
              <a:buFont typeface="Fraunces ExtraBold"/>
              <a:buNone/>
            </a:pPr>
            <a:r>
              <a:rPr b="1" i="0" lang="en-US" sz="2200" u="none" cap="none" strike="noStrike">
                <a:solidFill>
                  <a:srgbClr val="3B4540"/>
                </a:solidFill>
                <a:latin typeface="Fraunces ExtraBold"/>
                <a:ea typeface="Fraunces ExtraBold"/>
                <a:cs typeface="Fraunces ExtraBold"/>
                <a:sym typeface="Fraunces ExtraBold"/>
              </a:rPr>
              <a:t>Reutilización de código</a:t>
            </a:r>
            <a:endParaRPr b="0" i="0" sz="2200" u="none" cap="none" strike="noStrike"/>
          </a:p>
        </p:txBody>
      </p:sp>
      <p:sp>
        <p:nvSpPr>
          <p:cNvPr id="244" name="Google Shape;244;p10"/>
          <p:cNvSpPr/>
          <p:nvPr/>
        </p:nvSpPr>
        <p:spPr>
          <a:xfrm>
            <a:off x="793790" y="3848219"/>
            <a:ext cx="2845594" cy="254031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Los patrones de diseño proporcionan soluciones probadas y eficientes para problemas comunes de diseño de software, lo que permite reutilizar código y ahorrar tiempo.</a:t>
            </a:r>
            <a:endParaRPr b="0" i="0" sz="1750" u="none" cap="none" strike="noStrike"/>
          </a:p>
        </p:txBody>
      </p:sp>
      <p:sp>
        <p:nvSpPr>
          <p:cNvPr id="245" name="Google Shape;245;p10"/>
          <p:cNvSpPr/>
          <p:nvPr/>
        </p:nvSpPr>
        <p:spPr>
          <a:xfrm>
            <a:off x="4200406" y="2912745"/>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B4540"/>
              </a:buClr>
              <a:buSzPts val="2200"/>
              <a:buFont typeface="Fraunces ExtraBold"/>
              <a:buNone/>
            </a:pPr>
            <a:r>
              <a:rPr b="1" i="0" lang="en-US" sz="2200" u="none" cap="none" strike="noStrike">
                <a:solidFill>
                  <a:srgbClr val="3B4540"/>
                </a:solidFill>
                <a:latin typeface="Fraunces ExtraBold"/>
                <a:ea typeface="Fraunces ExtraBold"/>
                <a:cs typeface="Fraunces ExtraBold"/>
                <a:sym typeface="Fraunces ExtraBold"/>
              </a:rPr>
              <a:t>Mejora la comunicación</a:t>
            </a:r>
            <a:endParaRPr b="0" i="0" sz="2200" u="none" cap="none" strike="noStrike"/>
          </a:p>
        </p:txBody>
      </p:sp>
      <p:sp>
        <p:nvSpPr>
          <p:cNvPr id="246" name="Google Shape;246;p10"/>
          <p:cNvSpPr/>
          <p:nvPr/>
        </p:nvSpPr>
        <p:spPr>
          <a:xfrm>
            <a:off x="4200406" y="3848219"/>
            <a:ext cx="2845594"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Al utilizar patrones de diseño, los desarrolladores pueden comunicar mejor sus ideas y diseños a otros miembros del equipo.</a:t>
            </a:r>
            <a:endParaRPr b="0" i="0" sz="1750" u="none" cap="none" strike="noStrike"/>
          </a:p>
        </p:txBody>
      </p:sp>
      <p:sp>
        <p:nvSpPr>
          <p:cNvPr id="247" name="Google Shape;247;p10"/>
          <p:cNvSpPr/>
          <p:nvPr/>
        </p:nvSpPr>
        <p:spPr>
          <a:xfrm>
            <a:off x="7607022" y="2912745"/>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B4540"/>
              </a:buClr>
              <a:buSzPts val="2200"/>
              <a:buFont typeface="Fraunces ExtraBold"/>
              <a:buNone/>
            </a:pPr>
            <a:r>
              <a:rPr b="1" i="0" lang="en-US" sz="2200" u="none" cap="none" strike="noStrike">
                <a:solidFill>
                  <a:srgbClr val="3B4540"/>
                </a:solidFill>
                <a:latin typeface="Fraunces ExtraBold"/>
                <a:ea typeface="Fraunces ExtraBold"/>
                <a:cs typeface="Fraunces ExtraBold"/>
                <a:sym typeface="Fraunces ExtraBold"/>
              </a:rPr>
              <a:t>Aumenta la flexibilidad</a:t>
            </a:r>
            <a:endParaRPr b="0" i="0" sz="2200" u="none" cap="none" strike="noStrike"/>
          </a:p>
        </p:txBody>
      </p:sp>
      <p:sp>
        <p:nvSpPr>
          <p:cNvPr id="248" name="Google Shape;248;p10"/>
          <p:cNvSpPr/>
          <p:nvPr/>
        </p:nvSpPr>
        <p:spPr>
          <a:xfrm>
            <a:off x="7607022" y="3848219"/>
            <a:ext cx="2845594" cy="254031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Los patrones de diseño hacen que el código sea más flexible y adaptable a cambios futuros, mejorando la mantenibilidad del sistema.</a:t>
            </a:r>
            <a:endParaRPr b="0" i="0" sz="1750" u="none" cap="none" strike="noStrike"/>
          </a:p>
        </p:txBody>
      </p:sp>
      <p:sp>
        <p:nvSpPr>
          <p:cNvPr id="249" name="Google Shape;249;p10"/>
          <p:cNvSpPr/>
          <p:nvPr/>
        </p:nvSpPr>
        <p:spPr>
          <a:xfrm>
            <a:off x="11013638" y="2912745"/>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B4540"/>
              </a:buClr>
              <a:buSzPts val="2200"/>
              <a:buFont typeface="Fraunces ExtraBold"/>
              <a:buNone/>
            </a:pPr>
            <a:r>
              <a:rPr b="1" i="0" lang="en-US" sz="2200" u="none" cap="none" strike="noStrike">
                <a:solidFill>
                  <a:srgbClr val="3B4540"/>
                </a:solidFill>
                <a:latin typeface="Fraunces ExtraBold"/>
                <a:ea typeface="Fraunces ExtraBold"/>
                <a:cs typeface="Fraunces ExtraBold"/>
                <a:sym typeface="Fraunces ExtraBold"/>
              </a:rPr>
              <a:t>Optimiza el rendimiento</a:t>
            </a:r>
            <a:endParaRPr b="0" i="0" sz="2200" u="none" cap="none" strike="noStrike"/>
          </a:p>
        </p:txBody>
      </p:sp>
      <p:sp>
        <p:nvSpPr>
          <p:cNvPr id="250" name="Google Shape;250;p10"/>
          <p:cNvSpPr/>
          <p:nvPr/>
        </p:nvSpPr>
        <p:spPr>
          <a:xfrm>
            <a:off x="11013638" y="3848219"/>
            <a:ext cx="2845594"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Algunos patrones de diseño, como el Singleton o el Flyweight, se enfocan en mejorar el rendimiento y la eficiencia del sistema.</a:t>
            </a:r>
            <a:endParaRPr b="0" i="0" sz="175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1"/>
          <p:cNvSpPr/>
          <p:nvPr/>
        </p:nvSpPr>
        <p:spPr>
          <a:xfrm>
            <a:off x="793790" y="965954"/>
            <a:ext cx="1244858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4450"/>
              <a:buFont typeface="Fraunces ExtraBold"/>
              <a:buNone/>
            </a:pPr>
            <a:r>
              <a:rPr b="1" i="0" lang="en-US" sz="4450" u="none" cap="none" strike="noStrike">
                <a:solidFill>
                  <a:srgbClr val="3B4540"/>
                </a:solidFill>
                <a:latin typeface="Fraunces ExtraBold"/>
                <a:ea typeface="Fraunces ExtraBold"/>
                <a:cs typeface="Fraunces ExtraBold"/>
                <a:sym typeface="Fraunces ExtraBold"/>
              </a:rPr>
              <a:t>Importancia del diseño modular y escalable</a:t>
            </a:r>
            <a:endParaRPr b="0" i="0" sz="4450" u="none" cap="none" strike="noStrike"/>
          </a:p>
        </p:txBody>
      </p:sp>
      <p:pic>
        <p:nvPicPr>
          <p:cNvPr descr="preencoded.png" id="257" name="Google Shape;257;p11"/>
          <p:cNvPicPr preferRelativeResize="0"/>
          <p:nvPr/>
        </p:nvPicPr>
        <p:blipFill rotWithShape="1">
          <a:blip r:embed="rId3">
            <a:alphaModFix/>
          </a:blip>
          <a:srcRect b="0" l="0" r="0" t="0"/>
          <a:stretch/>
        </p:blipFill>
        <p:spPr>
          <a:xfrm>
            <a:off x="793790" y="2128361"/>
            <a:ext cx="4120753" cy="2546747"/>
          </a:xfrm>
          <a:prstGeom prst="rect">
            <a:avLst/>
          </a:prstGeom>
          <a:noFill/>
          <a:ln>
            <a:noFill/>
          </a:ln>
        </p:spPr>
      </p:pic>
      <p:sp>
        <p:nvSpPr>
          <p:cNvPr id="258" name="Google Shape;258;p11"/>
          <p:cNvSpPr/>
          <p:nvPr/>
        </p:nvSpPr>
        <p:spPr>
          <a:xfrm>
            <a:off x="793790" y="4958596"/>
            <a:ext cx="4037052"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Flexibilidad y Adaptabilidad</a:t>
            </a:r>
            <a:endParaRPr b="0" i="0" sz="2200" u="none" cap="none" strike="noStrike"/>
          </a:p>
        </p:txBody>
      </p:sp>
      <p:sp>
        <p:nvSpPr>
          <p:cNvPr id="259" name="Google Shape;259;p11"/>
          <p:cNvSpPr/>
          <p:nvPr/>
        </p:nvSpPr>
        <p:spPr>
          <a:xfrm>
            <a:off x="793790" y="5449014"/>
            <a:ext cx="4120753"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Un diseño modular permite a las aplicaciones crecer y evolucionar con facilidad, adaptándose a requisitos cambiantes y nuevas funcionalidades.</a:t>
            </a:r>
            <a:endParaRPr b="0" i="0" sz="1750" u="none" cap="none" strike="noStrike"/>
          </a:p>
        </p:txBody>
      </p:sp>
      <p:pic>
        <p:nvPicPr>
          <p:cNvPr descr="preencoded.png" id="260" name="Google Shape;260;p11"/>
          <p:cNvPicPr preferRelativeResize="0"/>
          <p:nvPr/>
        </p:nvPicPr>
        <p:blipFill rotWithShape="1">
          <a:blip r:embed="rId4">
            <a:alphaModFix/>
          </a:blip>
          <a:srcRect b="0" l="0" r="0" t="0"/>
          <a:stretch/>
        </p:blipFill>
        <p:spPr>
          <a:xfrm>
            <a:off x="5254704" y="2128361"/>
            <a:ext cx="4120872" cy="2546866"/>
          </a:xfrm>
          <a:prstGeom prst="rect">
            <a:avLst/>
          </a:prstGeom>
          <a:noFill/>
          <a:ln>
            <a:noFill/>
          </a:ln>
        </p:spPr>
      </p:pic>
      <p:sp>
        <p:nvSpPr>
          <p:cNvPr id="261" name="Google Shape;261;p11"/>
          <p:cNvSpPr/>
          <p:nvPr/>
        </p:nvSpPr>
        <p:spPr>
          <a:xfrm>
            <a:off x="5254704" y="4958715"/>
            <a:ext cx="3934182"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Mantenimiento y Evolución</a:t>
            </a:r>
            <a:endParaRPr b="0" i="0" sz="2200" u="none" cap="none" strike="noStrike"/>
          </a:p>
        </p:txBody>
      </p:sp>
      <p:sp>
        <p:nvSpPr>
          <p:cNvPr id="262" name="Google Shape;262;p11"/>
          <p:cNvSpPr/>
          <p:nvPr/>
        </p:nvSpPr>
        <p:spPr>
          <a:xfrm>
            <a:off x="5254704" y="5449133"/>
            <a:ext cx="4120872"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La modularidad facilita el mantenimiento a largo plazo, ya que las actualizaciones y correcciones se pueden implementar de manera más eficiente.</a:t>
            </a:r>
            <a:endParaRPr b="0" i="0" sz="1750" u="none" cap="none" strike="noStrike"/>
          </a:p>
        </p:txBody>
      </p:sp>
      <p:pic>
        <p:nvPicPr>
          <p:cNvPr descr="preencoded.png" id="263" name="Google Shape;263;p11"/>
          <p:cNvPicPr preferRelativeResize="0"/>
          <p:nvPr/>
        </p:nvPicPr>
        <p:blipFill rotWithShape="1">
          <a:blip r:embed="rId5">
            <a:alphaModFix/>
          </a:blip>
          <a:srcRect b="0" l="0" r="0" t="0"/>
          <a:stretch/>
        </p:blipFill>
        <p:spPr>
          <a:xfrm>
            <a:off x="9715738" y="2128361"/>
            <a:ext cx="4120753" cy="2546747"/>
          </a:xfrm>
          <a:prstGeom prst="rect">
            <a:avLst/>
          </a:prstGeom>
          <a:noFill/>
          <a:ln>
            <a:noFill/>
          </a:ln>
        </p:spPr>
      </p:pic>
      <p:sp>
        <p:nvSpPr>
          <p:cNvPr id="264" name="Google Shape;264;p11"/>
          <p:cNvSpPr/>
          <p:nvPr/>
        </p:nvSpPr>
        <p:spPr>
          <a:xfrm>
            <a:off x="9715738" y="4958596"/>
            <a:ext cx="409515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Escalabilidad y Rendimiento</a:t>
            </a:r>
            <a:endParaRPr b="0" i="0" sz="2200" u="none" cap="none" strike="noStrike"/>
          </a:p>
        </p:txBody>
      </p:sp>
      <p:sp>
        <p:nvSpPr>
          <p:cNvPr id="265" name="Google Shape;265;p11"/>
          <p:cNvSpPr/>
          <p:nvPr/>
        </p:nvSpPr>
        <p:spPr>
          <a:xfrm>
            <a:off x="9715738" y="5449014"/>
            <a:ext cx="4120753"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El diseño escalable permite que los sistemas manejen cargas de trabajo variables sin perder rendimiento, garantizando la disponibilidad y el rendimiento a largo plazo.</a:t>
            </a:r>
            <a:endParaRPr b="0" i="0" sz="175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descr="preencoded.png" id="271" name="Google Shape;271;p12"/>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272" name="Google Shape;272;p12"/>
          <p:cNvSpPr/>
          <p:nvPr/>
        </p:nvSpPr>
        <p:spPr>
          <a:xfrm>
            <a:off x="793790" y="1829633"/>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4450"/>
              <a:buFont typeface="Fraunces ExtraBold"/>
              <a:buNone/>
            </a:pPr>
            <a:r>
              <a:rPr b="1" i="0" lang="en-US" sz="4450" u="none" cap="none" strike="noStrike">
                <a:solidFill>
                  <a:srgbClr val="3B4540"/>
                </a:solidFill>
                <a:latin typeface="Fraunces ExtraBold"/>
                <a:ea typeface="Fraunces ExtraBold"/>
                <a:cs typeface="Fraunces ExtraBold"/>
                <a:sym typeface="Fraunces ExtraBold"/>
              </a:rPr>
              <a:t>Casos de uso reales</a:t>
            </a:r>
            <a:endParaRPr b="0" i="0" sz="4450" u="none" cap="none" strike="noStrike"/>
          </a:p>
        </p:txBody>
      </p:sp>
      <p:sp>
        <p:nvSpPr>
          <p:cNvPr id="273" name="Google Shape;273;p12"/>
          <p:cNvSpPr/>
          <p:nvPr/>
        </p:nvSpPr>
        <p:spPr>
          <a:xfrm>
            <a:off x="793790" y="2878574"/>
            <a:ext cx="7556421"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Los patrones de diseño de software se aplican ampliamente en la industria, desde aplicaciones web y móviles hasta sistemas empresariales y de Internet de las Cosas. Estos patrones permiten crear arquitecturas robustas, escalables y mantenibles que resuelven problemas comunes de diseño.</a:t>
            </a:r>
            <a:endParaRPr b="0" i="0" sz="1750" u="none" cap="none" strike="noStrike"/>
          </a:p>
        </p:txBody>
      </p:sp>
      <p:sp>
        <p:nvSpPr>
          <p:cNvPr id="274" name="Google Shape;274;p12"/>
          <p:cNvSpPr/>
          <p:nvPr/>
        </p:nvSpPr>
        <p:spPr>
          <a:xfrm>
            <a:off x="793790" y="4948238"/>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Ejemplos reales incluyen el uso del patrón Adapter para integrar sistemas legados con nuevas tecnologías, el patrón Proxy para gestionar acceso seguro a recursos, y el patrón Observer para notificar cambios de estado en aplicaciones en tiempo real.</a:t>
            </a:r>
            <a:endParaRPr b="0" i="0" sz="175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3"/>
          <p:cNvSpPr/>
          <p:nvPr/>
        </p:nvSpPr>
        <p:spPr>
          <a:xfrm>
            <a:off x="674846" y="530185"/>
            <a:ext cx="9958626" cy="602575"/>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3B4540"/>
              </a:buClr>
              <a:buSzPts val="3750"/>
              <a:buFont typeface="Fraunces ExtraBold"/>
              <a:buNone/>
            </a:pPr>
            <a:r>
              <a:rPr b="1" i="0" lang="en-US" sz="3750" u="none" cap="none" strike="noStrike">
                <a:solidFill>
                  <a:srgbClr val="3B4540"/>
                </a:solidFill>
                <a:latin typeface="Fraunces ExtraBold"/>
                <a:ea typeface="Fraunces ExtraBold"/>
                <a:cs typeface="Fraunces ExtraBold"/>
                <a:sym typeface="Fraunces ExtraBold"/>
              </a:rPr>
              <a:t>Implementación práctica de los patrones</a:t>
            </a:r>
            <a:endParaRPr b="0" i="0" sz="3750" u="none" cap="none" strike="noStrike"/>
          </a:p>
        </p:txBody>
      </p:sp>
      <p:sp>
        <p:nvSpPr>
          <p:cNvPr id="281" name="Google Shape;281;p13"/>
          <p:cNvSpPr/>
          <p:nvPr/>
        </p:nvSpPr>
        <p:spPr>
          <a:xfrm>
            <a:off x="674846" y="1518285"/>
            <a:ext cx="1660088" cy="1110734"/>
          </a:xfrm>
          <a:prstGeom prst="roundRect">
            <a:avLst>
              <a:gd fmla="val 15624"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3"/>
          <p:cNvSpPr/>
          <p:nvPr/>
        </p:nvSpPr>
        <p:spPr>
          <a:xfrm>
            <a:off x="867608" y="1880830"/>
            <a:ext cx="120253" cy="385524"/>
          </a:xfrm>
          <a:prstGeom prst="rect">
            <a:avLst/>
          </a:prstGeom>
          <a:noFill/>
          <a:ln>
            <a:noFill/>
          </a:ln>
        </p:spPr>
        <p:txBody>
          <a:bodyPr anchorCtr="0" anchor="t" bIns="0" lIns="0" spcFirstLastPara="1" rIns="0" wrap="square" tIns="0">
            <a:noAutofit/>
          </a:bodyPr>
          <a:lstStyle/>
          <a:p>
            <a:pPr indent="0" lvl="0" marL="0" marR="0" rtl="0" algn="ctr">
              <a:lnSpc>
                <a:spcPct val="162162"/>
              </a:lnSpc>
              <a:spcBef>
                <a:spcPts val="0"/>
              </a:spcBef>
              <a:spcAft>
                <a:spcPts val="0"/>
              </a:spcAft>
              <a:buClr>
                <a:srgbClr val="405449"/>
              </a:buClr>
              <a:buSzPts val="1850"/>
              <a:buFont typeface="Fraunces ExtraBold"/>
              <a:buNone/>
            </a:pPr>
            <a:r>
              <a:rPr b="1" i="0" lang="en-US" sz="1850" u="none" cap="none" strike="noStrike">
                <a:solidFill>
                  <a:srgbClr val="405449"/>
                </a:solidFill>
                <a:latin typeface="Fraunces ExtraBold"/>
                <a:ea typeface="Fraunces ExtraBold"/>
                <a:cs typeface="Fraunces ExtraBold"/>
                <a:sym typeface="Fraunces ExtraBold"/>
              </a:rPr>
              <a:t>1</a:t>
            </a:r>
            <a:endParaRPr b="0" i="0" sz="1850" u="none" cap="none" strike="noStrike"/>
          </a:p>
        </p:txBody>
      </p:sp>
      <p:sp>
        <p:nvSpPr>
          <p:cNvPr id="283" name="Google Shape;283;p13"/>
          <p:cNvSpPr/>
          <p:nvPr/>
        </p:nvSpPr>
        <p:spPr>
          <a:xfrm>
            <a:off x="2527697" y="1711047"/>
            <a:ext cx="2614017" cy="301228"/>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05449"/>
              </a:buClr>
              <a:buSzPts val="1850"/>
              <a:buFont typeface="Fraunces ExtraBold"/>
              <a:buNone/>
            </a:pPr>
            <a:r>
              <a:rPr b="1" i="0" lang="en-US" sz="1850" u="none" cap="none" strike="noStrike">
                <a:solidFill>
                  <a:srgbClr val="405449"/>
                </a:solidFill>
                <a:latin typeface="Fraunces ExtraBold"/>
                <a:ea typeface="Fraunces ExtraBold"/>
                <a:cs typeface="Fraunces ExtraBold"/>
                <a:sym typeface="Fraunces ExtraBold"/>
              </a:rPr>
              <a:t>Análisis de requisitos</a:t>
            </a:r>
            <a:endParaRPr b="0" i="0" sz="1850" u="none" cap="none" strike="noStrike"/>
          </a:p>
        </p:txBody>
      </p:sp>
      <p:sp>
        <p:nvSpPr>
          <p:cNvPr id="284" name="Google Shape;284;p13"/>
          <p:cNvSpPr/>
          <p:nvPr/>
        </p:nvSpPr>
        <p:spPr>
          <a:xfrm>
            <a:off x="2527697" y="2127885"/>
            <a:ext cx="6978968" cy="308372"/>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05449"/>
              </a:buClr>
              <a:buSzPts val="1500"/>
              <a:buFont typeface="Nobile"/>
              <a:buNone/>
            </a:pPr>
            <a:r>
              <a:rPr b="0" i="0" lang="en-US" sz="1500" u="none" cap="none" strike="noStrike">
                <a:solidFill>
                  <a:srgbClr val="405449"/>
                </a:solidFill>
                <a:latin typeface="Nobile"/>
                <a:ea typeface="Nobile"/>
                <a:cs typeface="Nobile"/>
                <a:sym typeface="Nobile"/>
              </a:rPr>
              <a:t>Identificar las necesidades específicas del proyecto y los desafíos a resolver.</a:t>
            </a:r>
            <a:endParaRPr b="0" i="0" sz="1500" u="none" cap="none" strike="noStrike"/>
          </a:p>
        </p:txBody>
      </p:sp>
      <p:sp>
        <p:nvSpPr>
          <p:cNvPr id="285" name="Google Shape;285;p13"/>
          <p:cNvSpPr/>
          <p:nvPr/>
        </p:nvSpPr>
        <p:spPr>
          <a:xfrm>
            <a:off x="2431256" y="2619494"/>
            <a:ext cx="11427976" cy="11430"/>
          </a:xfrm>
          <a:prstGeom prst="roundRect">
            <a:avLst>
              <a:gd fmla="val 1518280" name="adj"/>
            </a:avLst>
          </a:prstGeom>
          <a:solidFill>
            <a:srgbClr val="CED9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3"/>
          <p:cNvSpPr/>
          <p:nvPr/>
        </p:nvSpPr>
        <p:spPr>
          <a:xfrm>
            <a:off x="674846" y="2725341"/>
            <a:ext cx="3320177" cy="1110734"/>
          </a:xfrm>
          <a:prstGeom prst="roundRect">
            <a:avLst>
              <a:gd fmla="val 15624"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3"/>
          <p:cNvSpPr/>
          <p:nvPr/>
        </p:nvSpPr>
        <p:spPr>
          <a:xfrm>
            <a:off x="867608" y="3087886"/>
            <a:ext cx="157520" cy="385524"/>
          </a:xfrm>
          <a:prstGeom prst="rect">
            <a:avLst/>
          </a:prstGeom>
          <a:noFill/>
          <a:ln>
            <a:noFill/>
          </a:ln>
        </p:spPr>
        <p:txBody>
          <a:bodyPr anchorCtr="0" anchor="t" bIns="0" lIns="0" spcFirstLastPara="1" rIns="0" wrap="square" tIns="0">
            <a:noAutofit/>
          </a:bodyPr>
          <a:lstStyle/>
          <a:p>
            <a:pPr indent="0" lvl="0" marL="0" marR="0" rtl="0" algn="ctr">
              <a:lnSpc>
                <a:spcPct val="162162"/>
              </a:lnSpc>
              <a:spcBef>
                <a:spcPts val="0"/>
              </a:spcBef>
              <a:spcAft>
                <a:spcPts val="0"/>
              </a:spcAft>
              <a:buClr>
                <a:srgbClr val="405449"/>
              </a:buClr>
              <a:buSzPts val="1850"/>
              <a:buFont typeface="Fraunces ExtraBold"/>
              <a:buNone/>
            </a:pPr>
            <a:r>
              <a:rPr b="1" i="0" lang="en-US" sz="1850" u="none" cap="none" strike="noStrike">
                <a:solidFill>
                  <a:srgbClr val="405449"/>
                </a:solidFill>
                <a:latin typeface="Fraunces ExtraBold"/>
                <a:ea typeface="Fraunces ExtraBold"/>
                <a:cs typeface="Fraunces ExtraBold"/>
                <a:sym typeface="Fraunces ExtraBold"/>
              </a:rPr>
              <a:t>2</a:t>
            </a:r>
            <a:endParaRPr b="0" i="0" sz="1850" u="none" cap="none" strike="noStrike"/>
          </a:p>
        </p:txBody>
      </p:sp>
      <p:sp>
        <p:nvSpPr>
          <p:cNvPr id="288" name="Google Shape;288;p13"/>
          <p:cNvSpPr/>
          <p:nvPr/>
        </p:nvSpPr>
        <p:spPr>
          <a:xfrm>
            <a:off x="4187785" y="2918103"/>
            <a:ext cx="2642711" cy="301228"/>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05449"/>
              </a:buClr>
              <a:buSzPts val="1850"/>
              <a:buFont typeface="Fraunces ExtraBold"/>
              <a:buNone/>
            </a:pPr>
            <a:r>
              <a:rPr b="1" i="0" lang="en-US" sz="1850" u="none" cap="none" strike="noStrike">
                <a:solidFill>
                  <a:srgbClr val="405449"/>
                </a:solidFill>
                <a:latin typeface="Fraunces ExtraBold"/>
                <a:ea typeface="Fraunces ExtraBold"/>
                <a:cs typeface="Fraunces ExtraBold"/>
                <a:sym typeface="Fraunces ExtraBold"/>
              </a:rPr>
              <a:t>Selección de patrones</a:t>
            </a:r>
            <a:endParaRPr b="0" i="0" sz="1850" u="none" cap="none" strike="noStrike"/>
          </a:p>
        </p:txBody>
      </p:sp>
      <p:sp>
        <p:nvSpPr>
          <p:cNvPr id="289" name="Google Shape;289;p13"/>
          <p:cNvSpPr/>
          <p:nvPr/>
        </p:nvSpPr>
        <p:spPr>
          <a:xfrm>
            <a:off x="4187785" y="3334941"/>
            <a:ext cx="6756797" cy="308372"/>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05449"/>
              </a:buClr>
              <a:buSzPts val="1500"/>
              <a:buFont typeface="Nobile"/>
              <a:buNone/>
            </a:pPr>
            <a:r>
              <a:rPr b="0" i="0" lang="en-US" sz="1500" u="none" cap="none" strike="noStrike">
                <a:solidFill>
                  <a:srgbClr val="405449"/>
                </a:solidFill>
                <a:latin typeface="Nobile"/>
                <a:ea typeface="Nobile"/>
                <a:cs typeface="Nobile"/>
                <a:sym typeface="Nobile"/>
              </a:rPr>
              <a:t>Elegir los patrones de diseño más apropiados para abordar los problemas.</a:t>
            </a:r>
            <a:endParaRPr b="0" i="0" sz="1500" u="none" cap="none" strike="noStrike"/>
          </a:p>
        </p:txBody>
      </p:sp>
      <p:sp>
        <p:nvSpPr>
          <p:cNvPr id="290" name="Google Shape;290;p13"/>
          <p:cNvSpPr/>
          <p:nvPr/>
        </p:nvSpPr>
        <p:spPr>
          <a:xfrm>
            <a:off x="4091345" y="3826550"/>
            <a:ext cx="9767888" cy="11430"/>
          </a:xfrm>
          <a:prstGeom prst="roundRect">
            <a:avLst>
              <a:gd fmla="val 1518280" name="adj"/>
            </a:avLst>
          </a:prstGeom>
          <a:solidFill>
            <a:srgbClr val="CED9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3"/>
          <p:cNvSpPr/>
          <p:nvPr/>
        </p:nvSpPr>
        <p:spPr>
          <a:xfrm>
            <a:off x="674846" y="3932396"/>
            <a:ext cx="4980265" cy="1110734"/>
          </a:xfrm>
          <a:prstGeom prst="roundRect">
            <a:avLst>
              <a:gd fmla="val 15624"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3"/>
          <p:cNvSpPr/>
          <p:nvPr/>
        </p:nvSpPr>
        <p:spPr>
          <a:xfrm>
            <a:off x="867608" y="4294942"/>
            <a:ext cx="145613" cy="385524"/>
          </a:xfrm>
          <a:prstGeom prst="rect">
            <a:avLst/>
          </a:prstGeom>
          <a:noFill/>
          <a:ln>
            <a:noFill/>
          </a:ln>
        </p:spPr>
        <p:txBody>
          <a:bodyPr anchorCtr="0" anchor="t" bIns="0" lIns="0" spcFirstLastPara="1" rIns="0" wrap="square" tIns="0">
            <a:noAutofit/>
          </a:bodyPr>
          <a:lstStyle/>
          <a:p>
            <a:pPr indent="0" lvl="0" marL="0" marR="0" rtl="0" algn="ctr">
              <a:lnSpc>
                <a:spcPct val="162162"/>
              </a:lnSpc>
              <a:spcBef>
                <a:spcPts val="0"/>
              </a:spcBef>
              <a:spcAft>
                <a:spcPts val="0"/>
              </a:spcAft>
              <a:buClr>
                <a:srgbClr val="405449"/>
              </a:buClr>
              <a:buSzPts val="1850"/>
              <a:buFont typeface="Fraunces ExtraBold"/>
              <a:buNone/>
            </a:pPr>
            <a:r>
              <a:rPr b="1" i="0" lang="en-US" sz="1850" u="none" cap="none" strike="noStrike">
                <a:solidFill>
                  <a:srgbClr val="405449"/>
                </a:solidFill>
                <a:latin typeface="Fraunces ExtraBold"/>
                <a:ea typeface="Fraunces ExtraBold"/>
                <a:cs typeface="Fraunces ExtraBold"/>
                <a:sym typeface="Fraunces ExtraBold"/>
              </a:rPr>
              <a:t>3</a:t>
            </a:r>
            <a:endParaRPr b="0" i="0" sz="1850" u="none" cap="none" strike="noStrike"/>
          </a:p>
        </p:txBody>
      </p:sp>
      <p:sp>
        <p:nvSpPr>
          <p:cNvPr id="293" name="Google Shape;293;p13"/>
          <p:cNvSpPr/>
          <p:nvPr/>
        </p:nvSpPr>
        <p:spPr>
          <a:xfrm>
            <a:off x="5847874" y="4125158"/>
            <a:ext cx="3080504" cy="301228"/>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05449"/>
              </a:buClr>
              <a:buSzPts val="1850"/>
              <a:buFont typeface="Fraunces ExtraBold"/>
              <a:buNone/>
            </a:pPr>
            <a:r>
              <a:rPr b="1" i="0" lang="en-US" sz="1850" u="none" cap="none" strike="noStrike">
                <a:solidFill>
                  <a:srgbClr val="405449"/>
                </a:solidFill>
                <a:latin typeface="Fraunces ExtraBold"/>
                <a:ea typeface="Fraunces ExtraBold"/>
                <a:cs typeface="Fraunces ExtraBold"/>
                <a:sym typeface="Fraunces ExtraBold"/>
              </a:rPr>
              <a:t>Diseño e implementación</a:t>
            </a:r>
            <a:endParaRPr b="0" i="0" sz="1850" u="none" cap="none" strike="noStrike"/>
          </a:p>
        </p:txBody>
      </p:sp>
      <p:sp>
        <p:nvSpPr>
          <p:cNvPr id="294" name="Google Shape;294;p13"/>
          <p:cNvSpPr/>
          <p:nvPr/>
        </p:nvSpPr>
        <p:spPr>
          <a:xfrm>
            <a:off x="5847874" y="4541996"/>
            <a:ext cx="6969681" cy="308372"/>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05449"/>
              </a:buClr>
              <a:buSzPts val="1500"/>
              <a:buFont typeface="Nobile"/>
              <a:buNone/>
            </a:pPr>
            <a:r>
              <a:rPr b="0" i="0" lang="en-US" sz="1500" u="none" cap="none" strike="noStrike">
                <a:solidFill>
                  <a:srgbClr val="405449"/>
                </a:solidFill>
                <a:latin typeface="Nobile"/>
                <a:ea typeface="Nobile"/>
                <a:cs typeface="Nobile"/>
                <a:sym typeface="Nobile"/>
              </a:rPr>
              <a:t>Aplicar los patrones seleccionados en el diseño y la codificación del sistema.</a:t>
            </a:r>
            <a:endParaRPr b="0" i="0" sz="1500" u="none" cap="none" strike="noStrike"/>
          </a:p>
        </p:txBody>
      </p:sp>
      <p:sp>
        <p:nvSpPr>
          <p:cNvPr id="295" name="Google Shape;295;p13"/>
          <p:cNvSpPr/>
          <p:nvPr/>
        </p:nvSpPr>
        <p:spPr>
          <a:xfrm>
            <a:off x="5751433" y="5033605"/>
            <a:ext cx="8107799" cy="11430"/>
          </a:xfrm>
          <a:prstGeom prst="roundRect">
            <a:avLst>
              <a:gd fmla="val 1518280" name="adj"/>
            </a:avLst>
          </a:prstGeom>
          <a:solidFill>
            <a:srgbClr val="CED9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3"/>
          <p:cNvSpPr/>
          <p:nvPr/>
        </p:nvSpPr>
        <p:spPr>
          <a:xfrm>
            <a:off x="674846" y="5139452"/>
            <a:ext cx="6640354" cy="1419106"/>
          </a:xfrm>
          <a:prstGeom prst="roundRect">
            <a:avLst>
              <a:gd fmla="val 12229"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3"/>
          <p:cNvSpPr/>
          <p:nvPr/>
        </p:nvSpPr>
        <p:spPr>
          <a:xfrm>
            <a:off x="867608" y="5656183"/>
            <a:ext cx="163830" cy="385524"/>
          </a:xfrm>
          <a:prstGeom prst="rect">
            <a:avLst/>
          </a:prstGeom>
          <a:noFill/>
          <a:ln>
            <a:noFill/>
          </a:ln>
        </p:spPr>
        <p:txBody>
          <a:bodyPr anchorCtr="0" anchor="t" bIns="0" lIns="0" spcFirstLastPara="1" rIns="0" wrap="square" tIns="0">
            <a:noAutofit/>
          </a:bodyPr>
          <a:lstStyle/>
          <a:p>
            <a:pPr indent="0" lvl="0" marL="0" marR="0" rtl="0" algn="ctr">
              <a:lnSpc>
                <a:spcPct val="162162"/>
              </a:lnSpc>
              <a:spcBef>
                <a:spcPts val="0"/>
              </a:spcBef>
              <a:spcAft>
                <a:spcPts val="0"/>
              </a:spcAft>
              <a:buClr>
                <a:srgbClr val="405449"/>
              </a:buClr>
              <a:buSzPts val="1850"/>
              <a:buFont typeface="Fraunces ExtraBold"/>
              <a:buNone/>
            </a:pPr>
            <a:r>
              <a:rPr b="1" i="0" lang="en-US" sz="1850" u="none" cap="none" strike="noStrike">
                <a:solidFill>
                  <a:srgbClr val="405449"/>
                </a:solidFill>
                <a:latin typeface="Fraunces ExtraBold"/>
                <a:ea typeface="Fraunces ExtraBold"/>
                <a:cs typeface="Fraunces ExtraBold"/>
                <a:sym typeface="Fraunces ExtraBold"/>
              </a:rPr>
              <a:t>4</a:t>
            </a:r>
            <a:endParaRPr b="0" i="0" sz="1850" u="none" cap="none" strike="noStrike"/>
          </a:p>
        </p:txBody>
      </p:sp>
      <p:sp>
        <p:nvSpPr>
          <p:cNvPr id="298" name="Google Shape;298;p13"/>
          <p:cNvSpPr/>
          <p:nvPr/>
        </p:nvSpPr>
        <p:spPr>
          <a:xfrm>
            <a:off x="7507962" y="5332214"/>
            <a:ext cx="2529364" cy="301228"/>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05449"/>
              </a:buClr>
              <a:buSzPts val="1850"/>
              <a:buFont typeface="Fraunces ExtraBold"/>
              <a:buNone/>
            </a:pPr>
            <a:r>
              <a:rPr b="1" i="0" lang="en-US" sz="1850" u="none" cap="none" strike="noStrike">
                <a:solidFill>
                  <a:srgbClr val="405449"/>
                </a:solidFill>
                <a:latin typeface="Fraunces ExtraBold"/>
                <a:ea typeface="Fraunces ExtraBold"/>
                <a:cs typeface="Fraunces ExtraBold"/>
                <a:sym typeface="Fraunces ExtraBold"/>
              </a:rPr>
              <a:t>Pruebas y validación</a:t>
            </a:r>
            <a:endParaRPr b="0" i="0" sz="1850" u="none" cap="none" strike="noStrike"/>
          </a:p>
        </p:txBody>
      </p:sp>
      <p:sp>
        <p:nvSpPr>
          <p:cNvPr id="299" name="Google Shape;299;p13"/>
          <p:cNvSpPr/>
          <p:nvPr/>
        </p:nvSpPr>
        <p:spPr>
          <a:xfrm>
            <a:off x="7507962" y="5749052"/>
            <a:ext cx="6254829" cy="61674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05449"/>
              </a:buClr>
              <a:buSzPts val="1500"/>
              <a:buFont typeface="Nobile"/>
              <a:buNone/>
            </a:pPr>
            <a:r>
              <a:rPr b="0" i="0" lang="en-US" sz="1500" u="none" cap="none" strike="noStrike">
                <a:solidFill>
                  <a:srgbClr val="405449"/>
                </a:solidFill>
                <a:latin typeface="Nobile"/>
                <a:ea typeface="Nobile"/>
                <a:cs typeface="Nobile"/>
                <a:sym typeface="Nobile"/>
              </a:rPr>
              <a:t>Verificar el correcto funcionamiento y la integración de los patrones.</a:t>
            </a:r>
            <a:endParaRPr b="0" i="0" sz="1500" u="none" cap="none" strike="noStrike"/>
          </a:p>
        </p:txBody>
      </p:sp>
      <p:sp>
        <p:nvSpPr>
          <p:cNvPr id="300" name="Google Shape;300;p13"/>
          <p:cNvSpPr/>
          <p:nvPr/>
        </p:nvSpPr>
        <p:spPr>
          <a:xfrm>
            <a:off x="674846" y="6775371"/>
            <a:ext cx="13280708" cy="925116"/>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05449"/>
              </a:buClr>
              <a:buSzPts val="1500"/>
              <a:buFont typeface="Nobile"/>
              <a:buNone/>
            </a:pPr>
            <a:r>
              <a:rPr b="0" i="0" lang="en-US" sz="1500" u="none" cap="none" strike="noStrike">
                <a:solidFill>
                  <a:srgbClr val="405449"/>
                </a:solidFill>
                <a:latin typeface="Nobile"/>
                <a:ea typeface="Nobile"/>
                <a:cs typeface="Nobile"/>
                <a:sym typeface="Nobile"/>
              </a:rPr>
              <a:t>La implementación práctica de los patrones de diseño requiere un análisis cuidadoso de los requisitos del proyecto, la selección de los patrones más adecuados, y un diseño e implementación meticulosos. Las pruebas y la validación son cruciales para asegurar que los patrones se han aplicado correctamente y que el sistema funciona de manera integrada.</a:t>
            </a:r>
            <a:endParaRPr b="0" i="0" sz="1500"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descr="preencoded.png" id="306" name="Google Shape;306;p14"/>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307" name="Google Shape;307;p14"/>
          <p:cNvSpPr/>
          <p:nvPr/>
        </p:nvSpPr>
        <p:spPr>
          <a:xfrm>
            <a:off x="708065" y="773430"/>
            <a:ext cx="7727871" cy="1264444"/>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3B4540"/>
              </a:buClr>
              <a:buSzPts val="3950"/>
              <a:buFont typeface="Fraunces ExtraBold"/>
              <a:buNone/>
            </a:pPr>
            <a:r>
              <a:rPr b="1" i="0" lang="en-US" sz="3950" u="none" cap="none" strike="noStrike">
                <a:solidFill>
                  <a:srgbClr val="3B4540"/>
                </a:solidFill>
                <a:latin typeface="Fraunces ExtraBold"/>
                <a:ea typeface="Fraunces ExtraBold"/>
                <a:cs typeface="Fraunces ExtraBold"/>
                <a:sym typeface="Fraunces ExtraBold"/>
              </a:rPr>
              <a:t>Buenas prácticas y recomendaciones</a:t>
            </a:r>
            <a:endParaRPr b="0" i="0" sz="3950" u="none" cap="none" strike="noStrike"/>
          </a:p>
        </p:txBody>
      </p:sp>
      <p:sp>
        <p:nvSpPr>
          <p:cNvPr id="308" name="Google Shape;308;p14"/>
          <p:cNvSpPr/>
          <p:nvPr/>
        </p:nvSpPr>
        <p:spPr>
          <a:xfrm>
            <a:off x="708065" y="2341245"/>
            <a:ext cx="3762851" cy="2460069"/>
          </a:xfrm>
          <a:prstGeom prst="roundRect">
            <a:avLst>
              <a:gd fmla="val 7401"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4"/>
          <p:cNvSpPr/>
          <p:nvPr/>
        </p:nvSpPr>
        <p:spPr>
          <a:xfrm>
            <a:off x="910352" y="2543532"/>
            <a:ext cx="3285292" cy="316111"/>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405449"/>
              </a:buClr>
              <a:buSzPts val="1950"/>
              <a:buFont typeface="Fraunces ExtraBold"/>
              <a:buNone/>
            </a:pPr>
            <a:r>
              <a:rPr b="1" i="0" lang="en-US" sz="1950" u="none" cap="none" strike="noStrike">
                <a:solidFill>
                  <a:srgbClr val="405449"/>
                </a:solidFill>
                <a:latin typeface="Fraunces ExtraBold"/>
                <a:ea typeface="Fraunces ExtraBold"/>
                <a:cs typeface="Fraunces ExtraBold"/>
                <a:sym typeface="Fraunces ExtraBold"/>
              </a:rPr>
              <a:t>Documentación detallada</a:t>
            </a:r>
            <a:endParaRPr b="0" i="0" sz="1950" u="none" cap="none" strike="noStrike"/>
          </a:p>
        </p:txBody>
      </p:sp>
      <p:sp>
        <p:nvSpPr>
          <p:cNvPr id="310" name="Google Shape;310;p14"/>
          <p:cNvSpPr/>
          <p:nvPr/>
        </p:nvSpPr>
        <p:spPr>
          <a:xfrm>
            <a:off x="910352" y="2980968"/>
            <a:ext cx="3358277" cy="16180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405449"/>
              </a:buClr>
              <a:buSzPts val="1550"/>
              <a:buFont typeface="Nobile"/>
              <a:buNone/>
            </a:pPr>
            <a:r>
              <a:rPr b="0" i="0" lang="en-US" sz="1550" u="none" cap="none" strike="noStrike">
                <a:solidFill>
                  <a:srgbClr val="405449"/>
                </a:solidFill>
                <a:latin typeface="Nobile"/>
                <a:ea typeface="Nobile"/>
                <a:cs typeface="Nobile"/>
                <a:sym typeface="Nobile"/>
              </a:rPr>
              <a:t>Mantener una documentación exhaustiva de los patrones de diseño utilizados, incluyendo objetivos, implementación y casos de uso.</a:t>
            </a:r>
            <a:endParaRPr b="0" i="0" sz="1550" u="none" cap="none" strike="noStrike"/>
          </a:p>
        </p:txBody>
      </p:sp>
      <p:sp>
        <p:nvSpPr>
          <p:cNvPr id="311" name="Google Shape;311;p14"/>
          <p:cNvSpPr/>
          <p:nvPr/>
        </p:nvSpPr>
        <p:spPr>
          <a:xfrm>
            <a:off x="4673203" y="2341245"/>
            <a:ext cx="3762851" cy="2460069"/>
          </a:xfrm>
          <a:prstGeom prst="roundRect">
            <a:avLst>
              <a:gd fmla="val 7401"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4"/>
          <p:cNvSpPr/>
          <p:nvPr/>
        </p:nvSpPr>
        <p:spPr>
          <a:xfrm>
            <a:off x="4875490" y="2543532"/>
            <a:ext cx="2653070" cy="316111"/>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405449"/>
              </a:buClr>
              <a:buSzPts val="1950"/>
              <a:buFont typeface="Fraunces ExtraBold"/>
              <a:buNone/>
            </a:pPr>
            <a:r>
              <a:rPr b="1" i="0" lang="en-US" sz="1950" u="none" cap="none" strike="noStrike">
                <a:solidFill>
                  <a:srgbClr val="405449"/>
                </a:solidFill>
                <a:latin typeface="Fraunces ExtraBold"/>
                <a:ea typeface="Fraunces ExtraBold"/>
                <a:cs typeface="Fraunces ExtraBold"/>
                <a:sym typeface="Fraunces ExtraBold"/>
              </a:rPr>
              <a:t>Pruebas y validación</a:t>
            </a:r>
            <a:endParaRPr b="0" i="0" sz="1950" u="none" cap="none" strike="noStrike"/>
          </a:p>
        </p:txBody>
      </p:sp>
      <p:sp>
        <p:nvSpPr>
          <p:cNvPr id="313" name="Google Shape;313;p14"/>
          <p:cNvSpPr/>
          <p:nvPr/>
        </p:nvSpPr>
        <p:spPr>
          <a:xfrm>
            <a:off x="4875490" y="2980968"/>
            <a:ext cx="3358277" cy="1294448"/>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405449"/>
              </a:buClr>
              <a:buSzPts val="1550"/>
              <a:buFont typeface="Nobile"/>
              <a:buNone/>
            </a:pPr>
            <a:r>
              <a:rPr b="0" i="0" lang="en-US" sz="1550" u="none" cap="none" strike="noStrike">
                <a:solidFill>
                  <a:srgbClr val="405449"/>
                </a:solidFill>
                <a:latin typeface="Nobile"/>
                <a:ea typeface="Nobile"/>
                <a:cs typeface="Nobile"/>
                <a:sym typeface="Nobile"/>
              </a:rPr>
              <a:t>Realizar pruebas unitarias y de integración para asegurar el correcto funcionamiento de los patrones implementados.</a:t>
            </a:r>
            <a:endParaRPr b="0" i="0" sz="1550" u="none" cap="none" strike="noStrike"/>
          </a:p>
        </p:txBody>
      </p:sp>
      <p:sp>
        <p:nvSpPr>
          <p:cNvPr id="314" name="Google Shape;314;p14"/>
          <p:cNvSpPr/>
          <p:nvPr/>
        </p:nvSpPr>
        <p:spPr>
          <a:xfrm>
            <a:off x="708065" y="5003602"/>
            <a:ext cx="3762851" cy="2452568"/>
          </a:xfrm>
          <a:prstGeom prst="roundRect">
            <a:avLst>
              <a:gd fmla="val 7424"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4"/>
          <p:cNvSpPr/>
          <p:nvPr/>
        </p:nvSpPr>
        <p:spPr>
          <a:xfrm>
            <a:off x="910352" y="5205889"/>
            <a:ext cx="3358277" cy="632222"/>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405449"/>
              </a:buClr>
              <a:buSzPts val="1950"/>
              <a:buFont typeface="Fraunces ExtraBold"/>
              <a:buNone/>
            </a:pPr>
            <a:r>
              <a:rPr b="1" i="0" lang="en-US" sz="1950" u="none" cap="none" strike="noStrike">
                <a:solidFill>
                  <a:srgbClr val="405449"/>
                </a:solidFill>
                <a:latin typeface="Fraunces ExtraBold"/>
                <a:ea typeface="Fraunces ExtraBold"/>
                <a:cs typeface="Fraunces ExtraBold"/>
                <a:sym typeface="Fraunces ExtraBold"/>
              </a:rPr>
              <a:t>Refactorización constante</a:t>
            </a:r>
            <a:endParaRPr b="0" i="0" sz="1950" u="none" cap="none" strike="noStrike"/>
          </a:p>
        </p:txBody>
      </p:sp>
      <p:sp>
        <p:nvSpPr>
          <p:cNvPr id="316" name="Google Shape;316;p14"/>
          <p:cNvSpPr/>
          <p:nvPr/>
        </p:nvSpPr>
        <p:spPr>
          <a:xfrm>
            <a:off x="910352" y="5959435"/>
            <a:ext cx="3358277" cy="1294448"/>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405449"/>
              </a:buClr>
              <a:buSzPts val="1550"/>
              <a:buFont typeface="Nobile"/>
              <a:buNone/>
            </a:pPr>
            <a:r>
              <a:rPr b="0" i="0" lang="en-US" sz="1550" u="none" cap="none" strike="noStrike">
                <a:solidFill>
                  <a:srgbClr val="405449"/>
                </a:solidFill>
                <a:latin typeface="Nobile"/>
                <a:ea typeface="Nobile"/>
                <a:cs typeface="Nobile"/>
                <a:sym typeface="Nobile"/>
              </a:rPr>
              <a:t>Estar abierto a mejorar y reemplazar patrones de diseño a medida que evoluciona el proyecto y las necesidades.</a:t>
            </a:r>
            <a:endParaRPr b="0" i="0" sz="1550" u="none" cap="none" strike="noStrike"/>
          </a:p>
        </p:txBody>
      </p:sp>
      <p:sp>
        <p:nvSpPr>
          <p:cNvPr id="317" name="Google Shape;317;p14"/>
          <p:cNvSpPr/>
          <p:nvPr/>
        </p:nvSpPr>
        <p:spPr>
          <a:xfrm>
            <a:off x="4673203" y="5003602"/>
            <a:ext cx="3762851" cy="2452568"/>
          </a:xfrm>
          <a:prstGeom prst="roundRect">
            <a:avLst>
              <a:gd fmla="val 7424"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4"/>
          <p:cNvSpPr/>
          <p:nvPr/>
        </p:nvSpPr>
        <p:spPr>
          <a:xfrm>
            <a:off x="4875490" y="5205889"/>
            <a:ext cx="3358277" cy="632222"/>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405449"/>
              </a:buClr>
              <a:buSzPts val="1950"/>
              <a:buFont typeface="Fraunces ExtraBold"/>
              <a:buNone/>
            </a:pPr>
            <a:r>
              <a:rPr b="1" i="0" lang="en-US" sz="1950" u="none" cap="none" strike="noStrike">
                <a:solidFill>
                  <a:srgbClr val="405449"/>
                </a:solidFill>
                <a:latin typeface="Fraunces ExtraBold"/>
                <a:ea typeface="Fraunces ExtraBold"/>
                <a:cs typeface="Fraunces ExtraBold"/>
                <a:sym typeface="Fraunces ExtraBold"/>
              </a:rPr>
              <a:t>Comunicación y capacitación</a:t>
            </a:r>
            <a:endParaRPr b="0" i="0" sz="1950" u="none" cap="none" strike="noStrike"/>
          </a:p>
        </p:txBody>
      </p:sp>
      <p:sp>
        <p:nvSpPr>
          <p:cNvPr id="319" name="Google Shape;319;p14"/>
          <p:cNvSpPr/>
          <p:nvPr/>
        </p:nvSpPr>
        <p:spPr>
          <a:xfrm>
            <a:off x="4875490" y="5959435"/>
            <a:ext cx="3358277" cy="1294448"/>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405449"/>
              </a:buClr>
              <a:buSzPts val="1550"/>
              <a:buFont typeface="Nobile"/>
              <a:buNone/>
            </a:pPr>
            <a:r>
              <a:rPr b="0" i="0" lang="en-US" sz="1550" u="none" cap="none" strike="noStrike">
                <a:solidFill>
                  <a:srgbClr val="405449"/>
                </a:solidFill>
                <a:latin typeface="Nobile"/>
                <a:ea typeface="Nobile"/>
                <a:cs typeface="Nobile"/>
                <a:sym typeface="Nobile"/>
              </a:rPr>
              <a:t>Compartir el conocimiento sobre patrones de diseño con el equipo de desarrollo para promover su adopción.</a:t>
            </a:r>
            <a:endParaRPr b="0" i="0" sz="1550" u="none" cap="none" strike="noStrike"/>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pic>
        <p:nvPicPr>
          <p:cNvPr descr="preencoded.png" id="325" name="Google Shape;325;p15"/>
          <p:cNvPicPr preferRelativeResize="0"/>
          <p:nvPr/>
        </p:nvPicPr>
        <p:blipFill rotWithShape="1">
          <a:blip r:embed="rId3">
            <a:alphaModFix/>
          </a:blip>
          <a:srcRect b="0" l="0" r="0" t="0"/>
          <a:stretch/>
        </p:blipFill>
        <p:spPr>
          <a:xfrm>
            <a:off x="0" y="0"/>
            <a:ext cx="14630400" cy="2835235"/>
          </a:xfrm>
          <a:prstGeom prst="rect">
            <a:avLst/>
          </a:prstGeom>
          <a:noFill/>
          <a:ln>
            <a:noFill/>
          </a:ln>
        </p:spPr>
      </p:pic>
      <p:sp>
        <p:nvSpPr>
          <p:cNvPr id="326" name="Google Shape;326;p15"/>
          <p:cNvSpPr/>
          <p:nvPr/>
        </p:nvSpPr>
        <p:spPr>
          <a:xfrm>
            <a:off x="793790" y="3459004"/>
            <a:ext cx="8916353"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4450"/>
              <a:buFont typeface="Fraunces ExtraBold"/>
              <a:buNone/>
            </a:pPr>
            <a:r>
              <a:rPr b="1" i="0" lang="en-US" sz="4450" u="none" cap="none" strike="noStrike">
                <a:solidFill>
                  <a:srgbClr val="3B4540"/>
                </a:solidFill>
                <a:latin typeface="Fraunces ExtraBold"/>
                <a:ea typeface="Fraunces ExtraBold"/>
                <a:cs typeface="Fraunces ExtraBold"/>
                <a:sym typeface="Fraunces ExtraBold"/>
              </a:rPr>
              <a:t>Conclusiones y próximos pasos</a:t>
            </a:r>
            <a:endParaRPr b="0" i="0" sz="4450" u="none" cap="none" strike="noStrike"/>
          </a:p>
        </p:txBody>
      </p:sp>
      <p:pic>
        <p:nvPicPr>
          <p:cNvPr descr="preencoded.png" id="327" name="Google Shape;327;p15"/>
          <p:cNvPicPr preferRelativeResize="0"/>
          <p:nvPr/>
        </p:nvPicPr>
        <p:blipFill rotWithShape="1">
          <a:blip r:embed="rId4">
            <a:alphaModFix/>
          </a:blip>
          <a:srcRect b="0" l="0" r="0" t="0"/>
          <a:stretch/>
        </p:blipFill>
        <p:spPr>
          <a:xfrm>
            <a:off x="793790" y="4507944"/>
            <a:ext cx="566976" cy="566976"/>
          </a:xfrm>
          <a:prstGeom prst="rect">
            <a:avLst/>
          </a:prstGeom>
          <a:noFill/>
          <a:ln>
            <a:noFill/>
          </a:ln>
        </p:spPr>
      </p:pic>
      <p:sp>
        <p:nvSpPr>
          <p:cNvPr id="328" name="Google Shape;328;p15"/>
          <p:cNvSpPr/>
          <p:nvPr/>
        </p:nvSpPr>
        <p:spPr>
          <a:xfrm>
            <a:off x="793790" y="5301734"/>
            <a:ext cx="362854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Principales Conclusiones</a:t>
            </a:r>
            <a:endParaRPr b="0" i="0" sz="2200" u="none" cap="none" strike="noStrike"/>
          </a:p>
        </p:txBody>
      </p:sp>
      <p:sp>
        <p:nvSpPr>
          <p:cNvPr id="329" name="Google Shape;329;p15"/>
          <p:cNvSpPr/>
          <p:nvPr/>
        </p:nvSpPr>
        <p:spPr>
          <a:xfrm>
            <a:off x="793790" y="5792153"/>
            <a:ext cx="4120753"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Los patrones de diseño estructurales y de comportamiento son herramientas fundamentales para crear soluciones de software escalables, flexibles y mantenibles.</a:t>
            </a:r>
            <a:endParaRPr b="0" i="0" sz="1750" u="none" cap="none" strike="noStrike"/>
          </a:p>
        </p:txBody>
      </p:sp>
      <p:pic>
        <p:nvPicPr>
          <p:cNvPr descr="preencoded.png" id="330" name="Google Shape;330;p15"/>
          <p:cNvPicPr preferRelativeResize="0"/>
          <p:nvPr/>
        </p:nvPicPr>
        <p:blipFill rotWithShape="1">
          <a:blip r:embed="rId5">
            <a:alphaModFix/>
          </a:blip>
          <a:srcRect b="0" l="0" r="0" t="0"/>
          <a:stretch/>
        </p:blipFill>
        <p:spPr>
          <a:xfrm>
            <a:off x="5254704" y="4507944"/>
            <a:ext cx="566976" cy="566976"/>
          </a:xfrm>
          <a:prstGeom prst="rect">
            <a:avLst/>
          </a:prstGeom>
          <a:noFill/>
          <a:ln>
            <a:noFill/>
          </a:ln>
        </p:spPr>
      </p:pic>
      <p:sp>
        <p:nvSpPr>
          <p:cNvPr id="331" name="Google Shape;331;p15"/>
          <p:cNvSpPr/>
          <p:nvPr/>
        </p:nvSpPr>
        <p:spPr>
          <a:xfrm>
            <a:off x="5254704" y="530173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Próximos Pasos</a:t>
            </a:r>
            <a:endParaRPr b="0" i="0" sz="2200" u="none" cap="none" strike="noStrike"/>
          </a:p>
        </p:txBody>
      </p:sp>
      <p:sp>
        <p:nvSpPr>
          <p:cNvPr id="332" name="Google Shape;332;p15"/>
          <p:cNvSpPr/>
          <p:nvPr/>
        </p:nvSpPr>
        <p:spPr>
          <a:xfrm>
            <a:off x="5254704" y="5792153"/>
            <a:ext cx="4120872"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Seguir aprendiendo y aplicando estos patrones en proyectos reales, así como compartir conocimiento con el equipo de desarrollo.</a:t>
            </a:r>
            <a:endParaRPr b="0" i="0" sz="1750" u="none" cap="none" strike="noStrike"/>
          </a:p>
        </p:txBody>
      </p:sp>
      <p:pic>
        <p:nvPicPr>
          <p:cNvPr descr="preencoded.png" id="333" name="Google Shape;333;p15"/>
          <p:cNvPicPr preferRelativeResize="0"/>
          <p:nvPr/>
        </p:nvPicPr>
        <p:blipFill rotWithShape="1">
          <a:blip r:embed="rId6">
            <a:alphaModFix/>
          </a:blip>
          <a:srcRect b="0" l="0" r="0" t="0"/>
          <a:stretch/>
        </p:blipFill>
        <p:spPr>
          <a:xfrm>
            <a:off x="9715738" y="4507944"/>
            <a:ext cx="566976" cy="566976"/>
          </a:xfrm>
          <a:prstGeom prst="rect">
            <a:avLst/>
          </a:prstGeom>
          <a:noFill/>
          <a:ln>
            <a:noFill/>
          </a:ln>
        </p:spPr>
      </p:pic>
      <p:sp>
        <p:nvSpPr>
          <p:cNvPr id="334" name="Google Shape;334;p15"/>
          <p:cNvSpPr/>
          <p:nvPr/>
        </p:nvSpPr>
        <p:spPr>
          <a:xfrm>
            <a:off x="9715738" y="5301734"/>
            <a:ext cx="3056453"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200"/>
              <a:buFont typeface="Fraunces ExtraBold"/>
              <a:buNone/>
            </a:pPr>
            <a:r>
              <a:rPr b="1" i="0" lang="en-US" sz="2200" u="none" cap="none" strike="noStrike">
                <a:solidFill>
                  <a:srgbClr val="405449"/>
                </a:solidFill>
                <a:latin typeface="Fraunces ExtraBold"/>
                <a:ea typeface="Fraunces ExtraBold"/>
                <a:cs typeface="Fraunces ExtraBold"/>
                <a:sym typeface="Fraunces ExtraBold"/>
              </a:rPr>
              <a:t>Trabajo Colaborativo</a:t>
            </a:r>
            <a:endParaRPr b="0" i="0" sz="2200" u="none" cap="none" strike="noStrike"/>
          </a:p>
        </p:txBody>
      </p:sp>
      <p:sp>
        <p:nvSpPr>
          <p:cNvPr id="335" name="Google Shape;335;p15"/>
          <p:cNvSpPr/>
          <p:nvPr/>
        </p:nvSpPr>
        <p:spPr>
          <a:xfrm>
            <a:off x="9715738" y="5792153"/>
            <a:ext cx="4120753"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Fomentar la colaboración entre diseñadores y desarrolladores para identificar oportunidades de aplicar patrones de diseño.</a:t>
            </a:r>
            <a:endParaRPr b="0" i="0" sz="17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2024-11-04T01:52:55Z</dcterms:created>
  <dc:creator>PptxGenJS</dc:creator>
</cp:coreProperties>
</file>