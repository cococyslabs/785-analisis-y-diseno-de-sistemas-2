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Alice"/>
      <p:regular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sebzJ4/Ct0NH4mGrNKwNcPJzv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11B49-C312-4CEC-B46C-4C3F556187D9}">
  <a:tblStyle styleId="{A5611B49-C312-4CEC-B46C-4C3F556187D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lice-regular.fntdata"/><Relationship Id="rId21" Type="http://schemas.openxmlformats.org/officeDocument/2006/relationships/slide" Target="slides/slide16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8e13b145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118e13b145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8e13b145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3118e13b145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3118e13b145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42.png"/><Relationship Id="rId8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118e13b145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3118e13b145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{A5611B49-C312-4CEC-B46C-4C3F556187D9}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3118e13b145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118e13b145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438043"/>
            <a:ext cx="4919305" cy="335339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2501622"/>
            <a:ext cx="58456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Introducción a DevOps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3550563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es una metodología que integra las prácticas de desarrollo de software (Dev) y las operaciones de TI (Ops) para lograr una mayor agilidad, eficiencia y calidad en el proceso de entrega de software. Los principales objetivos de DevOps son acelerar el ciclo de desarrollo, mejorar la colaboración entre equipos y aumentar la confiabilidad de las aplicaciones.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1618178"/>
            <a:ext cx="4919305" cy="499312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793790" y="109823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¿Qué es DevOps?</a:t>
            </a:r>
            <a:endParaRPr b="0" i="0" sz="445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793790" y="2402324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1417439" y="24023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Enfoque Integrado</a:t>
            </a:r>
            <a:endParaRPr b="0" i="0" sz="22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1417439" y="2892743"/>
            <a:ext cx="3041213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es una metodología que une el desarrollo de software (Development) y las operaciones informáticas (Operations) en un proceso colaborativo y de mejora continua.</a:t>
            </a:r>
            <a:endParaRPr b="0" i="0" sz="17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4685467" y="2402324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5309116" y="24023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Objetivo Principal</a:t>
            </a:r>
            <a:endParaRPr b="0" i="0" sz="22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5309116" y="2892743"/>
            <a:ext cx="3041213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Acortar el ciclo de vida del desarrollo de software y proporcionar un flujo de trabajo ágil y eficiente para el lanzamiento de nuevas aplicaciones y actualizaciones.</a:t>
            </a:r>
            <a:endParaRPr b="0" i="0" sz="17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793790" y="5915025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1417439" y="5915025"/>
            <a:ext cx="294715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Cultura Organizacional</a:t>
            </a:r>
            <a:endParaRPr b="0" i="0" sz="22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1417439" y="6405443"/>
            <a:ext cx="693277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fomenta una cultura de trabajo en equipo, comunicación abierta y mejora continua en toda la organización.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057" y="2814757"/>
            <a:ext cx="4952286" cy="259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6233874" y="758071"/>
            <a:ext cx="7649051" cy="133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200"/>
              <a:buFont typeface="Alice"/>
              <a:buNone/>
            </a:pPr>
            <a:r>
              <a:rPr b="0" i="0" lang="en-US" sz="4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Objetivos principales de DevOps</a:t>
            </a:r>
            <a:endParaRPr b="0" i="0" sz="420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6233874" y="2413278"/>
            <a:ext cx="3717846" cy="2589133"/>
          </a:xfrm>
          <a:prstGeom prst="roundRect">
            <a:avLst>
              <a:gd fmla="val 123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447353" y="2626757"/>
            <a:ext cx="3290887" cy="667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Acortar el ciclo de desarrollo</a:t>
            </a:r>
            <a:endParaRPr b="0" i="0" sz="2100" u="none" cap="none" strike="noStrike"/>
          </a:p>
        </p:txBody>
      </p:sp>
      <p:sp>
        <p:nvSpPr>
          <p:cNvPr id="104" name="Google Shape;104;p3"/>
          <p:cNvSpPr/>
          <p:nvPr/>
        </p:nvSpPr>
        <p:spPr>
          <a:xfrm>
            <a:off x="6447353" y="3422094"/>
            <a:ext cx="329088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busca reducir el tiempo entre la concepción de una idea y su implementación en producción.</a:t>
            </a:r>
            <a:endParaRPr b="0" i="0" sz="165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10165199" y="2413278"/>
            <a:ext cx="3717846" cy="2589133"/>
          </a:xfrm>
          <a:prstGeom prst="roundRect">
            <a:avLst>
              <a:gd fmla="val 123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0378678" y="2626757"/>
            <a:ext cx="2669619" cy="333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Mejorar la calidad</a:t>
            </a:r>
            <a:endParaRPr b="0" i="0" sz="210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10378678" y="3088481"/>
            <a:ext cx="329088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 través de la automatización y la colaboración, DevOps ayuda a detectar y corregir errores más rápidamente.</a:t>
            </a:r>
            <a:endParaRPr b="0" i="0" sz="165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6233874" y="5215890"/>
            <a:ext cx="3717846" cy="2255520"/>
          </a:xfrm>
          <a:prstGeom prst="roundRect">
            <a:avLst>
              <a:gd fmla="val 142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447353" y="5429369"/>
            <a:ext cx="2976682" cy="333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Incrementar la eficiencia</a:t>
            </a:r>
            <a:endParaRPr b="0" i="0" sz="2100" u="none" cap="none" strike="noStrike"/>
          </a:p>
        </p:txBody>
      </p:sp>
      <p:sp>
        <p:nvSpPr>
          <p:cNvPr id="110" name="Google Shape;110;p3"/>
          <p:cNvSpPr/>
          <p:nvPr/>
        </p:nvSpPr>
        <p:spPr>
          <a:xfrm>
            <a:off x="6447353" y="5891093"/>
            <a:ext cx="329088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integración de equipos y procesos en DevOps permite optimizar el flujo de trabajo y aumentar la productividad.</a:t>
            </a:r>
            <a:endParaRPr b="0" i="0" sz="165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10165199" y="5215890"/>
            <a:ext cx="3717846" cy="2255520"/>
          </a:xfrm>
          <a:prstGeom prst="roundRect">
            <a:avLst>
              <a:gd fmla="val 142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0378678" y="5429369"/>
            <a:ext cx="2795468" cy="333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Fomentar la innovación</a:t>
            </a:r>
            <a:endParaRPr b="0" i="0" sz="210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10378678" y="5891093"/>
            <a:ext cx="329088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facilita la experimentación y la implementación ágil de nuevas funcionalidades y mejoras.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4984" y="2453283"/>
            <a:ext cx="4984313" cy="3322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702945" y="589121"/>
            <a:ext cx="5021223" cy="62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50"/>
              <a:buFont typeface="Alice"/>
              <a:buNone/>
            </a:pPr>
            <a:r>
              <a:rPr b="0" i="0" lang="en-US" sz="39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Historia de DevOps</a:t>
            </a:r>
            <a:endParaRPr b="0" i="0" sz="3950" u="none" cap="none" strike="noStrike"/>
          </a:p>
        </p:txBody>
      </p:sp>
      <p:sp>
        <p:nvSpPr>
          <p:cNvPr id="122" name="Google Shape;122;p4"/>
          <p:cNvSpPr/>
          <p:nvPr/>
        </p:nvSpPr>
        <p:spPr>
          <a:xfrm>
            <a:off x="992743" y="1517928"/>
            <a:ext cx="22860" cy="6122432"/>
          </a:xfrm>
          <a:prstGeom prst="roundRect">
            <a:avLst>
              <a:gd fmla="val 131792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207234" y="1958221"/>
            <a:ext cx="702945" cy="22860"/>
          </a:xfrm>
          <a:prstGeom prst="roundRect">
            <a:avLst>
              <a:gd fmla="val 131792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78252" y="1743789"/>
            <a:ext cx="451842" cy="451842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39701" y="1819037"/>
            <a:ext cx="128945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50"/>
              <a:buFont typeface="Alice"/>
              <a:buNone/>
            </a:pPr>
            <a:r>
              <a:rPr b="0" i="0" lang="en-US" sz="2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3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2108835" y="1718667"/>
            <a:ext cx="3382804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Orígenes en la década de 2000</a:t>
            </a:r>
            <a:endParaRPr b="0" i="0" sz="1950" u="none" cap="none" strike="noStrike"/>
          </a:p>
        </p:txBody>
      </p:sp>
      <p:sp>
        <p:nvSpPr>
          <p:cNvPr id="127" name="Google Shape;127;p4"/>
          <p:cNvSpPr/>
          <p:nvPr/>
        </p:nvSpPr>
        <p:spPr>
          <a:xfrm>
            <a:off x="2108835" y="2153007"/>
            <a:ext cx="6332220" cy="9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concepto de DevOps surgió a principios de la década de 2000 como una respuesta a los desafíos de integrar los equipos de desarrollo y operaciones en la industria de tecnología.</a:t>
            </a:r>
            <a:endParaRPr b="0" i="0" sz="155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1207234" y="3958828"/>
            <a:ext cx="702945" cy="22860"/>
          </a:xfrm>
          <a:prstGeom prst="roundRect">
            <a:avLst>
              <a:gd fmla="val 131792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78252" y="3744397"/>
            <a:ext cx="451842" cy="451842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30176" y="3819644"/>
            <a:ext cx="147876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50"/>
              <a:buFont typeface="Alice"/>
              <a:buNone/>
            </a:pPr>
            <a:r>
              <a:rPr b="0" i="0" lang="en-US" sz="2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35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2108835" y="3719274"/>
            <a:ext cx="3856673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Evolución del Movimiento DevOps</a:t>
            </a:r>
            <a:endParaRPr b="0" i="0" sz="1950" u="none" cap="none" strike="noStrike"/>
          </a:p>
        </p:txBody>
      </p:sp>
      <p:sp>
        <p:nvSpPr>
          <p:cNvPr id="132" name="Google Shape;132;p4"/>
          <p:cNvSpPr/>
          <p:nvPr/>
        </p:nvSpPr>
        <p:spPr>
          <a:xfrm>
            <a:off x="2108835" y="4153614"/>
            <a:ext cx="6332220" cy="9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 lo largo de los años, DevOps se fue consolidando como un enfoque integral que abraza la colaboración, la automatización y la mejora continua en el ciclo de vida del software.</a:t>
            </a:r>
            <a:endParaRPr b="0" i="0" sz="1550" u="none" cap="none" strike="noStrike"/>
          </a:p>
        </p:txBody>
      </p:sp>
      <p:sp>
        <p:nvSpPr>
          <p:cNvPr id="133" name="Google Shape;133;p4"/>
          <p:cNvSpPr/>
          <p:nvPr/>
        </p:nvSpPr>
        <p:spPr>
          <a:xfrm>
            <a:off x="1207234" y="5959435"/>
            <a:ext cx="702945" cy="22860"/>
          </a:xfrm>
          <a:prstGeom prst="roundRect">
            <a:avLst>
              <a:gd fmla="val 131792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78252" y="5745004"/>
            <a:ext cx="451842" cy="451842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930771" y="5820251"/>
            <a:ext cx="146685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50"/>
              <a:buFont typeface="Alice"/>
              <a:buNone/>
            </a:pPr>
            <a:r>
              <a:rPr b="0" i="0" lang="en-US" sz="2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350" u="none" cap="none" strike="noStrike"/>
          </a:p>
        </p:txBody>
      </p:sp>
      <p:sp>
        <p:nvSpPr>
          <p:cNvPr id="136" name="Google Shape;136;p4"/>
          <p:cNvSpPr/>
          <p:nvPr/>
        </p:nvSpPr>
        <p:spPr>
          <a:xfrm>
            <a:off x="2108835" y="5719882"/>
            <a:ext cx="3016925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Adopción e Impacto Actual</a:t>
            </a:r>
            <a:endParaRPr b="0" i="0" sz="1950" u="none" cap="none" strike="noStrike"/>
          </a:p>
        </p:txBody>
      </p:sp>
      <p:sp>
        <p:nvSpPr>
          <p:cNvPr id="137" name="Google Shape;137;p4"/>
          <p:cNvSpPr/>
          <p:nvPr/>
        </p:nvSpPr>
        <p:spPr>
          <a:xfrm>
            <a:off x="2108835" y="6154222"/>
            <a:ext cx="6332220" cy="128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Hoy en día, DevOps se ha convertido en una práctica ampliamente adoptada en la industria tecnológica, transformando la forma en que las organizaciones desarrollan, implementan y mantienen sus aplicaciones.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632698" y="497086"/>
            <a:ext cx="4519851" cy="564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550"/>
              <a:buFont typeface="Alice"/>
              <a:buNone/>
            </a:pPr>
            <a:r>
              <a:rPr b="0" i="0" lang="en-US" sz="35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Evolución de DevOps</a:t>
            </a:r>
            <a:endParaRPr b="0" i="0" sz="3550" u="none" cap="none" strike="noStrike"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1311" y="1423630"/>
            <a:ext cx="2205157" cy="162032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3925491" y="2268855"/>
            <a:ext cx="96679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1750" u="none" cap="none" strike="noStrike"/>
          </a:p>
        </p:txBody>
      </p:sp>
      <p:sp>
        <p:nvSpPr>
          <p:cNvPr id="146" name="Google Shape;146;p5"/>
          <p:cNvSpPr/>
          <p:nvPr/>
        </p:nvSpPr>
        <p:spPr>
          <a:xfrm>
            <a:off x="5257205" y="1749028"/>
            <a:ext cx="2259925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Inicio</a:t>
            </a:r>
            <a:endParaRPr b="0" i="0" sz="1750" u="none" cap="none" strike="noStrike"/>
          </a:p>
        </p:txBody>
      </p:sp>
      <p:sp>
        <p:nvSpPr>
          <p:cNvPr id="147" name="Google Shape;147;p5"/>
          <p:cNvSpPr/>
          <p:nvPr/>
        </p:nvSpPr>
        <p:spPr>
          <a:xfrm>
            <a:off x="5257205" y="2139910"/>
            <a:ext cx="855976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surgió como una respuesta a la necesidad de agilizar y mejorar el proceso de desarrollo y despliegue de software.</a:t>
            </a:r>
            <a:endParaRPr b="0" i="0" sz="14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5121593" y="3056930"/>
            <a:ext cx="8830985" cy="11430"/>
          </a:xfrm>
          <a:prstGeom prst="roundRect">
            <a:avLst>
              <a:gd fmla="val 237268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8673" y="3089077"/>
            <a:ext cx="4410432" cy="162032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3918347" y="3718441"/>
            <a:ext cx="110966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175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6359843" y="3414474"/>
            <a:ext cx="2259925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Adopción inicial</a:t>
            </a:r>
            <a:endParaRPr b="0" i="0" sz="175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6359843" y="3805357"/>
            <a:ext cx="745712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 los inicios, DevOps fue adoptado principalmente por empresas de tecnología y startups, que buscaban acelerar sus ciclos de desarrollo.</a:t>
            </a:r>
            <a:endParaRPr b="0" i="0" sz="1400" u="none" cap="none" strike="noStrike"/>
          </a:p>
        </p:txBody>
      </p:sp>
      <p:sp>
        <p:nvSpPr>
          <p:cNvPr id="153" name="Google Shape;153;p5"/>
          <p:cNvSpPr/>
          <p:nvPr/>
        </p:nvSpPr>
        <p:spPr>
          <a:xfrm>
            <a:off x="6224230" y="4722376"/>
            <a:ext cx="7728347" cy="11430"/>
          </a:xfrm>
          <a:prstGeom prst="roundRect">
            <a:avLst>
              <a:gd fmla="val 237268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036" y="4754523"/>
            <a:ext cx="6615589" cy="162032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3918823" y="5383887"/>
            <a:ext cx="110014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1750" u="none" cap="none" strike="noStrike"/>
          </a:p>
        </p:txBody>
      </p:sp>
      <p:sp>
        <p:nvSpPr>
          <p:cNvPr id="156" name="Google Shape;156;p5"/>
          <p:cNvSpPr/>
          <p:nvPr/>
        </p:nvSpPr>
        <p:spPr>
          <a:xfrm>
            <a:off x="7462361" y="4935260"/>
            <a:ext cx="2259925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Madurez y expansión</a:t>
            </a:r>
            <a:endParaRPr b="0" i="0" sz="1750" u="none" cap="none" strike="noStrike"/>
          </a:p>
        </p:txBody>
      </p:sp>
      <p:sp>
        <p:nvSpPr>
          <p:cNvPr id="157" name="Google Shape;157;p5"/>
          <p:cNvSpPr/>
          <p:nvPr/>
        </p:nvSpPr>
        <p:spPr>
          <a:xfrm>
            <a:off x="7462361" y="5326142"/>
            <a:ext cx="6354604" cy="867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 el tiempo, DevOps se ha ido consolidando y expandiendo a diversos sectores, convirtiéndose en una práctica estándar en la industria del software.</a:t>
            </a:r>
            <a:endParaRPr b="0" i="0" sz="1400" u="none" cap="none" strike="noStrike"/>
          </a:p>
        </p:txBody>
      </p:sp>
      <p:sp>
        <p:nvSpPr>
          <p:cNvPr id="158" name="Google Shape;158;p5"/>
          <p:cNvSpPr/>
          <p:nvPr/>
        </p:nvSpPr>
        <p:spPr>
          <a:xfrm>
            <a:off x="632698" y="6578203"/>
            <a:ext cx="13365004" cy="1157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evolución de DevOps ha sido un proceso gradual, impulsado por la necesidad de las organizaciones de adaptarse a un entorno de desarrollo y despliegue de software cada vez más ágil y cambiante. Desde sus inicios como una práctica adoptada principalmente por empresas tecnológicas, DevOps se ha ido consolidando y expandiendo a diversos sectores, convirtiéndose en una metodología fundamental para mejorar la eficiencia y la calidad de los procesos de desarrollo de software.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817" y="2453878"/>
            <a:ext cx="4982766" cy="3321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6191726" y="600908"/>
            <a:ext cx="7733348" cy="1259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50"/>
              <a:buFont typeface="Alice"/>
              <a:buNone/>
            </a:pPr>
            <a:r>
              <a:rPr b="0" i="0" lang="en-US" sz="39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Beneficios de implementar DevOps</a:t>
            </a:r>
            <a:endParaRPr b="0" i="0" sz="3950" u="none" cap="none" strike="noStrike"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726" y="2162770"/>
            <a:ext cx="503753" cy="50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6191726" y="2867978"/>
            <a:ext cx="2519005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Mayor velocidad</a:t>
            </a:r>
            <a:endParaRPr b="0" i="0" sz="195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6191726" y="3303746"/>
            <a:ext cx="3715583" cy="128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permite un desarrollo y despliegue de aplicaciones más rápido, reduciendo significativamente el tiempo de entrega.</a:t>
            </a:r>
            <a:endParaRPr b="0" i="0" sz="1550" u="none" cap="none" strike="noStrike"/>
          </a:p>
        </p:txBody>
      </p:sp>
      <p:pic>
        <p:nvPicPr>
          <p:cNvPr descr="preencoded.png" id="170" name="Google Shape;1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9490" y="2162770"/>
            <a:ext cx="503753" cy="50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10209490" y="2867978"/>
            <a:ext cx="2519005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 calidad</a:t>
            </a:r>
            <a:endParaRPr b="0" i="0" sz="1950" u="none" cap="none" strike="noStrike"/>
          </a:p>
        </p:txBody>
      </p:sp>
      <p:sp>
        <p:nvSpPr>
          <p:cNvPr id="172" name="Google Shape;172;p6"/>
          <p:cNvSpPr/>
          <p:nvPr/>
        </p:nvSpPr>
        <p:spPr>
          <a:xfrm>
            <a:off x="10209490" y="3303746"/>
            <a:ext cx="3715583" cy="128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automatización y las pruebas continuas mejoran la calidad del software, reduciendo los errores y defectos.</a:t>
            </a:r>
            <a:endParaRPr b="0" i="0" sz="1550" u="none" cap="none" strike="noStrike"/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726" y="5197912"/>
            <a:ext cx="503753" cy="50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6191726" y="5903119"/>
            <a:ext cx="2519005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 colaboración</a:t>
            </a:r>
            <a:endParaRPr b="0" i="0" sz="1950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6191726" y="6338888"/>
            <a:ext cx="3715583" cy="128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fomenta una estrecha colaboración entre los equipos de desarrollo y operaciones, rompiendo las barreras tradicionales.</a:t>
            </a:r>
            <a:endParaRPr b="0" i="0" sz="1550" u="none" cap="none" strike="noStrike"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09490" y="5197912"/>
            <a:ext cx="503753" cy="50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10209490" y="5903119"/>
            <a:ext cx="2519005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Mayor eficiencia</a:t>
            </a:r>
            <a:endParaRPr b="0" i="0" sz="1950" u="none" cap="none" strike="noStrike"/>
          </a:p>
        </p:txBody>
      </p:sp>
      <p:sp>
        <p:nvSpPr>
          <p:cNvPr id="178" name="Google Shape;178;p6"/>
          <p:cNvSpPr/>
          <p:nvPr/>
        </p:nvSpPr>
        <p:spPr>
          <a:xfrm>
            <a:off x="10209490" y="6338888"/>
            <a:ext cx="3715583" cy="128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automatización de tareas repetitivas y la optimización de procesos aumentan la eficiencia en el desarrollo de software.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793790" y="1814155"/>
            <a:ext cx="88261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Mejora en el desarrollo de software</a:t>
            </a:r>
            <a:endParaRPr b="0" i="0" sz="445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Mayor Colaboración</a:t>
            </a:r>
            <a:endParaRPr b="0" i="0" sz="2200" u="none" cap="none" strike="noStrike"/>
          </a:p>
        </p:txBody>
      </p:sp>
      <p:sp>
        <p:nvSpPr>
          <p:cNvPr id="186" name="Google Shape;186;p7"/>
          <p:cNvSpPr/>
          <p:nvPr/>
        </p:nvSpPr>
        <p:spPr>
          <a:xfrm>
            <a:off x="793790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 fomenta una mayor colaboración entre los equipos de desarrollo y operaciones, lo que facilita una mejor comunicación y una integración más fluida.</a:t>
            </a:r>
            <a:endParaRPr b="0" i="0" sz="1750" u="none" cap="none" strike="noStrike"/>
          </a:p>
        </p:txBody>
      </p:sp>
      <p:sp>
        <p:nvSpPr>
          <p:cNvPr id="187" name="Google Shape;187;p7"/>
          <p:cNvSpPr/>
          <p:nvPr/>
        </p:nvSpPr>
        <p:spPr>
          <a:xfrm>
            <a:off x="4200406" y="3089910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Más Rápido y Eficiente</a:t>
            </a:r>
            <a:endParaRPr b="0" i="0" sz="220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4200406" y="4025384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 la automatización y la integración continua, los ciclos de desarrollo se aceleran, lo que permite una entrega de software más ágil y efectiva.</a:t>
            </a:r>
            <a:endParaRPr b="0" i="0" sz="1750" u="none" cap="none" strike="noStrike"/>
          </a:p>
        </p:txBody>
      </p:sp>
      <p:sp>
        <p:nvSpPr>
          <p:cNvPr id="189" name="Google Shape;189;p7"/>
          <p:cNvSpPr/>
          <p:nvPr/>
        </p:nvSpPr>
        <p:spPr>
          <a:xfrm>
            <a:off x="7607022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Menos Defectos</a:t>
            </a:r>
            <a:endParaRPr b="0" i="0" sz="22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7607022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automatizadas y el monitoreo constante ayudan a identificar y corregir errores de manera más temprana en el proceso de desarrollo.</a:t>
            </a:r>
            <a:endParaRPr b="0" i="0" sz="175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11013638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Mayor Calidad</a:t>
            </a:r>
            <a:endParaRPr b="0" i="0" sz="2200" u="none" cap="none" strike="noStrike"/>
          </a:p>
        </p:txBody>
      </p:sp>
      <p:sp>
        <p:nvSpPr>
          <p:cNvPr id="192" name="Google Shape;192;p7"/>
          <p:cNvSpPr/>
          <p:nvPr/>
        </p:nvSpPr>
        <p:spPr>
          <a:xfrm>
            <a:off x="11013638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combinación de procesos más eficientes, trabajo en equipo y herramientas de calidad resulta en un software de mayor calidad y confiabilidad.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793790" y="788789"/>
            <a:ext cx="901612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Aumento en la velocidad de entrega</a:t>
            </a:r>
            <a:endParaRPr b="0" i="0" sz="4450" u="none" cap="none" strike="noStrike"/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51196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793790" y="47814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Desarrollo Ágil</a:t>
            </a:r>
            <a:endParaRPr b="0" i="0" sz="2200" u="none" cap="none" strike="noStrike"/>
          </a:p>
        </p:txBody>
      </p:sp>
      <p:sp>
        <p:nvSpPr>
          <p:cNvPr id="201" name="Google Shape;201;p8"/>
          <p:cNvSpPr/>
          <p:nvPr/>
        </p:nvSpPr>
        <p:spPr>
          <a:xfrm>
            <a:off x="793790" y="5271849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metodologías ágiles como Scrum y Kanban permiten iteraciones rápidas y entregas frecuentes, acelerando el proceso de desarrollo y lanzamiento de software.</a:t>
            </a:r>
            <a:endParaRPr b="0" i="0" sz="1750" u="none" cap="none" strike="noStrike"/>
          </a:p>
        </p:txBody>
      </p:sp>
      <p:pic>
        <p:nvPicPr>
          <p:cNvPr descr="preencoded.png"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1951196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5254704" y="4781550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Integración y Despliegue Continuos</a:t>
            </a:r>
            <a:endParaRPr b="0" i="0" sz="2200" u="none" cap="none" strike="noStrike"/>
          </a:p>
        </p:txBody>
      </p:sp>
      <p:sp>
        <p:nvSpPr>
          <p:cNvPr id="204" name="Google Shape;204;p8"/>
          <p:cNvSpPr/>
          <p:nvPr/>
        </p:nvSpPr>
        <p:spPr>
          <a:xfrm>
            <a:off x="5254704" y="5626298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automatización de las tareas de construcción, pruebas y despliegue elimina cuellos de botella y acelera el ciclo de entrega de nuevas funcionalidades.</a:t>
            </a:r>
            <a:endParaRPr b="0" i="0" sz="1750" u="none" cap="none" strike="noStrike"/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1951196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9715738" y="47814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 Continua</a:t>
            </a:r>
            <a:endParaRPr b="0" i="0" sz="220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9715738" y="5271849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enfoque DevOps fomenta la retroalimentación y la adaptación constante, lo que permite optimizar los procesos y reducir el tiempo entre iteraciones.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793790" y="2539960"/>
            <a:ext cx="690300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Mayor calidad y estabilidad</a:t>
            </a:r>
            <a:endParaRPr b="0" i="0" sz="445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793790" y="3815715"/>
            <a:ext cx="362128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Código más limpio y robusto</a:t>
            </a:r>
            <a:endParaRPr b="0" i="0" sz="2200" u="none" cap="none" strike="noStrike"/>
          </a:p>
        </p:txBody>
      </p:sp>
      <p:sp>
        <p:nvSpPr>
          <p:cNvPr id="215" name="Google Shape;215;p9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 adoptar las prácticas de DevOps, los equipos de desarrollo se enfocan en escribir código de mayor calidad, con menos errores y mejor mantenimiento.</a:t>
            </a:r>
            <a:endParaRPr b="0" i="0" sz="17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7599521" y="3815715"/>
            <a:ext cx="429363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Implementaciones más confiables</a:t>
            </a:r>
            <a:endParaRPr b="0" i="0" sz="220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procesos automatizados y la integración continua en DevOps permiten implementar cambios con mayor estabilidad y reducir la probabilidad de fallas.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491133" y="386953"/>
            <a:ext cx="6208871" cy="438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750"/>
              <a:buFont typeface="Alice"/>
              <a:buNone/>
            </a:pPr>
            <a:r>
              <a:rPr b="0" i="0" lang="en-US" sz="27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Ciclo de vida de aplicaciones en DevOps</a:t>
            </a:r>
            <a:endParaRPr b="0" i="0" sz="2750" u="none" cap="none" strike="noStrike"/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3" y="1106091"/>
            <a:ext cx="701635" cy="11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1403271" y="1246346"/>
            <a:ext cx="1754267" cy="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Planificación</a:t>
            </a:r>
            <a:endParaRPr b="0" i="0" sz="135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1403271" y="1549718"/>
            <a:ext cx="12735997" cy="22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Establecer objetivos, requisitos y estrategia para el desarrollo de la aplicación.</a:t>
            </a:r>
            <a:endParaRPr b="0" i="0" sz="1100" u="none" cap="none" strike="noStrike"/>
          </a:p>
        </p:txBody>
      </p:sp>
      <p:pic>
        <p:nvPicPr>
          <p:cNvPr descr="preencoded.png" id="227" name="Google Shape;22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133" y="2228850"/>
            <a:ext cx="701635" cy="11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1403271" y="2369106"/>
            <a:ext cx="1754267" cy="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Código</a:t>
            </a:r>
            <a:endParaRPr b="0" i="0" sz="135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1403271" y="2672477"/>
            <a:ext cx="12735997" cy="22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Colaboración entre equipos de desarrollo para escribir y mantener el código fuente.</a:t>
            </a:r>
            <a:endParaRPr b="0" i="0" sz="1100" u="none" cap="none" strike="noStrike"/>
          </a:p>
        </p:txBody>
      </p:sp>
      <p:pic>
        <p:nvPicPr>
          <p:cNvPr descr="preencoded.png" id="230" name="Google Shape;23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133" y="3351609"/>
            <a:ext cx="701635" cy="11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1403271" y="3491865"/>
            <a:ext cx="1754267" cy="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Construcción</a:t>
            </a:r>
            <a:endParaRPr b="0" i="0" sz="135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1403271" y="3795236"/>
            <a:ext cx="12735997" cy="22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Automatizar la compilación, pruebas e integración continua de la aplicación.</a:t>
            </a:r>
            <a:endParaRPr b="0" i="0" sz="1100" u="none" cap="none" strike="noStrike"/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133" y="4474369"/>
            <a:ext cx="701635" cy="11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1403271" y="4614624"/>
            <a:ext cx="1754267" cy="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Despliegue</a:t>
            </a:r>
            <a:endParaRPr b="0" i="0" sz="135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1403271" y="4917996"/>
            <a:ext cx="12735997" cy="22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Implementar la aplicación de manera ágil y segura en diferentes entornos.</a:t>
            </a:r>
            <a:endParaRPr b="0" i="0" sz="1100" u="none" cap="none" strike="noStrike"/>
          </a:p>
        </p:txBody>
      </p:sp>
      <p:pic>
        <p:nvPicPr>
          <p:cNvPr descr="preencoded.png" id="236" name="Google Shape;23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133" y="5597128"/>
            <a:ext cx="701635" cy="11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1403271" y="5737384"/>
            <a:ext cx="1754267" cy="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Operación</a:t>
            </a:r>
            <a:endParaRPr b="0" i="0" sz="135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1403271" y="6040755"/>
            <a:ext cx="12735997" cy="22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Monitorizar y mantener la aplicación en producción, identificando y resolviendo problemas.</a:t>
            </a:r>
            <a:endParaRPr b="0" i="0" sz="1100" u="none" cap="none" strike="noStrike"/>
          </a:p>
        </p:txBody>
      </p:sp>
      <p:pic>
        <p:nvPicPr>
          <p:cNvPr descr="preencoded.png" id="239" name="Google Shape;23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133" y="6719888"/>
            <a:ext cx="701635" cy="11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1403271" y="6860143"/>
            <a:ext cx="1754267" cy="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</a:t>
            </a:r>
            <a:endParaRPr b="0" i="0" sz="1350" u="none" cap="none" strike="noStrike"/>
          </a:p>
        </p:txBody>
      </p:sp>
      <p:sp>
        <p:nvSpPr>
          <p:cNvPr id="241" name="Google Shape;241;p10"/>
          <p:cNvSpPr/>
          <p:nvPr/>
        </p:nvSpPr>
        <p:spPr>
          <a:xfrm>
            <a:off x="1403271" y="7163514"/>
            <a:ext cx="12735997" cy="22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Analizar métricas y retroalimentación para iterar y mejorar continuamente la aplicación.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/>
          <p:nvPr/>
        </p:nvSpPr>
        <p:spPr>
          <a:xfrm>
            <a:off x="793790" y="770572"/>
            <a:ext cx="112941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Etapas clave en el flujo de trabajo de DevOps</a:t>
            </a:r>
            <a:endParaRPr b="0" i="0" sz="4450" u="none" cap="none" strike="noStrike"/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32980"/>
            <a:ext cx="3005495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793790" y="4073962"/>
            <a:ext cx="300549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Planificación y Colaboración</a:t>
            </a:r>
            <a:endParaRPr b="0" i="0" sz="2200" u="none" cap="none" strike="noStrike"/>
          </a:p>
        </p:txBody>
      </p:sp>
      <p:sp>
        <p:nvSpPr>
          <p:cNvPr id="250" name="Google Shape;250;p11"/>
          <p:cNvSpPr/>
          <p:nvPr/>
        </p:nvSpPr>
        <p:spPr>
          <a:xfrm>
            <a:off x="793790" y="4918710"/>
            <a:ext cx="3005495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flujo de trabajo DevOps comienza con una estrecha colaboración entre equipos de desarrollo y operaciones, planificando objetivos y estrategias para entregas continuas.</a:t>
            </a:r>
            <a:endParaRPr b="0" i="0" sz="1750" u="none" cap="none" strike="noStrike"/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446" y="1932980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4139446" y="40739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Integración Continua</a:t>
            </a:r>
            <a:endParaRPr b="0" i="0" sz="2200" u="none" cap="none" strike="noStrike"/>
          </a:p>
        </p:txBody>
      </p:sp>
      <p:sp>
        <p:nvSpPr>
          <p:cNvPr id="253" name="Google Shape;253;p11"/>
          <p:cNvSpPr/>
          <p:nvPr/>
        </p:nvSpPr>
        <p:spPr>
          <a:xfrm>
            <a:off x="4139446" y="4564380"/>
            <a:ext cx="300561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Mediante la integración y pruebas automatizadas, los desarrollos se fusionan regularmente en un repositorio común, detectando y corrigiendo errores tempranamente.</a:t>
            </a:r>
            <a:endParaRPr b="0" i="0" sz="1750" u="none" cap="none" strike="noStrike"/>
          </a:p>
        </p:txBody>
      </p:sp>
      <p:pic>
        <p:nvPicPr>
          <p:cNvPr descr="preencoded.png" id="254" name="Google Shape;25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5221" y="1932980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7485221" y="40739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Entrega Continua</a:t>
            </a:r>
            <a:endParaRPr b="0" i="0" sz="2200" u="none" cap="none" strike="noStrike"/>
          </a:p>
        </p:txBody>
      </p:sp>
      <p:sp>
        <p:nvSpPr>
          <p:cNvPr id="256" name="Google Shape;256;p11"/>
          <p:cNvSpPr/>
          <p:nvPr/>
        </p:nvSpPr>
        <p:spPr>
          <a:xfrm>
            <a:off x="7485221" y="4564380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código integrado se despliega de forma automatizada a diferentes entornos, acelerando el proceso de lanzamiento de nuevas funcionalidades.</a:t>
            </a:r>
            <a:endParaRPr b="0" i="0" sz="1750" u="none" cap="none" strike="noStrike"/>
          </a:p>
        </p:txBody>
      </p:sp>
      <p:pic>
        <p:nvPicPr>
          <p:cNvPr descr="preencoded.png" id="257" name="Google Shape;25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0997" y="1932980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10830997" y="4073962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Monitoreo y Retroalimentación</a:t>
            </a:r>
            <a:endParaRPr b="0" i="0" sz="2200" u="none" cap="none" strike="noStrike"/>
          </a:p>
        </p:txBody>
      </p:sp>
      <p:sp>
        <p:nvSpPr>
          <p:cNvPr id="259" name="Google Shape;259;p11"/>
          <p:cNvSpPr/>
          <p:nvPr/>
        </p:nvSpPr>
        <p:spPr>
          <a:xfrm>
            <a:off x="10830997" y="4918710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flujo de trabajo culmina con el monitoreo constante del desempeño de la aplicación en producción, permitiendo ajustes y mejoras continuas.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5" name="Google Shape;2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319" y="2528292"/>
            <a:ext cx="4957643" cy="317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/>
          <p:nvPr/>
        </p:nvSpPr>
        <p:spPr>
          <a:xfrm>
            <a:off x="6226493" y="596860"/>
            <a:ext cx="7663815" cy="132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Prácticas de desarrollo en DevOps</a:t>
            </a:r>
            <a:endParaRPr b="0" i="0" sz="4150" u="none" cap="none" strike="noStrike"/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6493" y="2235875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6226493" y="2975967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Colaboración</a:t>
            </a:r>
            <a:endParaRPr b="0" i="0" sz="2050" u="none" cap="none" strike="noStrike"/>
          </a:p>
        </p:txBody>
      </p:sp>
      <p:sp>
        <p:nvSpPr>
          <p:cNvPr id="270" name="Google Shape;270;p12"/>
          <p:cNvSpPr/>
          <p:nvPr/>
        </p:nvSpPr>
        <p:spPr>
          <a:xfrm>
            <a:off x="6226493" y="3433167"/>
            <a:ext cx="3673316" cy="1353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equipos de desarrollo y operaciones trabajan de manera conjunta en todas las etapas del ciclo de vida.</a:t>
            </a:r>
            <a:endParaRPr b="0" i="0" sz="1650" u="none" cap="none" strike="noStrike"/>
          </a:p>
        </p:txBody>
      </p:sp>
      <p:pic>
        <p:nvPicPr>
          <p:cNvPr descr="preencoded.png" id="271" name="Google Shape;27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6991" y="2235875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/>
          <p:nvPr/>
        </p:nvSpPr>
        <p:spPr>
          <a:xfrm>
            <a:off x="10216991" y="2975967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Automatización</a:t>
            </a:r>
            <a:endParaRPr b="0" i="0" sz="2050" u="none" cap="none" strike="noStrike"/>
          </a:p>
        </p:txBody>
      </p:sp>
      <p:sp>
        <p:nvSpPr>
          <p:cNvPr id="273" name="Google Shape;273;p12"/>
          <p:cNvSpPr/>
          <p:nvPr/>
        </p:nvSpPr>
        <p:spPr>
          <a:xfrm>
            <a:off x="10216991" y="3433167"/>
            <a:ext cx="3673316" cy="101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Se automatiza el proceso de construcción, prueba, despliegue y monitoreo de las aplicaciones.</a:t>
            </a:r>
            <a:endParaRPr b="0" i="0" sz="1650" u="none" cap="none" strike="noStrike"/>
          </a:p>
        </p:txBody>
      </p:sp>
      <p:pic>
        <p:nvPicPr>
          <p:cNvPr descr="preencoded.png" id="274" name="Google Shape;27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6493" y="5420558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/>
          <p:nvPr/>
        </p:nvSpPr>
        <p:spPr>
          <a:xfrm>
            <a:off x="6226493" y="6160651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Integración continua</a:t>
            </a:r>
            <a:endParaRPr b="0" i="0" sz="2050" u="none" cap="none" strike="noStrike"/>
          </a:p>
        </p:txBody>
      </p:sp>
      <p:sp>
        <p:nvSpPr>
          <p:cNvPr id="276" name="Google Shape;276;p12"/>
          <p:cNvSpPr/>
          <p:nvPr/>
        </p:nvSpPr>
        <p:spPr>
          <a:xfrm>
            <a:off x="6226493" y="6617851"/>
            <a:ext cx="3673316" cy="101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cambios se integran y verifican regularmente para detectar errores de manera anticipada.</a:t>
            </a:r>
            <a:endParaRPr b="0" i="0" sz="1650" u="none" cap="none" strike="noStrike"/>
          </a:p>
        </p:txBody>
      </p:sp>
      <p:pic>
        <p:nvPicPr>
          <p:cNvPr descr="preencoded.png" id="277" name="Google Shape;27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6991" y="5420558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>
            <a:off x="10216991" y="6160651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Monitoreo</a:t>
            </a:r>
            <a:endParaRPr b="0" i="0" sz="2050" u="none" cap="none" strike="noStrike"/>
          </a:p>
        </p:txBody>
      </p:sp>
      <p:sp>
        <p:nvSpPr>
          <p:cNvPr id="279" name="Google Shape;279;p12"/>
          <p:cNvSpPr/>
          <p:nvPr/>
        </p:nvSpPr>
        <p:spPr>
          <a:xfrm>
            <a:off x="10216991" y="6617851"/>
            <a:ext cx="3673316" cy="101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Se monitorean de forma constante el rendimiento y la salud de los sistemas en producción.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29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7012" y="282893"/>
            <a:ext cx="3396258" cy="226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/>
          <p:nvPr/>
        </p:nvSpPr>
        <p:spPr>
          <a:xfrm>
            <a:off x="792361" y="3452574"/>
            <a:ext cx="7816929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Importancia de la colaboración</a:t>
            </a:r>
            <a:endParaRPr b="0" i="0" sz="4450" u="none" cap="none" strike="noStrike"/>
          </a:p>
        </p:txBody>
      </p:sp>
      <p:sp>
        <p:nvSpPr>
          <p:cNvPr id="288" name="Google Shape;288;p13"/>
          <p:cNvSpPr/>
          <p:nvPr/>
        </p:nvSpPr>
        <p:spPr>
          <a:xfrm>
            <a:off x="792361" y="4499610"/>
            <a:ext cx="4197668" cy="3107412"/>
          </a:xfrm>
          <a:prstGeom prst="roundRect">
            <a:avLst>
              <a:gd fmla="val 109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018699" y="4725948"/>
            <a:ext cx="3744992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Intercambio de conocimientos</a:t>
            </a:r>
            <a:endParaRPr b="0" i="0" sz="2200" u="none" cap="none" strike="noStrike"/>
          </a:p>
        </p:txBody>
      </p:sp>
      <p:sp>
        <p:nvSpPr>
          <p:cNvPr id="290" name="Google Shape;290;p13"/>
          <p:cNvSpPr/>
          <p:nvPr/>
        </p:nvSpPr>
        <p:spPr>
          <a:xfrm>
            <a:off x="1018699" y="5569148"/>
            <a:ext cx="3744992" cy="181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colaboración permite que los equipos compartan conocimientos, habilidades y experiencias, enriqueciendo el desarrollo del software.</a:t>
            </a:r>
            <a:endParaRPr b="0" i="0" sz="1750" u="none" cap="none" strike="noStrike"/>
          </a:p>
        </p:txBody>
      </p:sp>
      <p:sp>
        <p:nvSpPr>
          <p:cNvPr id="291" name="Google Shape;291;p13"/>
          <p:cNvSpPr/>
          <p:nvPr/>
        </p:nvSpPr>
        <p:spPr>
          <a:xfrm>
            <a:off x="5216366" y="4499610"/>
            <a:ext cx="4197668" cy="3107412"/>
          </a:xfrm>
          <a:prstGeom prst="roundRect">
            <a:avLst>
              <a:gd fmla="val 109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5442704" y="4725948"/>
            <a:ext cx="2914650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Alineación de objetivos</a:t>
            </a:r>
            <a:endParaRPr b="0" i="0" sz="2200" u="none" cap="none" strike="noStrike"/>
          </a:p>
        </p:txBody>
      </p:sp>
      <p:sp>
        <p:nvSpPr>
          <p:cNvPr id="293" name="Google Shape;293;p13"/>
          <p:cNvSpPr/>
          <p:nvPr/>
        </p:nvSpPr>
        <p:spPr>
          <a:xfrm>
            <a:off x="5442704" y="5215414"/>
            <a:ext cx="3744992" cy="144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Trabajar de forma conjunta ayuda a que todos los miembros del equipo se enfoquen en los mismos objetivos y metas.</a:t>
            </a:r>
            <a:endParaRPr b="0" i="0" sz="1750" u="none" cap="none" strike="noStrike"/>
          </a:p>
        </p:txBody>
      </p:sp>
      <p:sp>
        <p:nvSpPr>
          <p:cNvPr id="294" name="Google Shape;294;p13"/>
          <p:cNvSpPr/>
          <p:nvPr/>
        </p:nvSpPr>
        <p:spPr>
          <a:xfrm>
            <a:off x="9640372" y="4499610"/>
            <a:ext cx="4197668" cy="3107412"/>
          </a:xfrm>
          <a:prstGeom prst="roundRect">
            <a:avLst>
              <a:gd fmla="val 109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9866709" y="4725948"/>
            <a:ext cx="282999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 continua</a:t>
            </a:r>
            <a:endParaRPr b="0" i="0" sz="2200" u="none" cap="none" strike="noStrike"/>
          </a:p>
        </p:txBody>
      </p:sp>
      <p:sp>
        <p:nvSpPr>
          <p:cNvPr id="296" name="Google Shape;296;p13"/>
          <p:cNvSpPr/>
          <p:nvPr/>
        </p:nvSpPr>
        <p:spPr>
          <a:xfrm>
            <a:off x="9866709" y="5215414"/>
            <a:ext cx="3744992" cy="144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colaboración fomenta la retroalimentación y el aprendizaje mutuo, lo que lleva a una mejora continua de los procesos.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" name="Google Shape;3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6411" y="3116580"/>
            <a:ext cx="5001458" cy="199644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678775" y="1070134"/>
            <a:ext cx="7334488" cy="606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800"/>
              <a:buFont typeface="Alice"/>
              <a:buNone/>
            </a:pPr>
            <a:r>
              <a:rPr b="0" i="0" lang="en-US" sz="38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Automatización de la compilación</a:t>
            </a:r>
            <a:endParaRPr b="0" i="0" sz="3800" u="none" cap="none" strike="noStrike"/>
          </a:p>
        </p:txBody>
      </p:sp>
      <p:sp>
        <p:nvSpPr>
          <p:cNvPr id="305" name="Google Shape;305;p14"/>
          <p:cNvSpPr/>
          <p:nvPr/>
        </p:nvSpPr>
        <p:spPr>
          <a:xfrm>
            <a:off x="678775" y="2185273"/>
            <a:ext cx="436364" cy="43636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834628" y="2257901"/>
            <a:ext cx="124539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50"/>
              <a:buFont typeface="Alice"/>
              <a:buNone/>
            </a:pPr>
            <a:r>
              <a:rPr b="0" i="0" lang="en-US" sz="22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250" u="none" cap="none" strike="noStrike"/>
          </a:p>
        </p:txBody>
      </p:sp>
      <p:sp>
        <p:nvSpPr>
          <p:cNvPr id="307" name="Google Shape;307;p14"/>
          <p:cNvSpPr/>
          <p:nvPr/>
        </p:nvSpPr>
        <p:spPr>
          <a:xfrm>
            <a:off x="1309092" y="2185273"/>
            <a:ext cx="2908816" cy="30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Compilación automatizada</a:t>
            </a:r>
            <a:endParaRPr b="0" i="0" sz="1900" u="none" cap="none" strike="noStrike"/>
          </a:p>
        </p:txBody>
      </p:sp>
      <p:sp>
        <p:nvSpPr>
          <p:cNvPr id="308" name="Google Shape;308;p14"/>
          <p:cNvSpPr/>
          <p:nvPr/>
        </p:nvSpPr>
        <p:spPr>
          <a:xfrm>
            <a:off x="1309092" y="2604611"/>
            <a:ext cx="3165991" cy="1861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automatización del proceso de compilación es fundamental en DevOps, ya que permite generar de manera rápida y confiable las versiones de software a ser desplegadas.</a:t>
            </a:r>
            <a:endParaRPr b="0" i="0" sz="1500" u="none" cap="none" strike="noStrike"/>
          </a:p>
        </p:txBody>
      </p:sp>
      <p:sp>
        <p:nvSpPr>
          <p:cNvPr id="309" name="Google Shape;309;p14"/>
          <p:cNvSpPr/>
          <p:nvPr/>
        </p:nvSpPr>
        <p:spPr>
          <a:xfrm>
            <a:off x="4669036" y="2185273"/>
            <a:ext cx="436364" cy="43636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4815721" y="2257901"/>
            <a:ext cx="142875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50"/>
              <a:buFont typeface="Alice"/>
              <a:buNone/>
            </a:pPr>
            <a:r>
              <a:rPr b="0" i="0" lang="en-US" sz="22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250" u="none" cap="none" strike="noStrike"/>
          </a:p>
        </p:txBody>
      </p:sp>
      <p:sp>
        <p:nvSpPr>
          <p:cNvPr id="311" name="Google Shape;311;p14"/>
          <p:cNvSpPr/>
          <p:nvPr/>
        </p:nvSpPr>
        <p:spPr>
          <a:xfrm>
            <a:off x="5299353" y="2185273"/>
            <a:ext cx="3165991" cy="606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Herramientas de automatización</a:t>
            </a:r>
            <a:endParaRPr b="0" i="0" sz="19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5299353" y="2907625"/>
            <a:ext cx="3165991" cy="1551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Existen diversas herramientas como Jenkins, Travis CI o CircleCI que facilitan la automatización de la compilación e integración continua.</a:t>
            </a:r>
            <a:endParaRPr b="0" i="0" sz="1500" u="none" cap="none" strike="noStrike"/>
          </a:p>
        </p:txBody>
      </p:sp>
      <p:sp>
        <p:nvSpPr>
          <p:cNvPr id="313" name="Google Shape;313;p14"/>
          <p:cNvSpPr/>
          <p:nvPr/>
        </p:nvSpPr>
        <p:spPr>
          <a:xfrm>
            <a:off x="678775" y="4878348"/>
            <a:ext cx="436364" cy="43636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826056" y="4950976"/>
            <a:ext cx="141684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50"/>
              <a:buFont typeface="Alice"/>
              <a:buNone/>
            </a:pPr>
            <a:r>
              <a:rPr b="0" i="0" lang="en-US" sz="22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250" u="none" cap="none" strike="noStrike"/>
          </a:p>
        </p:txBody>
      </p:sp>
      <p:sp>
        <p:nvSpPr>
          <p:cNvPr id="315" name="Google Shape;315;p14"/>
          <p:cNvSpPr/>
          <p:nvPr/>
        </p:nvSpPr>
        <p:spPr>
          <a:xfrm>
            <a:off x="1309092" y="4878348"/>
            <a:ext cx="2694623" cy="30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Gestión de dependencias</a:t>
            </a:r>
            <a:endParaRPr b="0" i="0" sz="1900" u="none" cap="none" strike="noStrike"/>
          </a:p>
        </p:txBody>
      </p:sp>
      <p:sp>
        <p:nvSpPr>
          <p:cNvPr id="316" name="Google Shape;316;p14"/>
          <p:cNvSpPr/>
          <p:nvPr/>
        </p:nvSpPr>
        <p:spPr>
          <a:xfrm>
            <a:off x="1309092" y="5297686"/>
            <a:ext cx="3165991" cy="1861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automatización también simplifica la gestión de dependencias entre componentes, asegurando la compatibilidad y evitando problemas de integración.</a:t>
            </a:r>
            <a:endParaRPr b="0" i="0" sz="1500" u="none" cap="none" strike="noStrike"/>
          </a:p>
        </p:txBody>
      </p:sp>
      <p:sp>
        <p:nvSpPr>
          <p:cNvPr id="317" name="Google Shape;317;p14"/>
          <p:cNvSpPr/>
          <p:nvPr/>
        </p:nvSpPr>
        <p:spPr>
          <a:xfrm>
            <a:off x="4669036" y="4878348"/>
            <a:ext cx="436364" cy="43636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4815007" y="4950976"/>
            <a:ext cx="144304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50"/>
              <a:buFont typeface="Alice"/>
              <a:buNone/>
            </a:pPr>
            <a:r>
              <a:rPr b="0" i="0" lang="en-US" sz="22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2250" u="none" cap="none" strike="noStrike"/>
          </a:p>
        </p:txBody>
      </p:sp>
      <p:sp>
        <p:nvSpPr>
          <p:cNvPr id="319" name="Google Shape;319;p14"/>
          <p:cNvSpPr/>
          <p:nvPr/>
        </p:nvSpPr>
        <p:spPr>
          <a:xfrm>
            <a:off x="5299353" y="4878348"/>
            <a:ext cx="2588181" cy="30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Trazabilidad y auditoría</a:t>
            </a:r>
            <a:endParaRPr b="0" i="0" sz="1900" u="none" cap="none" strike="noStrike"/>
          </a:p>
        </p:txBody>
      </p:sp>
      <p:sp>
        <p:nvSpPr>
          <p:cNvPr id="320" name="Google Shape;320;p14"/>
          <p:cNvSpPr/>
          <p:nvPr/>
        </p:nvSpPr>
        <p:spPr>
          <a:xfrm>
            <a:off x="5299353" y="5297686"/>
            <a:ext cx="3165991" cy="1241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Toda la actividad de compilación queda registrada, lo que permite una mejor trazabilidad y auditoría del proceso de desarrollo.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/>
          <p:nvPr/>
        </p:nvSpPr>
        <p:spPr>
          <a:xfrm>
            <a:off x="793790" y="965954"/>
            <a:ext cx="81157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continuas e integración</a:t>
            </a:r>
            <a:endParaRPr b="0" i="0" sz="4450" u="none" cap="none" strike="noStrike"/>
          </a:p>
        </p:txBody>
      </p:sp>
      <p:pic>
        <p:nvPicPr>
          <p:cNvPr descr="preencoded.png" id="327" name="Google Shape;3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793790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Integración Continua</a:t>
            </a:r>
            <a:endParaRPr b="0" i="0" sz="2200" u="none" cap="none" strike="noStrike"/>
          </a:p>
        </p:txBody>
      </p:sp>
      <p:sp>
        <p:nvSpPr>
          <p:cNvPr id="329" name="Google Shape;329;p15"/>
          <p:cNvSpPr/>
          <p:nvPr/>
        </p:nvSpPr>
        <p:spPr>
          <a:xfrm>
            <a:off x="793790" y="5449014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integración continua permite a los equipos DevOps combinar y probar código con mayor frecuencia, lo que reduce los conflictos y mejora la calidad del software.</a:t>
            </a:r>
            <a:endParaRPr b="0" i="0" sz="1750" u="none" cap="none" strike="noStrike"/>
          </a:p>
        </p:txBody>
      </p:sp>
      <p:pic>
        <p:nvPicPr>
          <p:cNvPr descr="preencoded.png" id="330" name="Google Shape;3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28361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5"/>
          <p:cNvSpPr/>
          <p:nvPr/>
        </p:nvSpPr>
        <p:spPr>
          <a:xfrm>
            <a:off x="5254704" y="4958715"/>
            <a:ext cx="300097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Pruebas Automatizadas</a:t>
            </a:r>
            <a:endParaRPr b="0" i="0" sz="2200" u="none" cap="none" strike="noStrike"/>
          </a:p>
        </p:txBody>
      </p:sp>
      <p:sp>
        <p:nvSpPr>
          <p:cNvPr id="332" name="Google Shape;332;p15"/>
          <p:cNvSpPr/>
          <p:nvPr/>
        </p:nvSpPr>
        <p:spPr>
          <a:xfrm>
            <a:off x="5254704" y="5449133"/>
            <a:ext cx="412087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automatizadas son clave en DevOps, ya que permiten ejecutar casos de prueba de manera constante y rápida durante el ciclo de desarrollo.</a:t>
            </a:r>
            <a:endParaRPr b="0" i="0" sz="1750" u="none" cap="none" strike="noStrike"/>
          </a:p>
        </p:txBody>
      </p:sp>
      <p:pic>
        <p:nvPicPr>
          <p:cNvPr descr="preencoded.png" id="333" name="Google Shape;3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5"/>
          <p:cNvSpPr/>
          <p:nvPr/>
        </p:nvSpPr>
        <p:spPr>
          <a:xfrm>
            <a:off x="9715738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Entrega Continua</a:t>
            </a:r>
            <a:endParaRPr b="0" i="0" sz="2200" u="none" cap="none" strike="noStrike"/>
          </a:p>
        </p:txBody>
      </p:sp>
      <p:sp>
        <p:nvSpPr>
          <p:cNvPr id="335" name="Google Shape;335;p15"/>
          <p:cNvSpPr/>
          <p:nvPr/>
        </p:nvSpPr>
        <p:spPr>
          <a:xfrm>
            <a:off x="9715738" y="5449014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entrega continua habilita a los equipos DevOps a desplegar nuevas versiones de software de manera automatizada y frecuente, lo que agiliza el proceso de implementación.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2024-11-04T05:16:32Z</dcterms:created>
  <dc:creator>PptxGenJS</dc:creator>
</cp:coreProperties>
</file>