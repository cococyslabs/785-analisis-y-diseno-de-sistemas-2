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Alice"/>
      <p:regular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7OD0FhBWF8eKcrMwEr2nA/xiu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A280E2-A55B-4C77-AC56-EA95170AC9D3}">
  <a:tblStyle styleId="{59A280E2-A55B-4C77-AC56-EA95170AC9D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lice-regular.fntdata"/><Relationship Id="rId21" Type="http://schemas.openxmlformats.org/officeDocument/2006/relationships/slide" Target="slides/slide16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52a84f7bd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d52a84f7bd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2a84f7bd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2d52a84f7bd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2d52a84f7bd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d52a84f7bd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2d52a84f7bd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{59A280E2-A55B-4C77-AC56-EA95170AC9D3}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2d52a84f7bd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52a84f7bd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1866424"/>
            <a:ext cx="4919305" cy="44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200263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no funcionales en software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3760351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en software se enfocan en evaluar características como desempeño, escalabilidad, seguridad y usabilidad. Estas pruebas son cruciales para garantizar que el sistema cumpla con los requisitos no funcionales y ofrezca una experiencia de usuario óptima.</a:t>
            </a:r>
            <a:endParaRPr b="0" i="0" sz="175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793790" y="5846921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319" y="2462213"/>
            <a:ext cx="4957763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/>
          <p:nvPr/>
        </p:nvSpPr>
        <p:spPr>
          <a:xfrm>
            <a:off x="6226493" y="596860"/>
            <a:ext cx="7663815" cy="132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¿Qué son las pruebas no funcionales?</a:t>
            </a:r>
            <a:endParaRPr b="0" i="0" sz="4150" u="none" cap="none" strike="noStrike"/>
          </a:p>
        </p:txBody>
      </p:sp>
      <p:pic>
        <p:nvPicPr>
          <p:cNvPr descr="preencoded.png" id="86" name="Google Shape;8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6493" y="2235875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/>
          <p:nvPr/>
        </p:nvSpPr>
        <p:spPr>
          <a:xfrm>
            <a:off x="6226493" y="2975967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Garantía de Calidad</a:t>
            </a:r>
            <a:endParaRPr b="0" i="0" sz="20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6226493" y="3433167"/>
            <a:ext cx="3673316" cy="1353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se enfocan en evaluar aspectos de calidad del software más allá de su funcionalidad.</a:t>
            </a:r>
            <a:endParaRPr b="0" i="0" sz="1650" u="none" cap="none" strike="noStrike"/>
          </a:p>
        </p:txBody>
      </p:sp>
      <p:pic>
        <p:nvPicPr>
          <p:cNvPr descr="preencoded.png" id="89" name="Google Shape;8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6991" y="2235875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10216991" y="2975967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Rendimiento</a:t>
            </a:r>
            <a:endParaRPr b="0" i="0" sz="20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10216991" y="3433167"/>
            <a:ext cx="3673316" cy="101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Miden el comportamiento del software bajo diferentes cargas y condiciones de uso.</a:t>
            </a:r>
            <a:endParaRPr b="0" i="0" sz="1650" u="none" cap="none" strike="noStrike"/>
          </a:p>
        </p:txBody>
      </p:sp>
      <p:pic>
        <p:nvPicPr>
          <p:cNvPr descr="preencoded.png" id="92" name="Google Shape;9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6493" y="5420558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6226493" y="6160651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Usabilidad</a:t>
            </a:r>
            <a:endParaRPr b="0" i="0" sz="205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6226493" y="6617851"/>
            <a:ext cx="3673316" cy="101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Aseguran que el software sea fácil de usar y se adapte a las necesidades de los usuarios.</a:t>
            </a:r>
            <a:endParaRPr b="0" i="0" sz="1650" u="none" cap="none" strike="noStrike"/>
          </a:p>
        </p:txBody>
      </p:sp>
      <p:pic>
        <p:nvPicPr>
          <p:cNvPr descr="preencoded.png" id="95" name="Google Shape;9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6991" y="5420558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10216991" y="6160651"/>
            <a:ext cx="2643426" cy="3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Seguridad</a:t>
            </a:r>
            <a:endParaRPr b="0" i="0" sz="205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10216991" y="6617851"/>
            <a:ext cx="3673316" cy="101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Evalúan la protección del software contra amenazas y el cumplimiento de requisitos de seguridad.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793790" y="947738"/>
            <a:ext cx="1161907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Conceptos clave de las pruebas no funcionales</a:t>
            </a:r>
            <a:endParaRPr b="0" i="0" sz="4450" u="none" cap="none" strike="noStrike"/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10145"/>
            <a:ext cx="3005495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793790" y="42511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Rendimiento</a:t>
            </a:r>
            <a:endParaRPr b="0" i="0" sz="220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793790" y="4741545"/>
            <a:ext cx="3005495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evalúan el desempeño del sistema bajo diferentes cargas y condiciones, como tiempo de respuesta, estabilidad y escalabilidad.</a:t>
            </a:r>
            <a:endParaRPr b="0" i="0" sz="1750" u="none" cap="none" strike="noStrike"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446" y="2110145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4139446" y="42511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Seguridad</a:t>
            </a:r>
            <a:endParaRPr b="0" i="0" sz="220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4139446" y="4741545"/>
            <a:ext cx="300561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Verifican la capacidad del sistema para proteger datos y funcionamiento ante amenazas externas, como ataques cibernéticos o manipulación de información.</a:t>
            </a:r>
            <a:endParaRPr b="0" i="0" sz="1750" u="none" cap="none" strike="noStrike"/>
          </a:p>
        </p:txBody>
      </p:sp>
      <p:pic>
        <p:nvPicPr>
          <p:cNvPr descr="preencoded.png" id="110" name="Google Shape;1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5221" y="2110145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7485221" y="42511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Usabilidad</a:t>
            </a:r>
            <a:endParaRPr b="0" i="0" sz="2200" u="none" cap="none" strike="noStrike"/>
          </a:p>
        </p:txBody>
      </p:sp>
      <p:sp>
        <p:nvSpPr>
          <p:cNvPr id="112" name="Google Shape;112;p3"/>
          <p:cNvSpPr/>
          <p:nvPr/>
        </p:nvSpPr>
        <p:spPr>
          <a:xfrm>
            <a:off x="7485221" y="4741545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Evalúan la facilidad de uso, interacción y experiencia del usuario final con el software, identificando posibles problemas y áreas de mejora.</a:t>
            </a:r>
            <a:endParaRPr b="0" i="0" sz="1750" u="none" cap="none" strike="noStrike"/>
          </a:p>
        </p:txBody>
      </p:sp>
      <p:pic>
        <p:nvPicPr>
          <p:cNvPr descr="preencoded.png" id="113" name="Google Shape;11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0997" y="2110145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10830997" y="42511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Portabilidad</a:t>
            </a:r>
            <a:endParaRPr b="0" i="0" sz="2200" u="none" cap="none" strike="noStrike"/>
          </a:p>
        </p:txBody>
      </p:sp>
      <p:sp>
        <p:nvSpPr>
          <p:cNvPr id="115" name="Google Shape;115;p3"/>
          <p:cNvSpPr/>
          <p:nvPr/>
        </p:nvSpPr>
        <p:spPr>
          <a:xfrm>
            <a:off x="10830997" y="4741545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Aseguran que el software pueda ejecutarse en diferentes plataformas, dispositivos y entornos sin perder funcionalidad o rendimiento.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932259"/>
            <a:ext cx="4919305" cy="636496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793790" y="1302306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Importancia de las pruebas no funcionales en la arquitectura de software</a:t>
            </a:r>
            <a:endParaRPr b="0" i="0" sz="445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793790" y="3768804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desempeñan un papel fundamental en el diseño y desarrollo de la arquitectura de software. Permiten evaluar aspectos clave como el rendimiento, la escalabilidad, la seguridad y la portabilidad del sistema, asegurando que cumpla con los requisitos y expectativas del usuario.</a:t>
            </a:r>
            <a:endParaRPr b="0" i="0" sz="175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793790" y="5838468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Estas pruebas ayudan a identificar posibles cuellos de botella, puntos débiles y oportunidades de mejora en la arquitectura, lo cual es crucial para garantizar la calidad, robustez y fiabilidad del software.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1888" y="2451259"/>
            <a:ext cx="4990624" cy="3327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694015" y="1008936"/>
            <a:ext cx="7755969" cy="123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00"/>
              <a:buFont typeface="Alice"/>
              <a:buNone/>
            </a:pPr>
            <a:r>
              <a:rPr b="0" i="0" lang="en-US" sz="39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Rol de las pruebas no funcionales en el desarrollo de software</a:t>
            </a:r>
            <a:endParaRPr b="0" i="0" sz="390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694015" y="2768798"/>
            <a:ext cx="446127" cy="446127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853440" y="2843093"/>
            <a:ext cx="127278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30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1338382" y="2768798"/>
            <a:ext cx="2960132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Asegurar la calidad técnica</a:t>
            </a:r>
            <a:endParaRPr b="0" i="0" sz="195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1338382" y="3197542"/>
            <a:ext cx="3134558" cy="1903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evalúan aspectos clave como rendimiento, escalabilidad y seguridad, garantizando que el software cumpla con los requisitos técnicos.</a:t>
            </a:r>
            <a:endParaRPr b="0" i="0" sz="155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4671179" y="2768798"/>
            <a:ext cx="446127" cy="446127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821198" y="2843093"/>
            <a:ext cx="146090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300" u="none" cap="none" strike="noStrike"/>
          </a:p>
        </p:txBody>
      </p:sp>
      <p:sp>
        <p:nvSpPr>
          <p:cNvPr id="140" name="Google Shape;140;p5"/>
          <p:cNvSpPr/>
          <p:nvPr/>
        </p:nvSpPr>
        <p:spPr>
          <a:xfrm>
            <a:off x="5315545" y="2768798"/>
            <a:ext cx="3134558" cy="619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Identificar riesgos y mejoras</a:t>
            </a:r>
            <a:endParaRPr b="0" i="0" sz="195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5315545" y="3507343"/>
            <a:ext cx="3134558" cy="1586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Permiten detectar problemas y áreas de mejora en la arquitectura y el diseño, facilitando una implementación más robusta y confiable.</a:t>
            </a:r>
            <a:endParaRPr b="0" i="0" sz="1550" u="none" cap="none" strike="noStrike"/>
          </a:p>
        </p:txBody>
      </p:sp>
      <p:sp>
        <p:nvSpPr>
          <p:cNvPr id="142" name="Google Shape;142;p5"/>
          <p:cNvSpPr/>
          <p:nvPr/>
        </p:nvSpPr>
        <p:spPr>
          <a:xfrm>
            <a:off x="694015" y="5522595"/>
            <a:ext cx="446127" cy="446127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44629" y="5596890"/>
            <a:ext cx="144899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3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1338382" y="5522595"/>
            <a:ext cx="247888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Validar la usabilidad</a:t>
            </a:r>
            <a:endParaRPr b="0" i="0" sz="1950" u="none" cap="none" strike="noStrike"/>
          </a:p>
        </p:txBody>
      </p:sp>
      <p:sp>
        <p:nvSpPr>
          <p:cNvPr id="145" name="Google Shape;145;p5"/>
          <p:cNvSpPr/>
          <p:nvPr/>
        </p:nvSpPr>
        <p:spPr>
          <a:xfrm>
            <a:off x="1338382" y="5951339"/>
            <a:ext cx="3134558" cy="1269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Evalúan la experiencia del usuario, asegurando que el software sea fácil de usar, accesible e intuitivo.</a:t>
            </a:r>
            <a:endParaRPr b="0" i="0" sz="1550" u="none" cap="none" strike="noStrike"/>
          </a:p>
        </p:txBody>
      </p:sp>
      <p:sp>
        <p:nvSpPr>
          <p:cNvPr id="146" name="Google Shape;146;p5"/>
          <p:cNvSpPr/>
          <p:nvPr/>
        </p:nvSpPr>
        <p:spPr>
          <a:xfrm>
            <a:off x="4671179" y="5522595"/>
            <a:ext cx="446127" cy="446127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820483" y="5596890"/>
            <a:ext cx="147518" cy="297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23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5315545" y="5522595"/>
            <a:ext cx="2478881" cy="30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Optimizar recursos</a:t>
            </a:r>
            <a:endParaRPr b="0" i="0" sz="195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5315545" y="5951339"/>
            <a:ext cx="3134558" cy="1269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Ayudan a identificar y eliminar cuellos de botella, así como a distribuir de manera eficiente los recursos del sistema.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197" y="2813447"/>
            <a:ext cx="4998006" cy="260318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6170057" y="537210"/>
            <a:ext cx="7776686" cy="122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800"/>
              <a:buFont typeface="Alice"/>
              <a:buNone/>
            </a:pPr>
            <a:r>
              <a:rPr b="0" i="0" lang="en-US" sz="38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Aplicabilidad de las pruebas no funcionales</a:t>
            </a:r>
            <a:endParaRPr b="0" i="0" sz="3800" u="none" cap="none" strike="noStrike"/>
          </a:p>
        </p:txBody>
      </p:sp>
      <p:sp>
        <p:nvSpPr>
          <p:cNvPr id="158" name="Google Shape;158;p6"/>
          <p:cNvSpPr/>
          <p:nvPr/>
        </p:nvSpPr>
        <p:spPr>
          <a:xfrm>
            <a:off x="6451640" y="2051090"/>
            <a:ext cx="22860" cy="5641896"/>
          </a:xfrm>
          <a:prstGeom prst="roundRect">
            <a:avLst>
              <a:gd fmla="val 12818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659940" y="2479000"/>
            <a:ext cx="683657" cy="22860"/>
          </a:xfrm>
          <a:prstGeom prst="roundRect">
            <a:avLst>
              <a:gd fmla="val 12818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243340" y="2270760"/>
            <a:ext cx="439460" cy="439460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400383" y="2343983"/>
            <a:ext cx="125373" cy="29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30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7537490" y="2246352"/>
            <a:ext cx="2796897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Requisitos no funcionales</a:t>
            </a:r>
            <a:endParaRPr b="0" i="0" sz="1900" u="none" cap="none" strike="noStrike"/>
          </a:p>
        </p:txBody>
      </p:sp>
      <p:sp>
        <p:nvSpPr>
          <p:cNvPr id="163" name="Google Shape;163;p6"/>
          <p:cNvSpPr/>
          <p:nvPr/>
        </p:nvSpPr>
        <p:spPr>
          <a:xfrm>
            <a:off x="7537490" y="2668667"/>
            <a:ext cx="6409253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se aplican para validar los requisitos no funcionales del software, como rendimiento, seguridad, escalabilidad y portabilidad.</a:t>
            </a:r>
            <a:endParaRPr b="0" i="0" sz="150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6659940" y="4424720"/>
            <a:ext cx="683657" cy="22860"/>
          </a:xfrm>
          <a:prstGeom prst="roundRect">
            <a:avLst>
              <a:gd fmla="val 12818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243340" y="4216479"/>
            <a:ext cx="439460" cy="439460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391096" y="4289703"/>
            <a:ext cx="143828" cy="29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300" u="none" cap="none" strike="noStrike"/>
          </a:p>
        </p:txBody>
      </p:sp>
      <p:sp>
        <p:nvSpPr>
          <p:cNvPr id="167" name="Google Shape;167;p6"/>
          <p:cNvSpPr/>
          <p:nvPr/>
        </p:nvSpPr>
        <p:spPr>
          <a:xfrm>
            <a:off x="7537490" y="4192072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Fase de diseño</a:t>
            </a:r>
            <a:endParaRPr b="0" i="0" sz="1900" u="none" cap="none" strike="noStrike"/>
          </a:p>
        </p:txBody>
      </p:sp>
      <p:sp>
        <p:nvSpPr>
          <p:cNvPr id="168" name="Google Shape;168;p6"/>
          <p:cNvSpPr/>
          <p:nvPr/>
        </p:nvSpPr>
        <p:spPr>
          <a:xfrm>
            <a:off x="7537490" y="4614386"/>
            <a:ext cx="6409253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 importante incluir las pruebas no funcionales desde la fase de diseño de la arquitectura del software para asegurar que se cumplen los objetivos.</a:t>
            </a:r>
            <a:endParaRPr b="0" i="0" sz="150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6659940" y="6370439"/>
            <a:ext cx="683657" cy="22860"/>
          </a:xfrm>
          <a:prstGeom prst="roundRect">
            <a:avLst>
              <a:gd fmla="val 12818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243340" y="6162199"/>
            <a:ext cx="439460" cy="439460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391692" y="6235422"/>
            <a:ext cx="142756" cy="29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300"/>
              <a:buFont typeface="Alice"/>
              <a:buNone/>
            </a:pPr>
            <a:r>
              <a:rPr b="0" i="0" lang="en-US" sz="23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300" u="none" cap="none" strike="noStrike"/>
          </a:p>
        </p:txBody>
      </p:sp>
      <p:sp>
        <p:nvSpPr>
          <p:cNvPr id="172" name="Google Shape;172;p6"/>
          <p:cNvSpPr/>
          <p:nvPr/>
        </p:nvSpPr>
        <p:spPr>
          <a:xfrm>
            <a:off x="7537490" y="6137791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Ciclo de vida</a:t>
            </a:r>
            <a:endParaRPr b="0" i="0" sz="1900" u="none" cap="none" strike="noStrike"/>
          </a:p>
        </p:txBody>
      </p:sp>
      <p:sp>
        <p:nvSpPr>
          <p:cNvPr id="173" name="Google Shape;173;p6"/>
          <p:cNvSpPr/>
          <p:nvPr/>
        </p:nvSpPr>
        <p:spPr>
          <a:xfrm>
            <a:off x="7537490" y="6560106"/>
            <a:ext cx="6409253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Estas pruebas se realizan a lo largo de todo el ciclo de vida del desarrollo, no solo al final, para identificar y corregir problemas a tiempo.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793790" y="1822609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de carga: definición y evaluación del rendimiento</a:t>
            </a:r>
            <a:endParaRPr b="0" i="0" sz="445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793790" y="3807143"/>
            <a:ext cx="38969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Definición de pruebas de carga</a:t>
            </a:r>
            <a:endParaRPr b="0" i="0" sz="22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793790" y="4388287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de carga evalúan el comportamiento de un sistema informático bajo condiciones de uso intensivo o estrés. El objetivo es determinar la capacidad máxima que puede soportar sin que su rendimiento se degrade.</a:t>
            </a:r>
            <a:endParaRPr b="0" i="0" sz="175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7599521" y="38071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Métricas clave</a:t>
            </a:r>
            <a:endParaRPr b="0" i="0" sz="220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7599521" y="4388287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métricas más comunes son el tiempo de respuesta, el uso de recursos (CPU, memoria, ancho de banda) y la cantidad de errores. Estas métricas permiten identificar cuellos de botella y puntos débiles en la arquitectura del sistema.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1655088"/>
            <a:ext cx="4919424" cy="49194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793790" y="147530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Casos de uso de las pruebas de carga</a:t>
            </a:r>
            <a:endParaRPr b="0" i="0" sz="445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793790" y="3233023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de carga son fundamentales para evaluar el rendimiento del sistema bajo condiciones de alto tráfico y uso intensivo de recursos. Estas pruebas se utilizan comúnmente para simular escenarios realistas, como picos de demanda, aumento de usuarios simultáneos y procesos intensivos de datos.</a:t>
            </a:r>
            <a:endParaRPr b="0" i="0" sz="175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793790" y="5302687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Algunos casos de uso clave incluyen probar la capacidad de respuesta del sistema ante cargas de trabajo máximas, identificar cuellos de botella y puntos de fallo, y validar el cumplimiento de los objetivos de rendimiento y escalabilidad.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06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590" y="260509"/>
            <a:ext cx="3279100" cy="208502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729615" y="3346252"/>
            <a:ext cx="1317117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00"/>
              <a:buFont typeface="Alice"/>
              <a:buNone/>
            </a:pPr>
            <a:r>
              <a:rPr b="0" i="0" lang="en-US" sz="41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de estrés: propósito y aplicación en situaciones límite</a:t>
            </a:r>
            <a:endParaRPr b="0" i="0" sz="410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729615" y="4961930"/>
            <a:ext cx="4251365" cy="2527459"/>
          </a:xfrm>
          <a:prstGeom prst="roundRect">
            <a:avLst>
              <a:gd fmla="val 123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38093" y="5170408"/>
            <a:ext cx="383440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Propósito de las pruebas de estrés</a:t>
            </a:r>
            <a:endParaRPr b="0" i="0" sz="205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938093" y="5946934"/>
            <a:ext cx="3834408" cy="133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Determinar los límites del sistema y su comportamiento bajo condiciones extremas, como altas cargas de trabajo o fallos inesperados.</a:t>
            </a:r>
            <a:endParaRPr b="0" i="0" sz="16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5189458" y="4961930"/>
            <a:ext cx="4251365" cy="2527459"/>
          </a:xfrm>
          <a:prstGeom prst="roundRect">
            <a:avLst>
              <a:gd fmla="val 123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397937" y="5170408"/>
            <a:ext cx="3681293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Aplicación en situaciones límite</a:t>
            </a:r>
            <a:endParaRPr b="0" i="0" sz="205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5397937" y="5621179"/>
            <a:ext cx="3834408" cy="133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Evaluar la robustez y estabilidad del software cuando se enfrenta a situaciones excepcionales, como picos de demanda o fallas de componentes.</a:t>
            </a:r>
            <a:endParaRPr b="0" i="0" sz="160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9649301" y="4961930"/>
            <a:ext cx="4251365" cy="2527459"/>
          </a:xfrm>
          <a:prstGeom prst="roundRect">
            <a:avLst>
              <a:gd fmla="val 123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857780" y="5170408"/>
            <a:ext cx="2606040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Objetivos clave</a:t>
            </a:r>
            <a:endParaRPr b="0" i="0" sz="205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9857780" y="5621179"/>
            <a:ext cx="3834408" cy="133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Identificar puntos débiles, cuellos de botella y umbrales de rendimiento, para mejorar la fiabilidad y escalabilidad del sistema.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/>
          <p:nvPr/>
        </p:nvSpPr>
        <p:spPr>
          <a:xfrm>
            <a:off x="793790" y="1190506"/>
            <a:ext cx="124842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Análisis de los resultados de las pruebas de estrés</a:t>
            </a:r>
            <a:endParaRPr b="0" i="0" sz="4450" u="none" cap="none" strike="noStrike"/>
          </a:p>
        </p:txBody>
      </p:sp>
      <p:sp>
        <p:nvSpPr>
          <p:cNvPr id="217" name="Google Shape;217;p10"/>
          <p:cNvSpPr/>
          <p:nvPr/>
        </p:nvSpPr>
        <p:spPr>
          <a:xfrm>
            <a:off x="793790" y="2352913"/>
            <a:ext cx="13042821" cy="3705225"/>
          </a:xfrm>
          <a:prstGeom prst="roundRect">
            <a:avLst>
              <a:gd fmla="val 91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01410" y="2360533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029653" y="250424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Métricas clave</a:t>
            </a:r>
            <a:endParaRPr b="0" i="0" sz="175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5375077" y="2504242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Impacto en el rendimiento</a:t>
            </a:r>
            <a:endParaRPr b="0" i="0" sz="175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9716691" y="250424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Puntos de falla</a:t>
            </a:r>
            <a:endParaRPr b="0" i="0" sz="175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801410" y="3010853"/>
            <a:ext cx="1302627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1029653" y="315456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Tiempo de respuesta</a:t>
            </a:r>
            <a:endParaRPr b="0" i="0" sz="1750" u="none" cap="none" strike="noStrike"/>
          </a:p>
        </p:txBody>
      </p:sp>
      <p:sp>
        <p:nvSpPr>
          <p:cNvPr id="224" name="Google Shape;224;p10"/>
          <p:cNvSpPr/>
          <p:nvPr/>
        </p:nvSpPr>
        <p:spPr>
          <a:xfrm>
            <a:off x="5375077" y="3154561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Aumento exponencial en tiempos de respuesta más allá de la capacidad</a:t>
            </a:r>
            <a:endParaRPr b="0" i="0" sz="175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9716691" y="3154561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Identificar cuellos de botella en el sistema</a:t>
            </a:r>
            <a:endParaRPr b="0" i="0" sz="175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801410" y="4024074"/>
            <a:ext cx="1302627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029653" y="416778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Consumo de recursos</a:t>
            </a:r>
            <a:endParaRPr b="0" i="0" sz="175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5375077" y="4167783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Agotamiento de la memoria, CPU y ancho de banda</a:t>
            </a:r>
            <a:endParaRPr b="0" i="0" sz="175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9716691" y="4167783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Optimizar el uso de recursos del sistema</a:t>
            </a:r>
            <a:endParaRPr b="0" i="0" sz="175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801410" y="5037296"/>
            <a:ext cx="1302627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029653" y="518100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Estabilidad</a:t>
            </a:r>
            <a:endParaRPr b="0" i="0" sz="175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5375077" y="5181005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Fallas, bloqueos y caídas del sistema</a:t>
            </a:r>
            <a:endParaRPr b="0" i="0" sz="1750" u="none" cap="none" strike="noStrike"/>
          </a:p>
        </p:txBody>
      </p:sp>
      <p:sp>
        <p:nvSpPr>
          <p:cNvPr id="233" name="Google Shape;233;p10"/>
          <p:cNvSpPr/>
          <p:nvPr/>
        </p:nvSpPr>
        <p:spPr>
          <a:xfrm>
            <a:off x="9716691" y="5181005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Encontrar puntos débiles en la arquitectura</a:t>
            </a:r>
            <a:endParaRPr b="0" i="0" sz="1750" u="none" cap="none" strike="noStrike"/>
          </a:p>
        </p:txBody>
      </p:sp>
      <p:sp>
        <p:nvSpPr>
          <p:cNvPr id="234" name="Google Shape;234;p10"/>
          <p:cNvSpPr/>
          <p:nvPr/>
        </p:nvSpPr>
        <p:spPr>
          <a:xfrm>
            <a:off x="793790" y="631328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análisis de los resultados de las pruebas de estrés permite identificar el comportamiento del sistema bajo cargas extremas, detectar puntos débiles y establecer los límites de rendimiento y estabilidad.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793790" y="1101090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de escalabilidad: medir la capacidad de crecimiento del sistema</a:t>
            </a:r>
            <a:endParaRPr b="0" i="0" sz="4450" u="none" cap="none" strike="noStrike"/>
          </a:p>
        </p:txBody>
      </p:sp>
      <p:sp>
        <p:nvSpPr>
          <p:cNvPr id="241" name="Google Shape;241;p11"/>
          <p:cNvSpPr/>
          <p:nvPr/>
        </p:nvSpPr>
        <p:spPr>
          <a:xfrm>
            <a:off x="793790" y="3085624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Capacidad de Crecimiento</a:t>
            </a:r>
            <a:endParaRPr b="0" i="0" sz="220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793790" y="4021098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de escalabilidad evalúan la capacidad del sistema para soportar un aumento en el número de usuarios, transacciones o datos sin que su rendimiento se vea afectado negativamente.</a:t>
            </a:r>
            <a:endParaRPr b="0" i="0" sz="1750" u="none" cap="none" strike="noStrike"/>
          </a:p>
        </p:txBody>
      </p:sp>
      <p:sp>
        <p:nvSpPr>
          <p:cNvPr id="243" name="Google Shape;243;p11"/>
          <p:cNvSpPr/>
          <p:nvPr/>
        </p:nvSpPr>
        <p:spPr>
          <a:xfrm>
            <a:off x="4200406" y="30856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Identificar Límites</a:t>
            </a:r>
            <a:endParaRPr b="0" i="0" sz="2200" u="none" cap="none" strike="noStrike"/>
          </a:p>
        </p:txBody>
      </p:sp>
      <p:sp>
        <p:nvSpPr>
          <p:cNvPr id="244" name="Google Shape;244;p11"/>
          <p:cNvSpPr/>
          <p:nvPr/>
        </p:nvSpPr>
        <p:spPr>
          <a:xfrm>
            <a:off x="4200406" y="3666768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Estas pruebas ayudan a determinar los puntos máximos de carga que el sistema puede manejar antes de que su funcionamiento se degrade.</a:t>
            </a:r>
            <a:endParaRPr b="0" i="0" sz="1750" u="none" cap="none" strike="noStrike"/>
          </a:p>
        </p:txBody>
      </p:sp>
      <p:sp>
        <p:nvSpPr>
          <p:cNvPr id="245" name="Google Shape;245;p11"/>
          <p:cNvSpPr/>
          <p:nvPr/>
        </p:nvSpPr>
        <p:spPr>
          <a:xfrm>
            <a:off x="7607022" y="30856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Métricas Clave</a:t>
            </a:r>
            <a:endParaRPr b="0" i="0" sz="2200" u="none" cap="none" strike="noStrike"/>
          </a:p>
        </p:txBody>
      </p:sp>
      <p:sp>
        <p:nvSpPr>
          <p:cNvPr id="246" name="Google Shape;246;p11"/>
          <p:cNvSpPr/>
          <p:nvPr/>
        </p:nvSpPr>
        <p:spPr>
          <a:xfrm>
            <a:off x="7607022" y="3666768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Algunas métricas importantes son el tiempo de respuesta, la utilización de recursos y el throughput, que permiten evaluar el comportamiento del sistema bajo carga.</a:t>
            </a:r>
            <a:endParaRPr b="0" i="0" sz="1750" u="none" cap="none" strike="noStrike"/>
          </a:p>
        </p:txBody>
      </p:sp>
      <p:sp>
        <p:nvSpPr>
          <p:cNvPr id="247" name="Google Shape;247;p11"/>
          <p:cNvSpPr/>
          <p:nvPr/>
        </p:nvSpPr>
        <p:spPr>
          <a:xfrm>
            <a:off x="11013638" y="30856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Escalones de Carga</a:t>
            </a:r>
            <a:endParaRPr b="0" i="0" sz="2200" u="none" cap="none" strike="noStrike"/>
          </a:p>
        </p:txBody>
      </p:sp>
      <p:sp>
        <p:nvSpPr>
          <p:cNvPr id="248" name="Google Shape;248;p11"/>
          <p:cNvSpPr/>
          <p:nvPr/>
        </p:nvSpPr>
        <p:spPr>
          <a:xfrm>
            <a:off x="11013638" y="3666768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de escalabilidad se realizan incrementando gradualmente la carga del sistema para observar su impacto en el rendimiento.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83" y="2215158"/>
            <a:ext cx="5065514" cy="379916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/>
          <p:nvPr/>
        </p:nvSpPr>
        <p:spPr>
          <a:xfrm>
            <a:off x="6075640" y="597456"/>
            <a:ext cx="7965519" cy="1052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300"/>
              <a:buFont typeface="Alice"/>
              <a:buNone/>
            </a:pPr>
            <a:r>
              <a:rPr b="0" i="0" lang="en-US" sz="33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Métricas clave en las pruebas de escalabilidad</a:t>
            </a:r>
            <a:endParaRPr b="0" i="0" sz="3300" u="none" cap="none" strike="noStrike"/>
          </a:p>
        </p:txBody>
      </p:sp>
      <p:sp>
        <p:nvSpPr>
          <p:cNvPr id="257" name="Google Shape;257;p12"/>
          <p:cNvSpPr/>
          <p:nvPr/>
        </p:nvSpPr>
        <p:spPr>
          <a:xfrm>
            <a:off x="6075640" y="1986201"/>
            <a:ext cx="7965519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350"/>
              <a:buFont typeface="Alice"/>
              <a:buNone/>
            </a:pPr>
            <a:r>
              <a:rPr b="0" i="0" lang="en-US" sz="4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100K</a:t>
            </a:r>
            <a:endParaRPr b="0" i="0" sz="4350" u="none" cap="none" strike="noStrike"/>
          </a:p>
        </p:txBody>
      </p:sp>
      <p:sp>
        <p:nvSpPr>
          <p:cNvPr id="258" name="Google Shape;258;p12"/>
          <p:cNvSpPr/>
          <p:nvPr/>
        </p:nvSpPr>
        <p:spPr>
          <a:xfrm>
            <a:off x="9006126" y="2752130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Alice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Usuarios</a:t>
            </a:r>
            <a:endParaRPr b="0" i="0" sz="1650" u="none" cap="none" strike="noStrike"/>
          </a:p>
        </p:txBody>
      </p:sp>
      <p:sp>
        <p:nvSpPr>
          <p:cNvPr id="259" name="Google Shape;259;p12"/>
          <p:cNvSpPr/>
          <p:nvPr/>
        </p:nvSpPr>
        <p:spPr>
          <a:xfrm>
            <a:off x="6075640" y="3116223"/>
            <a:ext cx="7965519" cy="53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00"/>
              <a:buFont typeface="Lora"/>
              <a:buNone/>
            </a:pPr>
            <a:r>
              <a:rPr b="0" i="0" lang="en-US" sz="13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Número máximo de usuarios simultáneos que el sistema puede manejar sin degradación del rendimiento.</a:t>
            </a:r>
            <a:endParaRPr b="0" i="0" sz="1300" u="none" cap="none" strike="noStrike"/>
          </a:p>
        </p:txBody>
      </p:sp>
      <p:sp>
        <p:nvSpPr>
          <p:cNvPr id="260" name="Google Shape;260;p12"/>
          <p:cNvSpPr/>
          <p:nvPr/>
        </p:nvSpPr>
        <p:spPr>
          <a:xfrm>
            <a:off x="6075640" y="4244102"/>
            <a:ext cx="7965519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350"/>
              <a:buFont typeface="Alice"/>
              <a:buNone/>
            </a:pPr>
            <a:r>
              <a:rPr b="0" i="0" lang="en-US" sz="4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1TB</a:t>
            </a:r>
            <a:endParaRPr b="0" i="0" sz="4350" u="none" cap="none" strike="noStrike"/>
          </a:p>
        </p:txBody>
      </p:sp>
      <p:sp>
        <p:nvSpPr>
          <p:cNvPr id="261" name="Google Shape;261;p12"/>
          <p:cNvSpPr/>
          <p:nvPr/>
        </p:nvSpPr>
        <p:spPr>
          <a:xfrm>
            <a:off x="9006126" y="5010031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Alice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Datos</a:t>
            </a:r>
            <a:endParaRPr b="0" i="0" sz="1650" u="none" cap="none" strike="noStrike"/>
          </a:p>
        </p:txBody>
      </p:sp>
      <p:sp>
        <p:nvSpPr>
          <p:cNvPr id="262" name="Google Shape;262;p12"/>
          <p:cNvSpPr/>
          <p:nvPr/>
        </p:nvSpPr>
        <p:spPr>
          <a:xfrm>
            <a:off x="6075640" y="5374124"/>
            <a:ext cx="7965519" cy="26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00"/>
              <a:buFont typeface="Lora"/>
              <a:buNone/>
            </a:pPr>
            <a:r>
              <a:rPr b="0" i="0" lang="en-US" sz="13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Volumen máximo de datos que el sistema puede procesar y almacenar de manera eficiente.</a:t>
            </a:r>
            <a:endParaRPr b="0" i="0" sz="1300" u="none" cap="none" strike="noStrike"/>
          </a:p>
        </p:txBody>
      </p:sp>
      <p:sp>
        <p:nvSpPr>
          <p:cNvPr id="263" name="Google Shape;263;p12"/>
          <p:cNvSpPr/>
          <p:nvPr/>
        </p:nvSpPr>
        <p:spPr>
          <a:xfrm>
            <a:off x="6075640" y="6232684"/>
            <a:ext cx="7965519" cy="5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350"/>
              <a:buFont typeface="Alice"/>
              <a:buNone/>
            </a:pPr>
            <a:r>
              <a:rPr b="0" i="0" lang="en-US" sz="4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10x</a:t>
            </a:r>
            <a:endParaRPr b="0" i="0" sz="4350" u="none" cap="none" strike="noStrike"/>
          </a:p>
        </p:txBody>
      </p:sp>
      <p:sp>
        <p:nvSpPr>
          <p:cNvPr id="264" name="Google Shape;264;p12"/>
          <p:cNvSpPr/>
          <p:nvPr/>
        </p:nvSpPr>
        <p:spPr>
          <a:xfrm>
            <a:off x="9006126" y="6998613"/>
            <a:ext cx="2104549" cy="263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Alice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Crecimiento</a:t>
            </a:r>
            <a:endParaRPr b="0" i="0" sz="1650" u="none" cap="none" strike="noStrike"/>
          </a:p>
        </p:txBody>
      </p:sp>
      <p:sp>
        <p:nvSpPr>
          <p:cNvPr id="265" name="Google Shape;265;p12"/>
          <p:cNvSpPr/>
          <p:nvPr/>
        </p:nvSpPr>
        <p:spPr>
          <a:xfrm>
            <a:off x="6075640" y="7362706"/>
            <a:ext cx="7965519" cy="26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00"/>
              <a:buFont typeface="Lora"/>
              <a:buNone/>
            </a:pPr>
            <a:r>
              <a:rPr b="0" i="0" lang="en-US" sz="13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Factor de escala en el que el sistema puede aumentar su capacidad sin comprometer la funcionalidad.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9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552" y="2517100"/>
            <a:ext cx="5037296" cy="319873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6115050" y="493871"/>
            <a:ext cx="7886700" cy="1122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500"/>
              <a:buFont typeface="Alice"/>
              <a:buNone/>
            </a:pPr>
            <a:r>
              <a:rPr b="0" i="0" lang="en-US" sz="35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de portabilidad: definición e importancia</a:t>
            </a:r>
            <a:endParaRPr b="0" i="0" sz="3500" u="none" cap="none" strike="noStrike"/>
          </a:p>
        </p:txBody>
      </p:sp>
      <p:pic>
        <p:nvPicPr>
          <p:cNvPr descr="preencoded.png" id="274" name="Google Shape;27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050" y="1886069"/>
            <a:ext cx="448985" cy="44898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"/>
          <p:cNvSpPr/>
          <p:nvPr/>
        </p:nvSpPr>
        <p:spPr>
          <a:xfrm>
            <a:off x="6115050" y="2514600"/>
            <a:ext cx="3780592" cy="28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Definición de pruebas de portabilidad</a:t>
            </a:r>
            <a:endParaRPr b="0" i="0" sz="1750" u="none" cap="none" strike="noStrike"/>
          </a:p>
        </p:txBody>
      </p:sp>
      <p:sp>
        <p:nvSpPr>
          <p:cNvPr id="276" name="Google Shape;276;p13"/>
          <p:cNvSpPr/>
          <p:nvPr/>
        </p:nvSpPr>
        <p:spPr>
          <a:xfrm>
            <a:off x="6115050" y="2902982"/>
            <a:ext cx="7886700" cy="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de portabilidad evalúan la capacidad de un software para funcionar correctamente en diferentes plataformas, sistemas operativos y dispositivos.</a:t>
            </a:r>
            <a:endParaRPr b="0" i="0" sz="1400" u="none" cap="none" strike="noStrike"/>
          </a:p>
        </p:txBody>
      </p:sp>
      <p:pic>
        <p:nvPicPr>
          <p:cNvPr descr="preencoded.png" id="277" name="Google Shape;27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5050" y="4016693"/>
            <a:ext cx="448985" cy="44898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/>
          <p:nvPr/>
        </p:nvSpPr>
        <p:spPr>
          <a:xfrm>
            <a:off x="6115050" y="4645223"/>
            <a:ext cx="3050977" cy="28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Importancia de la portabilidad</a:t>
            </a:r>
            <a:endParaRPr b="0" i="0" sz="1750" u="none" cap="none" strike="noStrike"/>
          </a:p>
        </p:txBody>
      </p:sp>
      <p:sp>
        <p:nvSpPr>
          <p:cNvPr id="279" name="Google Shape;279;p13"/>
          <p:cNvSpPr/>
          <p:nvPr/>
        </p:nvSpPr>
        <p:spPr>
          <a:xfrm>
            <a:off x="6115050" y="5033605"/>
            <a:ext cx="7886700" cy="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Garantiza que el software se adapte a las necesidades y requisitos de los usuarios, independientemente de su entorno tecnológico.</a:t>
            </a:r>
            <a:endParaRPr b="0" i="0" sz="1400" u="none" cap="none" strike="noStrike"/>
          </a:p>
        </p:txBody>
      </p:sp>
      <p:pic>
        <p:nvPicPr>
          <p:cNvPr descr="preencoded.png" id="280" name="Google Shape;28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5050" y="6147316"/>
            <a:ext cx="448985" cy="44898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6115050" y="6775847"/>
            <a:ext cx="3902869" cy="28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Ventajas de las pruebas de portabilidad</a:t>
            </a:r>
            <a:endParaRPr b="0" i="0" sz="1750" u="none" cap="none" strike="noStrike"/>
          </a:p>
        </p:txBody>
      </p:sp>
      <p:sp>
        <p:nvSpPr>
          <p:cNvPr id="282" name="Google Shape;282;p13"/>
          <p:cNvSpPr/>
          <p:nvPr/>
        </p:nvSpPr>
        <p:spPr>
          <a:xfrm>
            <a:off x="6115050" y="7164229"/>
            <a:ext cx="7886700" cy="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Mejora la experiencia del usuario, reduce el tiempo y los costos de desarrollo, y asegura la escalabilidad del software.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1883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6941" y="188238"/>
            <a:ext cx="2616518" cy="150673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527209" y="2297549"/>
            <a:ext cx="8619053" cy="470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950"/>
              <a:buFont typeface="Alice"/>
              <a:buNone/>
            </a:pPr>
            <a:r>
              <a:rPr b="0" i="0" lang="en-US" sz="29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Estrategias para probar la portabilidad del software</a:t>
            </a:r>
            <a:endParaRPr b="0" i="0" sz="2950" u="none" cap="none" strike="noStrike"/>
          </a:p>
        </p:txBody>
      </p:sp>
      <p:pic>
        <p:nvPicPr>
          <p:cNvPr descr="preencoded.png" id="291" name="Google Shape;2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209" y="2994184"/>
            <a:ext cx="753189" cy="120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/>
          <p:nvPr/>
        </p:nvSpPr>
        <p:spPr>
          <a:xfrm>
            <a:off x="1506379" y="3144798"/>
            <a:ext cx="2825115" cy="23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Alice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Pruebas en múltiples plataformas</a:t>
            </a:r>
            <a:endParaRPr b="0" i="0" sz="1450" u="none" cap="none" strike="noStrike"/>
          </a:p>
        </p:txBody>
      </p:sp>
      <p:sp>
        <p:nvSpPr>
          <p:cNvPr id="293" name="Google Shape;293;p14"/>
          <p:cNvSpPr/>
          <p:nvPr/>
        </p:nvSpPr>
        <p:spPr>
          <a:xfrm>
            <a:off x="1506379" y="3470553"/>
            <a:ext cx="12596813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Ejecuta el software en una variedad de sistemas operativos, dispositivos y navegadores web para asegurar un funcionamiento consistente.</a:t>
            </a:r>
            <a:endParaRPr b="0" i="0" sz="1150" u="none" cap="none" strike="noStrike"/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209" y="4199453"/>
            <a:ext cx="753189" cy="120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1506379" y="4350068"/>
            <a:ext cx="2622352" cy="23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Alice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Validación de interoperabilidad</a:t>
            </a:r>
            <a:endParaRPr b="0" i="0" sz="1450" u="none" cap="none" strike="noStrike"/>
          </a:p>
        </p:txBody>
      </p:sp>
      <p:sp>
        <p:nvSpPr>
          <p:cNvPr id="296" name="Google Shape;296;p14"/>
          <p:cNvSpPr/>
          <p:nvPr/>
        </p:nvSpPr>
        <p:spPr>
          <a:xfrm>
            <a:off x="1506379" y="4675823"/>
            <a:ext cx="12596813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Verifica que el software interactúe correctamente con otros sistemas y aplicaciones en diferentes entornos.</a:t>
            </a:r>
            <a:endParaRPr b="0" i="0" sz="1150" u="none" cap="none" strike="noStrike"/>
          </a:p>
        </p:txBody>
      </p:sp>
      <p:pic>
        <p:nvPicPr>
          <p:cNvPr descr="preencoded.png" id="297" name="Google Shape;2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209" y="5404723"/>
            <a:ext cx="753189" cy="120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1506379" y="5555337"/>
            <a:ext cx="2056567" cy="23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Alice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Pruebas de accesibilidad</a:t>
            </a:r>
            <a:endParaRPr b="0" i="0" sz="1450" u="none" cap="none" strike="noStrike"/>
          </a:p>
        </p:txBody>
      </p:sp>
      <p:sp>
        <p:nvSpPr>
          <p:cNvPr id="299" name="Google Shape;299;p14"/>
          <p:cNvSpPr/>
          <p:nvPr/>
        </p:nvSpPr>
        <p:spPr>
          <a:xfrm>
            <a:off x="1506379" y="5881092"/>
            <a:ext cx="12596813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Evalúa que el software cumpla con los estándares de accesibilidad para usuarios con diferentes capacidades.</a:t>
            </a:r>
            <a:endParaRPr b="0" i="0" sz="1150" u="none" cap="none" strike="noStrike"/>
          </a:p>
        </p:txBody>
      </p:sp>
      <p:pic>
        <p:nvPicPr>
          <p:cNvPr descr="preencoded.png" id="300" name="Google Shape;3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7209" y="6609993"/>
            <a:ext cx="753189" cy="120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1506379" y="6760607"/>
            <a:ext cx="1883212" cy="23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Alice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Monitoreo y ajustes</a:t>
            </a:r>
            <a:endParaRPr b="0" i="0" sz="1450" u="none" cap="none" strike="noStrike"/>
          </a:p>
        </p:txBody>
      </p:sp>
      <p:sp>
        <p:nvSpPr>
          <p:cNvPr id="302" name="Google Shape;302;p14"/>
          <p:cNvSpPr/>
          <p:nvPr/>
        </p:nvSpPr>
        <p:spPr>
          <a:xfrm>
            <a:off x="1506379" y="7086362"/>
            <a:ext cx="12596813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Realiza un seguimiento continuo del rendimiento y la experiencia del usuario en diversos entornos para identificar y corregir problemas de portabilidad.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/>
          <p:nvPr/>
        </p:nvSpPr>
        <p:spPr>
          <a:xfrm>
            <a:off x="701873" y="569119"/>
            <a:ext cx="7398782" cy="626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00"/>
              <a:buFont typeface="Alice"/>
              <a:buNone/>
            </a:pPr>
            <a:r>
              <a:rPr b="0" i="0" lang="en-US" sz="39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Conclusiones y recomendaciones</a:t>
            </a:r>
            <a:endParaRPr b="0" i="0" sz="3900" u="none" cap="none" strike="noStrike"/>
          </a:p>
        </p:txBody>
      </p:sp>
      <p:pic>
        <p:nvPicPr>
          <p:cNvPr descr="preencoded.png" id="309" name="Google Shape;3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873" y="1596866"/>
            <a:ext cx="4208383" cy="2600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/>
          <p:nvPr/>
        </p:nvSpPr>
        <p:spPr>
          <a:xfrm>
            <a:off x="701873" y="4448413"/>
            <a:ext cx="2506980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Conclusiones clave</a:t>
            </a:r>
            <a:endParaRPr b="0" i="0" sz="1950" u="none" cap="none" strike="noStrike"/>
          </a:p>
        </p:txBody>
      </p:sp>
      <p:sp>
        <p:nvSpPr>
          <p:cNvPr id="311" name="Google Shape;311;p15"/>
          <p:cNvSpPr/>
          <p:nvPr/>
        </p:nvSpPr>
        <p:spPr>
          <a:xfrm>
            <a:off x="701873" y="4882039"/>
            <a:ext cx="4208383" cy="224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no funcionales son fundamentales para garantizar la calidad y el rendimiento del software a largo plazo. Ayudan a identificar problemas de escalabilidad, portabilidad y rendimiento antes de que se conviertan en problemas importantes.</a:t>
            </a:r>
            <a:endParaRPr b="0" i="0" sz="1550" u="none" cap="none" strike="noStrike"/>
          </a:p>
        </p:txBody>
      </p:sp>
      <p:pic>
        <p:nvPicPr>
          <p:cNvPr descr="preencoded.png" id="312" name="Google Shape;3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08" y="1596866"/>
            <a:ext cx="4208383" cy="2600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5"/>
          <p:cNvSpPr/>
          <p:nvPr/>
        </p:nvSpPr>
        <p:spPr>
          <a:xfrm>
            <a:off x="5211008" y="4448413"/>
            <a:ext cx="2506980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Recomendaciones</a:t>
            </a:r>
            <a:endParaRPr b="0" i="0" sz="1950" u="none" cap="none" strike="noStrike"/>
          </a:p>
        </p:txBody>
      </p:sp>
      <p:sp>
        <p:nvSpPr>
          <p:cNvPr id="314" name="Google Shape;314;p15"/>
          <p:cNvSpPr/>
          <p:nvPr/>
        </p:nvSpPr>
        <p:spPr>
          <a:xfrm>
            <a:off x="5211008" y="4882039"/>
            <a:ext cx="4208383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Char char="•"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Incorporar las pruebas no funcionales desde el inicio del ciclo de desarrollo</a:t>
            </a:r>
            <a:endParaRPr b="0" i="0" sz="1550" u="none" cap="none" strike="noStrike"/>
          </a:p>
        </p:txBody>
      </p:sp>
      <p:sp>
        <p:nvSpPr>
          <p:cNvPr id="315" name="Google Shape;315;p15"/>
          <p:cNvSpPr/>
          <p:nvPr/>
        </p:nvSpPr>
        <p:spPr>
          <a:xfrm>
            <a:off x="5211008" y="5594152"/>
            <a:ext cx="4208383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Char char="•"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Definir métricas clave de rendimiento y escalabilidad</a:t>
            </a:r>
            <a:endParaRPr b="0" i="0" sz="1550" u="none" cap="none" strike="noStrike"/>
          </a:p>
        </p:txBody>
      </p:sp>
      <p:sp>
        <p:nvSpPr>
          <p:cNvPr id="316" name="Google Shape;316;p15"/>
          <p:cNvSpPr/>
          <p:nvPr/>
        </p:nvSpPr>
        <p:spPr>
          <a:xfrm>
            <a:off x="5211008" y="6306264"/>
            <a:ext cx="4208383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Char char="•"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Automatizar tanto como sea posible para agilizar el proceso de pruebas</a:t>
            </a:r>
            <a:endParaRPr b="0" i="0" sz="1550" u="none" cap="none" strike="noStrike"/>
          </a:p>
        </p:txBody>
      </p:sp>
      <p:sp>
        <p:nvSpPr>
          <p:cNvPr id="317" name="Google Shape;317;p15"/>
          <p:cNvSpPr/>
          <p:nvPr/>
        </p:nvSpPr>
        <p:spPr>
          <a:xfrm>
            <a:off x="5211008" y="7018377"/>
            <a:ext cx="4208383" cy="64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Char char="•"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Involucrar a los arquitectos de software en el diseño de las pruebas</a:t>
            </a:r>
            <a:endParaRPr b="0" i="0" sz="1550" u="none" cap="none" strike="noStrike"/>
          </a:p>
        </p:txBody>
      </p:sp>
      <p:pic>
        <p:nvPicPr>
          <p:cNvPr descr="preencoded.png" id="318" name="Google Shape;3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0143" y="1596866"/>
            <a:ext cx="4208383" cy="2600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/>
          <p:nvPr/>
        </p:nvSpPr>
        <p:spPr>
          <a:xfrm>
            <a:off x="9720143" y="4448413"/>
            <a:ext cx="2506980" cy="31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Beneficios</a:t>
            </a:r>
            <a:endParaRPr b="0" i="0" sz="1950" u="none" cap="none" strike="noStrike"/>
          </a:p>
        </p:txBody>
      </p:sp>
      <p:sp>
        <p:nvSpPr>
          <p:cNvPr id="320" name="Google Shape;320;p15"/>
          <p:cNvSpPr/>
          <p:nvPr/>
        </p:nvSpPr>
        <p:spPr>
          <a:xfrm>
            <a:off x="9720143" y="4882039"/>
            <a:ext cx="4208383" cy="192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 aplicar las pruebas no funcionales, se puede garantizar que el software cumpla con los requisitos de desempeño, escalabilidad y portabilidad, lo que se traduce en una mejor experiencia del usuario y una mayor satisfacción del cliente.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2024-11-04T04:39:53Z</dcterms:created>
  <dc:creator>PptxGenJS</dc:creator>
</cp:coreProperties>
</file>