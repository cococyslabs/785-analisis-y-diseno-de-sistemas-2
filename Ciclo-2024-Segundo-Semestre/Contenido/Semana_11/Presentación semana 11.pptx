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8229600" cx="14630400"/>
  <p:notesSz cx="8229600" cy="14630400"/>
  <p:embeddedFontLst>
    <p:embeddedFont>
      <p:font typeface="Alice"/>
      <p:regular r:id="rId22"/>
    </p:embeddedFont>
    <p:embeddedFont>
      <p:font typeface="Lora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jN3nJM4NjcIFw5361tzv2vQwiR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C8F306E-CFBC-4ECD-AC89-F82A1EFF171A}">
  <a:tblStyle styleId="{CC8F306E-CFBC-4ECD-AC89-F82A1EFF171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Alice-regular.fntdata"/><Relationship Id="rId21" Type="http://schemas.openxmlformats.org/officeDocument/2006/relationships/slide" Target="slides/slide16.xml"/><Relationship Id="rId24" Type="http://schemas.openxmlformats.org/officeDocument/2006/relationships/font" Target="fonts/Lora-bold.fntdata"/><Relationship Id="rId23" Type="http://schemas.openxmlformats.org/officeDocument/2006/relationships/font" Target="fonts/Lora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ora-boldItalic.fntdata"/><Relationship Id="rId25" Type="http://schemas.openxmlformats.org/officeDocument/2006/relationships/font" Target="fonts/Lora-italic.fntdata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118ca599fe_0_0:notes"/>
          <p:cNvSpPr/>
          <p:nvPr>
            <p:ph idx="2" type="sldImg"/>
          </p:nvPr>
        </p:nvSpPr>
        <p:spPr>
          <a:xfrm>
            <a:off x="457560" y="1097280"/>
            <a:ext cx="73152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g3118ca599fe_0_0:notes"/>
          <p:cNvSpPr txBox="1"/>
          <p:nvPr>
            <p:ph idx="1" type="body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bg>
      <p:bgPr>
        <a:solidFill>
          <a:srgbClr val="000000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bg>
      <p:bgPr>
        <a:solidFill>
          <a:srgbClr val="000000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bg>
      <p:bgPr>
        <a:solidFill>
          <a:srgbClr val="000000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bg>
      <p:bgPr>
        <a:solidFill>
          <a:srgbClr val="000000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5 master">
  <p:cSld name="Slide 15 master">
    <p:bg>
      <p:bgPr>
        <a:solidFill>
          <a:srgbClr val="000000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118ca599fe_0_58"/>
          <p:cNvSpPr txBox="1"/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9pPr>
          </a:lstStyle>
          <a:p/>
        </p:txBody>
      </p:sp>
      <p:sp>
        <p:nvSpPr>
          <p:cNvPr id="58" name="Google Shape;58;g3118ca599fe_0_58"/>
          <p:cNvSpPr txBox="1"/>
          <p:nvPr>
            <p:ph idx="1" type="body"/>
          </p:nvPr>
        </p:nvSpPr>
        <p:spPr>
          <a:xfrm>
            <a:off x="498720" y="1843960"/>
            <a:ext cx="13632900" cy="54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412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  <a:defRPr sz="1100"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1100"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1100"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1100"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1100"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1100"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1100"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1100"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1100"/>
            </a:lvl9pPr>
          </a:lstStyle>
          <a:p/>
        </p:txBody>
      </p:sp>
      <p:sp>
        <p:nvSpPr>
          <p:cNvPr id="59" name="Google Shape;59;g3118ca599fe_0_58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2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2.png"/><Relationship Id="rId4" Type="http://schemas.openxmlformats.org/officeDocument/2006/relationships/image" Target="../media/image14.png"/><Relationship Id="rId5" Type="http://schemas.openxmlformats.org/officeDocument/2006/relationships/image" Target="../media/image2.png"/><Relationship Id="rId6" Type="http://schemas.openxmlformats.org/officeDocument/2006/relationships/image" Target="../media/image10.png"/><Relationship Id="rId7" Type="http://schemas.openxmlformats.org/officeDocument/2006/relationships/image" Target="../media/image8.png"/><Relationship Id="rId8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7.png"/><Relationship Id="rId5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33.png"/><Relationship Id="rId5" Type="http://schemas.openxmlformats.org/officeDocument/2006/relationships/image" Target="../media/image22.png"/><Relationship Id="rId6" Type="http://schemas.openxmlformats.org/officeDocument/2006/relationships/image" Target="../media/image19.png"/><Relationship Id="rId7" Type="http://schemas.openxmlformats.org/officeDocument/2006/relationships/image" Target="../media/image25.png"/><Relationship Id="rId8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5.png"/><Relationship Id="rId4" Type="http://schemas.openxmlformats.org/officeDocument/2006/relationships/image" Target="../media/image21.png"/><Relationship Id="rId5" Type="http://schemas.openxmlformats.org/officeDocument/2006/relationships/image" Target="../media/image28.png"/><Relationship Id="rId6" Type="http://schemas.openxmlformats.org/officeDocument/2006/relationships/image" Target="../media/image2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6.png"/><Relationship Id="rId4" Type="http://schemas.openxmlformats.org/officeDocument/2006/relationships/image" Target="../media/image26.png"/><Relationship Id="rId5" Type="http://schemas.openxmlformats.org/officeDocument/2006/relationships/image" Target="../media/image3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0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g3118ca599fe_0_0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3522" y="0"/>
            <a:ext cx="14603357" cy="8229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5" name="Google Shape;65;g3118ca599fe_0_0"/>
          <p:cNvGraphicFramePr/>
          <p:nvPr/>
        </p:nvGraphicFramePr>
        <p:xfrm>
          <a:off x="8525120" y="1552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{CC8F306E-CFBC-4ECD-AC89-F82A1EFF171A}</a:tableStyleId>
              </a:tblPr>
              <a:tblGrid>
                <a:gridCol w="2429125"/>
                <a:gridCol w="3475800"/>
              </a:tblGrid>
              <a:tr h="515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b="1" sz="2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46275" marB="146275" marR="146275" marL="1462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/>
                        <a:t>Día, xx/xx/2025 </a:t>
                      </a:r>
                      <a:endParaRPr sz="2200" u="none" cap="none" strike="noStrike"/>
                    </a:p>
                  </a:txBody>
                  <a:tcPr marT="146275" marB="146275" marR="146275" marL="146275"/>
                </a:tc>
              </a:tr>
              <a:tr h="58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2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46275" marB="146275" marR="146275" marL="1462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/>
                        <a:t>xx:xx</a:t>
                      </a:r>
                      <a:endParaRPr sz="2200" u="none" cap="none" strike="noStrike"/>
                    </a:p>
                  </a:txBody>
                  <a:tcPr marT="146275" marB="146275" marR="146275" marL="146275"/>
                </a:tc>
              </a:tr>
            </a:tbl>
          </a:graphicData>
        </a:graphic>
      </p:graphicFrame>
      <p:sp>
        <p:nvSpPr>
          <p:cNvPr id="66" name="Google Shape;66;g3118ca599fe_0_0"/>
          <p:cNvSpPr txBox="1"/>
          <p:nvPr/>
        </p:nvSpPr>
        <p:spPr>
          <a:xfrm>
            <a:off x="2304280" y="3613280"/>
            <a:ext cx="10867200" cy="9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/>
              <a:t>Análisis y Diseño de Sistemas 2 </a:t>
            </a: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4000"/>
              <a:t>SECCIÓN</a:t>
            </a: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g3118ca599fe_0_0"/>
          <p:cNvSpPr txBox="1"/>
          <p:nvPr/>
        </p:nvSpPr>
        <p:spPr>
          <a:xfrm>
            <a:off x="2845920" y="4641200"/>
            <a:ext cx="8938500" cy="7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/>
              <a:t>Estudiante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3" name="Google Shape;7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4" name="Google Shape;7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27607" y="2130623"/>
            <a:ext cx="4919186" cy="3968234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"/>
          <p:cNvSpPr/>
          <p:nvPr/>
        </p:nvSpPr>
        <p:spPr>
          <a:xfrm>
            <a:off x="793790" y="1829753"/>
            <a:ext cx="7556421" cy="2126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4450"/>
              <a:buFont typeface="Alice"/>
              <a:buNone/>
            </a:pPr>
            <a:r>
              <a:rPr b="0" i="0" lang="en-US" sz="44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Seguridad de sistemas: Protegiendo la información en la era digital</a:t>
            </a:r>
            <a:endParaRPr b="0" i="0" sz="4450" u="none" cap="none" strike="noStrike"/>
          </a:p>
        </p:txBody>
      </p:sp>
      <p:sp>
        <p:nvSpPr>
          <p:cNvPr id="76" name="Google Shape;76;p1"/>
          <p:cNvSpPr/>
          <p:nvPr/>
        </p:nvSpPr>
        <p:spPr>
          <a:xfrm>
            <a:off x="793790" y="4296251"/>
            <a:ext cx="7556421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En un mundo cada vez más digitalizado, la seguridad de los sistemas informáticos se ha convertido en una prioridad fundamental. Es crucial comprender los principios y mejores prácticas para proteger la información valiosa de organizaciones y usuarios.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2" name="Google Shape;8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4761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3" name="Google Shape;8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4600" y="247531"/>
            <a:ext cx="1981081" cy="1981081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"/>
          <p:cNvSpPr/>
          <p:nvPr/>
        </p:nvSpPr>
        <p:spPr>
          <a:xfrm>
            <a:off x="693301" y="3020854"/>
            <a:ext cx="8751332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74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3850"/>
              <a:buFont typeface="Alice"/>
              <a:buNone/>
            </a:pPr>
            <a:r>
              <a:rPr b="0" i="0" lang="en-US" sz="38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Introducción a la seguridad de sistemas</a:t>
            </a:r>
            <a:endParaRPr b="0" i="0" sz="3850" u="none" cap="none" strike="noStrike"/>
          </a:p>
        </p:txBody>
      </p:sp>
      <p:sp>
        <p:nvSpPr>
          <p:cNvPr id="85" name="Google Shape;85;p2"/>
          <p:cNvSpPr/>
          <p:nvPr/>
        </p:nvSpPr>
        <p:spPr>
          <a:xfrm>
            <a:off x="693301" y="3937040"/>
            <a:ext cx="6522958" cy="1775222"/>
          </a:xfrm>
          <a:prstGeom prst="roundRect">
            <a:avLst>
              <a:gd fmla="val 1674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"/>
          <p:cNvSpPr/>
          <p:nvPr/>
        </p:nvSpPr>
        <p:spPr>
          <a:xfrm>
            <a:off x="891302" y="4135041"/>
            <a:ext cx="2476143" cy="3095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900"/>
              <a:buFont typeface="Alice"/>
              <a:buNone/>
            </a:pPr>
            <a:r>
              <a:rPr b="0" i="0" lang="en-US" sz="19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Definición</a:t>
            </a:r>
            <a:endParaRPr b="0" i="0" sz="1900" u="none" cap="none" strike="noStrike"/>
          </a:p>
        </p:txBody>
      </p:sp>
      <p:sp>
        <p:nvSpPr>
          <p:cNvPr id="87" name="Google Shape;87;p2"/>
          <p:cNvSpPr/>
          <p:nvPr/>
        </p:nvSpPr>
        <p:spPr>
          <a:xfrm>
            <a:off x="891302" y="4563428"/>
            <a:ext cx="6126956" cy="9508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50"/>
              <a:buFont typeface="Lora"/>
              <a:buNone/>
            </a:pPr>
            <a:r>
              <a:rPr b="0" i="0" lang="en-US" sz="15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La seguridad de sistemas es el proceso de proteger la información y los recursos tecnológicos de una organización contra amenazas y ataques.</a:t>
            </a:r>
            <a:endParaRPr b="0" i="0" sz="1550" u="none" cap="none" strike="noStrike"/>
          </a:p>
        </p:txBody>
      </p:sp>
      <p:sp>
        <p:nvSpPr>
          <p:cNvPr id="88" name="Google Shape;88;p2"/>
          <p:cNvSpPr/>
          <p:nvPr/>
        </p:nvSpPr>
        <p:spPr>
          <a:xfrm>
            <a:off x="7414260" y="3937040"/>
            <a:ext cx="6522958" cy="1775222"/>
          </a:xfrm>
          <a:prstGeom prst="roundRect">
            <a:avLst>
              <a:gd fmla="val 1674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"/>
          <p:cNvSpPr/>
          <p:nvPr/>
        </p:nvSpPr>
        <p:spPr>
          <a:xfrm>
            <a:off x="7612261" y="4135041"/>
            <a:ext cx="2476143" cy="3095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900"/>
              <a:buFont typeface="Alice"/>
              <a:buNone/>
            </a:pPr>
            <a:r>
              <a:rPr b="0" i="0" lang="en-US" sz="19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Objetivos Clave</a:t>
            </a:r>
            <a:endParaRPr b="0" i="0" sz="1900" u="none" cap="none" strike="noStrike"/>
          </a:p>
        </p:txBody>
      </p:sp>
      <p:sp>
        <p:nvSpPr>
          <p:cNvPr id="90" name="Google Shape;90;p2"/>
          <p:cNvSpPr/>
          <p:nvPr/>
        </p:nvSpPr>
        <p:spPr>
          <a:xfrm>
            <a:off x="7612261" y="4563428"/>
            <a:ext cx="6126956" cy="9508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50"/>
              <a:buFont typeface="Lora"/>
              <a:buNone/>
            </a:pPr>
            <a:r>
              <a:rPr b="0" i="0" lang="en-US" sz="15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Preservar la confidencialidad, integridad y disponibilidad de los datos, cumpliendo con regulaciones y manteniendo la confianza de usuarios.</a:t>
            </a:r>
            <a:endParaRPr b="0" i="0" sz="1550" u="none" cap="none" strike="noStrike"/>
          </a:p>
        </p:txBody>
      </p:sp>
      <p:sp>
        <p:nvSpPr>
          <p:cNvPr id="91" name="Google Shape;91;p2"/>
          <p:cNvSpPr/>
          <p:nvPr/>
        </p:nvSpPr>
        <p:spPr>
          <a:xfrm>
            <a:off x="693301" y="5910263"/>
            <a:ext cx="6522958" cy="1775222"/>
          </a:xfrm>
          <a:prstGeom prst="roundRect">
            <a:avLst>
              <a:gd fmla="val 1674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"/>
          <p:cNvSpPr/>
          <p:nvPr/>
        </p:nvSpPr>
        <p:spPr>
          <a:xfrm>
            <a:off x="891302" y="6108263"/>
            <a:ext cx="2476143" cy="3095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900"/>
              <a:buFont typeface="Alice"/>
              <a:buNone/>
            </a:pPr>
            <a:r>
              <a:rPr b="0" i="0" lang="en-US" sz="19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Enfoque Integral</a:t>
            </a:r>
            <a:endParaRPr b="0" i="0" sz="1900" u="none" cap="none" strike="noStrike"/>
          </a:p>
        </p:txBody>
      </p:sp>
      <p:sp>
        <p:nvSpPr>
          <p:cNvPr id="93" name="Google Shape;93;p2"/>
          <p:cNvSpPr/>
          <p:nvPr/>
        </p:nvSpPr>
        <p:spPr>
          <a:xfrm>
            <a:off x="891302" y="6536650"/>
            <a:ext cx="6126956" cy="9508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50"/>
              <a:buFont typeface="Lora"/>
              <a:buNone/>
            </a:pPr>
            <a:r>
              <a:rPr b="0" i="0" lang="en-US" sz="15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Involucra aspectos técnicos, organizacionales y humanos para crear una defensa sólida contra ciberamenazas en constante evolución.</a:t>
            </a:r>
            <a:endParaRPr b="0" i="0" sz="1550" u="none" cap="none" strike="noStrike"/>
          </a:p>
        </p:txBody>
      </p:sp>
      <p:sp>
        <p:nvSpPr>
          <p:cNvPr id="94" name="Google Shape;94;p2"/>
          <p:cNvSpPr/>
          <p:nvPr/>
        </p:nvSpPr>
        <p:spPr>
          <a:xfrm>
            <a:off x="7414260" y="5910263"/>
            <a:ext cx="6522958" cy="1775222"/>
          </a:xfrm>
          <a:prstGeom prst="roundRect">
            <a:avLst>
              <a:gd fmla="val 1674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"/>
          <p:cNvSpPr/>
          <p:nvPr/>
        </p:nvSpPr>
        <p:spPr>
          <a:xfrm>
            <a:off x="7612261" y="6108263"/>
            <a:ext cx="2491978" cy="3095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900"/>
              <a:buFont typeface="Alice"/>
              <a:buNone/>
            </a:pPr>
            <a:r>
              <a:rPr b="0" i="0" lang="en-US" sz="19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Importancia Creciente</a:t>
            </a:r>
            <a:endParaRPr b="0" i="0" sz="1900" u="none" cap="none" strike="noStrike"/>
          </a:p>
        </p:txBody>
      </p:sp>
      <p:sp>
        <p:nvSpPr>
          <p:cNvPr id="96" name="Google Shape;96;p2"/>
          <p:cNvSpPr/>
          <p:nvPr/>
        </p:nvSpPr>
        <p:spPr>
          <a:xfrm>
            <a:off x="7612261" y="6536650"/>
            <a:ext cx="6126956" cy="6338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50"/>
              <a:buFont typeface="Lora"/>
              <a:buNone/>
            </a:pPr>
            <a:r>
              <a:rPr b="0" i="0" lang="en-US" sz="15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La dependencia digital y el aumento de ataques hacen que la seguridad sea una prioridad crítica para toda organización.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2" name="Google Shape;10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3343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3" name="Google Shape;10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2143" y="233363"/>
            <a:ext cx="3206115" cy="1867614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3"/>
          <p:cNvSpPr/>
          <p:nvPr/>
        </p:nvSpPr>
        <p:spPr>
          <a:xfrm>
            <a:off x="653534" y="3138726"/>
            <a:ext cx="13011031" cy="583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57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3650"/>
              <a:buFont typeface="Alice"/>
              <a:buNone/>
            </a:pPr>
            <a:r>
              <a:rPr b="0" i="0" lang="en-US" sz="36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La importancia de la seguridad de sistemas en el mundo actual</a:t>
            </a:r>
            <a:endParaRPr b="0" i="0" sz="3650" u="none" cap="none" strike="noStrike"/>
          </a:p>
        </p:txBody>
      </p:sp>
      <p:sp>
        <p:nvSpPr>
          <p:cNvPr id="105" name="Google Shape;105;p3"/>
          <p:cNvSpPr/>
          <p:nvPr/>
        </p:nvSpPr>
        <p:spPr>
          <a:xfrm>
            <a:off x="653534" y="4002286"/>
            <a:ext cx="13323332" cy="3422809"/>
          </a:xfrm>
          <a:prstGeom prst="roundRect">
            <a:avLst>
              <a:gd fmla="val 818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661154" y="4009906"/>
            <a:ext cx="13308092" cy="1135856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847844" y="4129564"/>
            <a:ext cx="6276856" cy="2988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450"/>
              <a:buFont typeface="Lora"/>
              <a:buNone/>
            </a:pPr>
            <a:r>
              <a:rPr b="0" i="0" lang="en-US" sz="14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Crecimiento exponencial de los datos</a:t>
            </a:r>
            <a:endParaRPr b="0" i="0" sz="1450" u="none" cap="none" strike="noStrike"/>
          </a:p>
        </p:txBody>
      </p:sp>
      <p:sp>
        <p:nvSpPr>
          <p:cNvPr id="108" name="Google Shape;108;p3"/>
          <p:cNvSpPr/>
          <p:nvPr/>
        </p:nvSpPr>
        <p:spPr>
          <a:xfrm>
            <a:off x="7505700" y="4129564"/>
            <a:ext cx="6276856" cy="89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450"/>
              <a:buFont typeface="Lora"/>
              <a:buNone/>
            </a:pPr>
            <a:r>
              <a:rPr b="0" i="0" lang="en-US" sz="14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La cantidad de información digital generada y almacenada ha aumentado exponencialmente, lo que hace que los sistemas y redes sean cada vez más vulnerables a amenazas cibernéticas.</a:t>
            </a:r>
            <a:endParaRPr b="0" i="0" sz="1450" u="none" cap="none" strike="noStrike"/>
          </a:p>
        </p:txBody>
      </p:sp>
      <p:sp>
        <p:nvSpPr>
          <p:cNvPr id="109" name="Google Shape;109;p3"/>
          <p:cNvSpPr/>
          <p:nvPr/>
        </p:nvSpPr>
        <p:spPr>
          <a:xfrm>
            <a:off x="661154" y="5145762"/>
            <a:ext cx="13308092" cy="1135856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847844" y="5265420"/>
            <a:ext cx="6276856" cy="2988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450"/>
              <a:buFont typeface="Lora"/>
              <a:buNone/>
            </a:pPr>
            <a:r>
              <a:rPr b="0" i="0" lang="en-US" sz="14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Proliferación de dispositivos conectados</a:t>
            </a:r>
            <a:endParaRPr b="0" i="0" sz="1450" u="none" cap="none" strike="noStrike"/>
          </a:p>
        </p:txBody>
      </p:sp>
      <p:sp>
        <p:nvSpPr>
          <p:cNvPr id="111" name="Google Shape;111;p3"/>
          <p:cNvSpPr/>
          <p:nvPr/>
        </p:nvSpPr>
        <p:spPr>
          <a:xfrm>
            <a:off x="7505700" y="5265420"/>
            <a:ext cx="6276856" cy="89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450"/>
              <a:buFont typeface="Lora"/>
              <a:buNone/>
            </a:pPr>
            <a:r>
              <a:rPr b="0" i="0" lang="en-US" sz="14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La tendencia del Internet de las Cosas (IoT) ha incrementado el número de dispositivos interconectados, ampliando la superficie de ataque y exponiendo aún más la información sensible.</a:t>
            </a:r>
            <a:endParaRPr b="0" i="0" sz="1450" u="none" cap="none" strike="noStrike"/>
          </a:p>
        </p:txBody>
      </p:sp>
      <p:sp>
        <p:nvSpPr>
          <p:cNvPr id="112" name="Google Shape;112;p3"/>
          <p:cNvSpPr/>
          <p:nvPr/>
        </p:nvSpPr>
        <p:spPr>
          <a:xfrm>
            <a:off x="661154" y="6281618"/>
            <a:ext cx="13308092" cy="1135856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847844" y="6401276"/>
            <a:ext cx="6276856" cy="2988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450"/>
              <a:buFont typeface="Lora"/>
              <a:buNone/>
            </a:pPr>
            <a:r>
              <a:rPr b="0" i="0" lang="en-US" sz="14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Aumento de la sofisticación de los ciberataques</a:t>
            </a:r>
            <a:endParaRPr b="0" i="0" sz="1450" u="none" cap="none" strike="noStrike"/>
          </a:p>
        </p:txBody>
      </p:sp>
      <p:sp>
        <p:nvSpPr>
          <p:cNvPr id="114" name="Google Shape;114;p3"/>
          <p:cNvSpPr/>
          <p:nvPr/>
        </p:nvSpPr>
        <p:spPr>
          <a:xfrm>
            <a:off x="7505700" y="6401276"/>
            <a:ext cx="6276856" cy="89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450"/>
              <a:buFont typeface="Lora"/>
              <a:buNone/>
            </a:pPr>
            <a:r>
              <a:rPr b="0" i="0" lang="en-US" sz="14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Los ciberdelincuentes utilizan técnicas cada vez más avanzadas y automatizadas, lo que exige una respuesta ágil y eficaz para proteger sistemas y datos.</a:t>
            </a:r>
            <a:endParaRPr b="0" i="0" sz="14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0" name="Google Shape;12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304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1" name="Google Shape;12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7409" y="2435900"/>
            <a:ext cx="5031581" cy="3358634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4"/>
          <p:cNvSpPr/>
          <p:nvPr/>
        </p:nvSpPr>
        <p:spPr>
          <a:xfrm>
            <a:off x="6123027" y="500182"/>
            <a:ext cx="7870746" cy="11365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3550"/>
              <a:buFont typeface="Alice"/>
              <a:buNone/>
            </a:pPr>
            <a:r>
              <a:rPr b="0" i="0" lang="en-US" sz="35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Modelado de amenazas: identificando riesgos potenciales</a:t>
            </a:r>
            <a:endParaRPr b="0" i="0" sz="3550" u="none" cap="none" strike="noStrike"/>
          </a:p>
        </p:txBody>
      </p:sp>
      <p:pic>
        <p:nvPicPr>
          <p:cNvPr descr="preencoded.png" id="123" name="Google Shape;123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23027" y="1909524"/>
            <a:ext cx="909399" cy="1455182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4"/>
          <p:cNvSpPr/>
          <p:nvPr/>
        </p:nvSpPr>
        <p:spPr>
          <a:xfrm>
            <a:off x="7305199" y="2091333"/>
            <a:ext cx="2642473" cy="284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Alice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Identificar activos críticos</a:t>
            </a:r>
            <a:endParaRPr b="0" i="0" sz="1750" u="none" cap="none" strike="noStrike"/>
          </a:p>
        </p:txBody>
      </p:sp>
      <p:sp>
        <p:nvSpPr>
          <p:cNvPr id="125" name="Google Shape;125;p4"/>
          <p:cNvSpPr/>
          <p:nvPr/>
        </p:nvSpPr>
        <p:spPr>
          <a:xfrm>
            <a:off x="7305199" y="2484596"/>
            <a:ext cx="6688574" cy="581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400"/>
              <a:buFont typeface="Lora"/>
              <a:buNone/>
            </a:pPr>
            <a:r>
              <a:rPr b="0" i="0" lang="en-US" sz="14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Determinar los elementos más valiosos y sensibles de la organización que deben protegerse.</a:t>
            </a:r>
            <a:endParaRPr b="0" i="0" sz="1400" u="none" cap="none" strike="noStrike"/>
          </a:p>
        </p:txBody>
      </p:sp>
      <p:pic>
        <p:nvPicPr>
          <p:cNvPr descr="preencoded.png" id="126" name="Google Shape;126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23027" y="3364706"/>
            <a:ext cx="909399" cy="1455182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4"/>
          <p:cNvSpPr/>
          <p:nvPr/>
        </p:nvSpPr>
        <p:spPr>
          <a:xfrm>
            <a:off x="7305199" y="3546515"/>
            <a:ext cx="3837623" cy="284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Alice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Analizar amenazas y vulnerabilidades</a:t>
            </a:r>
            <a:endParaRPr b="0" i="0" sz="1750" u="none" cap="none" strike="noStrike"/>
          </a:p>
        </p:txBody>
      </p:sp>
      <p:sp>
        <p:nvSpPr>
          <p:cNvPr id="128" name="Google Shape;128;p4"/>
          <p:cNvSpPr/>
          <p:nvPr/>
        </p:nvSpPr>
        <p:spPr>
          <a:xfrm>
            <a:off x="7305199" y="3939778"/>
            <a:ext cx="6688574" cy="581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400"/>
              <a:buFont typeface="Lora"/>
              <a:buNone/>
            </a:pPr>
            <a:r>
              <a:rPr b="0" i="0" lang="en-US" sz="14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Evaluar los riesgos potenciales que puedan comprometer la seguridad de los activos clave.</a:t>
            </a:r>
            <a:endParaRPr b="0" i="0" sz="1400" u="none" cap="none" strike="noStrike"/>
          </a:p>
        </p:txBody>
      </p:sp>
      <p:pic>
        <p:nvPicPr>
          <p:cNvPr descr="preencoded.png" id="129" name="Google Shape;129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23027" y="4819888"/>
            <a:ext cx="909399" cy="1455182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4"/>
          <p:cNvSpPr/>
          <p:nvPr/>
        </p:nvSpPr>
        <p:spPr>
          <a:xfrm>
            <a:off x="7305199" y="5001697"/>
            <a:ext cx="3291007" cy="284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Alice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Evaluar el impacto de los riesgos</a:t>
            </a:r>
            <a:endParaRPr b="0" i="0" sz="1750" u="none" cap="none" strike="noStrike"/>
          </a:p>
        </p:txBody>
      </p:sp>
      <p:sp>
        <p:nvSpPr>
          <p:cNvPr id="131" name="Google Shape;131;p4"/>
          <p:cNvSpPr/>
          <p:nvPr/>
        </p:nvSpPr>
        <p:spPr>
          <a:xfrm>
            <a:off x="7305199" y="5394960"/>
            <a:ext cx="6688574" cy="581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400"/>
              <a:buFont typeface="Lora"/>
              <a:buNone/>
            </a:pPr>
            <a:r>
              <a:rPr b="0" i="0" lang="en-US" sz="14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Valorar el daño que podrían causar las amenazas identificadas en términos financieros, operativos y reputacionales.</a:t>
            </a:r>
            <a:endParaRPr b="0" i="0" sz="1400" u="none" cap="none" strike="noStrike"/>
          </a:p>
        </p:txBody>
      </p:sp>
      <p:pic>
        <p:nvPicPr>
          <p:cNvPr descr="preencoded.png" id="132" name="Google Shape;132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23027" y="6275070"/>
            <a:ext cx="909399" cy="145518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4"/>
          <p:cNvSpPr/>
          <p:nvPr/>
        </p:nvSpPr>
        <p:spPr>
          <a:xfrm>
            <a:off x="7305199" y="6456878"/>
            <a:ext cx="2998946" cy="284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Alice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Priorizar y mitigar los riesgos</a:t>
            </a:r>
            <a:endParaRPr b="0" i="0" sz="1750" u="none" cap="none" strike="noStrike"/>
          </a:p>
        </p:txBody>
      </p:sp>
      <p:sp>
        <p:nvSpPr>
          <p:cNvPr id="134" name="Google Shape;134;p4"/>
          <p:cNvSpPr/>
          <p:nvPr/>
        </p:nvSpPr>
        <p:spPr>
          <a:xfrm>
            <a:off x="7305199" y="6850142"/>
            <a:ext cx="6688574" cy="581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400"/>
              <a:buFont typeface="Lora"/>
              <a:buNone/>
            </a:pPr>
            <a:r>
              <a:rPr b="0" i="0" lang="en-US" sz="14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Establecer medidas de control y estrategias de mitigación para los riesgos más críticos.</a:t>
            </a:r>
            <a:endParaRPr b="0" i="0" sz="140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0" name="Google Shape;1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6364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1" name="Google Shape;14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69512" y="263604"/>
            <a:ext cx="1491377" cy="210919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5"/>
          <p:cNvSpPr/>
          <p:nvPr/>
        </p:nvSpPr>
        <p:spPr>
          <a:xfrm>
            <a:off x="738188" y="3223022"/>
            <a:ext cx="11847433" cy="659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96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4150"/>
              <a:buFont typeface="Alice"/>
              <a:buNone/>
            </a:pPr>
            <a:r>
              <a:rPr b="0" i="0" lang="en-US" sz="41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Análisis de riesgos y su impacto en la organización</a:t>
            </a:r>
            <a:endParaRPr b="0" i="0" sz="4150" u="none" cap="none" strike="noStrike"/>
          </a:p>
        </p:txBody>
      </p:sp>
      <p:sp>
        <p:nvSpPr>
          <p:cNvPr id="143" name="Google Shape;143;p5"/>
          <p:cNvSpPr/>
          <p:nvPr/>
        </p:nvSpPr>
        <p:spPr>
          <a:xfrm>
            <a:off x="738188" y="4303871"/>
            <a:ext cx="4173736" cy="69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5450"/>
              <a:buFont typeface="Alice"/>
              <a:buNone/>
            </a:pPr>
            <a:r>
              <a:rPr b="0" i="0" lang="en-US" sz="54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5</a:t>
            </a:r>
            <a:endParaRPr b="0" i="0" sz="5450" u="none" cap="none" strike="noStrike"/>
          </a:p>
        </p:txBody>
      </p:sp>
      <p:sp>
        <p:nvSpPr>
          <p:cNvPr id="144" name="Google Shape;144;p5"/>
          <p:cNvSpPr/>
          <p:nvPr/>
        </p:nvSpPr>
        <p:spPr>
          <a:xfrm>
            <a:off x="1506855" y="5263277"/>
            <a:ext cx="2636401" cy="3294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050"/>
              <a:buFont typeface="Alice"/>
              <a:buNone/>
            </a:pPr>
            <a:r>
              <a:rPr b="0" i="0" lang="en-US" sz="20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Categorías</a:t>
            </a:r>
            <a:endParaRPr b="0" i="0" sz="2050" u="none" cap="none" strike="noStrike"/>
          </a:p>
        </p:txBody>
      </p:sp>
      <p:sp>
        <p:nvSpPr>
          <p:cNvPr id="145" name="Google Shape;145;p5"/>
          <p:cNvSpPr/>
          <p:nvPr/>
        </p:nvSpPr>
        <p:spPr>
          <a:xfrm>
            <a:off x="738188" y="5719167"/>
            <a:ext cx="4173736" cy="337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650"/>
              <a:buFont typeface="Lora"/>
              <a:buNone/>
            </a:pPr>
            <a:r>
              <a:rPr b="0" i="0" lang="en-US" sz="16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Principales tipos de riesgos a evaluar</a:t>
            </a:r>
            <a:endParaRPr b="0" i="0" sz="1650" u="none" cap="none" strike="noStrike"/>
          </a:p>
        </p:txBody>
      </p:sp>
      <p:sp>
        <p:nvSpPr>
          <p:cNvPr id="146" name="Google Shape;146;p5"/>
          <p:cNvSpPr/>
          <p:nvPr/>
        </p:nvSpPr>
        <p:spPr>
          <a:xfrm>
            <a:off x="5228273" y="4303871"/>
            <a:ext cx="4173736" cy="69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5450"/>
              <a:buFont typeface="Alice"/>
              <a:buNone/>
            </a:pPr>
            <a:r>
              <a:rPr b="0" i="0" lang="en-US" sz="54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90%</a:t>
            </a:r>
            <a:endParaRPr b="0" i="0" sz="5450" u="none" cap="none" strike="noStrike"/>
          </a:p>
        </p:txBody>
      </p:sp>
      <p:sp>
        <p:nvSpPr>
          <p:cNvPr id="147" name="Google Shape;147;p5"/>
          <p:cNvSpPr/>
          <p:nvPr/>
        </p:nvSpPr>
        <p:spPr>
          <a:xfrm>
            <a:off x="5996940" y="5263277"/>
            <a:ext cx="2636401" cy="3294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050"/>
              <a:buFont typeface="Alice"/>
              <a:buNone/>
            </a:pPr>
            <a:r>
              <a:rPr b="0" i="0" lang="en-US" sz="20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Impacto</a:t>
            </a:r>
            <a:endParaRPr b="0" i="0" sz="2050" u="none" cap="none" strike="noStrike"/>
          </a:p>
        </p:txBody>
      </p:sp>
      <p:sp>
        <p:nvSpPr>
          <p:cNvPr id="148" name="Google Shape;148;p5"/>
          <p:cNvSpPr/>
          <p:nvPr/>
        </p:nvSpPr>
        <p:spPr>
          <a:xfrm>
            <a:off x="5228273" y="5719167"/>
            <a:ext cx="4173736" cy="674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650"/>
              <a:buFont typeface="Lora"/>
              <a:buNone/>
            </a:pPr>
            <a:r>
              <a:rPr b="0" i="0" lang="en-US" sz="16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Porcentaje promedio de pérdidas para una empresa en un incidente de seguridad</a:t>
            </a:r>
            <a:endParaRPr b="0" i="0" sz="1650" u="none" cap="none" strike="noStrike"/>
          </a:p>
        </p:txBody>
      </p:sp>
      <p:sp>
        <p:nvSpPr>
          <p:cNvPr id="149" name="Google Shape;149;p5"/>
          <p:cNvSpPr/>
          <p:nvPr/>
        </p:nvSpPr>
        <p:spPr>
          <a:xfrm>
            <a:off x="9718358" y="4303871"/>
            <a:ext cx="4173855" cy="69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5450"/>
              <a:buFont typeface="Alice"/>
              <a:buNone/>
            </a:pPr>
            <a:r>
              <a:rPr b="0" i="0" lang="en-US" sz="54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70M</a:t>
            </a:r>
            <a:endParaRPr b="0" i="0" sz="5450" u="none" cap="none" strike="noStrike"/>
          </a:p>
        </p:txBody>
      </p:sp>
      <p:sp>
        <p:nvSpPr>
          <p:cNvPr id="150" name="Google Shape;150;p5"/>
          <p:cNvSpPr/>
          <p:nvPr/>
        </p:nvSpPr>
        <p:spPr>
          <a:xfrm>
            <a:off x="10487025" y="5263277"/>
            <a:ext cx="2636401" cy="3294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050"/>
              <a:buFont typeface="Alice"/>
              <a:buNone/>
            </a:pPr>
            <a:r>
              <a:rPr b="0" i="0" lang="en-US" sz="20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Costos</a:t>
            </a:r>
            <a:endParaRPr b="0" i="0" sz="2050" u="none" cap="none" strike="noStrike"/>
          </a:p>
        </p:txBody>
      </p:sp>
      <p:sp>
        <p:nvSpPr>
          <p:cNvPr id="151" name="Google Shape;151;p5"/>
          <p:cNvSpPr/>
          <p:nvPr/>
        </p:nvSpPr>
        <p:spPr>
          <a:xfrm>
            <a:off x="9718358" y="5719167"/>
            <a:ext cx="4173855" cy="674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650"/>
              <a:buFont typeface="Lora"/>
              <a:buNone/>
            </a:pPr>
            <a:r>
              <a:rPr b="0" i="0" lang="en-US" sz="16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Promedio de gastos anuales por ataques cibernéticos a nivel global</a:t>
            </a:r>
            <a:endParaRPr b="0" i="0" sz="1650" u="none" cap="none" strike="noStrike"/>
          </a:p>
        </p:txBody>
      </p:sp>
      <p:sp>
        <p:nvSpPr>
          <p:cNvPr id="152" name="Google Shape;152;p5"/>
          <p:cNvSpPr/>
          <p:nvPr/>
        </p:nvSpPr>
        <p:spPr>
          <a:xfrm>
            <a:off x="738188" y="6630948"/>
            <a:ext cx="13154025" cy="1011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650"/>
              <a:buFont typeface="Lora"/>
              <a:buNone/>
            </a:pPr>
            <a:r>
              <a:rPr b="0" i="0" lang="en-US" sz="16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El análisis de riesgos es fundamental para identificar y mitigar amenazas a la seguridad de la organización. Permite evaluar los principales tipos de riesgos, su probabilidad de ocurrencia y el impacto potencial. Esto ayuda a priorizar esfuerzos y asignar recursos de manera efectiva.</a:t>
            </a:r>
            <a:endParaRPr b="0" i="0" sz="165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8" name="Google Shape;15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7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9" name="Google Shape;15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01175" y="1954054"/>
            <a:ext cx="4971931" cy="4321493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6"/>
          <p:cNvSpPr/>
          <p:nvPr/>
        </p:nvSpPr>
        <p:spPr>
          <a:xfrm>
            <a:off x="720328" y="565904"/>
            <a:ext cx="7703344" cy="1286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91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4050"/>
              <a:buFont typeface="Alice"/>
              <a:buNone/>
            </a:pPr>
            <a:r>
              <a:rPr b="0" i="0" lang="en-US" sz="40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Diseño seguro de software: principios fundamentales</a:t>
            </a:r>
            <a:endParaRPr b="0" i="0" sz="4050" u="none" cap="none" strike="noStrike"/>
          </a:p>
        </p:txBody>
      </p:sp>
      <p:sp>
        <p:nvSpPr>
          <p:cNvPr id="161" name="Google Shape;161;p6"/>
          <p:cNvSpPr/>
          <p:nvPr/>
        </p:nvSpPr>
        <p:spPr>
          <a:xfrm>
            <a:off x="720328" y="2392323"/>
            <a:ext cx="463034" cy="463034"/>
          </a:xfrm>
          <a:prstGeom prst="roundRect">
            <a:avLst>
              <a:gd fmla="val 6667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885706" y="2469475"/>
            <a:ext cx="132159" cy="3087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400"/>
              <a:buFont typeface="Alice"/>
              <a:buNone/>
            </a:pPr>
            <a:r>
              <a:rPr b="0" i="0" lang="en-US" sz="24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1</a:t>
            </a:r>
            <a:endParaRPr b="0" i="0" sz="2400" u="none" cap="none" strike="noStrike"/>
          </a:p>
        </p:txBody>
      </p:sp>
      <p:sp>
        <p:nvSpPr>
          <p:cNvPr id="163" name="Google Shape;163;p6"/>
          <p:cNvSpPr/>
          <p:nvPr/>
        </p:nvSpPr>
        <p:spPr>
          <a:xfrm>
            <a:off x="1389102" y="2392323"/>
            <a:ext cx="2847975" cy="321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000"/>
              <a:buFont typeface="Alice"/>
              <a:buNone/>
            </a:pPr>
            <a:r>
              <a:rPr b="0" i="0" lang="en-US" sz="20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Seguridad desde el inicio</a:t>
            </a:r>
            <a:endParaRPr b="0" i="0" sz="2000" u="none" cap="none" strike="noStrike"/>
          </a:p>
        </p:txBody>
      </p:sp>
      <p:sp>
        <p:nvSpPr>
          <p:cNvPr id="164" name="Google Shape;164;p6"/>
          <p:cNvSpPr/>
          <p:nvPr/>
        </p:nvSpPr>
        <p:spPr>
          <a:xfrm>
            <a:off x="1389102" y="2837378"/>
            <a:ext cx="3080028" cy="16466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600"/>
              <a:buFont typeface="Lora"/>
              <a:buNone/>
            </a:pPr>
            <a:r>
              <a:rPr b="0" i="0" lang="en-US" sz="16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Integrar la seguridad desde el diseño y desarrollo inicial del software, en lugar de considerarla un añadido posterior.</a:t>
            </a:r>
            <a:endParaRPr b="0" i="0" sz="1600" u="none" cap="none" strike="noStrike"/>
          </a:p>
        </p:txBody>
      </p:sp>
      <p:sp>
        <p:nvSpPr>
          <p:cNvPr id="165" name="Google Shape;165;p6"/>
          <p:cNvSpPr/>
          <p:nvPr/>
        </p:nvSpPr>
        <p:spPr>
          <a:xfrm>
            <a:off x="4674870" y="2392323"/>
            <a:ext cx="463034" cy="463034"/>
          </a:xfrm>
          <a:prstGeom prst="roundRect">
            <a:avLst>
              <a:gd fmla="val 6667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4830604" y="2469475"/>
            <a:ext cx="151567" cy="3087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400"/>
              <a:buFont typeface="Alice"/>
              <a:buNone/>
            </a:pPr>
            <a:r>
              <a:rPr b="0" i="0" lang="en-US" sz="24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2</a:t>
            </a:r>
            <a:endParaRPr b="0" i="0" sz="2400" u="none" cap="none" strike="noStrike"/>
          </a:p>
        </p:txBody>
      </p:sp>
      <p:sp>
        <p:nvSpPr>
          <p:cNvPr id="167" name="Google Shape;167;p6"/>
          <p:cNvSpPr/>
          <p:nvPr/>
        </p:nvSpPr>
        <p:spPr>
          <a:xfrm>
            <a:off x="5343644" y="2392323"/>
            <a:ext cx="2572583" cy="321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000"/>
              <a:buFont typeface="Alice"/>
              <a:buNone/>
            </a:pPr>
            <a:r>
              <a:rPr b="0" i="0" lang="en-US" sz="20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Arquitectura robusta</a:t>
            </a:r>
            <a:endParaRPr b="0" i="0" sz="2000" u="none" cap="none" strike="noStrike"/>
          </a:p>
        </p:txBody>
      </p:sp>
      <p:sp>
        <p:nvSpPr>
          <p:cNvPr id="168" name="Google Shape;168;p6"/>
          <p:cNvSpPr/>
          <p:nvPr/>
        </p:nvSpPr>
        <p:spPr>
          <a:xfrm>
            <a:off x="5343644" y="2837378"/>
            <a:ext cx="3080028" cy="16466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600"/>
              <a:buFont typeface="Lora"/>
              <a:buNone/>
            </a:pPr>
            <a:r>
              <a:rPr b="0" i="0" lang="en-US" sz="16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Diseñar una arquitectura de software que incorpore medidas de seguridad como autenticación, control de acceso y cifrado de datos.</a:t>
            </a:r>
            <a:endParaRPr b="0" i="0" sz="1600" u="none" cap="none" strike="noStrike"/>
          </a:p>
        </p:txBody>
      </p:sp>
      <p:sp>
        <p:nvSpPr>
          <p:cNvPr id="169" name="Google Shape;169;p6"/>
          <p:cNvSpPr/>
          <p:nvPr/>
        </p:nvSpPr>
        <p:spPr>
          <a:xfrm>
            <a:off x="720328" y="4921210"/>
            <a:ext cx="463034" cy="463034"/>
          </a:xfrm>
          <a:prstGeom prst="roundRect">
            <a:avLst>
              <a:gd fmla="val 6667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"/>
          <p:cNvSpPr/>
          <p:nvPr/>
        </p:nvSpPr>
        <p:spPr>
          <a:xfrm>
            <a:off x="876657" y="4998363"/>
            <a:ext cx="150376" cy="3087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400"/>
              <a:buFont typeface="Alice"/>
              <a:buNone/>
            </a:pPr>
            <a:r>
              <a:rPr b="0" i="0" lang="en-US" sz="24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3</a:t>
            </a:r>
            <a:endParaRPr b="0" i="0" sz="2400" u="none" cap="none" strike="noStrike"/>
          </a:p>
        </p:txBody>
      </p:sp>
      <p:sp>
        <p:nvSpPr>
          <p:cNvPr id="171" name="Google Shape;171;p6"/>
          <p:cNvSpPr/>
          <p:nvPr/>
        </p:nvSpPr>
        <p:spPr>
          <a:xfrm>
            <a:off x="1389102" y="4921210"/>
            <a:ext cx="2572583" cy="321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000"/>
              <a:buFont typeface="Alice"/>
              <a:buNone/>
            </a:pPr>
            <a:r>
              <a:rPr b="0" i="0" lang="en-US" sz="20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Validación de entrada</a:t>
            </a:r>
            <a:endParaRPr b="0" i="0" sz="2000" u="none" cap="none" strike="noStrike"/>
          </a:p>
        </p:txBody>
      </p:sp>
      <p:sp>
        <p:nvSpPr>
          <p:cNvPr id="172" name="Google Shape;172;p6"/>
          <p:cNvSpPr/>
          <p:nvPr/>
        </p:nvSpPr>
        <p:spPr>
          <a:xfrm>
            <a:off x="1389102" y="5366266"/>
            <a:ext cx="3080028" cy="1317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600"/>
              <a:buFont typeface="Lora"/>
              <a:buNone/>
            </a:pPr>
            <a:r>
              <a:rPr b="0" i="0" lang="en-US" sz="16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Verificar y validar todas las entradas de usuarios y sistemas externos para evitar ataques como inyección de código.</a:t>
            </a:r>
            <a:endParaRPr b="0" i="0" sz="1600" u="none" cap="none" strike="noStrike"/>
          </a:p>
        </p:txBody>
      </p:sp>
      <p:sp>
        <p:nvSpPr>
          <p:cNvPr id="173" name="Google Shape;173;p6"/>
          <p:cNvSpPr/>
          <p:nvPr/>
        </p:nvSpPr>
        <p:spPr>
          <a:xfrm>
            <a:off x="4674870" y="4921210"/>
            <a:ext cx="463034" cy="463034"/>
          </a:xfrm>
          <a:prstGeom prst="roundRect">
            <a:avLst>
              <a:gd fmla="val 6667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4829770" y="4998363"/>
            <a:ext cx="153114" cy="3087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400"/>
              <a:buFont typeface="Alice"/>
              <a:buNone/>
            </a:pPr>
            <a:r>
              <a:rPr b="0" i="0" lang="en-US" sz="24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4</a:t>
            </a:r>
            <a:endParaRPr b="0" i="0" sz="2400" u="none" cap="none" strike="noStrike"/>
          </a:p>
        </p:txBody>
      </p:sp>
      <p:sp>
        <p:nvSpPr>
          <p:cNvPr id="175" name="Google Shape;175;p6"/>
          <p:cNvSpPr/>
          <p:nvPr/>
        </p:nvSpPr>
        <p:spPr>
          <a:xfrm>
            <a:off x="5343644" y="4921210"/>
            <a:ext cx="3080028" cy="643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000"/>
              <a:buFont typeface="Alice"/>
              <a:buNone/>
            </a:pPr>
            <a:r>
              <a:rPr b="0" i="0" lang="en-US" sz="20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Principio de mínimo privilegio</a:t>
            </a:r>
            <a:endParaRPr b="0" i="0" sz="2000" u="none" cap="none" strike="noStrike"/>
          </a:p>
        </p:txBody>
      </p:sp>
      <p:sp>
        <p:nvSpPr>
          <p:cNvPr id="176" name="Google Shape;176;p6"/>
          <p:cNvSpPr/>
          <p:nvPr/>
        </p:nvSpPr>
        <p:spPr>
          <a:xfrm>
            <a:off x="5343644" y="5687854"/>
            <a:ext cx="3080028" cy="19759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600"/>
              <a:buFont typeface="Lora"/>
              <a:buNone/>
            </a:pPr>
            <a:r>
              <a:rPr b="0" i="0" lang="en-US" sz="16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Otorgar a los usuarios y procesos solo los permisos mínimos necesarios para realizar sus tareas, reduciendo el riesgo de accesos no autorizados.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"/>
          <p:cNvSpPr/>
          <p:nvPr/>
        </p:nvSpPr>
        <p:spPr>
          <a:xfrm>
            <a:off x="758071" y="1040130"/>
            <a:ext cx="12623840" cy="676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05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4250"/>
              <a:buFont typeface="Alice"/>
              <a:buNone/>
            </a:pPr>
            <a:r>
              <a:rPr b="0" i="0" lang="en-US" sz="42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Desarrollo de aplicaciones con enfoque de seguridad</a:t>
            </a:r>
            <a:endParaRPr b="0" i="0" sz="4250" u="none" cap="none" strike="noStrike"/>
          </a:p>
        </p:txBody>
      </p:sp>
      <p:pic>
        <p:nvPicPr>
          <p:cNvPr descr="preencoded.png" id="183" name="Google Shape;18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071" y="2150150"/>
            <a:ext cx="4154805" cy="2567821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7"/>
          <p:cNvSpPr/>
          <p:nvPr/>
        </p:nvSpPr>
        <p:spPr>
          <a:xfrm>
            <a:off x="758071" y="4988719"/>
            <a:ext cx="4031337" cy="3383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100"/>
              <a:buFont typeface="Alice"/>
              <a:buNone/>
            </a:pPr>
            <a:r>
              <a:rPr b="0" i="0" lang="en-US" sz="21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Integrar seguridad desde el inicio</a:t>
            </a:r>
            <a:endParaRPr b="0" i="0" sz="2100" u="none" cap="none" strike="noStrike"/>
          </a:p>
        </p:txBody>
      </p:sp>
      <p:sp>
        <p:nvSpPr>
          <p:cNvPr id="185" name="Google Shape;185;p7"/>
          <p:cNvSpPr/>
          <p:nvPr/>
        </p:nvSpPr>
        <p:spPr>
          <a:xfrm>
            <a:off x="758071" y="5456992"/>
            <a:ext cx="4154805" cy="1732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00"/>
              <a:buFont typeface="Lora"/>
              <a:buNone/>
            </a:pPr>
            <a:r>
              <a:rPr b="0" i="0" lang="en-US" sz="17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Incorporar prácticas de seguridad durante todo el ciclo de desarrollo de software, desde el diseño hasta las pruebas, es fundamental para prevenir vulnerabilidades.</a:t>
            </a:r>
            <a:endParaRPr b="0" i="0" sz="1700" u="none" cap="none" strike="noStrike"/>
          </a:p>
        </p:txBody>
      </p:sp>
      <p:pic>
        <p:nvPicPr>
          <p:cNvPr descr="preencoded.png" id="186" name="Google Shape;18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7678" y="2150150"/>
            <a:ext cx="4154924" cy="2567821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7"/>
          <p:cNvSpPr/>
          <p:nvPr/>
        </p:nvSpPr>
        <p:spPr>
          <a:xfrm>
            <a:off x="5237678" y="4988719"/>
            <a:ext cx="2811899" cy="3383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100"/>
              <a:buFont typeface="Alice"/>
              <a:buNone/>
            </a:pPr>
            <a:r>
              <a:rPr b="0" i="0" lang="en-US" sz="21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Aplicar principios clave</a:t>
            </a:r>
            <a:endParaRPr b="0" i="0" sz="2100" u="none" cap="none" strike="noStrike"/>
          </a:p>
        </p:txBody>
      </p:sp>
      <p:sp>
        <p:nvSpPr>
          <p:cNvPr id="188" name="Google Shape;188;p7"/>
          <p:cNvSpPr/>
          <p:nvPr/>
        </p:nvSpPr>
        <p:spPr>
          <a:xfrm>
            <a:off x="5237678" y="5456992"/>
            <a:ext cx="4154924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00"/>
              <a:buFont typeface="Lora"/>
              <a:buChar char="•"/>
            </a:pPr>
            <a:r>
              <a:rPr b="0" i="0" lang="en-US" sz="17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Defensa en profundidad</a:t>
            </a:r>
            <a:endParaRPr b="0" i="0" sz="1700" u="none" cap="none" strike="noStrike"/>
          </a:p>
        </p:txBody>
      </p:sp>
      <p:sp>
        <p:nvSpPr>
          <p:cNvPr id="189" name="Google Shape;189;p7"/>
          <p:cNvSpPr/>
          <p:nvPr/>
        </p:nvSpPr>
        <p:spPr>
          <a:xfrm>
            <a:off x="5237678" y="5879187"/>
            <a:ext cx="4154924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00"/>
              <a:buFont typeface="Lora"/>
              <a:buChar char="•"/>
            </a:pPr>
            <a:r>
              <a:rPr b="0" i="0" lang="en-US" sz="17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Mínimo privilegio</a:t>
            </a:r>
            <a:endParaRPr b="0" i="0" sz="1700" u="none" cap="none" strike="noStrike"/>
          </a:p>
        </p:txBody>
      </p:sp>
      <p:sp>
        <p:nvSpPr>
          <p:cNvPr id="190" name="Google Shape;190;p7"/>
          <p:cNvSpPr/>
          <p:nvPr/>
        </p:nvSpPr>
        <p:spPr>
          <a:xfrm>
            <a:off x="5237678" y="6301383"/>
            <a:ext cx="4154924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00"/>
              <a:buFont typeface="Lora"/>
              <a:buChar char="•"/>
            </a:pPr>
            <a:r>
              <a:rPr b="0" i="0" lang="en-US" sz="17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Validación de entrada</a:t>
            </a:r>
            <a:endParaRPr b="0" i="0" sz="1700" u="none" cap="none" strike="noStrike"/>
          </a:p>
        </p:txBody>
      </p:sp>
      <p:sp>
        <p:nvSpPr>
          <p:cNvPr id="191" name="Google Shape;191;p7"/>
          <p:cNvSpPr/>
          <p:nvPr/>
        </p:nvSpPr>
        <p:spPr>
          <a:xfrm>
            <a:off x="5237678" y="6723578"/>
            <a:ext cx="4154924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00"/>
              <a:buFont typeface="Lora"/>
              <a:buChar char="•"/>
            </a:pPr>
            <a:r>
              <a:rPr b="0" i="0" lang="en-US" sz="17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Encriptación de datos</a:t>
            </a:r>
            <a:endParaRPr b="0" i="0" sz="1700" u="none" cap="none" strike="noStrike"/>
          </a:p>
        </p:txBody>
      </p:sp>
      <p:pic>
        <p:nvPicPr>
          <p:cNvPr descr="preencoded.png" id="192" name="Google Shape;19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17405" y="2150150"/>
            <a:ext cx="4154924" cy="256782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7"/>
          <p:cNvSpPr/>
          <p:nvPr/>
        </p:nvSpPr>
        <p:spPr>
          <a:xfrm>
            <a:off x="9717405" y="4988719"/>
            <a:ext cx="2707481" cy="3383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100"/>
              <a:buFont typeface="Alice"/>
              <a:buNone/>
            </a:pPr>
            <a:r>
              <a:rPr b="0" i="0" lang="en-US" sz="21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Codificación segura</a:t>
            </a:r>
            <a:endParaRPr b="0" i="0" sz="2100" u="none" cap="none" strike="noStrike"/>
          </a:p>
        </p:txBody>
      </p:sp>
      <p:sp>
        <p:nvSpPr>
          <p:cNvPr id="194" name="Google Shape;194;p7"/>
          <p:cNvSpPr/>
          <p:nvPr/>
        </p:nvSpPr>
        <p:spPr>
          <a:xfrm>
            <a:off x="9717405" y="5456992"/>
            <a:ext cx="4154924" cy="1732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00"/>
              <a:buFont typeface="Lora"/>
              <a:buNone/>
            </a:pPr>
            <a:r>
              <a:rPr b="0" i="0" lang="en-US" sz="17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Seguir buenas prácticas de codificación, como evitar desbordamientos de búfer, inyecciones SQL y otros errores comunes, es crucial para desarrollar aplicaciones resistentes a ataques.</a:t>
            </a:r>
            <a:endParaRPr b="0" i="0" sz="170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0" name="Google Shape;20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8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1" name="Google Shape;20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5271" y="2721054"/>
            <a:ext cx="4955738" cy="278761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8"/>
          <p:cNvSpPr/>
          <p:nvPr/>
        </p:nvSpPr>
        <p:spPr>
          <a:xfrm>
            <a:off x="6229350" y="583763"/>
            <a:ext cx="7658100" cy="1326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01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4150"/>
              <a:buFont typeface="Alice"/>
              <a:buNone/>
            </a:pPr>
            <a:r>
              <a:rPr b="0" i="0" lang="en-US" sz="41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Buenas prácticas en codificación segura</a:t>
            </a:r>
            <a:endParaRPr b="0" i="0" sz="4150" u="none" cap="none" strike="noStrike"/>
          </a:p>
        </p:txBody>
      </p:sp>
      <p:pic>
        <p:nvPicPr>
          <p:cNvPr descr="preencoded.png" id="203" name="Google Shape;20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29350" y="2228731"/>
            <a:ext cx="530662" cy="530662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8"/>
          <p:cNvSpPr/>
          <p:nvPr/>
        </p:nvSpPr>
        <p:spPr>
          <a:xfrm>
            <a:off x="6229350" y="2971562"/>
            <a:ext cx="2668905" cy="331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050"/>
              <a:buFont typeface="Alice"/>
              <a:buNone/>
            </a:pPr>
            <a:r>
              <a:rPr b="0" i="0" lang="en-US" sz="20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Verificación del código</a:t>
            </a:r>
            <a:endParaRPr b="0" i="0" sz="2050" u="none" cap="none" strike="noStrike"/>
          </a:p>
        </p:txBody>
      </p:sp>
      <p:sp>
        <p:nvSpPr>
          <p:cNvPr id="205" name="Google Shape;205;p8"/>
          <p:cNvSpPr/>
          <p:nvPr/>
        </p:nvSpPr>
        <p:spPr>
          <a:xfrm>
            <a:off x="6229350" y="3430548"/>
            <a:ext cx="3669863" cy="1018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650"/>
              <a:buFont typeface="Lora"/>
              <a:buNone/>
            </a:pPr>
            <a:r>
              <a:rPr b="0" i="0" lang="en-US" sz="16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Revisar el código fuente en busca de vulnerabilidades y aplicar técnicas de análisis estático.</a:t>
            </a:r>
            <a:endParaRPr b="0" i="0" sz="1650" u="none" cap="none" strike="noStrike"/>
          </a:p>
        </p:txBody>
      </p:sp>
      <p:pic>
        <p:nvPicPr>
          <p:cNvPr descr="preencoded.png" id="206" name="Google Shape;206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17587" y="2228731"/>
            <a:ext cx="530662" cy="530662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8"/>
          <p:cNvSpPr/>
          <p:nvPr/>
        </p:nvSpPr>
        <p:spPr>
          <a:xfrm>
            <a:off x="10217587" y="2971562"/>
            <a:ext cx="2660452" cy="331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050"/>
              <a:buFont typeface="Alice"/>
              <a:buNone/>
            </a:pPr>
            <a:r>
              <a:rPr b="0" i="0" lang="en-US" sz="20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Validación de entradas</a:t>
            </a:r>
            <a:endParaRPr b="0" i="0" sz="2050" u="none" cap="none" strike="noStrike"/>
          </a:p>
        </p:txBody>
      </p:sp>
      <p:sp>
        <p:nvSpPr>
          <p:cNvPr id="208" name="Google Shape;208;p8"/>
          <p:cNvSpPr/>
          <p:nvPr/>
        </p:nvSpPr>
        <p:spPr>
          <a:xfrm>
            <a:off x="10217587" y="3430548"/>
            <a:ext cx="3669863" cy="1018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650"/>
              <a:buFont typeface="Lora"/>
              <a:buNone/>
            </a:pPr>
            <a:r>
              <a:rPr b="0" i="0" lang="en-US" sz="16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Implementar controles robustos para evitar inyecciones maliciosas y codificación insegura.</a:t>
            </a:r>
            <a:endParaRPr b="0" i="0" sz="1650" u="none" cap="none" strike="noStrike"/>
          </a:p>
        </p:txBody>
      </p:sp>
      <p:pic>
        <p:nvPicPr>
          <p:cNvPr descr="preencoded.png" id="209" name="Google Shape;209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29350" y="5085993"/>
            <a:ext cx="530662" cy="530662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8"/>
          <p:cNvSpPr/>
          <p:nvPr/>
        </p:nvSpPr>
        <p:spPr>
          <a:xfrm>
            <a:off x="6229350" y="5828824"/>
            <a:ext cx="3259217" cy="331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050"/>
              <a:buFont typeface="Alice"/>
              <a:buNone/>
            </a:pPr>
            <a:r>
              <a:rPr b="0" i="0" lang="en-US" sz="20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Principios de diseño seguro</a:t>
            </a:r>
            <a:endParaRPr b="0" i="0" sz="2050" u="none" cap="none" strike="noStrike"/>
          </a:p>
        </p:txBody>
      </p:sp>
      <p:sp>
        <p:nvSpPr>
          <p:cNvPr id="211" name="Google Shape;211;p8"/>
          <p:cNvSpPr/>
          <p:nvPr/>
        </p:nvSpPr>
        <p:spPr>
          <a:xfrm>
            <a:off x="6229350" y="6287810"/>
            <a:ext cx="3669863" cy="1358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650"/>
              <a:buFont typeface="Lora"/>
              <a:buNone/>
            </a:pPr>
            <a:r>
              <a:rPr b="0" i="0" lang="en-US" sz="16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Aplicar los principios de diseño seguro, como el principio de mínimo privilegio y la defensa en profundidad.</a:t>
            </a:r>
            <a:endParaRPr b="0" i="0" sz="1650" u="none" cap="none" strike="noStrike"/>
          </a:p>
        </p:txBody>
      </p:sp>
      <p:pic>
        <p:nvPicPr>
          <p:cNvPr descr="preencoded.png" id="212" name="Google Shape;212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217587" y="5085993"/>
            <a:ext cx="530662" cy="530662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8"/>
          <p:cNvSpPr/>
          <p:nvPr/>
        </p:nvSpPr>
        <p:spPr>
          <a:xfrm>
            <a:off x="10217587" y="5828824"/>
            <a:ext cx="2653427" cy="331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050"/>
              <a:buFont typeface="Alice"/>
              <a:buNone/>
            </a:pPr>
            <a:r>
              <a:rPr b="0" i="0" lang="en-US" sz="20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Pruebas de seguridad</a:t>
            </a:r>
            <a:endParaRPr b="0" i="0" sz="2050" u="none" cap="none" strike="noStrike"/>
          </a:p>
        </p:txBody>
      </p:sp>
      <p:sp>
        <p:nvSpPr>
          <p:cNvPr id="214" name="Google Shape;214;p8"/>
          <p:cNvSpPr/>
          <p:nvPr/>
        </p:nvSpPr>
        <p:spPr>
          <a:xfrm>
            <a:off x="10217587" y="6287810"/>
            <a:ext cx="3669863" cy="1018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650"/>
              <a:buFont typeface="Lora"/>
              <a:buNone/>
            </a:pPr>
            <a:r>
              <a:rPr b="0" i="0" lang="en-US" sz="16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Realizar pruebas de penetración y análisis de vulnerabilidades para identificar y mitigar riesgos.</a:t>
            </a:r>
            <a:endParaRPr b="0" i="0" sz="165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"/>
          <p:cNvSpPr/>
          <p:nvPr/>
        </p:nvSpPr>
        <p:spPr>
          <a:xfrm>
            <a:off x="793790" y="752356"/>
            <a:ext cx="130428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4450"/>
              <a:buFont typeface="Alice"/>
              <a:buNone/>
            </a:pPr>
            <a:r>
              <a:rPr b="0" i="0" lang="en-US" sz="44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Criptografía: Fundamentos y Técnicas de Protección de Datos</a:t>
            </a:r>
            <a:endParaRPr b="0" i="0" sz="4450" u="none" cap="none" strike="noStrike"/>
          </a:p>
        </p:txBody>
      </p:sp>
      <p:sp>
        <p:nvSpPr>
          <p:cNvPr id="221" name="Google Shape;221;p9"/>
          <p:cNvSpPr/>
          <p:nvPr/>
        </p:nvSpPr>
        <p:spPr>
          <a:xfrm>
            <a:off x="793790" y="2714149"/>
            <a:ext cx="6244709" cy="2540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La criptografía es la ciencia que estudia técnicas de cifrado y descifrado de información, brindando una poderosa herramienta para proteger la confidencialidad y la integridad de los datos digitales. Desde el histórico cifrado César hasta los algoritmos de encriptación avanzados, la criptografía es fundamental para garantizar la seguridad de sistemas y comunicaciones.</a:t>
            </a:r>
            <a:endParaRPr b="0" i="0" sz="1750" u="none" cap="none" strike="noStrike"/>
          </a:p>
        </p:txBody>
      </p:sp>
      <p:sp>
        <p:nvSpPr>
          <p:cNvPr id="222" name="Google Shape;222;p9"/>
          <p:cNvSpPr/>
          <p:nvPr/>
        </p:nvSpPr>
        <p:spPr>
          <a:xfrm>
            <a:off x="793790" y="5719514"/>
            <a:ext cx="6244800" cy="18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Técnicas criptográficas como el cifrado simétrico, asimétrico y el hash permiten el resguardo de información sensible, desde transacciones financieras hasta datos personales. Entender los principios de la criptografía es crucial para implementar soluciones de seguridad eficaces.</a:t>
            </a:r>
            <a:endParaRPr b="0" i="0" sz="1750" u="none" cap="none" strike="noStrike"/>
          </a:p>
        </p:txBody>
      </p:sp>
      <p:pic>
        <p:nvPicPr>
          <p:cNvPr descr="preencoded.png" id="223" name="Google Shape;22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9521" y="2765227"/>
            <a:ext cx="6244709" cy="28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"/>
          <p:cNvSpPr/>
          <p:nvPr/>
        </p:nvSpPr>
        <p:spPr>
          <a:xfrm>
            <a:off x="793790" y="1814155"/>
            <a:ext cx="12281892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4450"/>
              <a:buFont typeface="Alice"/>
              <a:buNone/>
            </a:pPr>
            <a:r>
              <a:rPr b="0" i="0" lang="en-US" sz="44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Privacidad y cifrado de información confidencial</a:t>
            </a:r>
            <a:endParaRPr b="0" i="0" sz="4450" u="none" cap="none" strike="noStrike"/>
          </a:p>
        </p:txBody>
      </p:sp>
      <p:sp>
        <p:nvSpPr>
          <p:cNvPr id="230" name="Google Shape;230;p10"/>
          <p:cNvSpPr/>
          <p:nvPr/>
        </p:nvSpPr>
        <p:spPr>
          <a:xfrm>
            <a:off x="793790" y="308991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Protección de datos</a:t>
            </a:r>
            <a:endParaRPr b="0" i="0" sz="2200" u="none" cap="none" strike="noStrike"/>
          </a:p>
        </p:txBody>
      </p:sp>
      <p:sp>
        <p:nvSpPr>
          <p:cNvPr id="231" name="Google Shape;231;p10"/>
          <p:cNvSpPr/>
          <p:nvPr/>
        </p:nvSpPr>
        <p:spPr>
          <a:xfrm>
            <a:off x="793790" y="3671054"/>
            <a:ext cx="2845594" cy="2540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El cifrado es fundamental para garantizar la privacidad y seguridad de la información confidencial, como datos personales, financieros o empresariales.</a:t>
            </a:r>
            <a:endParaRPr b="0" i="0" sz="1750" u="none" cap="none" strike="noStrike"/>
          </a:p>
        </p:txBody>
      </p:sp>
      <p:sp>
        <p:nvSpPr>
          <p:cNvPr id="232" name="Google Shape;232;p10"/>
          <p:cNvSpPr/>
          <p:nvPr/>
        </p:nvSpPr>
        <p:spPr>
          <a:xfrm>
            <a:off x="4200406" y="3089910"/>
            <a:ext cx="2845594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Técnicas de encriptación</a:t>
            </a:r>
            <a:endParaRPr b="0" i="0" sz="2200" u="none" cap="none" strike="noStrike"/>
          </a:p>
        </p:txBody>
      </p:sp>
      <p:sp>
        <p:nvSpPr>
          <p:cNvPr id="233" name="Google Shape;233;p10"/>
          <p:cNvSpPr/>
          <p:nvPr/>
        </p:nvSpPr>
        <p:spPr>
          <a:xfrm>
            <a:off x="4200406" y="4025384"/>
            <a:ext cx="2845594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Algoritmos criptográficos avanzados, como AES y RSA, permiten asegurar que solo los usuarios autorizados puedan acceder a los datos.</a:t>
            </a:r>
            <a:endParaRPr b="0" i="0" sz="1750" u="none" cap="none" strike="noStrike"/>
          </a:p>
        </p:txBody>
      </p:sp>
      <p:sp>
        <p:nvSpPr>
          <p:cNvPr id="234" name="Google Shape;234;p10"/>
          <p:cNvSpPr/>
          <p:nvPr/>
        </p:nvSpPr>
        <p:spPr>
          <a:xfrm>
            <a:off x="7607022" y="3089910"/>
            <a:ext cx="2845594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Almacenamiento seguro</a:t>
            </a:r>
            <a:endParaRPr b="0" i="0" sz="2200" u="none" cap="none" strike="noStrike"/>
          </a:p>
        </p:txBody>
      </p:sp>
      <p:sp>
        <p:nvSpPr>
          <p:cNvPr id="235" name="Google Shape;235;p10"/>
          <p:cNvSpPr/>
          <p:nvPr/>
        </p:nvSpPr>
        <p:spPr>
          <a:xfrm>
            <a:off x="7607022" y="4025384"/>
            <a:ext cx="2845594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El cifrado de datos en reposo, como en bases de datos o servidores, protege la información incluso si el dispositivo es comprometido.</a:t>
            </a:r>
            <a:endParaRPr b="0" i="0" sz="1750" u="none" cap="none" strike="noStrike"/>
          </a:p>
        </p:txBody>
      </p:sp>
      <p:sp>
        <p:nvSpPr>
          <p:cNvPr id="236" name="Google Shape;236;p10"/>
          <p:cNvSpPr/>
          <p:nvPr/>
        </p:nvSpPr>
        <p:spPr>
          <a:xfrm>
            <a:off x="11013638" y="308991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Transmisión cifrada</a:t>
            </a:r>
            <a:endParaRPr b="0" i="0" sz="2200" u="none" cap="none" strike="noStrike"/>
          </a:p>
        </p:txBody>
      </p:sp>
      <p:sp>
        <p:nvSpPr>
          <p:cNvPr id="237" name="Google Shape;237;p10"/>
          <p:cNvSpPr/>
          <p:nvPr/>
        </p:nvSpPr>
        <p:spPr>
          <a:xfrm>
            <a:off x="11013638" y="3671054"/>
            <a:ext cx="2845594" cy="2540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Protocolos de comunicación seguros, como TLS/SSL, garantizan que los datos se transmitan de manera confidencial a través de redes.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/>
          <p:nvPr/>
        </p:nvSpPr>
        <p:spPr>
          <a:xfrm>
            <a:off x="683657" y="638413"/>
            <a:ext cx="11588234" cy="6104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3800"/>
              <a:buFont typeface="Alice"/>
              <a:buNone/>
            </a:pPr>
            <a:r>
              <a:rPr b="0" i="0" lang="en-US" sz="380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Monitorización y respuesta a incidentes de seguridad</a:t>
            </a:r>
            <a:endParaRPr b="0" i="0" sz="3800" u="none" cap="none" strike="noStrike"/>
          </a:p>
        </p:txBody>
      </p:sp>
      <p:sp>
        <p:nvSpPr>
          <p:cNvPr id="244" name="Google Shape;244;p11"/>
          <p:cNvSpPr/>
          <p:nvPr/>
        </p:nvSpPr>
        <p:spPr>
          <a:xfrm>
            <a:off x="683657" y="1639491"/>
            <a:ext cx="1657826" cy="1125379"/>
          </a:xfrm>
          <a:prstGeom prst="roundRect">
            <a:avLst>
              <a:gd fmla="val 2604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1"/>
          <p:cNvSpPr/>
          <p:nvPr/>
        </p:nvSpPr>
        <p:spPr>
          <a:xfrm>
            <a:off x="878919" y="2006798"/>
            <a:ext cx="104537" cy="390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900"/>
              <a:buFont typeface="Alice"/>
              <a:buNone/>
            </a:pPr>
            <a:r>
              <a:rPr b="0" i="0" lang="en-US" sz="19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1</a:t>
            </a:r>
            <a:endParaRPr b="0" i="0" sz="1900" u="none" cap="none" strike="noStrike"/>
          </a:p>
        </p:txBody>
      </p:sp>
      <p:sp>
        <p:nvSpPr>
          <p:cNvPr id="246" name="Google Shape;246;p11"/>
          <p:cNvSpPr/>
          <p:nvPr/>
        </p:nvSpPr>
        <p:spPr>
          <a:xfrm>
            <a:off x="2536746" y="1834753"/>
            <a:ext cx="2441734" cy="305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900"/>
              <a:buFont typeface="Alice"/>
              <a:buNone/>
            </a:pPr>
            <a:r>
              <a:rPr b="0" i="0" lang="en-US" sz="19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Detección</a:t>
            </a:r>
            <a:endParaRPr b="0" i="0" sz="1900" u="none" cap="none" strike="noStrike"/>
          </a:p>
        </p:txBody>
      </p:sp>
      <p:sp>
        <p:nvSpPr>
          <p:cNvPr id="247" name="Google Shape;247;p11"/>
          <p:cNvSpPr/>
          <p:nvPr/>
        </p:nvSpPr>
        <p:spPr>
          <a:xfrm>
            <a:off x="2536746" y="2257068"/>
            <a:ext cx="5421749" cy="312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00"/>
              <a:buFont typeface="Lora"/>
              <a:buNone/>
            </a:pPr>
            <a:r>
              <a:rPr b="0" i="0" lang="en-US" sz="15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Identificar amenazas y actividad sospechosa en tiempo real.</a:t>
            </a:r>
            <a:endParaRPr b="0" i="0" sz="1500" u="none" cap="none" strike="noStrike"/>
          </a:p>
        </p:txBody>
      </p:sp>
      <p:sp>
        <p:nvSpPr>
          <p:cNvPr id="248" name="Google Shape;248;p11"/>
          <p:cNvSpPr/>
          <p:nvPr/>
        </p:nvSpPr>
        <p:spPr>
          <a:xfrm>
            <a:off x="2439114" y="2755344"/>
            <a:ext cx="11409998" cy="11430"/>
          </a:xfrm>
          <a:prstGeom prst="roundRect">
            <a:avLst>
              <a:gd fmla="val 256355" name="adj"/>
            </a:avLst>
          </a:prstGeom>
          <a:solidFill>
            <a:srgbClr val="D6D3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1"/>
          <p:cNvSpPr/>
          <p:nvPr/>
        </p:nvSpPr>
        <p:spPr>
          <a:xfrm>
            <a:off x="683657" y="2862501"/>
            <a:ext cx="3315772" cy="1125379"/>
          </a:xfrm>
          <a:prstGeom prst="roundRect">
            <a:avLst>
              <a:gd fmla="val 2604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1"/>
          <p:cNvSpPr/>
          <p:nvPr/>
        </p:nvSpPr>
        <p:spPr>
          <a:xfrm>
            <a:off x="878919" y="3229808"/>
            <a:ext cx="119896" cy="390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900"/>
              <a:buFont typeface="Alice"/>
              <a:buNone/>
            </a:pPr>
            <a:r>
              <a:rPr b="0" i="0" lang="en-US" sz="19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2</a:t>
            </a:r>
            <a:endParaRPr b="0" i="0" sz="1900" u="none" cap="none" strike="noStrike"/>
          </a:p>
        </p:txBody>
      </p:sp>
      <p:sp>
        <p:nvSpPr>
          <p:cNvPr id="251" name="Google Shape;251;p11"/>
          <p:cNvSpPr/>
          <p:nvPr/>
        </p:nvSpPr>
        <p:spPr>
          <a:xfrm>
            <a:off x="4194691" y="3057763"/>
            <a:ext cx="2441734" cy="305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900"/>
              <a:buFont typeface="Alice"/>
              <a:buNone/>
            </a:pPr>
            <a:r>
              <a:rPr b="0" i="0" lang="en-US" sz="19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Análisis</a:t>
            </a:r>
            <a:endParaRPr b="0" i="0" sz="1900" u="none" cap="none" strike="noStrike"/>
          </a:p>
        </p:txBody>
      </p:sp>
      <p:sp>
        <p:nvSpPr>
          <p:cNvPr id="252" name="Google Shape;252;p11"/>
          <p:cNvSpPr/>
          <p:nvPr/>
        </p:nvSpPr>
        <p:spPr>
          <a:xfrm>
            <a:off x="4194691" y="3480078"/>
            <a:ext cx="6163151" cy="312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00"/>
              <a:buFont typeface="Lora"/>
              <a:buNone/>
            </a:pPr>
            <a:r>
              <a:rPr b="0" i="0" lang="en-US" sz="15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Investigar y comprender la naturaleza y el alcance de los incidentes.</a:t>
            </a:r>
            <a:endParaRPr b="0" i="0" sz="1500" u="none" cap="none" strike="noStrike"/>
          </a:p>
        </p:txBody>
      </p:sp>
      <p:sp>
        <p:nvSpPr>
          <p:cNvPr id="253" name="Google Shape;253;p11"/>
          <p:cNvSpPr/>
          <p:nvPr/>
        </p:nvSpPr>
        <p:spPr>
          <a:xfrm>
            <a:off x="4097060" y="3978354"/>
            <a:ext cx="9752052" cy="11430"/>
          </a:xfrm>
          <a:prstGeom prst="roundRect">
            <a:avLst>
              <a:gd fmla="val 256355" name="adj"/>
            </a:avLst>
          </a:prstGeom>
          <a:solidFill>
            <a:srgbClr val="D6D3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1"/>
          <p:cNvSpPr/>
          <p:nvPr/>
        </p:nvSpPr>
        <p:spPr>
          <a:xfrm>
            <a:off x="683657" y="4085511"/>
            <a:ext cx="4973598" cy="1125379"/>
          </a:xfrm>
          <a:prstGeom prst="roundRect">
            <a:avLst>
              <a:gd fmla="val 2604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"/>
          <p:cNvSpPr/>
          <p:nvPr/>
        </p:nvSpPr>
        <p:spPr>
          <a:xfrm>
            <a:off x="878919" y="4452818"/>
            <a:ext cx="118943" cy="390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900"/>
              <a:buFont typeface="Alice"/>
              <a:buNone/>
            </a:pPr>
            <a:r>
              <a:rPr b="0" i="0" lang="en-US" sz="19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3</a:t>
            </a:r>
            <a:endParaRPr b="0" i="0" sz="1900" u="none" cap="none" strike="noStrike"/>
          </a:p>
        </p:txBody>
      </p:sp>
      <p:sp>
        <p:nvSpPr>
          <p:cNvPr id="256" name="Google Shape;256;p11"/>
          <p:cNvSpPr/>
          <p:nvPr/>
        </p:nvSpPr>
        <p:spPr>
          <a:xfrm>
            <a:off x="5852517" y="4280773"/>
            <a:ext cx="2441734" cy="305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900"/>
              <a:buFont typeface="Alice"/>
              <a:buNone/>
            </a:pPr>
            <a:r>
              <a:rPr b="0" i="0" lang="en-US" sz="19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Respuesta</a:t>
            </a:r>
            <a:endParaRPr b="0" i="0" sz="1900" u="none" cap="none" strike="noStrike"/>
          </a:p>
        </p:txBody>
      </p:sp>
      <p:sp>
        <p:nvSpPr>
          <p:cNvPr id="257" name="Google Shape;257;p11"/>
          <p:cNvSpPr/>
          <p:nvPr/>
        </p:nvSpPr>
        <p:spPr>
          <a:xfrm>
            <a:off x="5852517" y="4703088"/>
            <a:ext cx="5344835" cy="312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00"/>
              <a:buFont typeface="Lora"/>
              <a:buNone/>
            </a:pPr>
            <a:r>
              <a:rPr b="0" i="0" lang="en-US" sz="15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Implementar planes de mitigación y recuperación eficaces.</a:t>
            </a:r>
            <a:endParaRPr b="0" i="0" sz="1500" u="none" cap="none" strike="noStrike"/>
          </a:p>
        </p:txBody>
      </p:sp>
      <p:sp>
        <p:nvSpPr>
          <p:cNvPr id="258" name="Google Shape;258;p11"/>
          <p:cNvSpPr/>
          <p:nvPr/>
        </p:nvSpPr>
        <p:spPr>
          <a:xfrm>
            <a:off x="5754886" y="5201364"/>
            <a:ext cx="8094226" cy="11430"/>
          </a:xfrm>
          <a:prstGeom prst="roundRect">
            <a:avLst>
              <a:gd fmla="val 256355" name="adj"/>
            </a:avLst>
          </a:prstGeom>
          <a:solidFill>
            <a:srgbClr val="D6D3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1"/>
          <p:cNvSpPr/>
          <p:nvPr/>
        </p:nvSpPr>
        <p:spPr>
          <a:xfrm>
            <a:off x="683657" y="5308521"/>
            <a:ext cx="6631543" cy="1125379"/>
          </a:xfrm>
          <a:prstGeom prst="roundRect">
            <a:avLst>
              <a:gd fmla="val 2604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1"/>
          <p:cNvSpPr/>
          <p:nvPr/>
        </p:nvSpPr>
        <p:spPr>
          <a:xfrm>
            <a:off x="878919" y="5675828"/>
            <a:ext cx="121087" cy="390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900"/>
              <a:buFont typeface="Alice"/>
              <a:buNone/>
            </a:pPr>
            <a:r>
              <a:rPr b="0" i="0" lang="en-US" sz="19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4</a:t>
            </a:r>
            <a:endParaRPr b="0" i="0" sz="1900" u="none" cap="none" strike="noStrike"/>
          </a:p>
        </p:txBody>
      </p:sp>
      <p:sp>
        <p:nvSpPr>
          <p:cNvPr id="261" name="Google Shape;261;p11"/>
          <p:cNvSpPr/>
          <p:nvPr/>
        </p:nvSpPr>
        <p:spPr>
          <a:xfrm>
            <a:off x="7510462" y="5503783"/>
            <a:ext cx="2441734" cy="305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900"/>
              <a:buFont typeface="Alice"/>
              <a:buNone/>
            </a:pPr>
            <a:r>
              <a:rPr b="0" i="0" lang="en-US" sz="19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Mejora</a:t>
            </a:r>
            <a:endParaRPr b="0" i="0" sz="1900" u="none" cap="none" strike="noStrike"/>
          </a:p>
        </p:txBody>
      </p:sp>
      <p:sp>
        <p:nvSpPr>
          <p:cNvPr id="262" name="Google Shape;262;p11"/>
          <p:cNvSpPr/>
          <p:nvPr/>
        </p:nvSpPr>
        <p:spPr>
          <a:xfrm>
            <a:off x="7510462" y="5926098"/>
            <a:ext cx="5504498" cy="312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00"/>
              <a:buFont typeface="Lora"/>
              <a:buNone/>
            </a:pPr>
            <a:r>
              <a:rPr b="0" i="0" lang="en-US" sz="15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Aprender de los incidentes y fortalecer la seguridad a futuro.</a:t>
            </a:r>
            <a:endParaRPr b="0" i="0" sz="1500" u="none" cap="none" strike="noStrike"/>
          </a:p>
        </p:txBody>
      </p:sp>
      <p:sp>
        <p:nvSpPr>
          <p:cNvPr id="263" name="Google Shape;263;p11"/>
          <p:cNvSpPr/>
          <p:nvPr/>
        </p:nvSpPr>
        <p:spPr>
          <a:xfrm>
            <a:off x="683657" y="6653570"/>
            <a:ext cx="13263086" cy="937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00"/>
              <a:buFont typeface="Lora"/>
              <a:buNone/>
            </a:pPr>
            <a:r>
              <a:rPr b="0" i="0" lang="en-US" sz="15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Monitorizar y responder efectivamente a los incidentes de seguridad es crucial para proteger la información y la infraestructura de la organización. Esto implica detectar y analizar amenazas, implementar medidas de mitigación, y aprender de los eventos para mejorar la postura de seguridad a largo plazo.</a:t>
            </a:r>
            <a:endParaRPr b="0" i="0" sz="1500" u="none" cap="none" strike="noStrike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2"/>
          <p:cNvSpPr/>
          <p:nvPr/>
        </p:nvSpPr>
        <p:spPr>
          <a:xfrm>
            <a:off x="793790" y="1274088"/>
            <a:ext cx="12132707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4450"/>
              <a:buFont typeface="Alice"/>
              <a:buNone/>
            </a:pPr>
            <a:r>
              <a:rPr b="0" i="0" lang="en-US" sz="44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Detección y gestión de amenazas en tiempo real</a:t>
            </a:r>
            <a:endParaRPr b="0" i="0" sz="4450" u="none" cap="none" strike="noStrike"/>
          </a:p>
        </p:txBody>
      </p:sp>
      <p:sp>
        <p:nvSpPr>
          <p:cNvPr id="270" name="Google Shape;270;p12"/>
          <p:cNvSpPr/>
          <p:nvPr/>
        </p:nvSpPr>
        <p:spPr>
          <a:xfrm>
            <a:off x="793790" y="2549843"/>
            <a:ext cx="2845594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Monitorización Constante</a:t>
            </a:r>
            <a:endParaRPr b="0" i="0" sz="2200" u="none" cap="none" strike="noStrike"/>
          </a:p>
        </p:txBody>
      </p:sp>
      <p:sp>
        <p:nvSpPr>
          <p:cNvPr id="271" name="Google Shape;271;p12"/>
          <p:cNvSpPr/>
          <p:nvPr/>
        </p:nvSpPr>
        <p:spPr>
          <a:xfrm>
            <a:off x="793790" y="3485317"/>
            <a:ext cx="2845594" cy="2903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Los sistemas de detección de amenazas en tiempo real vigilan continuamente las actividades dentro de la red, identificando patrones sospechosos o actividades maliciosas de manera proactiva.</a:t>
            </a:r>
            <a:endParaRPr b="0" i="0" sz="1750" u="none" cap="none" strike="noStrike"/>
          </a:p>
        </p:txBody>
      </p:sp>
      <p:sp>
        <p:nvSpPr>
          <p:cNvPr id="272" name="Google Shape;272;p12"/>
          <p:cNvSpPr/>
          <p:nvPr/>
        </p:nvSpPr>
        <p:spPr>
          <a:xfrm>
            <a:off x="4200406" y="2549843"/>
            <a:ext cx="2845594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Respuesta Automatizada</a:t>
            </a:r>
            <a:endParaRPr b="0" i="0" sz="2200" u="none" cap="none" strike="noStrike"/>
          </a:p>
        </p:txBody>
      </p:sp>
      <p:sp>
        <p:nvSpPr>
          <p:cNvPr id="273" name="Google Shape;273;p12"/>
          <p:cNvSpPr/>
          <p:nvPr/>
        </p:nvSpPr>
        <p:spPr>
          <a:xfrm>
            <a:off x="4200406" y="3485317"/>
            <a:ext cx="2845594" cy="3266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Estos sistemas pueden desencadenar respuestas automáticas, como el bloqueo de tráfico malicioso o la activación de medidas de seguridad adicionales, para mitigar las amenazas de manera rápida y efectiva.</a:t>
            </a:r>
            <a:endParaRPr b="0" i="0" sz="1750" u="none" cap="none" strike="noStrike"/>
          </a:p>
        </p:txBody>
      </p:sp>
      <p:sp>
        <p:nvSpPr>
          <p:cNvPr id="274" name="Google Shape;274;p12"/>
          <p:cNvSpPr/>
          <p:nvPr/>
        </p:nvSpPr>
        <p:spPr>
          <a:xfrm>
            <a:off x="7607022" y="254984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Análisis Avanzado</a:t>
            </a:r>
            <a:endParaRPr b="0" i="0" sz="2200" u="none" cap="none" strike="noStrike"/>
          </a:p>
        </p:txBody>
      </p:sp>
      <p:sp>
        <p:nvSpPr>
          <p:cNvPr id="275" name="Google Shape;275;p12"/>
          <p:cNvSpPr/>
          <p:nvPr/>
        </p:nvSpPr>
        <p:spPr>
          <a:xfrm>
            <a:off x="7607022" y="3130987"/>
            <a:ext cx="2845594" cy="2540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Utilizando técnicas de aprendizaje automático y análisis de big data, los sistemas de gestión de amenazas pueden detectar incluso las amenazas más sofisticadas y ocultas.</a:t>
            </a:r>
            <a:endParaRPr b="0" i="0" sz="1750" u="none" cap="none" strike="noStrike"/>
          </a:p>
        </p:txBody>
      </p:sp>
      <p:sp>
        <p:nvSpPr>
          <p:cNvPr id="276" name="Google Shape;276;p12"/>
          <p:cNvSpPr/>
          <p:nvPr/>
        </p:nvSpPr>
        <p:spPr>
          <a:xfrm>
            <a:off x="11013638" y="254984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Mejora Continua</a:t>
            </a:r>
            <a:endParaRPr b="0" i="0" sz="2200" u="none" cap="none" strike="noStrike"/>
          </a:p>
        </p:txBody>
      </p:sp>
      <p:sp>
        <p:nvSpPr>
          <p:cNvPr id="277" name="Google Shape;277;p12"/>
          <p:cNvSpPr/>
          <p:nvPr/>
        </p:nvSpPr>
        <p:spPr>
          <a:xfrm>
            <a:off x="11013638" y="3130987"/>
            <a:ext cx="2845594" cy="3266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Mediante la recopilación y el análisis de datos de inteligencia de amenazas, estos sistemas se actualizan constantemente para estar a la vanguardia de las nuevas técnicas de ciberataques.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3"/>
          <p:cNvSpPr/>
          <p:nvPr/>
        </p:nvSpPr>
        <p:spPr>
          <a:xfrm>
            <a:off x="637699" y="940475"/>
            <a:ext cx="10563344" cy="5693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3550"/>
              <a:buFont typeface="Alice"/>
              <a:buNone/>
            </a:pPr>
            <a:r>
              <a:rPr b="0" i="0" lang="en-US" sz="35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Planes de mitigación y recuperación ante incidentes</a:t>
            </a:r>
            <a:endParaRPr b="0" i="0" sz="3550" u="none" cap="none" strike="noStrike"/>
          </a:p>
        </p:txBody>
      </p:sp>
      <p:pic>
        <p:nvPicPr>
          <p:cNvPr descr="preencoded.png" id="284" name="Google Shape;2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0037" y="1874163"/>
            <a:ext cx="1652587" cy="1049774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3"/>
          <p:cNvSpPr/>
          <p:nvPr/>
        </p:nvSpPr>
        <p:spPr>
          <a:xfrm>
            <a:off x="3927515" y="2346960"/>
            <a:ext cx="97512" cy="364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Alice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1</a:t>
            </a:r>
            <a:endParaRPr b="0" i="0" sz="1750" u="none" cap="none" strike="noStrike"/>
          </a:p>
        </p:txBody>
      </p:sp>
      <p:sp>
        <p:nvSpPr>
          <p:cNvPr id="286" name="Google Shape;286;p13"/>
          <p:cNvSpPr/>
          <p:nvPr/>
        </p:nvSpPr>
        <p:spPr>
          <a:xfrm>
            <a:off x="4984790" y="2056328"/>
            <a:ext cx="2277547" cy="2846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Alice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Respuesta rápida</a:t>
            </a:r>
            <a:endParaRPr b="0" i="0" sz="1750" u="none" cap="none" strike="noStrike"/>
          </a:p>
        </p:txBody>
      </p:sp>
      <p:sp>
        <p:nvSpPr>
          <p:cNvPr id="287" name="Google Shape;287;p13"/>
          <p:cNvSpPr/>
          <p:nvPr/>
        </p:nvSpPr>
        <p:spPr>
          <a:xfrm>
            <a:off x="4984790" y="2450306"/>
            <a:ext cx="4651653" cy="291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400"/>
              <a:buFont typeface="Lora"/>
              <a:buNone/>
            </a:pPr>
            <a:r>
              <a:rPr b="0" i="0" lang="en-US" sz="14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Detección y análisis del incidente de manera inmediata</a:t>
            </a:r>
            <a:endParaRPr b="0" i="0" sz="1400" u="none" cap="none" strike="noStrike"/>
          </a:p>
        </p:txBody>
      </p:sp>
      <p:sp>
        <p:nvSpPr>
          <p:cNvPr id="288" name="Google Shape;288;p13"/>
          <p:cNvSpPr/>
          <p:nvPr/>
        </p:nvSpPr>
        <p:spPr>
          <a:xfrm>
            <a:off x="4848106" y="2937153"/>
            <a:ext cx="9099113" cy="11430"/>
          </a:xfrm>
          <a:prstGeom prst="roundRect">
            <a:avLst>
              <a:gd fmla="val 239124" name="adj"/>
            </a:avLst>
          </a:prstGeom>
          <a:solidFill>
            <a:srgbClr val="D6D3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9" name="Google Shape;28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23743" y="2969419"/>
            <a:ext cx="3305294" cy="1049774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3"/>
          <p:cNvSpPr/>
          <p:nvPr/>
        </p:nvSpPr>
        <p:spPr>
          <a:xfrm>
            <a:off x="3920371" y="3312081"/>
            <a:ext cx="111800" cy="364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Alice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2</a:t>
            </a:r>
            <a:endParaRPr b="0" i="0" sz="1750" u="none" cap="none" strike="noStrike"/>
          </a:p>
        </p:txBody>
      </p:sp>
      <p:sp>
        <p:nvSpPr>
          <p:cNvPr id="291" name="Google Shape;291;p13"/>
          <p:cNvSpPr/>
          <p:nvPr/>
        </p:nvSpPr>
        <p:spPr>
          <a:xfrm>
            <a:off x="5811203" y="3151584"/>
            <a:ext cx="2488644" cy="2846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Alice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Contención y mitigación</a:t>
            </a:r>
            <a:endParaRPr b="0" i="0" sz="1750" u="none" cap="none" strike="noStrike"/>
          </a:p>
        </p:txBody>
      </p:sp>
      <p:sp>
        <p:nvSpPr>
          <p:cNvPr id="292" name="Google Shape;292;p13"/>
          <p:cNvSpPr/>
          <p:nvPr/>
        </p:nvSpPr>
        <p:spPr>
          <a:xfrm>
            <a:off x="5811203" y="3545562"/>
            <a:ext cx="4711898" cy="291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400"/>
              <a:buFont typeface="Lora"/>
              <a:buNone/>
            </a:pPr>
            <a:r>
              <a:rPr b="0" i="0" lang="en-US" sz="14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Aplicación de medidas para detener y limitar el impacto</a:t>
            </a:r>
            <a:endParaRPr b="0" i="0" sz="1400" u="none" cap="none" strike="noStrike"/>
          </a:p>
        </p:txBody>
      </p:sp>
      <p:sp>
        <p:nvSpPr>
          <p:cNvPr id="293" name="Google Shape;293;p13"/>
          <p:cNvSpPr/>
          <p:nvPr/>
        </p:nvSpPr>
        <p:spPr>
          <a:xfrm>
            <a:off x="5674519" y="4032409"/>
            <a:ext cx="8272701" cy="11430"/>
          </a:xfrm>
          <a:prstGeom prst="roundRect">
            <a:avLst>
              <a:gd fmla="val 239124" name="adj"/>
            </a:avLst>
          </a:prstGeom>
          <a:solidFill>
            <a:srgbClr val="D6D3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4" name="Google Shape;294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97330" y="4064675"/>
            <a:ext cx="4958001" cy="1049774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3"/>
          <p:cNvSpPr/>
          <p:nvPr/>
        </p:nvSpPr>
        <p:spPr>
          <a:xfrm>
            <a:off x="3920728" y="4407337"/>
            <a:ext cx="110966" cy="364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Alice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3</a:t>
            </a:r>
            <a:endParaRPr b="0" i="0" sz="1750" u="none" cap="none" strike="noStrike"/>
          </a:p>
        </p:txBody>
      </p:sp>
      <p:sp>
        <p:nvSpPr>
          <p:cNvPr id="296" name="Google Shape;296;p13"/>
          <p:cNvSpPr/>
          <p:nvPr/>
        </p:nvSpPr>
        <p:spPr>
          <a:xfrm>
            <a:off x="6637496" y="4246840"/>
            <a:ext cx="2912864" cy="2846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Alice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Recuperación y restauración</a:t>
            </a:r>
            <a:endParaRPr b="0" i="0" sz="1750" u="none" cap="none" strike="noStrike"/>
          </a:p>
        </p:txBody>
      </p:sp>
      <p:sp>
        <p:nvSpPr>
          <p:cNvPr id="297" name="Google Shape;297;p13"/>
          <p:cNvSpPr/>
          <p:nvPr/>
        </p:nvSpPr>
        <p:spPr>
          <a:xfrm>
            <a:off x="6637496" y="4640818"/>
            <a:ext cx="4225528" cy="291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400"/>
              <a:buFont typeface="Lora"/>
              <a:buNone/>
            </a:pPr>
            <a:r>
              <a:rPr b="0" i="0" lang="en-US" sz="14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Restauración de los sistemas y servicios afectados</a:t>
            </a:r>
            <a:endParaRPr b="0" i="0" sz="1400" u="none" cap="none" strike="noStrike"/>
          </a:p>
        </p:txBody>
      </p:sp>
      <p:sp>
        <p:nvSpPr>
          <p:cNvPr id="298" name="Google Shape;298;p13"/>
          <p:cNvSpPr/>
          <p:nvPr/>
        </p:nvSpPr>
        <p:spPr>
          <a:xfrm>
            <a:off x="6500813" y="5127665"/>
            <a:ext cx="7446407" cy="11430"/>
          </a:xfrm>
          <a:prstGeom prst="roundRect">
            <a:avLst>
              <a:gd fmla="val 239124" name="adj"/>
            </a:avLst>
          </a:prstGeom>
          <a:solidFill>
            <a:srgbClr val="D6D3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9" name="Google Shape;299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1036" y="5159931"/>
            <a:ext cx="6610707" cy="1049774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3"/>
          <p:cNvSpPr/>
          <p:nvPr/>
        </p:nvSpPr>
        <p:spPr>
          <a:xfrm>
            <a:off x="3919776" y="5502593"/>
            <a:ext cx="112990" cy="364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Alice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4</a:t>
            </a:r>
            <a:endParaRPr b="0" i="0" sz="1750" u="none" cap="none" strike="noStrike"/>
          </a:p>
        </p:txBody>
      </p:sp>
      <p:sp>
        <p:nvSpPr>
          <p:cNvPr id="301" name="Google Shape;301;p13"/>
          <p:cNvSpPr/>
          <p:nvPr/>
        </p:nvSpPr>
        <p:spPr>
          <a:xfrm>
            <a:off x="7463909" y="5342096"/>
            <a:ext cx="2304931" cy="2846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Alice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Investigación y mejora</a:t>
            </a:r>
            <a:endParaRPr b="0" i="0" sz="1750" u="none" cap="none" strike="noStrike"/>
          </a:p>
        </p:txBody>
      </p:sp>
      <p:sp>
        <p:nvSpPr>
          <p:cNvPr id="302" name="Google Shape;302;p13"/>
          <p:cNvSpPr/>
          <p:nvPr/>
        </p:nvSpPr>
        <p:spPr>
          <a:xfrm>
            <a:off x="7463909" y="5736074"/>
            <a:ext cx="4910852" cy="291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400"/>
              <a:buFont typeface="Lora"/>
              <a:buNone/>
            </a:pPr>
            <a:r>
              <a:rPr b="0" i="0" lang="en-US" sz="14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Análisis de las causas y aplicación de lecciones aprendidas</a:t>
            </a:r>
            <a:endParaRPr b="0" i="0" sz="1400" u="none" cap="none" strike="noStrike"/>
          </a:p>
        </p:txBody>
      </p:sp>
      <p:sp>
        <p:nvSpPr>
          <p:cNvPr id="303" name="Google Shape;303;p13"/>
          <p:cNvSpPr/>
          <p:nvPr/>
        </p:nvSpPr>
        <p:spPr>
          <a:xfrm>
            <a:off x="637699" y="6414611"/>
            <a:ext cx="13355002" cy="874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400"/>
              <a:buFont typeface="Lora"/>
              <a:buNone/>
            </a:pPr>
            <a:r>
              <a:rPr b="0" i="0" lang="en-US" sz="14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Ante un incidente de seguridad, es crucial contar con un plan de acción efectivo que permita responder de manera rápida y eficaz. Este plan debe incluir desde la identificación y análisis del incidente, hasta la implementación de medidas de contención y mitigación, la recuperación de los sistemas y servicios afectados, y el aprendizaje y mejora continua a partir de la experiencia.</a:t>
            </a:r>
            <a:endParaRPr b="0" i="0" sz="1400" u="none" cap="none" strike="noStrike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4"/>
          <p:cNvSpPr/>
          <p:nvPr/>
        </p:nvSpPr>
        <p:spPr>
          <a:xfrm>
            <a:off x="758071" y="1040130"/>
            <a:ext cx="12517279" cy="676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05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4250"/>
              <a:buFont typeface="Alice"/>
              <a:buNone/>
            </a:pPr>
            <a:r>
              <a:rPr b="0" i="0" lang="en-US" sz="42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Pruebas de seguridad: herramientas y metodologías</a:t>
            </a:r>
            <a:endParaRPr b="0" i="0" sz="4250" u="none" cap="none" strike="noStrike"/>
          </a:p>
        </p:txBody>
      </p:sp>
      <p:pic>
        <p:nvPicPr>
          <p:cNvPr descr="preencoded.png" id="310" name="Google Shape;31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071" y="2150150"/>
            <a:ext cx="4154805" cy="2567821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14"/>
          <p:cNvSpPr/>
          <p:nvPr/>
        </p:nvSpPr>
        <p:spPr>
          <a:xfrm>
            <a:off x="758071" y="4988719"/>
            <a:ext cx="3311247" cy="3383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100"/>
              <a:buFont typeface="Alice"/>
              <a:buNone/>
            </a:pPr>
            <a:r>
              <a:rPr b="0" i="0" lang="en-US" sz="21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Herramientas de Seguridad</a:t>
            </a:r>
            <a:endParaRPr b="0" i="0" sz="2100" u="none" cap="none" strike="noStrike"/>
          </a:p>
        </p:txBody>
      </p:sp>
      <p:sp>
        <p:nvSpPr>
          <p:cNvPr id="312" name="Google Shape;312;p14"/>
          <p:cNvSpPr/>
          <p:nvPr/>
        </p:nvSpPr>
        <p:spPr>
          <a:xfrm>
            <a:off x="758071" y="5456992"/>
            <a:ext cx="4154805" cy="1732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00"/>
              <a:buFont typeface="Lora"/>
              <a:buNone/>
            </a:pPr>
            <a:r>
              <a:rPr b="0" i="0" lang="en-US" sz="17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Una amplia gama de herramientas especializadas, desde escáneres de vulnerabilidades hasta analizadores de tráfico de red, facilitan la identificación de puntos débiles en los sistemas.</a:t>
            </a:r>
            <a:endParaRPr b="0" i="0" sz="1700" u="none" cap="none" strike="noStrike"/>
          </a:p>
        </p:txBody>
      </p:sp>
      <p:pic>
        <p:nvPicPr>
          <p:cNvPr descr="preencoded.png" id="313" name="Google Shape;31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7678" y="2150150"/>
            <a:ext cx="4154924" cy="256782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4"/>
          <p:cNvSpPr/>
          <p:nvPr/>
        </p:nvSpPr>
        <p:spPr>
          <a:xfrm>
            <a:off x="5237678" y="4988719"/>
            <a:ext cx="2853571" cy="3383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100"/>
              <a:buFont typeface="Alice"/>
              <a:buNone/>
            </a:pPr>
            <a:r>
              <a:rPr b="0" i="0" lang="en-US" sz="21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Pruebas de Penetración</a:t>
            </a:r>
            <a:endParaRPr b="0" i="0" sz="2100" u="none" cap="none" strike="noStrike"/>
          </a:p>
        </p:txBody>
      </p:sp>
      <p:sp>
        <p:nvSpPr>
          <p:cNvPr id="315" name="Google Shape;315;p14"/>
          <p:cNvSpPr/>
          <p:nvPr/>
        </p:nvSpPr>
        <p:spPr>
          <a:xfrm>
            <a:off x="5237678" y="5456992"/>
            <a:ext cx="4154924" cy="1385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00"/>
              <a:buFont typeface="Lora"/>
              <a:buNone/>
            </a:pPr>
            <a:r>
              <a:rPr b="0" i="0" lang="en-US" sz="17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Las pruebas de penetración simulan ataques del mundo real para evaluar la fortaleza de los controles de seguridad y exponer vulnerabilidades ocultas.</a:t>
            </a:r>
            <a:endParaRPr b="0" i="0" sz="1700" u="none" cap="none" strike="noStrike"/>
          </a:p>
        </p:txBody>
      </p:sp>
      <p:pic>
        <p:nvPicPr>
          <p:cNvPr descr="preencoded.png" id="316" name="Google Shape;31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17405" y="2150150"/>
            <a:ext cx="4154924" cy="2567821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4"/>
          <p:cNvSpPr/>
          <p:nvPr/>
        </p:nvSpPr>
        <p:spPr>
          <a:xfrm>
            <a:off x="9717405" y="4988719"/>
            <a:ext cx="2909054" cy="3383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100"/>
              <a:buFont typeface="Alice"/>
              <a:buNone/>
            </a:pPr>
            <a:r>
              <a:rPr b="0" i="0" lang="en-US" sz="21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Auditorías de Seguridad</a:t>
            </a:r>
            <a:endParaRPr b="0" i="0" sz="2100" u="none" cap="none" strike="noStrike"/>
          </a:p>
        </p:txBody>
      </p:sp>
      <p:sp>
        <p:nvSpPr>
          <p:cNvPr id="318" name="Google Shape;318;p14"/>
          <p:cNvSpPr/>
          <p:nvPr/>
        </p:nvSpPr>
        <p:spPr>
          <a:xfrm>
            <a:off x="9717405" y="5456992"/>
            <a:ext cx="4154924" cy="1732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00"/>
              <a:buFont typeface="Lora"/>
              <a:buNone/>
            </a:pPr>
            <a:r>
              <a:rPr b="0" i="0" lang="en-US" sz="17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Los expertos en seguridad realizan revisiones exhaustivas de los sistemas, políticas y procesos para garantizar el cumplimiento de los estándares y mejores prácticas.</a:t>
            </a:r>
            <a:endParaRPr b="0" i="0" sz="1700" u="none" cap="none" strike="noStrike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24" name="Google Shape;32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5" name="Google Shape;32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293" y="2881432"/>
            <a:ext cx="4991695" cy="2466737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15"/>
          <p:cNvSpPr/>
          <p:nvPr/>
        </p:nvSpPr>
        <p:spPr>
          <a:xfrm>
            <a:off x="6178868" y="843082"/>
            <a:ext cx="7759065" cy="123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74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3850"/>
              <a:buFont typeface="Alice"/>
              <a:buNone/>
            </a:pPr>
            <a:r>
              <a:rPr b="0" i="0" lang="en-US" sz="38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Identificación y corrección de vulnerabilidades</a:t>
            </a:r>
            <a:endParaRPr b="0" i="0" sz="3850" u="none" cap="none" strike="noStrike"/>
          </a:p>
        </p:txBody>
      </p:sp>
      <p:sp>
        <p:nvSpPr>
          <p:cNvPr id="327" name="Google Shape;327;p15"/>
          <p:cNvSpPr/>
          <p:nvPr/>
        </p:nvSpPr>
        <p:spPr>
          <a:xfrm>
            <a:off x="6178868" y="2376130"/>
            <a:ext cx="3780711" cy="2406253"/>
          </a:xfrm>
          <a:prstGeom prst="roundRect">
            <a:avLst>
              <a:gd fmla="val 1233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5"/>
          <p:cNvSpPr/>
          <p:nvPr/>
        </p:nvSpPr>
        <p:spPr>
          <a:xfrm>
            <a:off x="6376630" y="2573893"/>
            <a:ext cx="3093244" cy="309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900"/>
              <a:buFont typeface="Alice"/>
              <a:buNone/>
            </a:pPr>
            <a:r>
              <a:rPr b="0" i="0" lang="en-US" sz="19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Análisis de vulnerabilidades</a:t>
            </a:r>
            <a:endParaRPr b="0" i="0" sz="1900" u="none" cap="none" strike="noStrike"/>
          </a:p>
        </p:txBody>
      </p:sp>
      <p:sp>
        <p:nvSpPr>
          <p:cNvPr id="329" name="Google Shape;329;p15"/>
          <p:cNvSpPr/>
          <p:nvPr/>
        </p:nvSpPr>
        <p:spPr>
          <a:xfrm>
            <a:off x="6376630" y="3001685"/>
            <a:ext cx="3385185" cy="1582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50"/>
              <a:buFont typeface="Lora"/>
              <a:buNone/>
            </a:pPr>
            <a:r>
              <a:rPr b="0" i="0" lang="en-US" sz="15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Utilizar herramientas especializadas para escanear sistemas y aplicaciones en busca de puntos débiles que puedan ser explotados por ciberdelincuentes.</a:t>
            </a:r>
            <a:endParaRPr b="0" i="0" sz="1550" u="none" cap="none" strike="noStrike"/>
          </a:p>
        </p:txBody>
      </p:sp>
      <p:sp>
        <p:nvSpPr>
          <p:cNvPr id="330" name="Google Shape;330;p15"/>
          <p:cNvSpPr/>
          <p:nvPr/>
        </p:nvSpPr>
        <p:spPr>
          <a:xfrm>
            <a:off x="10157341" y="2376130"/>
            <a:ext cx="3780711" cy="2406253"/>
          </a:xfrm>
          <a:prstGeom prst="roundRect">
            <a:avLst>
              <a:gd fmla="val 1233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5"/>
          <p:cNvSpPr/>
          <p:nvPr/>
        </p:nvSpPr>
        <p:spPr>
          <a:xfrm>
            <a:off x="10355104" y="2573893"/>
            <a:ext cx="2606278" cy="309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900"/>
              <a:buFont typeface="Alice"/>
              <a:buNone/>
            </a:pPr>
            <a:r>
              <a:rPr b="0" i="0" lang="en-US" sz="19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Pruebas de penetración</a:t>
            </a:r>
            <a:endParaRPr b="0" i="0" sz="1900" u="none" cap="none" strike="noStrike"/>
          </a:p>
        </p:txBody>
      </p:sp>
      <p:sp>
        <p:nvSpPr>
          <p:cNvPr id="332" name="Google Shape;332;p15"/>
          <p:cNvSpPr/>
          <p:nvPr/>
        </p:nvSpPr>
        <p:spPr>
          <a:xfrm>
            <a:off x="10355104" y="3001685"/>
            <a:ext cx="3385185" cy="1582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50"/>
              <a:buFont typeface="Lora"/>
              <a:buNone/>
            </a:pPr>
            <a:r>
              <a:rPr b="0" i="0" lang="en-US" sz="15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Realizar pruebas controladas para comprobar la efectividad de las medidas de seguridad e identificar áreas que requieren mayor protección.</a:t>
            </a:r>
            <a:endParaRPr b="0" i="0" sz="1550" u="none" cap="none" strike="noStrike"/>
          </a:p>
        </p:txBody>
      </p:sp>
      <p:sp>
        <p:nvSpPr>
          <p:cNvPr id="333" name="Google Shape;333;p15"/>
          <p:cNvSpPr/>
          <p:nvPr/>
        </p:nvSpPr>
        <p:spPr>
          <a:xfrm>
            <a:off x="6178868" y="4980146"/>
            <a:ext cx="3780711" cy="2406253"/>
          </a:xfrm>
          <a:prstGeom prst="roundRect">
            <a:avLst>
              <a:gd fmla="val 1233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5"/>
          <p:cNvSpPr/>
          <p:nvPr/>
        </p:nvSpPr>
        <p:spPr>
          <a:xfrm>
            <a:off x="6376630" y="5177909"/>
            <a:ext cx="2811661" cy="309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900"/>
              <a:buFont typeface="Alice"/>
              <a:buNone/>
            </a:pPr>
            <a:r>
              <a:rPr b="0" i="0" lang="en-US" sz="19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Parches y actualizaciones</a:t>
            </a:r>
            <a:endParaRPr b="0" i="0" sz="1900" u="none" cap="none" strike="noStrike"/>
          </a:p>
        </p:txBody>
      </p:sp>
      <p:sp>
        <p:nvSpPr>
          <p:cNvPr id="335" name="Google Shape;335;p15"/>
          <p:cNvSpPr/>
          <p:nvPr/>
        </p:nvSpPr>
        <p:spPr>
          <a:xfrm>
            <a:off x="6376630" y="5605701"/>
            <a:ext cx="3385185" cy="1582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50"/>
              <a:buFont typeface="Lora"/>
              <a:buNone/>
            </a:pPr>
            <a:r>
              <a:rPr b="0" i="0" lang="en-US" sz="15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Mantener al día los sistemas y aplicaciones aplicando los parches de seguridad publicados por los fabricantes para corregir vulnerabilidades conocidas.</a:t>
            </a:r>
            <a:endParaRPr b="0" i="0" sz="1550" u="none" cap="none" strike="noStrike"/>
          </a:p>
        </p:txBody>
      </p:sp>
      <p:sp>
        <p:nvSpPr>
          <p:cNvPr id="336" name="Google Shape;336;p15"/>
          <p:cNvSpPr/>
          <p:nvPr/>
        </p:nvSpPr>
        <p:spPr>
          <a:xfrm>
            <a:off x="10157341" y="4980146"/>
            <a:ext cx="3780711" cy="2406253"/>
          </a:xfrm>
          <a:prstGeom prst="roundRect">
            <a:avLst>
              <a:gd fmla="val 1233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5"/>
          <p:cNvSpPr/>
          <p:nvPr/>
        </p:nvSpPr>
        <p:spPr>
          <a:xfrm>
            <a:off x="10355104" y="5177909"/>
            <a:ext cx="2573417" cy="309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900"/>
              <a:buFont typeface="Alice"/>
              <a:buNone/>
            </a:pPr>
            <a:r>
              <a:rPr b="0" i="0" lang="en-US" sz="19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Gestión de la seguridad</a:t>
            </a:r>
            <a:endParaRPr b="0" i="0" sz="1900" u="none" cap="none" strike="noStrike"/>
          </a:p>
        </p:txBody>
      </p:sp>
      <p:sp>
        <p:nvSpPr>
          <p:cNvPr id="338" name="Google Shape;338;p15"/>
          <p:cNvSpPr/>
          <p:nvPr/>
        </p:nvSpPr>
        <p:spPr>
          <a:xfrm>
            <a:off x="10355104" y="5605701"/>
            <a:ext cx="3385185" cy="12663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50"/>
              <a:buFont typeface="Lora"/>
              <a:buNone/>
            </a:pPr>
            <a:r>
              <a:rPr b="0" i="0" lang="en-US" sz="15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Establecer procesos para monitorizar, evaluar y mejorar continuamente la postura de seguridad de la organización.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2024-11-04T04:55:09Z</dcterms:created>
  <dc:creator>PptxGenJS</dc:creator>
</cp:coreProperties>
</file>