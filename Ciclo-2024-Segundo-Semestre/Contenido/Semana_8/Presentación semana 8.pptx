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8229600" cy="14630400"/>
  <p:embeddedFontLst>
    <p:embeddedFont>
      <p:font typeface="Nobile"/>
      <p:regular r:id="rId22"/>
      <p:bold r:id="rId23"/>
      <p:italic r:id="rId24"/>
      <p:boldItalic r:id="rId25"/>
    </p:embeddedFont>
    <p:embeddedFont>
      <p:font typeface="Fraunces ExtraBold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hPJvmL8ZjNA1c54ObzaFsLzYm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805E83-EC33-43A2-9748-DFBF24B803D1}">
  <a:tblStyle styleId="{D8805E83-EC33-43A2-9748-DFBF24B803D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obile-regular.fntdata"/><Relationship Id="rId21" Type="http://schemas.openxmlformats.org/officeDocument/2006/relationships/slide" Target="slides/slide16.xml"/><Relationship Id="rId24" Type="http://schemas.openxmlformats.org/officeDocument/2006/relationships/font" Target="fonts/Nobile-italic.fntdata"/><Relationship Id="rId23" Type="http://schemas.openxmlformats.org/officeDocument/2006/relationships/font" Target="fonts/Nobil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rauncesExtraBold-bold.fntdata"/><Relationship Id="rId25" Type="http://schemas.openxmlformats.org/officeDocument/2006/relationships/font" Target="fonts/Nobile-boldItalic.fntdata"/><Relationship Id="rId28" Type="http://customschemas.google.com/relationships/presentationmetadata" Target="metadata"/><Relationship Id="rId27" Type="http://schemas.openxmlformats.org/officeDocument/2006/relationships/font" Target="fonts/Fraunce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d52ad6a1de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2d52ad6a1de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52ad6a1de_0_58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1100"/>
            </a:lvl9pPr>
          </a:lstStyle>
          <a:p/>
        </p:txBody>
      </p:sp>
      <p:sp>
        <p:nvSpPr>
          <p:cNvPr id="58" name="Google Shape;58;g2d52ad6a1de_0_58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 sz="1100"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1100"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1100"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1100"/>
            </a:lvl9pPr>
          </a:lstStyle>
          <a:p/>
        </p:txBody>
      </p:sp>
      <p:sp>
        <p:nvSpPr>
          <p:cNvPr id="59" name="Google Shape;59;g2d52ad6a1de_0_5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g2d52ad6a1de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3522" y="0"/>
            <a:ext cx="14603357" cy="8229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" name="Google Shape;65;g2d52ad6a1de_0_0"/>
          <p:cNvGraphicFramePr/>
          <p:nvPr/>
        </p:nvGraphicFramePr>
        <p:xfrm>
          <a:off x="8525120" y="1552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{D8805E83-EC33-43A2-9748-DFBF24B803D1}</a:tableStyleId>
              </a:tblPr>
              <a:tblGrid>
                <a:gridCol w="2429125"/>
                <a:gridCol w="347580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Día, xx/xx/2025 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  <a:tr h="58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46275" marB="146275" marR="146275" marL="1462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/>
                        <a:t>xx:xx</a:t>
                      </a:r>
                      <a:endParaRPr sz="2200" u="none" cap="none" strike="noStrike"/>
                    </a:p>
                  </a:txBody>
                  <a:tcPr marT="146275" marB="146275" marR="146275" marL="146275"/>
                </a:tc>
              </a:tr>
            </a:tbl>
          </a:graphicData>
        </a:graphic>
      </p:graphicFrame>
      <p:sp>
        <p:nvSpPr>
          <p:cNvPr id="66" name="Google Shape;66;g2d52ad6a1de_0_0"/>
          <p:cNvSpPr txBox="1"/>
          <p:nvPr/>
        </p:nvSpPr>
        <p:spPr>
          <a:xfrm>
            <a:off x="2304280" y="3613280"/>
            <a:ext cx="108672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Análisis y Diseño de Sistemas 2 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4000"/>
              <a:t>SECCIÓN</a:t>
            </a: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d52ad6a1de_0_0"/>
          <p:cNvSpPr txBox="1"/>
          <p:nvPr/>
        </p:nvSpPr>
        <p:spPr>
          <a:xfrm>
            <a:off x="2845920" y="4641200"/>
            <a:ext cx="8938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/>
              <a:t>Estudiante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488" y="1845588"/>
            <a:ext cx="4919305" cy="453842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Arquitecturas híbridas e integración en software</a:t>
            </a:r>
            <a:endParaRPr b="0" i="0" sz="445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Las arquitecturas híbridas combinan diferentes estilos arquitectónicos, como monolíticos y distribuidos, para aprovechar las fortalezas de cada uno. Esto permite una mayor flexibilidad y adaptabilidad en entornos de software complejos.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68" y="2751415"/>
            <a:ext cx="5010864" cy="272676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/>
          <p:nvPr/>
        </p:nvSpPr>
        <p:spPr>
          <a:xfrm>
            <a:off x="6151840" y="836414"/>
            <a:ext cx="7813119" cy="1188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700"/>
              <a:buFont typeface="Fraunces ExtraBold"/>
              <a:buNone/>
            </a:pPr>
            <a:r>
              <a:rPr b="1" i="0" lang="en-US" sz="37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¿Qué son las arquitecturas híbridas?</a:t>
            </a:r>
            <a:endParaRPr b="0" i="0" sz="370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6151840" y="2523649"/>
            <a:ext cx="427792" cy="427792"/>
          </a:xfrm>
          <a:prstGeom prst="roundRect">
            <a:avLst>
              <a:gd fmla="val 40001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6294596" y="2594967"/>
            <a:ext cx="142280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1</a:t>
            </a:r>
            <a:endParaRPr b="0" i="0" sz="220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6769656" y="2523649"/>
            <a:ext cx="3193733" cy="59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Combinación de estilos arquitectónicos</a:t>
            </a:r>
            <a:endParaRPr b="0" i="0" sz="1850" u="none" cap="none" strike="noStrike"/>
          </a:p>
        </p:txBody>
      </p:sp>
      <p:sp>
        <p:nvSpPr>
          <p:cNvPr id="88" name="Google Shape;88;p2"/>
          <p:cNvSpPr/>
          <p:nvPr/>
        </p:nvSpPr>
        <p:spPr>
          <a:xfrm>
            <a:off x="6769656" y="3231833"/>
            <a:ext cx="3193733" cy="1825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None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Las arquitecturas híbridas integran diferentes enfoques arquitectónicos, como servicios monolíticos, SOA y microservicios, para aprovechar las fortalezas de cada uno.</a:t>
            </a:r>
            <a:endParaRPr b="0" i="0" sz="1450" u="none" cap="none" strike="noStrike"/>
          </a:p>
        </p:txBody>
      </p:sp>
      <p:sp>
        <p:nvSpPr>
          <p:cNvPr id="89" name="Google Shape;89;p2"/>
          <p:cNvSpPr/>
          <p:nvPr/>
        </p:nvSpPr>
        <p:spPr>
          <a:xfrm>
            <a:off x="10153412" y="2523649"/>
            <a:ext cx="427792" cy="427792"/>
          </a:xfrm>
          <a:prstGeom prst="roundRect">
            <a:avLst>
              <a:gd fmla="val 40001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10274141" y="2594967"/>
            <a:ext cx="186333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2</a:t>
            </a:r>
            <a:endParaRPr b="0" i="0" sz="220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10771227" y="2523649"/>
            <a:ext cx="3193733" cy="594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Flexibilidad y adaptabilidad</a:t>
            </a:r>
            <a:endParaRPr b="0" i="0" sz="1850" u="none" cap="none" strike="noStrike"/>
          </a:p>
        </p:txBody>
      </p:sp>
      <p:sp>
        <p:nvSpPr>
          <p:cNvPr id="92" name="Google Shape;92;p2"/>
          <p:cNvSpPr/>
          <p:nvPr/>
        </p:nvSpPr>
        <p:spPr>
          <a:xfrm>
            <a:off x="10771227" y="3231833"/>
            <a:ext cx="3193733" cy="152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None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Permiten a las organizaciones adaptarse a las cambiantes necesidades del negocio al combinar soluciones tradicionales y emergentes.</a:t>
            </a:r>
            <a:endParaRPr b="0" i="0" sz="1450" u="none" cap="none" strike="noStrike"/>
          </a:p>
        </p:txBody>
      </p:sp>
      <p:sp>
        <p:nvSpPr>
          <p:cNvPr id="93" name="Google Shape;93;p2"/>
          <p:cNvSpPr/>
          <p:nvPr/>
        </p:nvSpPr>
        <p:spPr>
          <a:xfrm>
            <a:off x="6151840" y="5460921"/>
            <a:ext cx="427792" cy="427792"/>
          </a:xfrm>
          <a:prstGeom prst="roundRect">
            <a:avLst>
              <a:gd fmla="val 40001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6279594" y="5532239"/>
            <a:ext cx="172164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3</a:t>
            </a:r>
            <a:endParaRPr b="0" i="0" sz="2200" u="none" cap="none" strike="noStrike"/>
          </a:p>
        </p:txBody>
      </p:sp>
      <p:sp>
        <p:nvSpPr>
          <p:cNvPr id="95" name="Google Shape;95;p2"/>
          <p:cNvSpPr/>
          <p:nvPr/>
        </p:nvSpPr>
        <p:spPr>
          <a:xfrm>
            <a:off x="6769656" y="5460921"/>
            <a:ext cx="3067645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Optimización de recursos</a:t>
            </a:r>
            <a:endParaRPr b="0" i="0" sz="1850" u="none" cap="none" strike="noStrike"/>
          </a:p>
        </p:txBody>
      </p:sp>
      <p:sp>
        <p:nvSpPr>
          <p:cNvPr id="96" name="Google Shape;96;p2"/>
          <p:cNvSpPr/>
          <p:nvPr/>
        </p:nvSpPr>
        <p:spPr>
          <a:xfrm>
            <a:off x="6769656" y="5872043"/>
            <a:ext cx="3193733" cy="1216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None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Aprovechan los beneficios de diferentes arquitecturas para maximizar el rendimiento, la escalabilidad y la eficiencia.</a:t>
            </a:r>
            <a:endParaRPr b="0" i="0" sz="1450" u="none" cap="none" strike="noStrike"/>
          </a:p>
        </p:txBody>
      </p:sp>
      <p:sp>
        <p:nvSpPr>
          <p:cNvPr id="97" name="Google Shape;97;p2"/>
          <p:cNvSpPr/>
          <p:nvPr/>
        </p:nvSpPr>
        <p:spPr>
          <a:xfrm>
            <a:off x="10153412" y="5460921"/>
            <a:ext cx="427792" cy="427792"/>
          </a:xfrm>
          <a:prstGeom prst="roundRect">
            <a:avLst>
              <a:gd fmla="val 40001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10270450" y="5532239"/>
            <a:ext cx="193715" cy="285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4</a:t>
            </a:r>
            <a:endParaRPr b="0" i="0" sz="2200" u="none" cap="none" strike="noStrike"/>
          </a:p>
        </p:txBody>
      </p:sp>
      <p:sp>
        <p:nvSpPr>
          <p:cNvPr id="99" name="Google Shape;99;p2"/>
          <p:cNvSpPr/>
          <p:nvPr/>
        </p:nvSpPr>
        <p:spPr>
          <a:xfrm>
            <a:off x="10771227" y="5460921"/>
            <a:ext cx="2376607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850"/>
              <a:buFont typeface="Fraunces ExtraBold"/>
              <a:buNone/>
            </a:pPr>
            <a:r>
              <a:rPr b="1" i="0" lang="en-US" sz="18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Evolución gradual</a:t>
            </a:r>
            <a:endParaRPr b="0" i="0" sz="1850" u="none" cap="none" strike="noStrike"/>
          </a:p>
        </p:txBody>
      </p:sp>
      <p:sp>
        <p:nvSpPr>
          <p:cNvPr id="100" name="Google Shape;100;p2"/>
          <p:cNvSpPr/>
          <p:nvPr/>
        </p:nvSpPr>
        <p:spPr>
          <a:xfrm>
            <a:off x="10771227" y="5872043"/>
            <a:ext cx="3193733" cy="152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50"/>
              <a:buFont typeface="Nobile"/>
              <a:buNone/>
            </a:pPr>
            <a:r>
              <a:rPr b="0" i="0" lang="en-US" sz="14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Facilitan la transición de arquitecturas monolíticas a arquitecturas más desacopladas y flexibles, sin tener que migrar de forma abrupta.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793790" y="933807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Ejemplos de aplicación de arquitecturas híbridas</a:t>
            </a:r>
            <a:endParaRPr b="0" i="0" sz="4450" u="none" cap="none" strike="noStrike"/>
          </a:p>
        </p:txBody>
      </p:sp>
      <p:sp>
        <p:nvSpPr>
          <p:cNvPr id="107" name="Google Shape;107;p3"/>
          <p:cNvSpPr/>
          <p:nvPr/>
        </p:nvSpPr>
        <p:spPr>
          <a:xfrm>
            <a:off x="793790" y="2895600"/>
            <a:ext cx="6244709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Las arquitecturas híbridas han encontrado aplicación en diversos sectores, como el comercio electrónico, los servicios financieros y la industria manufacturera. Estas arquitecturas permiten integrar sistemas heredados con nuevas tecnologías, logrando una transición gradual hacia soluciones más modernas y escalables.</a:t>
            </a:r>
            <a:endParaRPr b="0" i="0" sz="1750" u="none" cap="none" strike="noStrike"/>
          </a:p>
        </p:txBody>
      </p:sp>
      <p:sp>
        <p:nvSpPr>
          <p:cNvPr id="108" name="Google Shape;108;p3"/>
          <p:cNvSpPr/>
          <p:nvPr/>
        </p:nvSpPr>
        <p:spPr>
          <a:xfrm>
            <a:off x="793790" y="5433688"/>
            <a:ext cx="6244800" cy="1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Por ejemplo, una empresa de comercio electrónico podría utilizar una arquitectura híbrida que combine un monolito existente con microservicios para nuevas funcionalidades, como recomendaciones personalizadas o gestión de inventario en tiempo real.</a:t>
            </a:r>
            <a:endParaRPr b="0" i="0" sz="1750" u="none" cap="none" strike="noStrike"/>
          </a:p>
        </p:txBody>
      </p:sp>
      <p:pic>
        <p:nvPicPr>
          <p:cNvPr descr="preencoded.png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9521" y="2946678"/>
            <a:ext cx="6244709" cy="4053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793790" y="784503"/>
            <a:ext cx="1294888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Beneficios de combinar SOA y microservicios</a:t>
            </a:r>
            <a:endParaRPr b="0" i="0" sz="4450" u="none" cap="none" strike="noStrike"/>
          </a:p>
        </p:txBody>
      </p:sp>
      <p:pic>
        <p:nvPicPr>
          <p:cNvPr descr="preencoded.png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946910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793790" y="47771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Escalabilidad</a:t>
            </a:r>
            <a:endParaRPr b="0" i="0" sz="2200" u="none" cap="none" strike="noStrike"/>
          </a:p>
        </p:txBody>
      </p:sp>
      <p:sp>
        <p:nvSpPr>
          <p:cNvPr id="118" name="Google Shape;118;p4"/>
          <p:cNvSpPr/>
          <p:nvPr/>
        </p:nvSpPr>
        <p:spPr>
          <a:xfrm>
            <a:off x="793790" y="5267563"/>
            <a:ext cx="412075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Las arquitecturas híbridas que combinan SOA y microservicios permiten escalar de manera independiente las diferentes partes del sistema, adaptándose mejor a los requisitos cambiantes.</a:t>
            </a:r>
            <a:endParaRPr b="0" i="0" sz="1750" u="none" cap="none" strike="noStrike"/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704" y="1946910"/>
            <a:ext cx="4120872" cy="254686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254704" y="4777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Agilidad</a:t>
            </a:r>
            <a:endParaRPr b="0" i="0" sz="2200" u="none" cap="none" strike="noStrike"/>
          </a:p>
        </p:txBody>
      </p:sp>
      <p:sp>
        <p:nvSpPr>
          <p:cNvPr id="121" name="Google Shape;121;p4"/>
          <p:cNvSpPr/>
          <p:nvPr/>
        </p:nvSpPr>
        <p:spPr>
          <a:xfrm>
            <a:off x="5254704" y="5267682"/>
            <a:ext cx="412087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Los microservicios facilitan la implementación de cambios y actualizaciones de manera ágil y sin interrumpir el funcionamiento del sistema completo.</a:t>
            </a:r>
            <a:endParaRPr b="0" i="0" sz="1750" u="none" cap="none" strike="noStrike"/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738" y="1946910"/>
            <a:ext cx="4120753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9715738" y="47771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Reutilización</a:t>
            </a:r>
            <a:endParaRPr b="0" i="0" sz="220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9715738" y="5267563"/>
            <a:ext cx="4120753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 integración de SOA y microservicios permite reutilizar servicios y componentes entre diferentes aplicaciones, incrementando la eficiencia y reduciendo los costos de desarrollo.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29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8552" y="2256830"/>
            <a:ext cx="5037296" cy="3719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628650" y="493871"/>
            <a:ext cx="7886700" cy="1122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500"/>
              <a:buFont typeface="Fraunces ExtraBold"/>
              <a:buNone/>
            </a:pPr>
            <a:r>
              <a:rPr b="1" i="0" lang="en-US" sz="35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Desafíos de integrar SOA y microservicios</a:t>
            </a:r>
            <a:endParaRPr b="0" i="0" sz="3500" u="none" cap="none" strike="noStrike"/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1886069"/>
            <a:ext cx="448985" cy="44898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628650" y="2514600"/>
            <a:ext cx="3384113" cy="280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Fraunces ExtraBold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Complejidad de la integración</a:t>
            </a:r>
            <a:endParaRPr b="0" i="0" sz="17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628650" y="2902982"/>
            <a:ext cx="7886700" cy="574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00"/>
              <a:buFont typeface="Nobile"/>
              <a:buNone/>
            </a:pPr>
            <a:r>
              <a:rPr b="0" i="0" lang="en-US" sz="14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 combinación de SOA y microservicios puede generar una arquitectura compleja que requiere una cuidadosa planificación y coordinación.</a:t>
            </a:r>
            <a:endParaRPr b="0" i="0" sz="1400" u="none" cap="none" strike="noStrike"/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4016693"/>
            <a:ext cx="448985" cy="44898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628650" y="4645223"/>
            <a:ext cx="2623899" cy="280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Fraunces ExtraBold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Rendimiento y latencia</a:t>
            </a:r>
            <a:endParaRPr b="0" i="0" sz="175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628650" y="5033605"/>
            <a:ext cx="7886700" cy="574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00"/>
              <a:buFont typeface="Nobile"/>
              <a:buNone/>
            </a:pPr>
            <a:r>
              <a:rPr b="0" i="0" lang="en-US" sz="14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Mantener el alto rendimiento y la baja latencia al procesar datos a través de múltiples servicios es un desafío clave.</a:t>
            </a:r>
            <a:endParaRPr b="0" i="0" sz="1400" u="none" cap="none" strike="noStrike"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6147316"/>
            <a:ext cx="448985" cy="44898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628650" y="6775847"/>
            <a:ext cx="2734747" cy="280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Fraunces ExtraBold"/>
              <a:buNone/>
            </a:pPr>
            <a:r>
              <a:rPr b="1" i="0" lang="en-US" sz="175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Seguridad y gobernanza</a:t>
            </a:r>
            <a:endParaRPr b="0" i="0" sz="1750" u="none" cap="none" strike="noStrike"/>
          </a:p>
        </p:txBody>
      </p:sp>
      <p:sp>
        <p:nvSpPr>
          <p:cNvPr id="141" name="Google Shape;141;p5"/>
          <p:cNvSpPr/>
          <p:nvPr/>
        </p:nvSpPr>
        <p:spPr>
          <a:xfrm>
            <a:off x="628650" y="7164229"/>
            <a:ext cx="7886700" cy="574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400"/>
              <a:buFont typeface="Nobile"/>
              <a:buNone/>
            </a:pPr>
            <a:r>
              <a:rPr b="0" i="0" lang="en-US" sz="14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 segregación de responsabilidades y la definición de políticas de seguridad coherentes son cruciales para evitar brechas de seguridad.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676632" y="909637"/>
            <a:ext cx="11764089" cy="604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800"/>
              <a:buFont typeface="Fraunces ExtraBold"/>
              <a:buNone/>
            </a:pPr>
            <a:r>
              <a:rPr b="1" i="0" lang="en-US" sz="38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Patrones de integración: Enrutador de mensajes</a:t>
            </a:r>
            <a:endParaRPr b="0" i="0" sz="380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676632" y="1900476"/>
            <a:ext cx="13277136" cy="927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El patrón de Enrutador de Mensajes es fundamental en la integración de sistemas. Este patrón se encarga de recibir mensajes de diferentes fuentes, analizarlos y enrutarlos hacia el destino apropiado. Esto permite la comunicación y el flujo de información entre sistemas heterogéneos de manera eficiente y escalable.</a:t>
            </a:r>
            <a:endParaRPr b="0" i="0" sz="1500" u="none" cap="none" strike="noStrike"/>
          </a:p>
        </p:txBody>
      </p:sp>
      <p:pic>
        <p:nvPicPr>
          <p:cNvPr descr="preencoded.png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482" y="3045857"/>
            <a:ext cx="2190631" cy="11138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3935492" y="3547348"/>
            <a:ext cx="120610" cy="38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1</a:t>
            </a:r>
            <a:endParaRPr b="0" i="0" sz="190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5284351" y="3239095"/>
            <a:ext cx="2416850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Recepción</a:t>
            </a:r>
            <a:endParaRPr b="0" i="0" sz="19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5284351" y="3657124"/>
            <a:ext cx="6484501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El enrutador recibe los mensajes de diferentes sistemas y aplicaciones.</a:t>
            </a:r>
            <a:endParaRPr b="0" i="0" sz="1500" u="none" cap="none" strike="noStrike"/>
          </a:p>
        </p:txBody>
      </p:sp>
      <p:sp>
        <p:nvSpPr>
          <p:cNvPr id="153" name="Google Shape;153;p6"/>
          <p:cNvSpPr/>
          <p:nvPr/>
        </p:nvSpPr>
        <p:spPr>
          <a:xfrm>
            <a:off x="5139333" y="4174212"/>
            <a:ext cx="8766215" cy="11430"/>
          </a:xfrm>
          <a:prstGeom prst="roundRect">
            <a:avLst>
              <a:gd fmla="val 1522496" name="adj"/>
            </a:avLst>
          </a:prstGeom>
          <a:solidFill>
            <a:srgbClr val="CED9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5107" y="4207907"/>
            <a:ext cx="4381381" cy="111383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3916799" y="4571405"/>
            <a:ext cx="157877" cy="38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2</a:t>
            </a:r>
            <a:endParaRPr b="0" i="0" sz="190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6379726" y="4401145"/>
            <a:ext cx="2416850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Análisis</a:t>
            </a:r>
            <a:endParaRPr b="0" i="0" sz="1900" u="none" cap="none" strike="noStrike"/>
          </a:p>
        </p:txBody>
      </p:sp>
      <p:sp>
        <p:nvSpPr>
          <p:cNvPr id="157" name="Google Shape;157;p6"/>
          <p:cNvSpPr/>
          <p:nvPr/>
        </p:nvSpPr>
        <p:spPr>
          <a:xfrm>
            <a:off x="6379726" y="4819174"/>
            <a:ext cx="5663327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Examina los mensajes para determinar su destino y prioridad.</a:t>
            </a:r>
            <a:endParaRPr b="0" i="0" sz="1500" u="none" cap="none" strike="noStrike"/>
          </a:p>
        </p:txBody>
      </p:sp>
      <p:sp>
        <p:nvSpPr>
          <p:cNvPr id="158" name="Google Shape;158;p6"/>
          <p:cNvSpPr/>
          <p:nvPr/>
        </p:nvSpPr>
        <p:spPr>
          <a:xfrm>
            <a:off x="6234708" y="5336262"/>
            <a:ext cx="7670840" cy="11430"/>
          </a:xfrm>
          <a:prstGeom prst="roundRect">
            <a:avLst>
              <a:gd fmla="val 1522496" name="adj"/>
            </a:avLst>
          </a:prstGeom>
          <a:solidFill>
            <a:srgbClr val="CED9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732" y="5369957"/>
            <a:ext cx="6572131" cy="111383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3922752" y="5733455"/>
            <a:ext cx="145971" cy="386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3</a:t>
            </a:r>
            <a:endParaRPr b="0" i="0" sz="1900" u="none" cap="none" strike="noStrike"/>
          </a:p>
        </p:txBody>
      </p:sp>
      <p:sp>
        <p:nvSpPr>
          <p:cNvPr id="161" name="Google Shape;161;p6"/>
          <p:cNvSpPr/>
          <p:nvPr/>
        </p:nvSpPr>
        <p:spPr>
          <a:xfrm>
            <a:off x="7475101" y="5563195"/>
            <a:ext cx="2416850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Enrutamiento</a:t>
            </a:r>
            <a:endParaRPr b="0" i="0" sz="1900" u="none" cap="none" strike="noStrike"/>
          </a:p>
        </p:txBody>
      </p:sp>
      <p:sp>
        <p:nvSpPr>
          <p:cNvPr id="162" name="Google Shape;162;p6"/>
          <p:cNvSpPr/>
          <p:nvPr/>
        </p:nvSpPr>
        <p:spPr>
          <a:xfrm>
            <a:off x="7475101" y="5981224"/>
            <a:ext cx="5337572" cy="309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Envía cada mensaje al sistema o servicio correspondiente.</a:t>
            </a:r>
            <a:endParaRPr b="0" i="0" sz="1500" u="none" cap="none" strike="noStrike"/>
          </a:p>
        </p:txBody>
      </p:sp>
      <p:sp>
        <p:nvSpPr>
          <p:cNvPr id="163" name="Google Shape;163;p6"/>
          <p:cNvSpPr/>
          <p:nvPr/>
        </p:nvSpPr>
        <p:spPr>
          <a:xfrm>
            <a:off x="676632" y="6701195"/>
            <a:ext cx="13277136" cy="618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Este patrón es clave para lograr una arquitectura de integración eficiente y flexible, permitiendo la comunicación entre diferentes sistemas y aplicaciones sin acoplarlos de manera rígida.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727829" y="739973"/>
            <a:ext cx="13174742" cy="1299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050"/>
              <a:buFont typeface="Fraunces ExtraBold"/>
              <a:buNone/>
            </a:pPr>
            <a:r>
              <a:rPr b="1" i="0" lang="en-US" sz="40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Patrones de integración: Transformador de mensajes</a:t>
            </a:r>
            <a:endParaRPr b="0" i="0" sz="4050" u="none" cap="none" strike="noStrike"/>
          </a:p>
        </p:txBody>
      </p:sp>
      <p:sp>
        <p:nvSpPr>
          <p:cNvPr id="170" name="Google Shape;170;p7"/>
          <p:cNvSpPr/>
          <p:nvPr/>
        </p:nvSpPr>
        <p:spPr>
          <a:xfrm>
            <a:off x="727829" y="2455545"/>
            <a:ext cx="2195751" cy="1198007"/>
          </a:xfrm>
          <a:prstGeom prst="roundRect">
            <a:avLst>
              <a:gd fmla="val 15623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935712" y="2846665"/>
            <a:ext cx="129778" cy="41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1</a:t>
            </a:r>
            <a:endParaRPr b="0" i="0" sz="200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3131463" y="2663428"/>
            <a:ext cx="2599372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Normalización</a:t>
            </a:r>
            <a:endParaRPr b="0" i="0" sz="2000" u="none" cap="none" strike="noStrike"/>
          </a:p>
        </p:txBody>
      </p:sp>
      <p:sp>
        <p:nvSpPr>
          <p:cNvPr id="173" name="Google Shape;173;p7"/>
          <p:cNvSpPr/>
          <p:nvPr/>
        </p:nvSpPr>
        <p:spPr>
          <a:xfrm>
            <a:off x="3131463" y="3112889"/>
            <a:ext cx="5022413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Nobile"/>
              <a:buNone/>
            </a:pPr>
            <a:r>
              <a:rPr b="0" i="0" lang="en-US" sz="16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Convertir datos de entrada a un formato estándar.</a:t>
            </a:r>
            <a:endParaRPr b="0" i="0" sz="1600" u="none" cap="none" strike="noStrike"/>
          </a:p>
        </p:txBody>
      </p:sp>
      <p:sp>
        <p:nvSpPr>
          <p:cNvPr id="174" name="Google Shape;174;p7"/>
          <p:cNvSpPr/>
          <p:nvPr/>
        </p:nvSpPr>
        <p:spPr>
          <a:xfrm>
            <a:off x="3027521" y="3644027"/>
            <a:ext cx="10771108" cy="11430"/>
          </a:xfrm>
          <a:prstGeom prst="roundRect">
            <a:avLst>
              <a:gd fmla="val 1637464" name="adj"/>
            </a:avLst>
          </a:prstGeom>
          <a:solidFill>
            <a:srgbClr val="CED9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727829" y="3757493"/>
            <a:ext cx="4391501" cy="1198007"/>
          </a:xfrm>
          <a:prstGeom prst="roundRect">
            <a:avLst>
              <a:gd fmla="val 15623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935712" y="4148614"/>
            <a:ext cx="169902" cy="41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2</a:t>
            </a:r>
            <a:endParaRPr b="0" i="0" sz="2000" u="none" cap="none" strike="noStrike"/>
          </a:p>
        </p:txBody>
      </p:sp>
      <p:sp>
        <p:nvSpPr>
          <p:cNvPr id="177" name="Google Shape;177;p7"/>
          <p:cNvSpPr/>
          <p:nvPr/>
        </p:nvSpPr>
        <p:spPr>
          <a:xfrm>
            <a:off x="5327213" y="3965377"/>
            <a:ext cx="2599372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Enriquecimiento</a:t>
            </a:r>
            <a:endParaRPr b="0" i="0" sz="2000" u="none" cap="none" strike="noStrike"/>
          </a:p>
        </p:txBody>
      </p:sp>
      <p:sp>
        <p:nvSpPr>
          <p:cNvPr id="178" name="Google Shape;178;p7"/>
          <p:cNvSpPr/>
          <p:nvPr/>
        </p:nvSpPr>
        <p:spPr>
          <a:xfrm>
            <a:off x="5327213" y="4414838"/>
            <a:ext cx="4567595" cy="332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Nobile"/>
              <a:buNone/>
            </a:pPr>
            <a:r>
              <a:rPr b="0" i="0" lang="en-US" sz="16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Agregar información adicional a los mensajes.</a:t>
            </a:r>
            <a:endParaRPr b="0" i="0" sz="1600" u="none" cap="none" strike="noStrike"/>
          </a:p>
        </p:txBody>
      </p:sp>
      <p:sp>
        <p:nvSpPr>
          <p:cNvPr id="179" name="Google Shape;179;p7"/>
          <p:cNvSpPr/>
          <p:nvPr/>
        </p:nvSpPr>
        <p:spPr>
          <a:xfrm>
            <a:off x="5223272" y="4945975"/>
            <a:ext cx="8575358" cy="11430"/>
          </a:xfrm>
          <a:prstGeom prst="roundRect">
            <a:avLst>
              <a:gd fmla="val 1637464" name="adj"/>
            </a:avLst>
          </a:prstGeom>
          <a:solidFill>
            <a:srgbClr val="CED9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27829" y="5059442"/>
            <a:ext cx="6587371" cy="1530787"/>
          </a:xfrm>
          <a:prstGeom prst="roundRect">
            <a:avLst>
              <a:gd fmla="val 12227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935712" y="5616892"/>
            <a:ext cx="157043" cy="41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3</a:t>
            </a:r>
            <a:endParaRPr b="0" i="0" sz="2000" u="none" cap="none" strike="noStrike"/>
          </a:p>
        </p:txBody>
      </p:sp>
      <p:sp>
        <p:nvSpPr>
          <p:cNvPr id="182" name="Google Shape;182;p7"/>
          <p:cNvSpPr/>
          <p:nvPr/>
        </p:nvSpPr>
        <p:spPr>
          <a:xfrm>
            <a:off x="7523083" y="5267325"/>
            <a:ext cx="2599372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Conversión</a:t>
            </a:r>
            <a:endParaRPr b="0" i="0" sz="2000" u="none" cap="none" strike="noStrike"/>
          </a:p>
        </p:txBody>
      </p:sp>
      <p:sp>
        <p:nvSpPr>
          <p:cNvPr id="183" name="Google Shape;183;p7"/>
          <p:cNvSpPr/>
          <p:nvPr/>
        </p:nvSpPr>
        <p:spPr>
          <a:xfrm>
            <a:off x="7523083" y="5716786"/>
            <a:ext cx="6171605" cy="665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Nobile"/>
              <a:buNone/>
            </a:pPr>
            <a:r>
              <a:rPr b="0" i="0" lang="en-US" sz="16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Transformar los datos a la estructura requerida por el sistema destino.</a:t>
            </a:r>
            <a:endParaRPr b="0" i="0" sz="1600" u="none" cap="none" strike="noStrike"/>
          </a:p>
        </p:txBody>
      </p:sp>
      <p:sp>
        <p:nvSpPr>
          <p:cNvPr id="184" name="Google Shape;184;p7"/>
          <p:cNvSpPr/>
          <p:nvPr/>
        </p:nvSpPr>
        <p:spPr>
          <a:xfrm>
            <a:off x="727829" y="6824067"/>
            <a:ext cx="13174742" cy="665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Nobile"/>
              <a:buNone/>
            </a:pPr>
            <a:r>
              <a:rPr b="0" i="0" lang="en-US" sz="16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El patrón de transformación de mensajes es clave para integrar sistemas heterogéneos. Permite normalizar, enriquecer y convertir los datos entre formatos y estructuras diferentes, asegurando que la información fluya de manera efectiva entre aplicaciones.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959" y="2511147"/>
            <a:ext cx="4998363" cy="320730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6169700" y="538639"/>
            <a:ext cx="7777401" cy="122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800"/>
              <a:buFont typeface="Fraunces ExtraBold"/>
              <a:buNone/>
            </a:pPr>
            <a:r>
              <a:rPr b="1" i="0" lang="en-US" sz="38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Patrones de integración: Orquestador</a:t>
            </a:r>
            <a:endParaRPr b="0" i="0" sz="3800" u="none" cap="none" strike="noStrike"/>
          </a:p>
        </p:txBody>
      </p:sp>
      <p:sp>
        <p:nvSpPr>
          <p:cNvPr id="193" name="Google Shape;193;p8"/>
          <p:cNvSpPr/>
          <p:nvPr/>
        </p:nvSpPr>
        <p:spPr>
          <a:xfrm>
            <a:off x="6451044" y="2051804"/>
            <a:ext cx="22860" cy="5639157"/>
          </a:xfrm>
          <a:prstGeom prst="roundRect">
            <a:avLst>
              <a:gd fmla="val 768736" name="adj"/>
            </a:avLst>
          </a:prstGeom>
          <a:solidFill>
            <a:srgbClr val="CED9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659225" y="2479477"/>
            <a:ext cx="683300" cy="22860"/>
          </a:xfrm>
          <a:prstGeom prst="roundRect">
            <a:avLst>
              <a:gd fmla="val 768736" name="adj"/>
            </a:avLst>
          </a:prstGeom>
          <a:solidFill>
            <a:srgbClr val="CED9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242864" y="2271355"/>
            <a:ext cx="439222" cy="439222"/>
          </a:xfrm>
          <a:prstGeom prst="roundRect">
            <a:avLst>
              <a:gd fmla="val 40010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6389310" y="2344460"/>
            <a:ext cx="146209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300"/>
              <a:buFont typeface="Fraunces ExtraBold"/>
              <a:buNone/>
            </a:pPr>
            <a:r>
              <a:rPr b="1" i="0" lang="en-US" sz="23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1</a:t>
            </a:r>
            <a:endParaRPr b="0" i="0" sz="2300" u="none" cap="none" strike="noStrike"/>
          </a:p>
        </p:txBody>
      </p:sp>
      <p:sp>
        <p:nvSpPr>
          <p:cNvPr id="197" name="Google Shape;197;p8"/>
          <p:cNvSpPr/>
          <p:nvPr/>
        </p:nvSpPr>
        <p:spPr>
          <a:xfrm>
            <a:off x="7536299" y="2246948"/>
            <a:ext cx="3278148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Coordinación centralizada</a:t>
            </a:r>
            <a:endParaRPr b="0" i="0" sz="1900" u="none" cap="none" strike="noStrike"/>
          </a:p>
        </p:txBody>
      </p:sp>
      <p:sp>
        <p:nvSpPr>
          <p:cNvPr id="198" name="Google Shape;198;p8"/>
          <p:cNvSpPr/>
          <p:nvPr/>
        </p:nvSpPr>
        <p:spPr>
          <a:xfrm>
            <a:off x="7536299" y="2669024"/>
            <a:ext cx="6410801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El patrón Orquestador se encarga de coordinar la ejecución de múltiples servicios o microservicios de forma centralizada, simplificando la complejidad de la integración.</a:t>
            </a:r>
            <a:endParaRPr b="0" i="0" sz="1500" u="none" cap="none" strike="noStrike"/>
          </a:p>
        </p:txBody>
      </p:sp>
      <p:sp>
        <p:nvSpPr>
          <p:cNvPr id="199" name="Google Shape;199;p8"/>
          <p:cNvSpPr/>
          <p:nvPr/>
        </p:nvSpPr>
        <p:spPr>
          <a:xfrm>
            <a:off x="6659225" y="4424243"/>
            <a:ext cx="683300" cy="22860"/>
          </a:xfrm>
          <a:prstGeom prst="roundRect">
            <a:avLst>
              <a:gd fmla="val 768736" name="adj"/>
            </a:avLst>
          </a:prstGeom>
          <a:solidFill>
            <a:srgbClr val="CED9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242864" y="4216122"/>
            <a:ext cx="439222" cy="439222"/>
          </a:xfrm>
          <a:prstGeom prst="roundRect">
            <a:avLst>
              <a:gd fmla="val 40010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6366808" y="4289227"/>
            <a:ext cx="191333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300"/>
              <a:buFont typeface="Fraunces ExtraBold"/>
              <a:buNone/>
            </a:pPr>
            <a:r>
              <a:rPr b="1" i="0" lang="en-US" sz="23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2</a:t>
            </a:r>
            <a:endParaRPr b="0" i="0" sz="2300" u="none" cap="none" strike="noStrike"/>
          </a:p>
        </p:txBody>
      </p:sp>
      <p:sp>
        <p:nvSpPr>
          <p:cNvPr id="202" name="Google Shape;202;p8"/>
          <p:cNvSpPr/>
          <p:nvPr/>
        </p:nvSpPr>
        <p:spPr>
          <a:xfrm>
            <a:off x="7536299" y="4191714"/>
            <a:ext cx="3025140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Flujo de trabajo definido</a:t>
            </a:r>
            <a:endParaRPr b="0" i="0" sz="1900" u="none" cap="none" strike="noStrike"/>
          </a:p>
        </p:txBody>
      </p:sp>
      <p:sp>
        <p:nvSpPr>
          <p:cNvPr id="203" name="Google Shape;203;p8"/>
          <p:cNvSpPr/>
          <p:nvPr/>
        </p:nvSpPr>
        <p:spPr>
          <a:xfrm>
            <a:off x="7536299" y="4613791"/>
            <a:ext cx="6410801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El Orquestador define el flujo de trabajo específico, determinando la secuencia de llamadas a los diferentes componentes de la arquitectura.</a:t>
            </a:r>
            <a:endParaRPr b="0" i="0" sz="1500" u="none" cap="none" strike="noStrike"/>
          </a:p>
        </p:txBody>
      </p:sp>
      <p:sp>
        <p:nvSpPr>
          <p:cNvPr id="204" name="Google Shape;204;p8"/>
          <p:cNvSpPr/>
          <p:nvPr/>
        </p:nvSpPr>
        <p:spPr>
          <a:xfrm>
            <a:off x="6659225" y="6369010"/>
            <a:ext cx="683300" cy="22860"/>
          </a:xfrm>
          <a:prstGeom prst="roundRect">
            <a:avLst>
              <a:gd fmla="val 768736" name="adj"/>
            </a:avLst>
          </a:prstGeom>
          <a:solidFill>
            <a:srgbClr val="CED9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6242864" y="6160889"/>
            <a:ext cx="439222" cy="439222"/>
          </a:xfrm>
          <a:prstGeom prst="roundRect">
            <a:avLst>
              <a:gd fmla="val 40010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6373951" y="6233993"/>
            <a:ext cx="176927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300"/>
              <a:buFont typeface="Fraunces ExtraBold"/>
              <a:buNone/>
            </a:pPr>
            <a:r>
              <a:rPr b="1" i="0" lang="en-US" sz="23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3</a:t>
            </a:r>
            <a:endParaRPr b="0" i="0" sz="2300" u="none" cap="none" strike="noStrike"/>
          </a:p>
        </p:txBody>
      </p:sp>
      <p:sp>
        <p:nvSpPr>
          <p:cNvPr id="207" name="Google Shape;207;p8"/>
          <p:cNvSpPr/>
          <p:nvPr/>
        </p:nvSpPr>
        <p:spPr>
          <a:xfrm>
            <a:off x="7536299" y="6136481"/>
            <a:ext cx="3653552" cy="30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Desacoplamiento de servicios</a:t>
            </a:r>
            <a:endParaRPr b="0" i="0" sz="1900" u="none" cap="none" strike="noStrike"/>
          </a:p>
        </p:txBody>
      </p:sp>
      <p:sp>
        <p:nvSpPr>
          <p:cNvPr id="208" name="Google Shape;208;p8"/>
          <p:cNvSpPr/>
          <p:nvPr/>
        </p:nvSpPr>
        <p:spPr>
          <a:xfrm>
            <a:off x="7536299" y="6558558"/>
            <a:ext cx="6410801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00"/>
              <a:buFont typeface="Nobile"/>
              <a:buNone/>
            </a:pPr>
            <a:r>
              <a:rPr b="0" i="0" lang="en-US" sz="15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Al utilizar un Orquestador, los servicios y microservicios se mantienen desacoplados, lo que facilita la escalabilidad y el mantenimiento del sistema.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4" name="Google Shape;2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5" name="Google Shape;21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0221" y="2033945"/>
            <a:ext cx="4993838" cy="4161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689491" y="699135"/>
            <a:ext cx="7765018" cy="1231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850"/>
              <a:buFont typeface="Fraunces ExtraBold"/>
              <a:buNone/>
            </a:pPr>
            <a:r>
              <a:rPr b="1" i="0" lang="en-US" sz="38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Arquitectura Serverless: Definición</a:t>
            </a:r>
            <a:endParaRPr b="0" i="0" sz="3850" u="none" cap="none" strike="noStrike"/>
          </a:p>
        </p:txBody>
      </p:sp>
      <p:sp>
        <p:nvSpPr>
          <p:cNvPr id="217" name="Google Shape;217;p9"/>
          <p:cNvSpPr/>
          <p:nvPr/>
        </p:nvSpPr>
        <p:spPr>
          <a:xfrm>
            <a:off x="689491" y="2225873"/>
            <a:ext cx="3784044" cy="3341965"/>
          </a:xfrm>
          <a:prstGeom prst="roundRect">
            <a:avLst>
              <a:gd fmla="val 5305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886420" y="2422803"/>
            <a:ext cx="24624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Definición</a:t>
            </a:r>
            <a:endParaRPr b="0" i="0" sz="1900" u="none" cap="none" strike="noStrike"/>
          </a:p>
        </p:txBody>
      </p:sp>
      <p:sp>
        <p:nvSpPr>
          <p:cNvPr id="219" name="Google Shape;219;p9"/>
          <p:cNvSpPr/>
          <p:nvPr/>
        </p:nvSpPr>
        <p:spPr>
          <a:xfrm>
            <a:off x="886420" y="2848689"/>
            <a:ext cx="3390186" cy="2522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50"/>
              <a:buFont typeface="Nobile"/>
              <a:buNone/>
            </a:pPr>
            <a:r>
              <a:rPr b="0" i="0" lang="en-US" sz="15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 arquitectura Serverless es un modelo de computación en la nube en el que los proveedores administran los servidores y los recursos de infraestructura, y los desarrolladores se enfocan en escribir y desplegar código sin tener que administrar la infraestructura.</a:t>
            </a:r>
            <a:endParaRPr b="0" i="0" sz="1550" u="none" cap="none" strike="noStrike"/>
          </a:p>
        </p:txBody>
      </p:sp>
      <p:sp>
        <p:nvSpPr>
          <p:cNvPr id="220" name="Google Shape;220;p9"/>
          <p:cNvSpPr/>
          <p:nvPr/>
        </p:nvSpPr>
        <p:spPr>
          <a:xfrm>
            <a:off x="4670465" y="2225873"/>
            <a:ext cx="3784044" cy="3341965"/>
          </a:xfrm>
          <a:prstGeom prst="roundRect">
            <a:avLst>
              <a:gd fmla="val 5305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867394" y="2422803"/>
            <a:ext cx="24624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Ejecución de código</a:t>
            </a:r>
            <a:endParaRPr b="0" i="0" sz="1900" u="none" cap="none" strike="noStrike"/>
          </a:p>
        </p:txBody>
      </p:sp>
      <p:sp>
        <p:nvSpPr>
          <p:cNvPr id="222" name="Google Shape;222;p9"/>
          <p:cNvSpPr/>
          <p:nvPr/>
        </p:nvSpPr>
        <p:spPr>
          <a:xfrm>
            <a:off x="4867394" y="2848689"/>
            <a:ext cx="3390186" cy="22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50"/>
              <a:buFont typeface="Nobile"/>
              <a:buNone/>
            </a:pPr>
            <a:r>
              <a:rPr b="0" i="0" lang="en-US" sz="15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En la arquitectura Serverless, el código se ejecuta en respuesta a eventos o solicitudes, y los recursos se escalan automáticamente según la demanda, sin que el desarrollador tenga que aprovisionar o administrar servidores.</a:t>
            </a:r>
            <a:endParaRPr b="0" i="0" sz="1550" u="none" cap="none" strike="noStrike"/>
          </a:p>
        </p:txBody>
      </p:sp>
      <p:sp>
        <p:nvSpPr>
          <p:cNvPr id="223" name="Google Shape;223;p9"/>
          <p:cNvSpPr/>
          <p:nvPr/>
        </p:nvSpPr>
        <p:spPr>
          <a:xfrm>
            <a:off x="689491" y="5764768"/>
            <a:ext cx="7765018" cy="1765578"/>
          </a:xfrm>
          <a:prstGeom prst="roundRect">
            <a:avLst>
              <a:gd fmla="val 10042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886420" y="5961698"/>
            <a:ext cx="24624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900"/>
              <a:buFont typeface="Fraunces ExtraBold"/>
              <a:buNone/>
            </a:pPr>
            <a:r>
              <a:rPr b="1" i="0" lang="en-US" sz="19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Pago por uso</a:t>
            </a:r>
            <a:endParaRPr b="0" i="0" sz="1900" u="none" cap="none" strike="noStrike"/>
          </a:p>
        </p:txBody>
      </p:sp>
      <p:sp>
        <p:nvSpPr>
          <p:cNvPr id="225" name="Google Shape;225;p9"/>
          <p:cNvSpPr/>
          <p:nvPr/>
        </p:nvSpPr>
        <p:spPr>
          <a:xfrm>
            <a:off x="886420" y="6387584"/>
            <a:ext cx="7371159" cy="945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550"/>
              <a:buFont typeface="Nobile"/>
              <a:buNone/>
            </a:pPr>
            <a:r>
              <a:rPr b="0" i="0" lang="en-US" sz="15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Los usuarios de la arquitectura Serverless solo pagan por los recursos que utilizan, lo que les permite tener un costo más ajustado a sus necesidades y evitar el desperdicio de recursos.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793790" y="1636990"/>
            <a:ext cx="1082421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Ventajas de la arquitectura Serverless</a:t>
            </a:r>
            <a:endParaRPr b="0" i="0" sz="4450" u="none" cap="none" strike="noStrike"/>
          </a:p>
        </p:txBody>
      </p:sp>
      <p:sp>
        <p:nvSpPr>
          <p:cNvPr id="232" name="Google Shape;232;p10"/>
          <p:cNvSpPr/>
          <p:nvPr/>
        </p:nvSpPr>
        <p:spPr>
          <a:xfrm>
            <a:off x="793790" y="2912745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Escalabilidad Automática</a:t>
            </a:r>
            <a:endParaRPr b="0" i="0" sz="2200" u="none" cap="none" strike="noStrike"/>
          </a:p>
        </p:txBody>
      </p:sp>
      <p:sp>
        <p:nvSpPr>
          <p:cNvPr id="233" name="Google Shape;233;p10"/>
          <p:cNvSpPr/>
          <p:nvPr/>
        </p:nvSpPr>
        <p:spPr>
          <a:xfrm>
            <a:off x="793790" y="3848219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 arquitectura Serverless escala de manera automática para manejar los picos de carga sin necesidad de provisionar o gestionar servidores adicionales.</a:t>
            </a:r>
            <a:endParaRPr b="0" i="0" sz="1750" u="none" cap="none" strike="noStrike"/>
          </a:p>
        </p:txBody>
      </p:sp>
      <p:sp>
        <p:nvSpPr>
          <p:cNvPr id="234" name="Google Shape;234;p10"/>
          <p:cNvSpPr/>
          <p:nvPr/>
        </p:nvSpPr>
        <p:spPr>
          <a:xfrm>
            <a:off x="4200406" y="2912745"/>
            <a:ext cx="284559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Reducción de Costos</a:t>
            </a:r>
            <a:endParaRPr b="0" i="0" sz="220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4200406" y="3848219"/>
            <a:ext cx="2845594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Serverless solo cobra por el tiempo de ejecución de las funciones, lo que elimina los costos fijos asociados con la administración de servidores.</a:t>
            </a:r>
            <a:endParaRPr b="0" i="0" sz="175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7607022" y="29127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Menor Complejidad</a:t>
            </a:r>
            <a:endParaRPr b="0" i="0" sz="2200" u="none" cap="none" strike="noStrike"/>
          </a:p>
        </p:txBody>
      </p:sp>
      <p:sp>
        <p:nvSpPr>
          <p:cNvPr id="237" name="Google Shape;237;p10"/>
          <p:cNvSpPr/>
          <p:nvPr/>
        </p:nvSpPr>
        <p:spPr>
          <a:xfrm>
            <a:off x="7607022" y="3493889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Los desarrolladores se pueden enfocar en la lógica de negocios sin preocuparse por la infraestructura subyacente.</a:t>
            </a:r>
            <a:endParaRPr b="0" i="0" sz="1750" u="none" cap="none" strike="noStrike"/>
          </a:p>
        </p:txBody>
      </p:sp>
      <p:sp>
        <p:nvSpPr>
          <p:cNvPr id="238" name="Google Shape;238;p10"/>
          <p:cNvSpPr/>
          <p:nvPr/>
        </p:nvSpPr>
        <p:spPr>
          <a:xfrm>
            <a:off x="11013638" y="29127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Alta Disponibilidad</a:t>
            </a:r>
            <a:endParaRPr b="0" i="0" sz="220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11013638" y="3493889"/>
            <a:ext cx="2845594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Las plataformas Serverless ofrecen alta disponibilidad y tolerancia a fallos de manera nativa, sin necesidad de configurar redundancia.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5" name="Google Shape;2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607" y="2538532"/>
            <a:ext cx="4919186" cy="315241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793790" y="1475303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Casos de uso de la arquitectura Serverless</a:t>
            </a:r>
            <a:endParaRPr b="0" i="0" sz="4450" u="none" cap="none" strike="noStrike"/>
          </a:p>
        </p:txBody>
      </p:sp>
      <p:sp>
        <p:nvSpPr>
          <p:cNvPr id="248" name="Google Shape;248;p11"/>
          <p:cNvSpPr/>
          <p:nvPr/>
        </p:nvSpPr>
        <p:spPr>
          <a:xfrm>
            <a:off x="793790" y="3233023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La arquitectura Serverless se presta a una amplia variedad de casos de uso, desde aplicaciones web y móviles hasta trabajos por lotes y análisis de datos en tiempo real. Es especialmente adecuada para cargas de trabajo intermitentes o impredecibles que se pueden escalar de manera elástica según la demanda.</a:t>
            </a:r>
            <a:endParaRPr b="0" i="0" sz="1750" u="none" cap="none" strike="noStrike"/>
          </a:p>
        </p:txBody>
      </p:sp>
      <p:sp>
        <p:nvSpPr>
          <p:cNvPr id="249" name="Google Shape;249;p11"/>
          <p:cNvSpPr/>
          <p:nvPr/>
        </p:nvSpPr>
        <p:spPr>
          <a:xfrm>
            <a:off x="793790" y="5302687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Entre los casos de uso más comunes se encuentran el procesamiento de eventos, la integración entre sistemas, los chatbots y asistentes virtuales, y las aplicaciones IoT que recopilan y procesan datos de sensores.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569119" y="447199"/>
            <a:ext cx="11355110" cy="50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3200"/>
              <a:buFont typeface="Fraunces ExtraBold"/>
              <a:buNone/>
            </a:pPr>
            <a:r>
              <a:rPr b="1" i="0" lang="en-US" sz="32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Estrategias para implementar una arquitectura híbrida</a:t>
            </a:r>
            <a:endParaRPr b="0" i="0" sz="3200" u="none" cap="none" strike="noStrike"/>
          </a:p>
        </p:txBody>
      </p:sp>
      <p:pic>
        <p:nvPicPr>
          <p:cNvPr descr="preencoded.png" id="256" name="Google Shape;2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119" y="1280517"/>
            <a:ext cx="813078" cy="130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1626011" y="1443050"/>
            <a:ext cx="469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Fraunces ExtraBold"/>
              <a:buNone/>
            </a:pPr>
            <a:r>
              <a:rPr b="1" i="0" lang="en-US" sz="16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Definir los requisitos</a:t>
            </a:r>
            <a:endParaRPr b="0" i="0" sz="1600" u="none" cap="none" strike="noStrike"/>
          </a:p>
        </p:txBody>
      </p:sp>
      <p:sp>
        <p:nvSpPr>
          <p:cNvPr id="258" name="Google Shape;258;p12"/>
          <p:cNvSpPr/>
          <p:nvPr/>
        </p:nvSpPr>
        <p:spPr>
          <a:xfrm>
            <a:off x="1626037" y="1794510"/>
            <a:ext cx="1243524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250"/>
              <a:buFont typeface="Nobile"/>
              <a:buNone/>
            </a:pPr>
            <a:r>
              <a:rPr b="0" i="0" lang="en-US" sz="12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Identificar las necesidades específicas de la organización y los sistemas existentes que deben integrarse.</a:t>
            </a:r>
            <a:endParaRPr b="0" i="0" sz="1250" u="none" cap="none" strike="noStrike"/>
          </a:p>
        </p:txBody>
      </p:sp>
      <p:pic>
        <p:nvPicPr>
          <p:cNvPr descr="preencoded.png" id="259" name="Google Shape;2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119" y="2581394"/>
            <a:ext cx="813078" cy="130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/>
          <p:nvPr/>
        </p:nvSpPr>
        <p:spPr>
          <a:xfrm>
            <a:off x="1626019" y="2743925"/>
            <a:ext cx="5806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Fraunces ExtraBold"/>
              <a:buNone/>
            </a:pPr>
            <a:r>
              <a:rPr b="1" i="0" lang="en-US" sz="16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Seleccionar las tecnologías adecuadas</a:t>
            </a:r>
            <a:endParaRPr b="0" i="0" sz="1600" u="none" cap="none" strike="noStrike"/>
          </a:p>
        </p:txBody>
      </p:sp>
      <p:sp>
        <p:nvSpPr>
          <p:cNvPr id="261" name="Google Shape;261;p12"/>
          <p:cNvSpPr/>
          <p:nvPr/>
        </p:nvSpPr>
        <p:spPr>
          <a:xfrm>
            <a:off x="1626037" y="3095387"/>
            <a:ext cx="1243524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250"/>
              <a:buFont typeface="Nobile"/>
              <a:buNone/>
            </a:pPr>
            <a:r>
              <a:rPr b="0" i="0" lang="en-US" sz="12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Evaluar las diferentes herramientas y plataformas disponibles para implementar la arquitectura híbrida.</a:t>
            </a:r>
            <a:endParaRPr b="0" i="0" sz="1250" u="none" cap="none" strike="noStrike"/>
          </a:p>
        </p:txBody>
      </p:sp>
      <p:pic>
        <p:nvPicPr>
          <p:cNvPr descr="preencoded.png" id="262" name="Google Shape;2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9119" y="3882271"/>
            <a:ext cx="813078" cy="130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1626013" y="4044800"/>
            <a:ext cx="486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Fraunces ExtraBold"/>
              <a:buNone/>
            </a:pPr>
            <a:r>
              <a:rPr b="1" i="0" lang="en-US" sz="16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Diseñar la arquitectura</a:t>
            </a:r>
            <a:endParaRPr b="0" i="0" sz="1600" u="none" cap="none" strike="noStrike"/>
          </a:p>
        </p:txBody>
      </p:sp>
      <p:sp>
        <p:nvSpPr>
          <p:cNvPr id="264" name="Google Shape;264;p12"/>
          <p:cNvSpPr/>
          <p:nvPr/>
        </p:nvSpPr>
        <p:spPr>
          <a:xfrm>
            <a:off x="1626037" y="4396264"/>
            <a:ext cx="1243524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250"/>
              <a:buFont typeface="Nobile"/>
              <a:buNone/>
            </a:pPr>
            <a:r>
              <a:rPr b="0" i="0" lang="en-US" sz="12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Establecer cómo se integrarán los diferentes componentes, flujos de datos y patrones de comunicación.</a:t>
            </a:r>
            <a:endParaRPr b="0" i="0" sz="1250" u="none" cap="none" strike="noStrike"/>
          </a:p>
        </p:txBody>
      </p:sp>
      <p:pic>
        <p:nvPicPr>
          <p:cNvPr descr="preencoded.png" id="265" name="Google Shape;26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9119" y="5183148"/>
            <a:ext cx="813078" cy="130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1626008" y="5345675"/>
            <a:ext cx="551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Fraunces ExtraBold"/>
              <a:buNone/>
            </a:pPr>
            <a:r>
              <a:rPr b="1" i="0" lang="en-US" sz="16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Implementar y probar</a:t>
            </a:r>
            <a:endParaRPr b="0" i="0" sz="1600" u="none" cap="none" strike="noStrike"/>
          </a:p>
        </p:txBody>
      </p:sp>
      <p:sp>
        <p:nvSpPr>
          <p:cNvPr id="267" name="Google Shape;267;p12"/>
          <p:cNvSpPr/>
          <p:nvPr/>
        </p:nvSpPr>
        <p:spPr>
          <a:xfrm>
            <a:off x="1626037" y="5697141"/>
            <a:ext cx="1243524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250"/>
              <a:buFont typeface="Nobile"/>
              <a:buNone/>
            </a:pPr>
            <a:r>
              <a:rPr b="0" i="0" lang="en-US" sz="12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Desplegar la solución en etapas, realizar pruebas exhaustivas y ajustar según sea necesario.</a:t>
            </a:r>
            <a:endParaRPr b="0" i="0" sz="1250" u="none" cap="none" strike="noStrike"/>
          </a:p>
        </p:txBody>
      </p:sp>
      <p:pic>
        <p:nvPicPr>
          <p:cNvPr descr="preencoded.png" id="268" name="Google Shape;26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9119" y="6484025"/>
            <a:ext cx="813078" cy="1300877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/>
          <p:nvPr/>
        </p:nvSpPr>
        <p:spPr>
          <a:xfrm>
            <a:off x="1626014" y="6646550"/>
            <a:ext cx="469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Fraunces ExtraBold"/>
              <a:buNone/>
            </a:pPr>
            <a:r>
              <a:rPr b="1" i="0" lang="en-US" sz="16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Monitorear y mantener</a:t>
            </a:r>
            <a:endParaRPr b="0" i="0" sz="1600" u="none" cap="none" strike="noStrike"/>
          </a:p>
        </p:txBody>
      </p:sp>
      <p:sp>
        <p:nvSpPr>
          <p:cNvPr id="270" name="Google Shape;270;p12"/>
          <p:cNvSpPr/>
          <p:nvPr/>
        </p:nvSpPr>
        <p:spPr>
          <a:xfrm>
            <a:off x="1626037" y="6998018"/>
            <a:ext cx="12435245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250"/>
              <a:buFont typeface="Nobile"/>
              <a:buNone/>
            </a:pPr>
            <a:r>
              <a:rPr b="0" i="0" lang="en-US" sz="12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Supervisar el rendimiento, resolver problemas y actualizar la arquitectura a medida que evolucionan las necesidades.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6" name="Google Shape;2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0580" y="2585442"/>
            <a:ext cx="4973241" cy="305859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3"/>
          <p:cNvSpPr/>
          <p:nvPr/>
        </p:nvSpPr>
        <p:spPr>
          <a:xfrm>
            <a:off x="718185" y="564713"/>
            <a:ext cx="7707630" cy="192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000"/>
              <a:buFont typeface="Fraunces ExtraBold"/>
              <a:buNone/>
            </a:pPr>
            <a:r>
              <a:rPr b="1" i="0" lang="en-US" sz="400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Consideraciones de seguridad en arquitecturas híbridas</a:t>
            </a:r>
            <a:endParaRPr b="0" i="0" sz="4000" u="none" cap="none" strike="noStrike"/>
          </a:p>
        </p:txBody>
      </p:sp>
      <p:sp>
        <p:nvSpPr>
          <p:cNvPr id="279" name="Google Shape;279;p13"/>
          <p:cNvSpPr/>
          <p:nvPr/>
        </p:nvSpPr>
        <p:spPr>
          <a:xfrm>
            <a:off x="718185" y="2796302"/>
            <a:ext cx="3751302" cy="2495907"/>
          </a:xfrm>
          <a:prstGeom prst="roundRect">
            <a:avLst>
              <a:gd fmla="val 7400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923330" y="3001447"/>
            <a:ext cx="2565202" cy="320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Identidad y acceso</a:t>
            </a:r>
            <a:endParaRPr b="0" i="0" sz="2000" u="none" cap="none" strike="noStrike"/>
          </a:p>
        </p:txBody>
      </p:sp>
      <p:sp>
        <p:nvSpPr>
          <p:cNvPr id="281" name="Google Shape;281;p13"/>
          <p:cNvSpPr/>
          <p:nvPr/>
        </p:nvSpPr>
        <p:spPr>
          <a:xfrm>
            <a:off x="923330" y="3445193"/>
            <a:ext cx="3341013" cy="164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Nobile"/>
              <a:buNone/>
            </a:pPr>
            <a:r>
              <a:rPr b="0" i="0" lang="en-US" sz="16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Implementar controles de identidad y acceso robustos para gestionar el acceso a los diferentes componentes de la arquitectura híbrida.</a:t>
            </a:r>
            <a:endParaRPr b="0" i="0" sz="1600" u="none" cap="none" strike="noStrike"/>
          </a:p>
        </p:txBody>
      </p:sp>
      <p:sp>
        <p:nvSpPr>
          <p:cNvPr id="282" name="Google Shape;282;p13"/>
          <p:cNvSpPr/>
          <p:nvPr/>
        </p:nvSpPr>
        <p:spPr>
          <a:xfrm>
            <a:off x="4674632" y="2796302"/>
            <a:ext cx="3751302" cy="2495907"/>
          </a:xfrm>
          <a:prstGeom prst="roundRect">
            <a:avLst>
              <a:gd fmla="val 7400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4879777" y="3001447"/>
            <a:ext cx="2565202" cy="320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Cifrado de datos</a:t>
            </a:r>
            <a:endParaRPr b="0" i="0" sz="2000" u="none" cap="none" strike="noStrike"/>
          </a:p>
        </p:txBody>
      </p:sp>
      <p:sp>
        <p:nvSpPr>
          <p:cNvPr id="284" name="Google Shape;284;p13"/>
          <p:cNvSpPr/>
          <p:nvPr/>
        </p:nvSpPr>
        <p:spPr>
          <a:xfrm>
            <a:off x="4879777" y="3445193"/>
            <a:ext cx="3341013" cy="1313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Nobile"/>
              <a:buNone/>
            </a:pPr>
            <a:r>
              <a:rPr b="0" i="0" lang="en-US" sz="16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Asegurar el cifrado de los datos en tránsito y en reposo para proteger la confidencialidad de la información.</a:t>
            </a:r>
            <a:endParaRPr b="0" i="0" sz="1600" u="none" cap="none" strike="noStrike"/>
          </a:p>
        </p:txBody>
      </p:sp>
      <p:sp>
        <p:nvSpPr>
          <p:cNvPr id="285" name="Google Shape;285;p13"/>
          <p:cNvSpPr/>
          <p:nvPr/>
        </p:nvSpPr>
        <p:spPr>
          <a:xfrm>
            <a:off x="718185" y="5497354"/>
            <a:ext cx="3751302" cy="2167533"/>
          </a:xfrm>
          <a:prstGeom prst="roundRect">
            <a:avLst>
              <a:gd fmla="val 8521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923330" y="5702498"/>
            <a:ext cx="2977277" cy="320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Segmentación de redes</a:t>
            </a:r>
            <a:endParaRPr b="0" i="0" sz="2000" u="none" cap="none" strike="noStrike"/>
          </a:p>
        </p:txBody>
      </p:sp>
      <p:sp>
        <p:nvSpPr>
          <p:cNvPr id="287" name="Google Shape;287;p13"/>
          <p:cNvSpPr/>
          <p:nvPr/>
        </p:nvSpPr>
        <p:spPr>
          <a:xfrm>
            <a:off x="923330" y="6146244"/>
            <a:ext cx="3341013" cy="1313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Nobile"/>
              <a:buNone/>
            </a:pPr>
            <a:r>
              <a:rPr b="0" i="0" lang="en-US" sz="16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Segregar la arquitectura en dominios de seguridad lógicos para limitar el alcance de posibles ataques.</a:t>
            </a:r>
            <a:endParaRPr b="0" i="0" sz="1600" u="none" cap="none" strike="noStrike"/>
          </a:p>
        </p:txBody>
      </p:sp>
      <p:sp>
        <p:nvSpPr>
          <p:cNvPr id="288" name="Google Shape;288;p13"/>
          <p:cNvSpPr/>
          <p:nvPr/>
        </p:nvSpPr>
        <p:spPr>
          <a:xfrm>
            <a:off x="4674632" y="5497354"/>
            <a:ext cx="3751302" cy="2167533"/>
          </a:xfrm>
          <a:prstGeom prst="roundRect">
            <a:avLst>
              <a:gd fmla="val 8521" name="adj"/>
            </a:avLst>
          </a:prstGeom>
          <a:solidFill>
            <a:srgbClr val="E8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4879777" y="5702498"/>
            <a:ext cx="2836545" cy="320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000"/>
              <a:buFont typeface="Fraunces ExtraBold"/>
              <a:buNone/>
            </a:pPr>
            <a:r>
              <a:rPr b="1" i="0" lang="en-US" sz="20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Monitoreo y auditoría</a:t>
            </a:r>
            <a:endParaRPr b="0" i="0" sz="2000" u="none" cap="none" strike="noStrike"/>
          </a:p>
        </p:txBody>
      </p:sp>
      <p:sp>
        <p:nvSpPr>
          <p:cNvPr id="290" name="Google Shape;290;p13"/>
          <p:cNvSpPr/>
          <p:nvPr/>
        </p:nvSpPr>
        <p:spPr>
          <a:xfrm>
            <a:off x="4879777" y="6146244"/>
            <a:ext cx="3341013" cy="1313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600"/>
              <a:buFont typeface="Nobile"/>
              <a:buNone/>
            </a:pPr>
            <a:r>
              <a:rPr b="0" i="0" lang="en-US" sz="160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Implementar soluciones de monitoreo y auditoría para detectar y responder a amenazas de seguridad.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/>
          <p:nvPr/>
        </p:nvSpPr>
        <p:spPr>
          <a:xfrm>
            <a:off x="792361" y="973098"/>
            <a:ext cx="13029367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Herramientas para la integración de sistemas</a:t>
            </a:r>
            <a:endParaRPr b="0" i="0" sz="4450" u="none" cap="none" strike="noStrike"/>
          </a:p>
        </p:txBody>
      </p:sp>
      <p:pic>
        <p:nvPicPr>
          <p:cNvPr descr="preencoded.png" id="297" name="Google Shape;2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361" y="2133362"/>
            <a:ext cx="4122182" cy="25476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4"/>
          <p:cNvSpPr/>
          <p:nvPr/>
        </p:nvSpPr>
        <p:spPr>
          <a:xfrm>
            <a:off x="792361" y="4963954"/>
            <a:ext cx="4122182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Plataformas de integración en la nube</a:t>
            </a:r>
            <a:endParaRPr b="0" i="0" sz="2200" u="none" cap="none" strike="noStrike"/>
          </a:p>
        </p:txBody>
      </p:sp>
      <p:sp>
        <p:nvSpPr>
          <p:cNvPr id="299" name="Google Shape;299;p14"/>
          <p:cNvSpPr/>
          <p:nvPr/>
        </p:nvSpPr>
        <p:spPr>
          <a:xfrm>
            <a:off x="792361" y="5807154"/>
            <a:ext cx="4122182" cy="144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Estas herramientas permiten integrar aplicaciones y servicios de manera ágil y escalable, sin necesidad de infraestructura local.</a:t>
            </a:r>
            <a:endParaRPr b="0" i="0" sz="1750" u="none" cap="none" strike="noStrike"/>
          </a:p>
        </p:txBody>
      </p:sp>
      <p:pic>
        <p:nvPicPr>
          <p:cNvPr descr="preencoded.png" id="300" name="Google Shape;3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109" y="2133362"/>
            <a:ext cx="4122182" cy="254769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/>
          <p:nvPr/>
        </p:nvSpPr>
        <p:spPr>
          <a:xfrm>
            <a:off x="5254109" y="4963954"/>
            <a:ext cx="4122182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Bus de servicios empresariales</a:t>
            </a:r>
            <a:endParaRPr b="0" i="0" sz="2200" u="none" cap="none" strike="noStrike"/>
          </a:p>
        </p:txBody>
      </p:sp>
      <p:sp>
        <p:nvSpPr>
          <p:cNvPr id="302" name="Google Shape;302;p14"/>
          <p:cNvSpPr/>
          <p:nvPr/>
        </p:nvSpPr>
        <p:spPr>
          <a:xfrm>
            <a:off x="5254109" y="5807154"/>
            <a:ext cx="4122182" cy="144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Los ESB facilitan la comunicación y el intercambio de datos entre diferentes sistemas, aplicando patrones de integración.</a:t>
            </a:r>
            <a:endParaRPr b="0" i="0" sz="1750" u="none" cap="none" strike="noStrike"/>
          </a:p>
        </p:txBody>
      </p:sp>
      <p:pic>
        <p:nvPicPr>
          <p:cNvPr descr="preencoded.png" id="303" name="Google Shape;3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857" y="2133362"/>
            <a:ext cx="4122182" cy="254769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4"/>
          <p:cNvSpPr/>
          <p:nvPr/>
        </p:nvSpPr>
        <p:spPr>
          <a:xfrm>
            <a:off x="9715857" y="4963954"/>
            <a:ext cx="4122182" cy="707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2200"/>
              <a:buFont typeface="Fraunces ExtraBold"/>
              <a:buNone/>
            </a:pPr>
            <a:r>
              <a:rPr b="1" i="0" lang="en-US" sz="2200" u="none" cap="none" strike="noStrike">
                <a:solidFill>
                  <a:srgbClr val="405449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Herramientas de gestión de APIs</a:t>
            </a:r>
            <a:endParaRPr b="0" i="0" sz="2200" u="none" cap="none" strike="noStrike"/>
          </a:p>
        </p:txBody>
      </p:sp>
      <p:sp>
        <p:nvSpPr>
          <p:cNvPr id="305" name="Google Shape;305;p14"/>
          <p:cNvSpPr/>
          <p:nvPr/>
        </p:nvSpPr>
        <p:spPr>
          <a:xfrm>
            <a:off x="9715857" y="5807154"/>
            <a:ext cx="4122182" cy="1449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Permiten diseñar, publicar, monitorizar y securizar las APIs que exponen los diferentes servicios de la arquitectura.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1" name="Google Shape;3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7607" y="2520077"/>
            <a:ext cx="4919186" cy="318932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5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4450"/>
              <a:buFont typeface="Fraunces ExtraBold"/>
              <a:buNone/>
            </a:pPr>
            <a:r>
              <a:rPr b="1" i="0" lang="en-US" sz="4450" u="none" cap="none" strike="noStrike">
                <a:solidFill>
                  <a:srgbClr val="3B4540"/>
                </a:solidFill>
                <a:latin typeface="Fraunces ExtraBold"/>
                <a:ea typeface="Fraunces ExtraBold"/>
                <a:cs typeface="Fraunces ExtraBold"/>
                <a:sym typeface="Fraunces ExtraBold"/>
              </a:rPr>
              <a:t>Conclusión y próximos pasos</a:t>
            </a:r>
            <a:endParaRPr b="0" i="0" sz="4450" u="none" cap="none" strike="noStrike"/>
          </a:p>
        </p:txBody>
      </p:sp>
      <p:sp>
        <p:nvSpPr>
          <p:cNvPr id="314" name="Google Shape;314;p15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5449"/>
              </a:buClr>
              <a:buSzPts val="1750"/>
              <a:buFont typeface="Nobile"/>
              <a:buNone/>
            </a:pPr>
            <a:r>
              <a:rPr b="0" i="0" lang="en-US" sz="1750" u="none" cap="none" strike="noStrike">
                <a:solidFill>
                  <a:srgbClr val="405449"/>
                </a:solidFill>
                <a:latin typeface="Nobile"/>
                <a:ea typeface="Nobile"/>
                <a:cs typeface="Nobile"/>
                <a:sym typeface="Nobile"/>
              </a:rPr>
              <a:t>En esta presentación hemos explorado las arquitecturas híbridas y la integración de sistemas en el desarrollo de software. Hemos analizado los beneficios y desafíos de combinar SOA y microservicios, revisado patrones clave de integración y aprendido sobre la arquitectura Serverless.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2024-11-04T03:15:22Z</dcterms:created>
  <dc:creator>PptxGenJS</dc:creator>
</cp:coreProperties>
</file>