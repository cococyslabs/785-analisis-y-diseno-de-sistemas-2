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8229600" cx="14630400"/>
  <p:notesSz cx="8229600" cy="14630400"/>
  <p:embeddedFontLst>
    <p:embeddedFont>
      <p:font typeface="Inter"/>
      <p:bold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goMrcks2eL16B4ph106hQGrzu34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B958DAA-AF71-4FC2-BE05-32EAC2008179}">
  <a:tblStyle styleId="{FB958DAA-AF71-4FC2-BE05-32EAC200817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Inter-bold.fnt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Inter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d52a3bd1c7_0_0:notes"/>
          <p:cNvSpPr/>
          <p:nvPr>
            <p:ph idx="2" type="sldImg"/>
          </p:nvPr>
        </p:nvSpPr>
        <p:spPr>
          <a:xfrm>
            <a:off x="457560" y="1097280"/>
            <a:ext cx="73152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g2d52a3bd1c7_0_0:notes"/>
          <p:cNvSpPr txBox="1"/>
          <p:nvPr>
            <p:ph idx="1" type="body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bg>
      <p:bgPr>
        <a:solidFill>
          <a:srgbClr val="000000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bg>
      <p:bgPr>
        <a:solidFill>
          <a:srgbClr val="000000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bg>
      <p:bgPr>
        <a:solidFill>
          <a:srgbClr val="000000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4 master">
  <p:cSld name="Slide 14 master">
    <p:bg>
      <p:bgPr>
        <a:solidFill>
          <a:srgbClr val="000000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5 master">
  <p:cSld name="Slide 15 master">
    <p:bg>
      <p:bgPr>
        <a:solidFill>
          <a:srgbClr val="000000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52a3bd1c7_0_58"/>
          <p:cNvSpPr txBox="1"/>
          <p:nvPr>
            <p:ph type="title"/>
          </p:nvPr>
        </p:nvSpPr>
        <p:spPr>
          <a:xfrm>
            <a:off x="498720" y="712040"/>
            <a:ext cx="136329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9pPr>
          </a:lstStyle>
          <a:p/>
        </p:txBody>
      </p:sp>
      <p:sp>
        <p:nvSpPr>
          <p:cNvPr id="58" name="Google Shape;58;g2d52a3bd1c7_0_58"/>
          <p:cNvSpPr txBox="1"/>
          <p:nvPr>
            <p:ph idx="1" type="body"/>
          </p:nvPr>
        </p:nvSpPr>
        <p:spPr>
          <a:xfrm>
            <a:off x="498720" y="1843960"/>
            <a:ext cx="13632900" cy="54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412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  <a:defRPr sz="1100"/>
            </a:lvl1pPr>
            <a:lvl2pPr indent="-3683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1100"/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1100"/>
            </a:lvl3pPr>
            <a:lvl4pPr indent="-3683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1100"/>
            </a:lvl4pPr>
            <a:lvl5pPr indent="-3683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1100"/>
            </a:lvl5pPr>
            <a:lvl6pPr indent="-3683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1100"/>
            </a:lvl6pPr>
            <a:lvl7pPr indent="-3683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1100"/>
            </a:lvl7pPr>
            <a:lvl8pPr indent="-3683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1100"/>
            </a:lvl8pPr>
            <a:lvl9pPr indent="-3683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1100"/>
            </a:lvl9pPr>
          </a:lstStyle>
          <a:p/>
        </p:txBody>
      </p:sp>
      <p:sp>
        <p:nvSpPr>
          <p:cNvPr id="59" name="Google Shape;59;g2d52a3bd1c7_0_58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5" Type="http://schemas.openxmlformats.org/officeDocument/2006/relationships/image" Target="../media/image16.png"/><Relationship Id="rId6" Type="http://schemas.openxmlformats.org/officeDocument/2006/relationships/image" Target="../media/image5.png"/><Relationship Id="rId7" Type="http://schemas.openxmlformats.org/officeDocument/2006/relationships/image" Target="../media/image8.png"/><Relationship Id="rId8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12.png"/><Relationship Id="rId5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Relationship Id="rId4" Type="http://schemas.openxmlformats.org/officeDocument/2006/relationships/image" Target="../media/image2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Relationship Id="rId4" Type="http://schemas.openxmlformats.org/officeDocument/2006/relationships/image" Target="../media/image2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Relationship Id="rId4" Type="http://schemas.openxmlformats.org/officeDocument/2006/relationships/image" Target="../media/image3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g2d52a3bd1c7_0_0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3522" y="0"/>
            <a:ext cx="14603357" cy="82296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5" name="Google Shape;65;g2d52a3bd1c7_0_0"/>
          <p:cNvGraphicFramePr/>
          <p:nvPr/>
        </p:nvGraphicFramePr>
        <p:xfrm>
          <a:off x="8525120" y="1552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{FB958DAA-AF71-4FC2-BE05-32EAC2008179}</a:tableStyleId>
              </a:tblPr>
              <a:tblGrid>
                <a:gridCol w="2429125"/>
                <a:gridCol w="3475800"/>
              </a:tblGrid>
              <a:tr h="515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b="1" sz="2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46275" marB="146275" marR="146275" marL="1462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/>
                        <a:t>Día, xx/xx/2025 </a:t>
                      </a:r>
                      <a:endParaRPr sz="2200" u="none" cap="none" strike="noStrike"/>
                    </a:p>
                  </a:txBody>
                  <a:tcPr marT="146275" marB="146275" marR="146275" marL="146275"/>
                </a:tc>
              </a:tr>
              <a:tr h="58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2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46275" marB="146275" marR="146275" marL="1462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/>
                        <a:t>xx:xx</a:t>
                      </a:r>
                      <a:endParaRPr sz="2200" u="none" cap="none" strike="noStrike"/>
                    </a:p>
                  </a:txBody>
                  <a:tcPr marT="146275" marB="146275" marR="146275" marL="146275"/>
                </a:tc>
              </a:tr>
            </a:tbl>
          </a:graphicData>
        </a:graphic>
      </p:graphicFrame>
      <p:sp>
        <p:nvSpPr>
          <p:cNvPr id="66" name="Google Shape;66;g2d52a3bd1c7_0_0"/>
          <p:cNvSpPr txBox="1"/>
          <p:nvPr/>
        </p:nvSpPr>
        <p:spPr>
          <a:xfrm>
            <a:off x="2304280" y="3613280"/>
            <a:ext cx="10867200" cy="9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/>
              <a:t>Análisis y Diseño de Sistemas 2 </a:t>
            </a: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4000"/>
              <a:t>SECCIÓN</a:t>
            </a: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g2d52a3bd1c7_0_0"/>
          <p:cNvSpPr txBox="1"/>
          <p:nvPr/>
        </p:nvSpPr>
        <p:spPr>
          <a:xfrm>
            <a:off x="2845920" y="4641200"/>
            <a:ext cx="8938500" cy="7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/>
              <a:t>Estudiante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3" name="Google Shape;7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4" name="Google Shape;7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27488" y="2438043"/>
            <a:ext cx="4919305" cy="335339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"/>
          <p:cNvSpPr/>
          <p:nvPr/>
        </p:nvSpPr>
        <p:spPr>
          <a:xfrm>
            <a:off x="793790" y="2510076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Arquitectura de software: conceptos clave</a:t>
            </a:r>
            <a:endParaRPr b="0" i="0" sz="4450" u="none" cap="none" strike="noStrike"/>
          </a:p>
        </p:txBody>
      </p:sp>
      <p:sp>
        <p:nvSpPr>
          <p:cNvPr id="76" name="Google Shape;76;p1"/>
          <p:cNvSpPr/>
          <p:nvPr/>
        </p:nvSpPr>
        <p:spPr>
          <a:xfrm>
            <a:off x="793790" y="4267795"/>
            <a:ext cx="7556421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La arquitectura de software es fundamental para el diseño y desarrollo de sistemas informáticos eficientes y escalables. Abarca principios, patrones y estilos que guían la estructuración de un sistema, enfocándose en aspectos como rendimiento, seguridad y mantenibilidad.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2" name="Google Shape;8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8352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3" name="Google Shape;8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953" y="283488"/>
            <a:ext cx="3198376" cy="226826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"/>
          <p:cNvSpPr/>
          <p:nvPr/>
        </p:nvSpPr>
        <p:spPr>
          <a:xfrm>
            <a:off x="793801" y="3462825"/>
            <a:ext cx="115629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Categorías de arquitecturas de software</a:t>
            </a:r>
            <a:endParaRPr b="0" i="0" sz="4450" u="none" cap="none" strike="noStrike"/>
          </a:p>
        </p:txBody>
      </p:sp>
      <p:pic>
        <p:nvPicPr>
          <p:cNvPr descr="preencoded.png" id="85" name="Google Shape;85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790" y="4511754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2"/>
          <p:cNvSpPr/>
          <p:nvPr/>
        </p:nvSpPr>
        <p:spPr>
          <a:xfrm>
            <a:off x="793790" y="5305544"/>
            <a:ext cx="3005495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Arquitectura monolítica</a:t>
            </a:r>
            <a:endParaRPr b="0" i="0" sz="2200" u="none" cap="none" strike="noStrike"/>
          </a:p>
        </p:txBody>
      </p:sp>
      <p:sp>
        <p:nvSpPr>
          <p:cNvPr id="87" name="Google Shape;87;p2"/>
          <p:cNvSpPr/>
          <p:nvPr/>
        </p:nvSpPr>
        <p:spPr>
          <a:xfrm>
            <a:off x="793790" y="6150293"/>
            <a:ext cx="3005495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Una sola aplicación integrada que contiene todos los componentes de software.</a:t>
            </a:r>
            <a:endParaRPr b="0" i="0" sz="1750" u="none" cap="none" strike="noStrike"/>
          </a:p>
        </p:txBody>
      </p:sp>
      <p:pic>
        <p:nvPicPr>
          <p:cNvPr descr="preencoded.png" id="88" name="Google Shape;88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39446" y="4511754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2"/>
          <p:cNvSpPr/>
          <p:nvPr/>
        </p:nvSpPr>
        <p:spPr>
          <a:xfrm>
            <a:off x="4139446" y="530554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Arquitectura modular</a:t>
            </a:r>
            <a:endParaRPr b="0" i="0" sz="2200" u="none" cap="none" strike="noStrike"/>
          </a:p>
        </p:txBody>
      </p:sp>
      <p:sp>
        <p:nvSpPr>
          <p:cNvPr id="90" name="Google Shape;90;p2"/>
          <p:cNvSpPr/>
          <p:nvPr/>
        </p:nvSpPr>
        <p:spPr>
          <a:xfrm>
            <a:off x="4139446" y="5795963"/>
            <a:ext cx="3005614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Divide la aplicación en módulos o componentes más pequeños e independientes.</a:t>
            </a:r>
            <a:endParaRPr b="0" i="0" sz="1750" u="none" cap="none" strike="noStrike"/>
          </a:p>
        </p:txBody>
      </p:sp>
      <p:pic>
        <p:nvPicPr>
          <p:cNvPr descr="preencoded.png" id="91" name="Google Shape;91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85221" y="4511754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"/>
          <p:cNvSpPr/>
          <p:nvPr/>
        </p:nvSpPr>
        <p:spPr>
          <a:xfrm>
            <a:off x="7485221" y="5305544"/>
            <a:ext cx="3005614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Arquitectura distribuida</a:t>
            </a:r>
            <a:endParaRPr b="0" i="0" sz="2200" u="none" cap="none" strike="noStrike"/>
          </a:p>
        </p:txBody>
      </p:sp>
      <p:sp>
        <p:nvSpPr>
          <p:cNvPr id="93" name="Google Shape;93;p2"/>
          <p:cNvSpPr/>
          <p:nvPr/>
        </p:nvSpPr>
        <p:spPr>
          <a:xfrm>
            <a:off x="7485221" y="6150293"/>
            <a:ext cx="3005614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Los componentes de la aplicación se despliegan en diferentes servidores o sistemas.</a:t>
            </a:r>
            <a:endParaRPr b="0" i="0" sz="1750" u="none" cap="none" strike="noStrike"/>
          </a:p>
        </p:txBody>
      </p:sp>
      <p:pic>
        <p:nvPicPr>
          <p:cNvPr descr="preencoded.png" id="94" name="Google Shape;94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830997" y="4511754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"/>
          <p:cNvSpPr/>
          <p:nvPr/>
        </p:nvSpPr>
        <p:spPr>
          <a:xfrm>
            <a:off x="10830997" y="5305544"/>
            <a:ext cx="3005614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Arquitectura de microservicios</a:t>
            </a:r>
            <a:endParaRPr b="0" i="0" sz="2200" u="none" cap="none" strike="noStrike"/>
          </a:p>
        </p:txBody>
      </p:sp>
      <p:sp>
        <p:nvSpPr>
          <p:cNvPr id="96" name="Google Shape;96;p2"/>
          <p:cNvSpPr/>
          <p:nvPr/>
        </p:nvSpPr>
        <p:spPr>
          <a:xfrm>
            <a:off x="10830997" y="6150293"/>
            <a:ext cx="3005614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Una variante de la arquitectura distribuida donde cada servicio es independiente.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2" name="Google Shape;10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3" name="Google Shape;10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97603" y="2276594"/>
            <a:ext cx="4979075" cy="3676293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3"/>
          <p:cNvSpPr/>
          <p:nvPr/>
        </p:nvSpPr>
        <p:spPr>
          <a:xfrm>
            <a:off x="710089" y="941308"/>
            <a:ext cx="7723823" cy="1268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50"/>
              <a:buFont typeface="Inter"/>
              <a:buNone/>
            </a:pPr>
            <a:r>
              <a:rPr b="1" i="0" lang="en-US" sz="3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Clasificación general de arquitecturas</a:t>
            </a:r>
            <a:endParaRPr b="0" i="0" sz="3950" u="none" cap="none" strike="noStrike"/>
          </a:p>
        </p:txBody>
      </p:sp>
      <p:sp>
        <p:nvSpPr>
          <p:cNvPr id="105" name="Google Shape;105;p3"/>
          <p:cNvSpPr/>
          <p:nvPr/>
        </p:nvSpPr>
        <p:spPr>
          <a:xfrm>
            <a:off x="710089" y="2741890"/>
            <a:ext cx="456486" cy="456486"/>
          </a:xfrm>
          <a:prstGeom prst="roundRect">
            <a:avLst>
              <a:gd fmla="val 18668" name="adj"/>
            </a:avLst>
          </a:prstGeom>
          <a:solidFill>
            <a:srgbClr val="110080"/>
          </a:solidFill>
          <a:ln cap="flat" cmpd="sng" w="9525">
            <a:solidFill>
              <a:srgbClr val="2A1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877253" y="2817971"/>
            <a:ext cx="122158" cy="304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350"/>
              <a:buFont typeface="Inter"/>
              <a:buNone/>
            </a:pPr>
            <a:r>
              <a:rPr b="1" i="0" lang="en-US" sz="23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2350" u="none" cap="none" strike="noStrike"/>
          </a:p>
        </p:txBody>
      </p:sp>
      <p:sp>
        <p:nvSpPr>
          <p:cNvPr id="107" name="Google Shape;107;p3"/>
          <p:cNvSpPr/>
          <p:nvPr/>
        </p:nvSpPr>
        <p:spPr>
          <a:xfrm>
            <a:off x="1369449" y="2741900"/>
            <a:ext cx="31011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950"/>
              <a:buFont typeface="Inter"/>
              <a:buNone/>
            </a:pPr>
            <a:r>
              <a:rPr b="1" i="0" lang="en-US" sz="19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Arquitectura Monolítica</a:t>
            </a:r>
            <a:endParaRPr b="0" i="0" sz="1950" u="none" cap="none" strike="noStrike"/>
          </a:p>
        </p:txBody>
      </p:sp>
      <p:sp>
        <p:nvSpPr>
          <p:cNvPr id="108" name="Google Shape;108;p3"/>
          <p:cNvSpPr/>
          <p:nvPr/>
        </p:nvSpPr>
        <p:spPr>
          <a:xfrm>
            <a:off x="1369457" y="3180517"/>
            <a:ext cx="3101102" cy="12982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516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Una aplicación integrada en una sola unidad de despliegue. Fácil de desarrollar pero con dificultades de escalabilidad.</a:t>
            </a:r>
            <a:endParaRPr b="0" i="0" sz="1550" u="none" cap="none" strike="noStrike"/>
          </a:p>
        </p:txBody>
      </p:sp>
      <p:sp>
        <p:nvSpPr>
          <p:cNvPr id="109" name="Google Shape;109;p3"/>
          <p:cNvSpPr/>
          <p:nvPr/>
        </p:nvSpPr>
        <p:spPr>
          <a:xfrm>
            <a:off x="4673441" y="2741890"/>
            <a:ext cx="456486" cy="456486"/>
          </a:xfrm>
          <a:prstGeom prst="roundRect">
            <a:avLst>
              <a:gd fmla="val 18668" name="adj"/>
            </a:avLst>
          </a:prstGeom>
          <a:solidFill>
            <a:srgbClr val="110080"/>
          </a:solidFill>
          <a:ln cap="flat" cmpd="sng" w="9525">
            <a:solidFill>
              <a:srgbClr val="2A1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4810363" y="2817971"/>
            <a:ext cx="182642" cy="304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350"/>
              <a:buFont typeface="Inter"/>
              <a:buNone/>
            </a:pPr>
            <a:r>
              <a:rPr b="1" i="0" lang="en-US" sz="23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2350" u="none" cap="none" strike="noStrike"/>
          </a:p>
        </p:txBody>
      </p:sp>
      <p:sp>
        <p:nvSpPr>
          <p:cNvPr id="111" name="Google Shape;111;p3"/>
          <p:cNvSpPr/>
          <p:nvPr/>
        </p:nvSpPr>
        <p:spPr>
          <a:xfrm>
            <a:off x="5332798" y="2741900"/>
            <a:ext cx="31011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950"/>
              <a:buFont typeface="Inter"/>
              <a:buNone/>
            </a:pPr>
            <a:r>
              <a:rPr b="1" i="0" lang="en-US" sz="19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Arquitectura Modular</a:t>
            </a:r>
            <a:endParaRPr b="0" i="0" sz="1950" u="none" cap="none" strike="noStrike"/>
          </a:p>
        </p:txBody>
      </p:sp>
      <p:sp>
        <p:nvSpPr>
          <p:cNvPr id="112" name="Google Shape;112;p3"/>
          <p:cNvSpPr/>
          <p:nvPr/>
        </p:nvSpPr>
        <p:spPr>
          <a:xfrm>
            <a:off x="5332809" y="3180517"/>
            <a:ext cx="3101102" cy="12982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516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Divide la aplicación en múltiples módulos o componentes independientes. Mejora la flexibilidad y mantenibilidad.</a:t>
            </a:r>
            <a:endParaRPr b="0" i="0" sz="1550" u="none" cap="none" strike="noStrike"/>
          </a:p>
        </p:txBody>
      </p:sp>
      <p:sp>
        <p:nvSpPr>
          <p:cNvPr id="113" name="Google Shape;113;p3"/>
          <p:cNvSpPr/>
          <p:nvPr/>
        </p:nvSpPr>
        <p:spPr>
          <a:xfrm>
            <a:off x="710089" y="4909899"/>
            <a:ext cx="456486" cy="456486"/>
          </a:xfrm>
          <a:prstGeom prst="roundRect">
            <a:avLst>
              <a:gd fmla="val 18668" name="adj"/>
            </a:avLst>
          </a:prstGeom>
          <a:solidFill>
            <a:srgbClr val="110080"/>
          </a:solidFill>
          <a:ln cap="flat" cmpd="sng" w="9525">
            <a:solidFill>
              <a:srgbClr val="2A1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"/>
          <p:cNvSpPr/>
          <p:nvPr/>
        </p:nvSpPr>
        <p:spPr>
          <a:xfrm>
            <a:off x="844629" y="4985980"/>
            <a:ext cx="187404" cy="304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350"/>
              <a:buFont typeface="Inter"/>
              <a:buNone/>
            </a:pPr>
            <a:r>
              <a:rPr b="1" i="0" lang="en-US" sz="23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2350" u="none" cap="none" strike="noStrike"/>
          </a:p>
        </p:txBody>
      </p:sp>
      <p:sp>
        <p:nvSpPr>
          <p:cNvPr id="115" name="Google Shape;115;p3"/>
          <p:cNvSpPr/>
          <p:nvPr/>
        </p:nvSpPr>
        <p:spPr>
          <a:xfrm>
            <a:off x="1369457" y="4909899"/>
            <a:ext cx="3101102" cy="6338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950"/>
              <a:buFont typeface="Inter"/>
              <a:buNone/>
            </a:pPr>
            <a:r>
              <a:rPr b="1" i="0" lang="en-US" sz="19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Arquitectura Orientada a Servicios (SOA)</a:t>
            </a:r>
            <a:endParaRPr b="0" i="0" sz="1950" u="none" cap="none" strike="noStrike"/>
          </a:p>
        </p:txBody>
      </p:sp>
      <p:sp>
        <p:nvSpPr>
          <p:cNvPr id="116" name="Google Shape;116;p3"/>
          <p:cNvSpPr/>
          <p:nvPr/>
        </p:nvSpPr>
        <p:spPr>
          <a:xfrm>
            <a:off x="1369457" y="5665470"/>
            <a:ext cx="3101102" cy="12982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516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Basada en servicios autónomos e interoperables. Favorece la reutilización y escalabilidad de la aplicación.</a:t>
            </a:r>
            <a:endParaRPr b="0" i="0" sz="1550" u="none" cap="none" strike="noStrike"/>
          </a:p>
        </p:txBody>
      </p:sp>
      <p:sp>
        <p:nvSpPr>
          <p:cNvPr id="117" name="Google Shape;117;p3"/>
          <p:cNvSpPr/>
          <p:nvPr/>
        </p:nvSpPr>
        <p:spPr>
          <a:xfrm>
            <a:off x="4673441" y="4909899"/>
            <a:ext cx="456486" cy="456486"/>
          </a:xfrm>
          <a:prstGeom prst="roundRect">
            <a:avLst>
              <a:gd fmla="val 18668" name="adj"/>
            </a:avLst>
          </a:prstGeom>
          <a:solidFill>
            <a:srgbClr val="110080"/>
          </a:solidFill>
          <a:ln cap="flat" cmpd="sng" w="9525">
            <a:solidFill>
              <a:srgbClr val="2A1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"/>
          <p:cNvSpPr/>
          <p:nvPr/>
        </p:nvSpPr>
        <p:spPr>
          <a:xfrm>
            <a:off x="4803338" y="4985980"/>
            <a:ext cx="196691" cy="304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350"/>
              <a:buFont typeface="Inter"/>
              <a:buNone/>
            </a:pPr>
            <a:r>
              <a:rPr b="1" i="0" lang="en-US" sz="23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2350" u="none" cap="none" strike="noStrike"/>
          </a:p>
        </p:txBody>
      </p:sp>
      <p:sp>
        <p:nvSpPr>
          <p:cNvPr id="119" name="Google Shape;119;p3"/>
          <p:cNvSpPr/>
          <p:nvPr/>
        </p:nvSpPr>
        <p:spPr>
          <a:xfrm>
            <a:off x="5332809" y="4909899"/>
            <a:ext cx="3101102" cy="6338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950"/>
              <a:buFont typeface="Inter"/>
              <a:buNone/>
            </a:pPr>
            <a:r>
              <a:rPr b="1" i="0" lang="en-US" sz="19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Arquitectura Microservicios</a:t>
            </a:r>
            <a:endParaRPr b="0" i="0" sz="1950" u="none" cap="none" strike="noStrike"/>
          </a:p>
        </p:txBody>
      </p:sp>
      <p:sp>
        <p:nvSpPr>
          <p:cNvPr id="120" name="Google Shape;120;p3"/>
          <p:cNvSpPr/>
          <p:nvPr/>
        </p:nvSpPr>
        <p:spPr>
          <a:xfrm>
            <a:off x="5332809" y="5665470"/>
            <a:ext cx="3101102" cy="1622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516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Implementa funcionalidades como pequeños servicios independientes. Mejora la flexibilidad y facilidad de despliegue.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6" name="Google Shape;12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7" name="Google Shape;12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5389" y="2717483"/>
            <a:ext cx="4975503" cy="279463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4"/>
          <p:cNvSpPr/>
          <p:nvPr/>
        </p:nvSpPr>
        <p:spPr>
          <a:xfrm>
            <a:off x="6201489" y="884634"/>
            <a:ext cx="7713821" cy="12768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Inter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Objetivos clave de la arquitectura de software</a:t>
            </a:r>
            <a:endParaRPr b="0" i="0" sz="4000" u="none" cap="none" strike="noStrike"/>
          </a:p>
        </p:txBody>
      </p:sp>
      <p:sp>
        <p:nvSpPr>
          <p:cNvPr id="129" name="Google Shape;129;p4"/>
          <p:cNvSpPr/>
          <p:nvPr/>
        </p:nvSpPr>
        <p:spPr>
          <a:xfrm>
            <a:off x="6201489" y="2467928"/>
            <a:ext cx="3754755" cy="2172891"/>
          </a:xfrm>
          <a:prstGeom prst="roundRect">
            <a:avLst>
              <a:gd fmla="val 3949" name="adj"/>
            </a:avLst>
          </a:prstGeom>
          <a:solidFill>
            <a:srgbClr val="110080"/>
          </a:solidFill>
          <a:ln cap="flat" cmpd="sng" w="9525">
            <a:solidFill>
              <a:srgbClr val="2A1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6413425" y="2679850"/>
            <a:ext cx="33309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000"/>
              <a:buFont typeface="Inter"/>
              <a:buNone/>
            </a:pPr>
            <a:r>
              <a:rPr b="1" i="0" lang="en-US" sz="20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Facilitar el Mantenimiento</a:t>
            </a:r>
            <a:endParaRPr b="0" i="0" sz="2000" u="none" cap="none" strike="noStrike"/>
          </a:p>
        </p:txBody>
      </p:sp>
      <p:sp>
        <p:nvSpPr>
          <p:cNvPr id="131" name="Google Shape;131;p4"/>
          <p:cNvSpPr/>
          <p:nvPr/>
        </p:nvSpPr>
        <p:spPr>
          <a:xfrm>
            <a:off x="6413421" y="3121581"/>
            <a:ext cx="3330893" cy="1307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Una buena arquitectura de software debe permitir modificaciones y actualizaciones del sistema de manera eficiente y efectiva.</a:t>
            </a:r>
            <a:endParaRPr b="0" i="0" sz="1600" u="none" cap="none" strike="noStrike"/>
          </a:p>
        </p:txBody>
      </p:sp>
      <p:sp>
        <p:nvSpPr>
          <p:cNvPr id="132" name="Google Shape;132;p4"/>
          <p:cNvSpPr/>
          <p:nvPr/>
        </p:nvSpPr>
        <p:spPr>
          <a:xfrm>
            <a:off x="10160556" y="2467928"/>
            <a:ext cx="3754755" cy="2172891"/>
          </a:xfrm>
          <a:prstGeom prst="roundRect">
            <a:avLst>
              <a:gd fmla="val 3949" name="adj"/>
            </a:avLst>
          </a:prstGeom>
          <a:solidFill>
            <a:srgbClr val="110080"/>
          </a:solidFill>
          <a:ln cap="flat" cmpd="sng" w="9525">
            <a:solidFill>
              <a:srgbClr val="2A1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10372473" y="2679850"/>
            <a:ext cx="33309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000"/>
              <a:buFont typeface="Inter"/>
              <a:buNone/>
            </a:pPr>
            <a:r>
              <a:rPr b="1" i="0" lang="en-US" sz="20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Mejorar la Escalabilidad</a:t>
            </a:r>
            <a:endParaRPr b="0" i="0" sz="2000" u="none" cap="none" strike="noStrike"/>
          </a:p>
        </p:txBody>
      </p:sp>
      <p:sp>
        <p:nvSpPr>
          <p:cNvPr id="134" name="Google Shape;134;p4"/>
          <p:cNvSpPr/>
          <p:nvPr/>
        </p:nvSpPr>
        <p:spPr>
          <a:xfrm>
            <a:off x="10372487" y="3121581"/>
            <a:ext cx="3330893" cy="1307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La arquitectura debe permitir el crecimiento y expansión del sistema a medida que aumentan las necesidades del negocio.</a:t>
            </a:r>
            <a:endParaRPr b="0" i="0" sz="1600" u="none" cap="none" strike="noStrike"/>
          </a:p>
        </p:txBody>
      </p:sp>
      <p:sp>
        <p:nvSpPr>
          <p:cNvPr id="135" name="Google Shape;135;p4"/>
          <p:cNvSpPr/>
          <p:nvPr/>
        </p:nvSpPr>
        <p:spPr>
          <a:xfrm>
            <a:off x="6201489" y="4845129"/>
            <a:ext cx="3754755" cy="2499717"/>
          </a:xfrm>
          <a:prstGeom prst="roundRect">
            <a:avLst>
              <a:gd fmla="val 3433" name="adj"/>
            </a:avLst>
          </a:prstGeom>
          <a:solidFill>
            <a:srgbClr val="110080"/>
          </a:solidFill>
          <a:ln cap="flat" cmpd="sng" w="9525">
            <a:solidFill>
              <a:srgbClr val="2A1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6413426" y="5057050"/>
            <a:ext cx="33309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000"/>
              <a:buFont typeface="Inter"/>
              <a:buNone/>
            </a:pPr>
            <a:r>
              <a:rPr b="1" i="0" lang="en-US" sz="20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Garantizar la Seguridad</a:t>
            </a:r>
            <a:endParaRPr b="0" i="0" sz="2000" u="none" cap="none" strike="noStrike"/>
          </a:p>
        </p:txBody>
      </p:sp>
      <p:sp>
        <p:nvSpPr>
          <p:cNvPr id="137" name="Google Shape;137;p4"/>
          <p:cNvSpPr/>
          <p:nvPr/>
        </p:nvSpPr>
        <p:spPr>
          <a:xfrm>
            <a:off x="6413421" y="5498783"/>
            <a:ext cx="3330893" cy="16341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Los requisitos de seguridad deben estar integrados desde el diseño de la arquitectura para proteger la integridad y confidencialidad de los datos.</a:t>
            </a:r>
            <a:endParaRPr b="0" i="0" sz="1600" u="none" cap="none" strike="noStrike"/>
          </a:p>
        </p:txBody>
      </p:sp>
      <p:sp>
        <p:nvSpPr>
          <p:cNvPr id="138" name="Google Shape;138;p4"/>
          <p:cNvSpPr/>
          <p:nvPr/>
        </p:nvSpPr>
        <p:spPr>
          <a:xfrm>
            <a:off x="10160556" y="4845129"/>
            <a:ext cx="3754755" cy="2499717"/>
          </a:xfrm>
          <a:prstGeom prst="roundRect">
            <a:avLst>
              <a:gd fmla="val 3433" name="adj"/>
            </a:avLst>
          </a:prstGeom>
          <a:solidFill>
            <a:srgbClr val="110080"/>
          </a:solidFill>
          <a:ln cap="flat" cmpd="sng" w="9525">
            <a:solidFill>
              <a:srgbClr val="2A1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"/>
          <p:cNvSpPr/>
          <p:nvPr/>
        </p:nvSpPr>
        <p:spPr>
          <a:xfrm>
            <a:off x="10372472" y="5057050"/>
            <a:ext cx="33309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000"/>
              <a:buFont typeface="Inter"/>
              <a:buNone/>
            </a:pPr>
            <a:r>
              <a:rPr b="1" i="0" lang="en-US" sz="20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Aumentar la Eficiencia</a:t>
            </a:r>
            <a:endParaRPr b="0" i="0" sz="2000" u="none" cap="none" strike="noStrike"/>
          </a:p>
        </p:txBody>
      </p:sp>
      <p:sp>
        <p:nvSpPr>
          <p:cNvPr id="140" name="Google Shape;140;p4"/>
          <p:cNvSpPr/>
          <p:nvPr/>
        </p:nvSpPr>
        <p:spPr>
          <a:xfrm>
            <a:off x="10372487" y="5498783"/>
            <a:ext cx="3330893" cy="1307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Una arquitectura óptima debe maximizar el rendimiento y minimizar el consumo de recursos del sistema.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"/>
          <p:cNvSpPr/>
          <p:nvPr/>
        </p:nvSpPr>
        <p:spPr>
          <a:xfrm>
            <a:off x="793801" y="965950"/>
            <a:ext cx="121197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Beneficios de una arquitectura por capas</a:t>
            </a:r>
            <a:endParaRPr b="0" i="0" sz="4450" u="none" cap="none" strike="noStrike"/>
          </a:p>
        </p:txBody>
      </p:sp>
      <p:pic>
        <p:nvPicPr>
          <p:cNvPr descr="preencoded.png" id="147" name="Google Shape;14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128361"/>
            <a:ext cx="4120753" cy="2546747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5"/>
          <p:cNvSpPr/>
          <p:nvPr/>
        </p:nvSpPr>
        <p:spPr>
          <a:xfrm>
            <a:off x="793790" y="495859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Modularidad</a:t>
            </a:r>
            <a:endParaRPr b="0" i="0" sz="2200" u="none" cap="none" strike="noStrike"/>
          </a:p>
        </p:txBody>
      </p:sp>
      <p:sp>
        <p:nvSpPr>
          <p:cNvPr id="149" name="Google Shape;149;p5"/>
          <p:cNvSpPr/>
          <p:nvPr/>
        </p:nvSpPr>
        <p:spPr>
          <a:xfrm>
            <a:off x="793790" y="5449014"/>
            <a:ext cx="4120753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La arquitectura por capas permite separar los diferentes componentes y funciones del sistema, lo que facilita el mantenimiento y la actualización de cada capa de manera independiente.</a:t>
            </a:r>
            <a:endParaRPr b="0" i="0" sz="1750" u="none" cap="none" strike="noStrike"/>
          </a:p>
        </p:txBody>
      </p:sp>
      <p:pic>
        <p:nvPicPr>
          <p:cNvPr descr="preencoded.png" id="150" name="Google Shape;15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54704" y="2128361"/>
            <a:ext cx="4120872" cy="2546866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5"/>
          <p:cNvSpPr/>
          <p:nvPr/>
        </p:nvSpPr>
        <p:spPr>
          <a:xfrm>
            <a:off x="5254704" y="495871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Escalabilidad</a:t>
            </a:r>
            <a:endParaRPr b="0" i="0" sz="2200" u="none" cap="none" strike="noStrike"/>
          </a:p>
        </p:txBody>
      </p:sp>
      <p:sp>
        <p:nvSpPr>
          <p:cNvPr id="152" name="Google Shape;152;p5"/>
          <p:cNvSpPr/>
          <p:nvPr/>
        </p:nvSpPr>
        <p:spPr>
          <a:xfrm>
            <a:off x="5254704" y="5449133"/>
            <a:ext cx="4120872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Al tener una estructura modular, es más sencillo escalar el sistema agregando o modificando sólo las capas necesarias, sin afectar al resto del sistema.</a:t>
            </a:r>
            <a:endParaRPr b="0" i="0" sz="1750" u="none" cap="none" strike="noStrike"/>
          </a:p>
        </p:txBody>
      </p:sp>
      <p:pic>
        <p:nvPicPr>
          <p:cNvPr descr="preencoded.png" id="153" name="Google Shape;15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15738" y="2128361"/>
            <a:ext cx="4120753" cy="2546747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5"/>
          <p:cNvSpPr/>
          <p:nvPr/>
        </p:nvSpPr>
        <p:spPr>
          <a:xfrm>
            <a:off x="9715738" y="495859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Reutilización</a:t>
            </a:r>
            <a:endParaRPr b="0" i="0" sz="2200" u="none" cap="none" strike="noStrike"/>
          </a:p>
        </p:txBody>
      </p:sp>
      <p:sp>
        <p:nvSpPr>
          <p:cNvPr id="155" name="Google Shape;155;p5"/>
          <p:cNvSpPr/>
          <p:nvPr/>
        </p:nvSpPr>
        <p:spPr>
          <a:xfrm>
            <a:off x="9715738" y="5449014"/>
            <a:ext cx="4120753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La separación de responsabilidades por capas permite reutilizar componentes en diferentes partes del sistema, aumentando la eficiencia y reduciendo costos.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1" name="Google Shape;16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2" name="Google Shape;16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27488" y="2731175"/>
            <a:ext cx="4919305" cy="276713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6"/>
          <p:cNvSpPr/>
          <p:nvPr/>
        </p:nvSpPr>
        <p:spPr>
          <a:xfrm>
            <a:off x="793790" y="1656755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Ejemplos de arquitectura por capas</a:t>
            </a:r>
            <a:endParaRPr b="0" i="0" sz="4450" u="none" cap="none" strike="noStrike"/>
          </a:p>
        </p:txBody>
      </p:sp>
      <p:sp>
        <p:nvSpPr>
          <p:cNvPr id="164" name="Google Shape;164;p6"/>
          <p:cNvSpPr/>
          <p:nvPr/>
        </p:nvSpPr>
        <p:spPr>
          <a:xfrm>
            <a:off x="793790" y="3414474"/>
            <a:ext cx="7556421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La arquitectura por capas es una de las estructuras de software más comunes y utilizadas. Permite separar las responsabilidades en diferentes niveles lógicos, mejorando la modularidad, escalabilidad y mantenibilidad del sistema.</a:t>
            </a:r>
            <a:endParaRPr b="0" i="0" sz="1750" u="none" cap="none" strike="noStrike"/>
          </a:p>
        </p:txBody>
      </p:sp>
      <p:sp>
        <p:nvSpPr>
          <p:cNvPr id="165" name="Google Shape;165;p6"/>
          <p:cNvSpPr/>
          <p:nvPr/>
        </p:nvSpPr>
        <p:spPr>
          <a:xfrm>
            <a:off x="793790" y="5121235"/>
            <a:ext cx="7556421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Algunos ejemplos típicos incluyen la arquitectura de aplicaciones web con capa de presentación, lógica de negocio y acceso a datos, o la arquitectura de sistemas de información empresariales con capa de interfaz de usuario, servicios de negocio y gestión de datos.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"/>
          <p:cNvSpPr/>
          <p:nvPr/>
        </p:nvSpPr>
        <p:spPr>
          <a:xfrm>
            <a:off x="793801" y="1818450"/>
            <a:ext cx="120324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Conceptos de la arquitectura 4 + 1 vistas</a:t>
            </a:r>
            <a:endParaRPr b="0" i="0" sz="4450" u="none" cap="none" strike="noStrike"/>
          </a:p>
        </p:txBody>
      </p:sp>
      <p:sp>
        <p:nvSpPr>
          <p:cNvPr id="172" name="Google Shape;172;p7"/>
          <p:cNvSpPr/>
          <p:nvPr/>
        </p:nvSpPr>
        <p:spPr>
          <a:xfrm>
            <a:off x="793790" y="3094196"/>
            <a:ext cx="2845594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Principios Fundamentales</a:t>
            </a:r>
            <a:endParaRPr b="0" i="0" sz="2200" u="none" cap="none" strike="noStrike"/>
          </a:p>
        </p:txBody>
      </p:sp>
      <p:sp>
        <p:nvSpPr>
          <p:cNvPr id="173" name="Google Shape;173;p7"/>
          <p:cNvSpPr/>
          <p:nvPr/>
        </p:nvSpPr>
        <p:spPr>
          <a:xfrm>
            <a:off x="793790" y="4029670"/>
            <a:ext cx="2845594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La arquitectura 4+1 se basa en cinco vistas complementarias que capturan diferentes aspectos del diseño de un sistema de software.</a:t>
            </a:r>
            <a:endParaRPr b="0" i="0" sz="1750" u="none" cap="none" strike="noStrike"/>
          </a:p>
        </p:txBody>
      </p:sp>
      <p:sp>
        <p:nvSpPr>
          <p:cNvPr id="174" name="Google Shape;174;p7"/>
          <p:cNvSpPr/>
          <p:nvPr/>
        </p:nvSpPr>
        <p:spPr>
          <a:xfrm>
            <a:off x="4200406" y="3094196"/>
            <a:ext cx="2845594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Representación Múltiple</a:t>
            </a:r>
            <a:endParaRPr b="0" i="0" sz="2200" u="none" cap="none" strike="noStrike"/>
          </a:p>
        </p:txBody>
      </p:sp>
      <p:sp>
        <p:nvSpPr>
          <p:cNvPr id="175" name="Google Shape;175;p7"/>
          <p:cNvSpPr/>
          <p:nvPr/>
        </p:nvSpPr>
        <p:spPr>
          <a:xfrm>
            <a:off x="4200406" y="4029670"/>
            <a:ext cx="2845594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Cada vista se enfoca en una perspectiva clave, permitiendo una representación holística y cohesiva del sistema.</a:t>
            </a:r>
            <a:endParaRPr b="0" i="0" sz="1750" u="none" cap="none" strike="noStrike"/>
          </a:p>
        </p:txBody>
      </p:sp>
      <p:sp>
        <p:nvSpPr>
          <p:cNvPr id="176" name="Google Shape;176;p7"/>
          <p:cNvSpPr/>
          <p:nvPr/>
        </p:nvSpPr>
        <p:spPr>
          <a:xfrm>
            <a:off x="7607022" y="3094196"/>
            <a:ext cx="2845594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Vistas Interrelacionadas</a:t>
            </a:r>
            <a:endParaRPr b="0" i="0" sz="2200" u="none" cap="none" strike="noStrike"/>
          </a:p>
        </p:txBody>
      </p:sp>
      <p:sp>
        <p:nvSpPr>
          <p:cNvPr id="177" name="Google Shape;177;p7"/>
          <p:cNvSpPr/>
          <p:nvPr/>
        </p:nvSpPr>
        <p:spPr>
          <a:xfrm>
            <a:off x="7607022" y="4029670"/>
            <a:ext cx="2845594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Las vistas se relacionan entre sí, brindando una comprensión integral de la arquitectura del software.</a:t>
            </a:r>
            <a:endParaRPr b="0" i="0" sz="1750" u="none" cap="none" strike="noStrike"/>
          </a:p>
        </p:txBody>
      </p:sp>
      <p:sp>
        <p:nvSpPr>
          <p:cNvPr id="178" name="Google Shape;178;p7"/>
          <p:cNvSpPr/>
          <p:nvPr/>
        </p:nvSpPr>
        <p:spPr>
          <a:xfrm>
            <a:off x="11013638" y="3094196"/>
            <a:ext cx="2845594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Documentación Estructurada</a:t>
            </a:r>
            <a:endParaRPr b="0" i="0" sz="2200" u="none" cap="none" strike="noStrike"/>
          </a:p>
        </p:txBody>
      </p:sp>
      <p:sp>
        <p:nvSpPr>
          <p:cNvPr id="179" name="Google Shape;179;p7"/>
          <p:cNvSpPr/>
          <p:nvPr/>
        </p:nvSpPr>
        <p:spPr>
          <a:xfrm>
            <a:off x="11013638" y="4029670"/>
            <a:ext cx="2845594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Esta metodología facilita la documentación organizada y la comunicación efectiva de la arquitectura.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"/>
          <p:cNvSpPr/>
          <p:nvPr/>
        </p:nvSpPr>
        <p:spPr>
          <a:xfrm>
            <a:off x="793803" y="1388975"/>
            <a:ext cx="115107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Vista lógica de la arquitectura 4 + 1</a:t>
            </a:r>
            <a:endParaRPr b="0" i="0" sz="4450" u="none" cap="none" strike="noStrike"/>
          </a:p>
        </p:txBody>
      </p:sp>
      <p:sp>
        <p:nvSpPr>
          <p:cNvPr id="186" name="Google Shape;186;p8"/>
          <p:cNvSpPr/>
          <p:nvPr/>
        </p:nvSpPr>
        <p:spPr>
          <a:xfrm>
            <a:off x="793790" y="2641997"/>
            <a:ext cx="6244709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La vista lógica de la arquitectura 4+1 se enfoca en la estructura y funcionalidad del sistema de software a nivel conceptual. Representa las principales abstracciones e interacciones entre los componentes del sistema, sin entrar en detalles de implementación.</a:t>
            </a:r>
            <a:endParaRPr b="0" i="0" sz="1750" u="none" cap="none" strike="noStrike"/>
          </a:p>
        </p:txBody>
      </p:sp>
      <p:sp>
        <p:nvSpPr>
          <p:cNvPr id="187" name="Google Shape;187;p8"/>
          <p:cNvSpPr/>
          <p:nvPr/>
        </p:nvSpPr>
        <p:spPr>
          <a:xfrm>
            <a:off x="793790" y="5133857"/>
            <a:ext cx="6244800" cy="14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Esta vista permite entender cómo se descompone el sistema en módulos y subsistemas, y cómo estos se relacionan entre sí para cumplir con los requisitos funcionales.</a:t>
            </a:r>
            <a:endParaRPr b="0" i="0" sz="1750" u="none" cap="none" strike="noStrike"/>
          </a:p>
        </p:txBody>
      </p:sp>
      <p:pic>
        <p:nvPicPr>
          <p:cNvPr descr="preencoded.png" id="188" name="Google Shape;18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9521" y="2693075"/>
            <a:ext cx="6244709" cy="3892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"/>
          <p:cNvSpPr/>
          <p:nvPr/>
        </p:nvSpPr>
        <p:spPr>
          <a:xfrm>
            <a:off x="793801" y="1133950"/>
            <a:ext cx="118935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Vista de procesos de la arquitectura 4 + 1</a:t>
            </a:r>
            <a:endParaRPr b="0" i="0" sz="4450" u="none" cap="none" strike="noStrike"/>
          </a:p>
        </p:txBody>
      </p:sp>
      <p:sp>
        <p:nvSpPr>
          <p:cNvPr id="195" name="Google Shape;195;p9"/>
          <p:cNvSpPr/>
          <p:nvPr/>
        </p:nvSpPr>
        <p:spPr>
          <a:xfrm>
            <a:off x="793790" y="2386965"/>
            <a:ext cx="6244709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La vista de procesos en la arquitectura 4 + 1 se enfoca en los aspectos dinámicos del sistema, como el concurrencia, sincronización, comunicación entre procesos y gestión de recursos.</a:t>
            </a:r>
            <a:endParaRPr b="0" i="0" sz="1750" u="none" cap="none" strike="noStrike"/>
          </a:p>
        </p:txBody>
      </p:sp>
      <p:sp>
        <p:nvSpPr>
          <p:cNvPr id="196" name="Google Shape;196;p9"/>
          <p:cNvSpPr/>
          <p:nvPr/>
        </p:nvSpPr>
        <p:spPr>
          <a:xfrm>
            <a:off x="793790" y="4042648"/>
            <a:ext cx="6244709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Esta vista permite analizar el rendimiento, escalabilidad y confiabilidad del sistema, asegurando que los requisitos no funcionales se cumplan.</a:t>
            </a:r>
            <a:endParaRPr b="0" i="0" sz="1750" u="none" cap="none" strike="noStrike"/>
          </a:p>
        </p:txBody>
      </p:sp>
      <p:pic>
        <p:nvPicPr>
          <p:cNvPr descr="preencoded.png" id="197" name="Google Shape;19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9521" y="2438043"/>
            <a:ext cx="6244709" cy="4402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"/>
          <p:cNvSpPr/>
          <p:nvPr/>
        </p:nvSpPr>
        <p:spPr>
          <a:xfrm>
            <a:off x="793801" y="784500"/>
            <a:ext cx="118239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Vista de desarrollo de la arquitectura 4 + 1</a:t>
            </a:r>
            <a:endParaRPr b="0" i="0" sz="4450" u="none" cap="none" strike="noStrike"/>
          </a:p>
        </p:txBody>
      </p:sp>
      <p:pic>
        <p:nvPicPr>
          <p:cNvPr descr="preencoded.png" id="204" name="Google Shape;20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1946910"/>
            <a:ext cx="4120753" cy="2546747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0"/>
          <p:cNvSpPr/>
          <p:nvPr/>
        </p:nvSpPr>
        <p:spPr>
          <a:xfrm>
            <a:off x="793801" y="4777150"/>
            <a:ext cx="32811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Proceso de Desarrollo</a:t>
            </a:r>
            <a:endParaRPr b="0" i="0" sz="2200" u="none" cap="none" strike="noStrike"/>
          </a:p>
        </p:txBody>
      </p:sp>
      <p:sp>
        <p:nvSpPr>
          <p:cNvPr id="206" name="Google Shape;206;p10"/>
          <p:cNvSpPr/>
          <p:nvPr/>
        </p:nvSpPr>
        <p:spPr>
          <a:xfrm>
            <a:off x="793790" y="5267563"/>
            <a:ext cx="4120753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La vista de desarrollo muestra la organización del entorno de software, incluyendo los componentes utilizados, las relaciones entre los módulos y la gestión de la configuración durante el proceso de desarrollo.</a:t>
            </a:r>
            <a:endParaRPr b="0" i="0" sz="1750" u="none" cap="none" strike="noStrike"/>
          </a:p>
        </p:txBody>
      </p:sp>
      <p:pic>
        <p:nvPicPr>
          <p:cNvPr descr="preencoded.png" id="207" name="Google Shape;20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54704" y="1946910"/>
            <a:ext cx="4120872" cy="2546866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0"/>
          <p:cNvSpPr/>
          <p:nvPr/>
        </p:nvSpPr>
        <p:spPr>
          <a:xfrm>
            <a:off x="5254699" y="4777275"/>
            <a:ext cx="36048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Estructura del Equipo</a:t>
            </a:r>
            <a:endParaRPr b="0" i="0" sz="2200" u="none" cap="none" strike="noStrike"/>
          </a:p>
        </p:txBody>
      </p:sp>
      <p:sp>
        <p:nvSpPr>
          <p:cNvPr id="209" name="Google Shape;209;p10"/>
          <p:cNvSpPr/>
          <p:nvPr/>
        </p:nvSpPr>
        <p:spPr>
          <a:xfrm>
            <a:off x="5254704" y="5267682"/>
            <a:ext cx="4120872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Esta vista también describe la estructura y organización del equipo de desarrollo, como los roles y responsabilidades de los desarrolladores, arquitectos y otros interesados.</a:t>
            </a:r>
            <a:endParaRPr b="0" i="0" sz="1750" u="none" cap="none" strike="noStrike"/>
          </a:p>
        </p:txBody>
      </p:sp>
      <p:pic>
        <p:nvPicPr>
          <p:cNvPr descr="preencoded.png" id="210" name="Google Shape;210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15738" y="1946910"/>
            <a:ext cx="4120753" cy="2546747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0"/>
          <p:cNvSpPr/>
          <p:nvPr/>
        </p:nvSpPr>
        <p:spPr>
          <a:xfrm>
            <a:off x="9715738" y="4777145"/>
            <a:ext cx="4120753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Herramientas y Flujos de Trabajo</a:t>
            </a:r>
            <a:endParaRPr b="0" i="0" sz="2200" u="none" cap="none" strike="noStrike"/>
          </a:p>
        </p:txBody>
      </p:sp>
      <p:sp>
        <p:nvSpPr>
          <p:cNvPr id="212" name="Google Shape;212;p10"/>
          <p:cNvSpPr/>
          <p:nvPr/>
        </p:nvSpPr>
        <p:spPr>
          <a:xfrm>
            <a:off x="9715738" y="5621893"/>
            <a:ext cx="4120753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Además, la vista de desarrollo abarca las herramientas, procesos y flujos de trabajo utilizados durante el ciclo de vida del desarrollo de software.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8" name="Google Shape;21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9" name="Google Shape;21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27488" y="2731175"/>
            <a:ext cx="4919305" cy="2767132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1"/>
          <p:cNvSpPr/>
          <p:nvPr/>
        </p:nvSpPr>
        <p:spPr>
          <a:xfrm>
            <a:off x="793790" y="1838206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Vista Física de la Arquitectura 4 + 1</a:t>
            </a:r>
            <a:endParaRPr b="0" i="0" sz="4450" u="none" cap="none" strike="noStrike"/>
          </a:p>
        </p:txBody>
      </p:sp>
      <p:sp>
        <p:nvSpPr>
          <p:cNvPr id="221" name="Google Shape;221;p11"/>
          <p:cNvSpPr/>
          <p:nvPr/>
        </p:nvSpPr>
        <p:spPr>
          <a:xfrm>
            <a:off x="793790" y="3595926"/>
            <a:ext cx="7556421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La vista física de la arquitectura 4+1 describe la topología de los componentes de software, los nodos de cómputo en los que se ejecutan esos componentes, y las interconexiones físicas entre esos nodos.</a:t>
            </a:r>
            <a:endParaRPr b="0" i="0" sz="1750" u="none" cap="none" strike="noStrike"/>
          </a:p>
        </p:txBody>
      </p:sp>
      <p:sp>
        <p:nvSpPr>
          <p:cNvPr id="222" name="Google Shape;222;p11"/>
          <p:cNvSpPr/>
          <p:nvPr/>
        </p:nvSpPr>
        <p:spPr>
          <a:xfrm>
            <a:off x="793790" y="5339959"/>
            <a:ext cx="7556400" cy="14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Esta vista se enfoca en aspectos como la ubicación de los servidores, clientes, dispositivos de red y otros elementos de hardware que soportan la infraestructura del sistema. También aborda cuestiones de rendimiento, escalabilidad y disponibilidad.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28" name="Google Shape;22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9" name="Google Shape;22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27488" y="2474952"/>
            <a:ext cx="4919305" cy="3279577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2"/>
          <p:cNvSpPr/>
          <p:nvPr/>
        </p:nvSpPr>
        <p:spPr>
          <a:xfrm>
            <a:off x="793790" y="1838206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Vista de escenarios de la arquitectura 4 + 1</a:t>
            </a:r>
            <a:endParaRPr b="0" i="0" sz="4450" u="none" cap="none" strike="noStrike"/>
          </a:p>
        </p:txBody>
      </p:sp>
      <p:sp>
        <p:nvSpPr>
          <p:cNvPr id="231" name="Google Shape;231;p12"/>
          <p:cNvSpPr/>
          <p:nvPr/>
        </p:nvSpPr>
        <p:spPr>
          <a:xfrm>
            <a:off x="793790" y="3595926"/>
            <a:ext cx="7556421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La vista de escenarios en la arquitectura 4 + 1 se enfoca en capturar y documentar los casos de uso y requisitos clave del sistema. Esta vista ayuda a validar que la arquitectura propuesta cumple con las necesidades funcionales y no funcionales del sistema.</a:t>
            </a:r>
            <a:endParaRPr b="0" i="0" sz="1750" u="none" cap="none" strike="noStrike"/>
          </a:p>
        </p:txBody>
      </p:sp>
      <p:sp>
        <p:nvSpPr>
          <p:cNvPr id="232" name="Google Shape;232;p12"/>
          <p:cNvSpPr/>
          <p:nvPr/>
        </p:nvSpPr>
        <p:spPr>
          <a:xfrm>
            <a:off x="793790" y="5302687"/>
            <a:ext cx="7556421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Los escenarios describen el comportamiento del sistema desde la perspectiva del usuario final, lo que permite evaluar la adecuación de la arquitectura para satisfacer las expectativas del cliente y los usuarios.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8" name="Google Shape;23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5424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9" name="Google Shape;23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90680" y="254198"/>
            <a:ext cx="1849041" cy="2034064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3"/>
          <p:cNvSpPr/>
          <p:nvPr/>
        </p:nvSpPr>
        <p:spPr>
          <a:xfrm>
            <a:off x="711875" y="3169800"/>
            <a:ext cx="137673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Inter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Principios del patrón Modelo-Vista-Controlador (MVC)</a:t>
            </a:r>
            <a:endParaRPr b="0" i="0" sz="4000" u="none" cap="none" strike="noStrike"/>
          </a:p>
        </p:txBody>
      </p:sp>
      <p:sp>
        <p:nvSpPr>
          <p:cNvPr id="241" name="Google Shape;241;p13"/>
          <p:cNvSpPr/>
          <p:nvPr/>
        </p:nvSpPr>
        <p:spPr>
          <a:xfrm>
            <a:off x="711875" y="4339114"/>
            <a:ext cx="457557" cy="457557"/>
          </a:xfrm>
          <a:prstGeom prst="roundRect">
            <a:avLst>
              <a:gd fmla="val 18670" name="adj"/>
            </a:avLst>
          </a:prstGeom>
          <a:solidFill>
            <a:srgbClr val="110080"/>
          </a:solidFill>
          <a:ln cap="flat" cmpd="sng" w="9525">
            <a:solidFill>
              <a:srgbClr val="2A1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3"/>
          <p:cNvSpPr/>
          <p:nvPr/>
        </p:nvSpPr>
        <p:spPr>
          <a:xfrm>
            <a:off x="879396" y="4415314"/>
            <a:ext cx="122396" cy="305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2400" u="none" cap="none" strike="noStrike"/>
          </a:p>
        </p:txBody>
      </p:sp>
      <p:sp>
        <p:nvSpPr>
          <p:cNvPr id="243" name="Google Shape;243;p13"/>
          <p:cNvSpPr/>
          <p:nvPr/>
        </p:nvSpPr>
        <p:spPr>
          <a:xfrm>
            <a:off x="1372802" y="4339125"/>
            <a:ext cx="50178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000"/>
              <a:buFont typeface="Inter"/>
              <a:buNone/>
            </a:pPr>
            <a:r>
              <a:rPr b="1" i="0" lang="en-US" sz="20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Separación de Responsabilidades</a:t>
            </a:r>
            <a:endParaRPr b="0" i="0" sz="2000" u="none" cap="none" strike="noStrike"/>
          </a:p>
        </p:txBody>
      </p:sp>
      <p:sp>
        <p:nvSpPr>
          <p:cNvPr id="244" name="Google Shape;244;p13"/>
          <p:cNvSpPr/>
          <p:nvPr/>
        </p:nvSpPr>
        <p:spPr>
          <a:xfrm>
            <a:off x="1372791" y="4778812"/>
            <a:ext cx="5840730" cy="975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El patrón MVC separa la aplicación en tres componentes principales: Modelo (datos), Vista (presentación) y Controlador (lógica de negocio).</a:t>
            </a:r>
            <a:endParaRPr b="0" i="0" sz="1600" u="none" cap="none" strike="noStrike"/>
          </a:p>
        </p:txBody>
      </p:sp>
      <p:sp>
        <p:nvSpPr>
          <p:cNvPr id="245" name="Google Shape;245;p13"/>
          <p:cNvSpPr/>
          <p:nvPr/>
        </p:nvSpPr>
        <p:spPr>
          <a:xfrm>
            <a:off x="7416879" y="4339114"/>
            <a:ext cx="457557" cy="457557"/>
          </a:xfrm>
          <a:prstGeom prst="roundRect">
            <a:avLst>
              <a:gd fmla="val 18670" name="adj"/>
            </a:avLst>
          </a:prstGeom>
          <a:solidFill>
            <a:srgbClr val="110080"/>
          </a:solidFill>
          <a:ln cap="flat" cmpd="sng" w="9525">
            <a:solidFill>
              <a:srgbClr val="2A1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3"/>
          <p:cNvSpPr/>
          <p:nvPr/>
        </p:nvSpPr>
        <p:spPr>
          <a:xfrm>
            <a:off x="7554158" y="4415314"/>
            <a:ext cx="182999" cy="305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2400" u="none" cap="none" strike="noStrike"/>
          </a:p>
        </p:txBody>
      </p:sp>
      <p:sp>
        <p:nvSpPr>
          <p:cNvPr id="247" name="Google Shape;247;p13"/>
          <p:cNvSpPr/>
          <p:nvPr/>
        </p:nvSpPr>
        <p:spPr>
          <a:xfrm>
            <a:off x="8077802" y="4339125"/>
            <a:ext cx="38961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000"/>
              <a:buFont typeface="Inter"/>
              <a:buNone/>
            </a:pPr>
            <a:r>
              <a:rPr b="1" i="0" lang="en-US" sz="20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Reutilización de Código</a:t>
            </a:r>
            <a:endParaRPr b="0" i="0" sz="2000" u="none" cap="none" strike="noStrike"/>
          </a:p>
        </p:txBody>
      </p:sp>
      <p:sp>
        <p:nvSpPr>
          <p:cNvPr id="248" name="Google Shape;248;p13"/>
          <p:cNvSpPr/>
          <p:nvPr/>
        </p:nvSpPr>
        <p:spPr>
          <a:xfrm>
            <a:off x="8077795" y="4778812"/>
            <a:ext cx="5840730" cy="650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Al dividir la aplicación en capas independientes, se facilita la reutilización y mantenimiento del código.</a:t>
            </a:r>
            <a:endParaRPr b="0" i="0" sz="1600" u="none" cap="none" strike="noStrike"/>
          </a:p>
        </p:txBody>
      </p:sp>
      <p:sp>
        <p:nvSpPr>
          <p:cNvPr id="249" name="Google Shape;249;p13"/>
          <p:cNvSpPr/>
          <p:nvPr/>
        </p:nvSpPr>
        <p:spPr>
          <a:xfrm>
            <a:off x="711875" y="6186726"/>
            <a:ext cx="457557" cy="457557"/>
          </a:xfrm>
          <a:prstGeom prst="roundRect">
            <a:avLst>
              <a:gd fmla="val 18670" name="adj"/>
            </a:avLst>
          </a:prstGeom>
          <a:solidFill>
            <a:srgbClr val="110080"/>
          </a:solidFill>
          <a:ln cap="flat" cmpd="sng" w="9525">
            <a:solidFill>
              <a:srgbClr val="2A1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3"/>
          <p:cNvSpPr/>
          <p:nvPr/>
        </p:nvSpPr>
        <p:spPr>
          <a:xfrm>
            <a:off x="846773" y="6262926"/>
            <a:ext cx="187762" cy="305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2400" u="none" cap="none" strike="noStrike"/>
          </a:p>
        </p:txBody>
      </p:sp>
      <p:sp>
        <p:nvSpPr>
          <p:cNvPr id="251" name="Google Shape;251;p13"/>
          <p:cNvSpPr/>
          <p:nvPr/>
        </p:nvSpPr>
        <p:spPr>
          <a:xfrm>
            <a:off x="1372805" y="6186725"/>
            <a:ext cx="49464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000"/>
              <a:buFont typeface="Inter"/>
              <a:buNone/>
            </a:pPr>
            <a:r>
              <a:rPr b="1" i="0" lang="en-US" sz="20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Flexibilidad y Escalabilidad</a:t>
            </a:r>
            <a:endParaRPr b="0" i="0" sz="2000" u="none" cap="none" strike="noStrike"/>
          </a:p>
        </p:txBody>
      </p:sp>
      <p:sp>
        <p:nvSpPr>
          <p:cNvPr id="252" name="Google Shape;252;p13"/>
          <p:cNvSpPr/>
          <p:nvPr/>
        </p:nvSpPr>
        <p:spPr>
          <a:xfrm>
            <a:off x="1372791" y="6626423"/>
            <a:ext cx="5840730" cy="975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La arquitectura MVC permite que la aplicación sea más flexible y escalable, ya que los cambios en una capa no afectan a las demás.</a:t>
            </a:r>
            <a:endParaRPr b="0" i="0" sz="1600" u="none" cap="none" strike="noStrike"/>
          </a:p>
        </p:txBody>
      </p:sp>
      <p:sp>
        <p:nvSpPr>
          <p:cNvPr id="253" name="Google Shape;253;p13"/>
          <p:cNvSpPr/>
          <p:nvPr/>
        </p:nvSpPr>
        <p:spPr>
          <a:xfrm>
            <a:off x="7416879" y="6186726"/>
            <a:ext cx="457557" cy="457557"/>
          </a:xfrm>
          <a:prstGeom prst="roundRect">
            <a:avLst>
              <a:gd fmla="val 18670" name="adj"/>
            </a:avLst>
          </a:prstGeom>
          <a:solidFill>
            <a:srgbClr val="110080"/>
          </a:solidFill>
          <a:ln cap="flat" cmpd="sng" w="9525">
            <a:solidFill>
              <a:srgbClr val="2A1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3"/>
          <p:cNvSpPr/>
          <p:nvPr/>
        </p:nvSpPr>
        <p:spPr>
          <a:xfrm>
            <a:off x="7547015" y="6262926"/>
            <a:ext cx="197168" cy="305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2400" u="none" cap="none" strike="noStrike"/>
          </a:p>
        </p:txBody>
      </p:sp>
      <p:sp>
        <p:nvSpPr>
          <p:cNvPr id="255" name="Google Shape;255;p13"/>
          <p:cNvSpPr/>
          <p:nvPr/>
        </p:nvSpPr>
        <p:spPr>
          <a:xfrm>
            <a:off x="8077795" y="6186726"/>
            <a:ext cx="2542461" cy="3176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000"/>
              <a:buFont typeface="Inter"/>
              <a:buNone/>
            </a:pPr>
            <a:r>
              <a:rPr b="1" i="0" lang="en-US" sz="20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Testabilidad</a:t>
            </a:r>
            <a:endParaRPr b="0" i="0" sz="2000" u="none" cap="none" strike="noStrike"/>
          </a:p>
        </p:txBody>
      </p:sp>
      <p:sp>
        <p:nvSpPr>
          <p:cNvPr id="256" name="Google Shape;256;p13"/>
          <p:cNvSpPr/>
          <p:nvPr/>
        </p:nvSpPr>
        <p:spPr>
          <a:xfrm>
            <a:off x="8077795" y="6626423"/>
            <a:ext cx="5840730" cy="650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Cada componente se puede probar de manera independiente, lo que simplifica el proceso de pruebas y depuración.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2" name="Google Shape;26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311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3" name="Google Shape;26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19511" y="1647825"/>
            <a:ext cx="4935379" cy="4935379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4"/>
          <p:cNvSpPr/>
          <p:nvPr/>
        </p:nvSpPr>
        <p:spPr>
          <a:xfrm>
            <a:off x="771644" y="606266"/>
            <a:ext cx="7600712" cy="1378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Inter"/>
              <a:buNone/>
            </a:pPr>
            <a:r>
              <a:rPr b="1" i="0" lang="en-US" sz="4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Separación de lógica y presentación con MVC</a:t>
            </a:r>
            <a:endParaRPr b="0" i="0" sz="4300" u="none" cap="none" strike="noStrike"/>
          </a:p>
        </p:txBody>
      </p:sp>
      <p:sp>
        <p:nvSpPr>
          <p:cNvPr id="265" name="Google Shape;265;p14"/>
          <p:cNvSpPr/>
          <p:nvPr/>
        </p:nvSpPr>
        <p:spPr>
          <a:xfrm>
            <a:off x="1087041" y="2314932"/>
            <a:ext cx="30480" cy="5309949"/>
          </a:xfrm>
          <a:prstGeom prst="roundRect">
            <a:avLst>
              <a:gd fmla="val 303837" name="adj"/>
            </a:avLst>
          </a:prstGeom>
          <a:solidFill>
            <a:srgbClr val="2A1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4"/>
          <p:cNvSpPr/>
          <p:nvPr/>
        </p:nvSpPr>
        <p:spPr>
          <a:xfrm>
            <a:off x="1319808" y="2795707"/>
            <a:ext cx="771644" cy="30480"/>
          </a:xfrm>
          <a:prstGeom prst="roundRect">
            <a:avLst>
              <a:gd fmla="val 303837" name="adj"/>
            </a:avLst>
          </a:prstGeom>
          <a:solidFill>
            <a:srgbClr val="2A1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4"/>
          <p:cNvSpPr/>
          <p:nvPr/>
        </p:nvSpPr>
        <p:spPr>
          <a:xfrm>
            <a:off x="854273" y="2562939"/>
            <a:ext cx="496014" cy="496014"/>
          </a:xfrm>
          <a:prstGeom prst="roundRect">
            <a:avLst>
              <a:gd fmla="val 18671" name="adj"/>
            </a:avLst>
          </a:prstGeom>
          <a:solidFill>
            <a:srgbClr val="110080"/>
          </a:solidFill>
          <a:ln cap="flat" cmpd="sng" w="9525">
            <a:solidFill>
              <a:srgbClr val="2A1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4"/>
          <p:cNvSpPr/>
          <p:nvPr/>
        </p:nvSpPr>
        <p:spPr>
          <a:xfrm>
            <a:off x="1035963" y="2645569"/>
            <a:ext cx="132636" cy="3307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600"/>
              <a:buFont typeface="Inter"/>
              <a:buNone/>
            </a:pPr>
            <a:r>
              <a:rPr b="1" i="0" lang="en-US" sz="26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2600" u="none" cap="none" strike="noStrike"/>
          </a:p>
        </p:txBody>
      </p:sp>
      <p:sp>
        <p:nvSpPr>
          <p:cNvPr id="269" name="Google Shape;269;p14"/>
          <p:cNvSpPr/>
          <p:nvPr/>
        </p:nvSpPr>
        <p:spPr>
          <a:xfrm>
            <a:off x="2314932" y="2535317"/>
            <a:ext cx="2756178" cy="344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150"/>
              <a:buFont typeface="Inter"/>
              <a:buNone/>
            </a:pPr>
            <a:r>
              <a:rPr b="1" i="0" lang="en-US" sz="21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Modelo</a:t>
            </a:r>
            <a:endParaRPr b="0" i="0" sz="2150" u="none" cap="none" strike="noStrike"/>
          </a:p>
        </p:txBody>
      </p:sp>
      <p:sp>
        <p:nvSpPr>
          <p:cNvPr id="270" name="Google Shape;270;p14"/>
          <p:cNvSpPr/>
          <p:nvPr/>
        </p:nvSpPr>
        <p:spPr>
          <a:xfrm>
            <a:off x="2314932" y="3012043"/>
            <a:ext cx="6057424" cy="705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00"/>
              <a:buFont typeface="Inter"/>
              <a:buNone/>
            </a:pPr>
            <a:r>
              <a:rPr b="0" i="0" lang="en-US" sz="17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El modelo representa la lógica de negocio y los datos de la aplicación, sin preocuparse por la interfaz de usuario.</a:t>
            </a:r>
            <a:endParaRPr b="0" i="0" sz="1700" u="none" cap="none" strike="noStrike"/>
          </a:p>
        </p:txBody>
      </p:sp>
      <p:sp>
        <p:nvSpPr>
          <p:cNvPr id="271" name="Google Shape;271;p14"/>
          <p:cNvSpPr/>
          <p:nvPr/>
        </p:nvSpPr>
        <p:spPr>
          <a:xfrm>
            <a:off x="1319808" y="4639151"/>
            <a:ext cx="771644" cy="30480"/>
          </a:xfrm>
          <a:prstGeom prst="roundRect">
            <a:avLst>
              <a:gd fmla="val 303837" name="adj"/>
            </a:avLst>
          </a:prstGeom>
          <a:solidFill>
            <a:srgbClr val="2A1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4"/>
          <p:cNvSpPr/>
          <p:nvPr/>
        </p:nvSpPr>
        <p:spPr>
          <a:xfrm>
            <a:off x="854273" y="4406384"/>
            <a:ext cx="496014" cy="496014"/>
          </a:xfrm>
          <a:prstGeom prst="roundRect">
            <a:avLst>
              <a:gd fmla="val 18671" name="adj"/>
            </a:avLst>
          </a:prstGeom>
          <a:solidFill>
            <a:srgbClr val="110080"/>
          </a:solidFill>
          <a:ln cap="flat" cmpd="sng" w="9525">
            <a:solidFill>
              <a:srgbClr val="2A1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4"/>
          <p:cNvSpPr/>
          <p:nvPr/>
        </p:nvSpPr>
        <p:spPr>
          <a:xfrm>
            <a:off x="1003102" y="4489013"/>
            <a:ext cx="198358" cy="3307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600"/>
              <a:buFont typeface="Inter"/>
              <a:buNone/>
            </a:pPr>
            <a:r>
              <a:rPr b="1" i="0" lang="en-US" sz="26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2600" u="none" cap="none" strike="noStrike"/>
          </a:p>
        </p:txBody>
      </p:sp>
      <p:sp>
        <p:nvSpPr>
          <p:cNvPr id="274" name="Google Shape;274;p14"/>
          <p:cNvSpPr/>
          <p:nvPr/>
        </p:nvSpPr>
        <p:spPr>
          <a:xfrm>
            <a:off x="2314932" y="4378762"/>
            <a:ext cx="2756178" cy="344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150"/>
              <a:buFont typeface="Inter"/>
              <a:buNone/>
            </a:pPr>
            <a:r>
              <a:rPr b="1" i="0" lang="en-US" sz="21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Vista</a:t>
            </a:r>
            <a:endParaRPr b="0" i="0" sz="2150" u="none" cap="none" strike="noStrike"/>
          </a:p>
        </p:txBody>
      </p:sp>
      <p:sp>
        <p:nvSpPr>
          <p:cNvPr id="275" name="Google Shape;275;p14"/>
          <p:cNvSpPr/>
          <p:nvPr/>
        </p:nvSpPr>
        <p:spPr>
          <a:xfrm>
            <a:off x="2314932" y="4855488"/>
            <a:ext cx="6057424" cy="705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00"/>
              <a:buFont typeface="Inter"/>
              <a:buNone/>
            </a:pPr>
            <a:r>
              <a:rPr b="0" i="0" lang="en-US" sz="17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La vista se encarga de la presentación y la interfaz de usuario, sin contener lógica de negocio.</a:t>
            </a:r>
            <a:endParaRPr b="0" i="0" sz="1700" u="none" cap="none" strike="noStrike"/>
          </a:p>
        </p:txBody>
      </p:sp>
      <p:sp>
        <p:nvSpPr>
          <p:cNvPr id="276" name="Google Shape;276;p14"/>
          <p:cNvSpPr/>
          <p:nvPr/>
        </p:nvSpPr>
        <p:spPr>
          <a:xfrm>
            <a:off x="1319808" y="6482596"/>
            <a:ext cx="771644" cy="30480"/>
          </a:xfrm>
          <a:prstGeom prst="roundRect">
            <a:avLst>
              <a:gd fmla="val 303837" name="adj"/>
            </a:avLst>
          </a:prstGeom>
          <a:solidFill>
            <a:srgbClr val="2A1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4"/>
          <p:cNvSpPr/>
          <p:nvPr/>
        </p:nvSpPr>
        <p:spPr>
          <a:xfrm>
            <a:off x="854273" y="6249829"/>
            <a:ext cx="496014" cy="496014"/>
          </a:xfrm>
          <a:prstGeom prst="roundRect">
            <a:avLst>
              <a:gd fmla="val 18671" name="adj"/>
            </a:avLst>
          </a:prstGeom>
          <a:solidFill>
            <a:srgbClr val="110080"/>
          </a:solidFill>
          <a:ln cap="flat" cmpd="sng" w="9525">
            <a:solidFill>
              <a:srgbClr val="2A1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4"/>
          <p:cNvSpPr/>
          <p:nvPr/>
        </p:nvSpPr>
        <p:spPr>
          <a:xfrm>
            <a:off x="1000482" y="6332458"/>
            <a:ext cx="203597" cy="3307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600"/>
              <a:buFont typeface="Inter"/>
              <a:buNone/>
            </a:pPr>
            <a:r>
              <a:rPr b="1" i="0" lang="en-US" sz="26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2600" u="none" cap="none" strike="noStrike"/>
          </a:p>
        </p:txBody>
      </p:sp>
      <p:sp>
        <p:nvSpPr>
          <p:cNvPr id="279" name="Google Shape;279;p14"/>
          <p:cNvSpPr/>
          <p:nvPr/>
        </p:nvSpPr>
        <p:spPr>
          <a:xfrm>
            <a:off x="2314932" y="6222206"/>
            <a:ext cx="2756178" cy="344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150"/>
              <a:buFont typeface="Inter"/>
              <a:buNone/>
            </a:pPr>
            <a:r>
              <a:rPr b="1" i="0" lang="en-US" sz="21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Controlador</a:t>
            </a:r>
            <a:endParaRPr b="0" i="0" sz="2150" u="none" cap="none" strike="noStrike"/>
          </a:p>
        </p:txBody>
      </p:sp>
      <p:sp>
        <p:nvSpPr>
          <p:cNvPr id="280" name="Google Shape;280;p14"/>
          <p:cNvSpPr/>
          <p:nvPr/>
        </p:nvSpPr>
        <p:spPr>
          <a:xfrm>
            <a:off x="2314932" y="6698933"/>
            <a:ext cx="6057424" cy="705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00"/>
              <a:buFont typeface="Inter"/>
              <a:buNone/>
            </a:pPr>
            <a:r>
              <a:rPr b="0" i="0" lang="en-US" sz="17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El controlador actúa como intermediario entre el modelo y la vista, manejando las interacciones del usuario.</a:t>
            </a:r>
            <a:endParaRPr b="0" i="0" sz="1700" u="none" cap="none" strike="noStrike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86" name="Google Shape;28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7" name="Google Shape;28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99270" y="3121700"/>
            <a:ext cx="4975860" cy="1986201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5"/>
          <p:cNvSpPr/>
          <p:nvPr/>
        </p:nvSpPr>
        <p:spPr>
          <a:xfrm>
            <a:off x="714502" y="1205875"/>
            <a:ext cx="8684700" cy="6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Inter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Aplicaciones del patrón MVC</a:t>
            </a:r>
            <a:endParaRPr b="0" i="0" sz="4000" u="none" cap="none" strike="noStrike"/>
          </a:p>
        </p:txBody>
      </p:sp>
      <p:sp>
        <p:nvSpPr>
          <p:cNvPr id="289" name="Google Shape;289;p15"/>
          <p:cNvSpPr/>
          <p:nvPr/>
        </p:nvSpPr>
        <p:spPr>
          <a:xfrm>
            <a:off x="714494" y="2149912"/>
            <a:ext cx="3755469" cy="2498169"/>
          </a:xfrm>
          <a:prstGeom prst="roundRect">
            <a:avLst>
              <a:gd fmla="val 3432" name="adj"/>
            </a:avLst>
          </a:prstGeom>
          <a:solidFill>
            <a:srgbClr val="110080"/>
          </a:solidFill>
          <a:ln cap="flat" cmpd="sng" w="9525">
            <a:solidFill>
              <a:srgbClr val="2A1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5"/>
          <p:cNvSpPr/>
          <p:nvPr/>
        </p:nvSpPr>
        <p:spPr>
          <a:xfrm>
            <a:off x="926187" y="2361605"/>
            <a:ext cx="2551748" cy="318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000"/>
              <a:buFont typeface="Inter"/>
              <a:buNone/>
            </a:pPr>
            <a:r>
              <a:rPr b="1" i="0" lang="en-US" sz="20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Desarrollo Web</a:t>
            </a:r>
            <a:endParaRPr b="0" i="0" sz="2000" u="none" cap="none" strike="noStrike"/>
          </a:p>
        </p:txBody>
      </p:sp>
      <p:sp>
        <p:nvSpPr>
          <p:cNvPr id="291" name="Google Shape;291;p15"/>
          <p:cNvSpPr/>
          <p:nvPr/>
        </p:nvSpPr>
        <p:spPr>
          <a:xfrm>
            <a:off x="926187" y="2802850"/>
            <a:ext cx="3332083" cy="16335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El patrón MVC es ampliamente utilizado en el desarrollo de aplicaciones web, donde separa la lógica de negocio, la interfaz de usuario y el manejo de eventos.</a:t>
            </a:r>
            <a:endParaRPr b="0" i="0" sz="1600" u="none" cap="none" strike="noStrike"/>
          </a:p>
        </p:txBody>
      </p:sp>
      <p:sp>
        <p:nvSpPr>
          <p:cNvPr id="292" name="Google Shape;292;p15"/>
          <p:cNvSpPr/>
          <p:nvPr/>
        </p:nvSpPr>
        <p:spPr>
          <a:xfrm>
            <a:off x="4674037" y="2149912"/>
            <a:ext cx="3755469" cy="2498169"/>
          </a:xfrm>
          <a:prstGeom prst="roundRect">
            <a:avLst>
              <a:gd fmla="val 3432" name="adj"/>
            </a:avLst>
          </a:prstGeom>
          <a:solidFill>
            <a:srgbClr val="110080"/>
          </a:solidFill>
          <a:ln cap="flat" cmpd="sng" w="9525">
            <a:solidFill>
              <a:srgbClr val="2A1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5"/>
          <p:cNvSpPr/>
          <p:nvPr/>
        </p:nvSpPr>
        <p:spPr>
          <a:xfrm>
            <a:off x="4885724" y="2361600"/>
            <a:ext cx="3173400" cy="3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000"/>
              <a:buFont typeface="Inter"/>
              <a:buNone/>
            </a:pPr>
            <a:r>
              <a:rPr b="1" i="0" lang="en-US" sz="20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Aplicaciones Móviles</a:t>
            </a:r>
            <a:endParaRPr b="0" i="0" sz="2000" u="none" cap="none" strike="noStrike"/>
          </a:p>
        </p:txBody>
      </p:sp>
      <p:sp>
        <p:nvSpPr>
          <p:cNvPr id="294" name="Google Shape;294;p15"/>
          <p:cNvSpPr/>
          <p:nvPr/>
        </p:nvSpPr>
        <p:spPr>
          <a:xfrm>
            <a:off x="4885730" y="2802850"/>
            <a:ext cx="3332083" cy="1306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MVC también se aplica al desarrollo de apps móviles, facilitando la modularidad y escalabilidad de los componentes.</a:t>
            </a:r>
            <a:endParaRPr b="0" i="0" sz="1600" u="none" cap="none" strike="noStrike"/>
          </a:p>
        </p:txBody>
      </p:sp>
      <p:sp>
        <p:nvSpPr>
          <p:cNvPr id="295" name="Google Shape;295;p15"/>
          <p:cNvSpPr/>
          <p:nvPr/>
        </p:nvSpPr>
        <p:spPr>
          <a:xfrm>
            <a:off x="714494" y="4852154"/>
            <a:ext cx="3755469" cy="2171462"/>
          </a:xfrm>
          <a:prstGeom prst="roundRect">
            <a:avLst>
              <a:gd fmla="val 3949" name="adj"/>
            </a:avLst>
          </a:prstGeom>
          <a:solidFill>
            <a:srgbClr val="110080"/>
          </a:solidFill>
          <a:ln cap="flat" cmpd="sng" w="9525">
            <a:solidFill>
              <a:srgbClr val="2A1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5"/>
          <p:cNvSpPr/>
          <p:nvPr/>
        </p:nvSpPr>
        <p:spPr>
          <a:xfrm>
            <a:off x="926172" y="5063850"/>
            <a:ext cx="3543900" cy="3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000"/>
              <a:buFont typeface="Inter"/>
              <a:buNone/>
            </a:pPr>
            <a:r>
              <a:rPr b="1" i="0" lang="en-US" sz="20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Sistemas Empresariales</a:t>
            </a:r>
            <a:endParaRPr b="0" i="0" sz="2000" u="none" cap="none" strike="noStrike"/>
          </a:p>
        </p:txBody>
      </p:sp>
      <p:sp>
        <p:nvSpPr>
          <p:cNvPr id="297" name="Google Shape;297;p15"/>
          <p:cNvSpPr/>
          <p:nvPr/>
        </p:nvSpPr>
        <p:spPr>
          <a:xfrm>
            <a:off x="926187" y="5505093"/>
            <a:ext cx="3332083" cy="1306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En entornos empresariales complejos, MVC permite organizar la arquitectura de software de manera robusta y mantenible.</a:t>
            </a:r>
            <a:endParaRPr b="0" i="0" sz="1600" u="none" cap="none" strike="noStrike"/>
          </a:p>
        </p:txBody>
      </p:sp>
      <p:sp>
        <p:nvSpPr>
          <p:cNvPr id="298" name="Google Shape;298;p15"/>
          <p:cNvSpPr/>
          <p:nvPr/>
        </p:nvSpPr>
        <p:spPr>
          <a:xfrm>
            <a:off x="4674037" y="4852154"/>
            <a:ext cx="3755469" cy="2171462"/>
          </a:xfrm>
          <a:prstGeom prst="roundRect">
            <a:avLst>
              <a:gd fmla="val 3949" name="adj"/>
            </a:avLst>
          </a:prstGeom>
          <a:solidFill>
            <a:srgbClr val="110080"/>
          </a:solidFill>
          <a:ln cap="flat" cmpd="sng" w="9525">
            <a:solidFill>
              <a:srgbClr val="2A1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5"/>
          <p:cNvSpPr/>
          <p:nvPr/>
        </p:nvSpPr>
        <p:spPr>
          <a:xfrm>
            <a:off x="4885730" y="5063847"/>
            <a:ext cx="2551748" cy="318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000"/>
              <a:buFont typeface="Inter"/>
              <a:buNone/>
            </a:pPr>
            <a:r>
              <a:rPr b="1" i="0" lang="en-US" sz="20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Videojuegos</a:t>
            </a:r>
            <a:endParaRPr b="0" i="0" sz="2000" u="none" cap="none" strike="noStrike"/>
          </a:p>
        </p:txBody>
      </p:sp>
      <p:sp>
        <p:nvSpPr>
          <p:cNvPr id="300" name="Google Shape;300;p15"/>
          <p:cNvSpPr/>
          <p:nvPr/>
        </p:nvSpPr>
        <p:spPr>
          <a:xfrm>
            <a:off x="4885725" y="5505100"/>
            <a:ext cx="3543900" cy="13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Incluso en el desarrollo de videojuegos, MVC ayuda a separar la lógica de juego, la representación gráfica y el manejo de inputs.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2024-11-04T02:31:46Z</dcterms:created>
  <dc:creator>PptxGenJS</dc:creator>
</cp:coreProperties>
</file>