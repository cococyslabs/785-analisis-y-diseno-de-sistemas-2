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8229600" cx="14630400"/>
  <p:notesSz cx="8229600" cy="14630400"/>
  <p:embeddedFontLst>
    <p:embeddedFont>
      <p:font typeface="Alice"/>
      <p:regular r:id="rId22"/>
    </p:embeddedFont>
    <p:embeddedFont>
      <p:font typeface="Lora"/>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hD3ZfNY5jxQ9n2Zmouy1cC1N6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A55BD1-951D-4DE7-8482-1BF4F90BD824}">
  <a:tblStyle styleId="{5FA55BD1-951D-4DE7-8482-1BF4F90BD82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lice-regular.fntdata"/><Relationship Id="rId21" Type="http://schemas.openxmlformats.org/officeDocument/2006/relationships/slide" Target="slides/slide16.xml"/><Relationship Id="rId24" Type="http://schemas.openxmlformats.org/officeDocument/2006/relationships/font" Target="fonts/Lora-bold.fntdata"/><Relationship Id="rId23" Type="http://schemas.openxmlformats.org/officeDocument/2006/relationships/font" Target="fonts/Lora-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ora-boldItalic.fntdata"/><Relationship Id="rId25" Type="http://schemas.openxmlformats.org/officeDocument/2006/relationships/font" Target="fonts/Lora-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d52a38cadd_0_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g2d52a38cadd_0_0: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18"/>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19"/>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9"/>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20"/>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0"/>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1"/>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2"/>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23"/>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3"/>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24"/>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4"/>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25"/>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5"/>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26"/>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6"/>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27"/>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7"/>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28"/>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8"/>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29"/>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9"/>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30"/>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0"/>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2" name="Shape 52"/>
        <p:cNvGrpSpPr/>
        <p:nvPr/>
      </p:nvGrpSpPr>
      <p:grpSpPr>
        <a:xfrm>
          <a:off x="0" y="0"/>
          <a:ext cx="0" cy="0"/>
          <a:chOff x="0" y="0"/>
          <a:chExt cx="0" cy="0"/>
        </a:xfrm>
      </p:grpSpPr>
      <p:sp>
        <p:nvSpPr>
          <p:cNvPr id="53" name="Google Shape;53;p31"/>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1"/>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g2d52a38cadd_0_58"/>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sz="1100"/>
            </a:lvl1pPr>
            <a:lvl2pPr lvl="1" algn="l">
              <a:lnSpc>
                <a:spcPct val="100000"/>
              </a:lnSpc>
              <a:spcBef>
                <a:spcPts val="0"/>
              </a:spcBef>
              <a:spcAft>
                <a:spcPts val="0"/>
              </a:spcAft>
              <a:buSzPts val="4500"/>
              <a:buNone/>
              <a:defRPr sz="1100"/>
            </a:lvl2pPr>
            <a:lvl3pPr lvl="2" algn="l">
              <a:lnSpc>
                <a:spcPct val="100000"/>
              </a:lnSpc>
              <a:spcBef>
                <a:spcPts val="0"/>
              </a:spcBef>
              <a:spcAft>
                <a:spcPts val="0"/>
              </a:spcAft>
              <a:buSzPts val="4500"/>
              <a:buNone/>
              <a:defRPr sz="1100"/>
            </a:lvl3pPr>
            <a:lvl4pPr lvl="3" algn="l">
              <a:lnSpc>
                <a:spcPct val="100000"/>
              </a:lnSpc>
              <a:spcBef>
                <a:spcPts val="0"/>
              </a:spcBef>
              <a:spcAft>
                <a:spcPts val="0"/>
              </a:spcAft>
              <a:buSzPts val="4500"/>
              <a:buNone/>
              <a:defRPr sz="1100"/>
            </a:lvl4pPr>
            <a:lvl5pPr lvl="4" algn="l">
              <a:lnSpc>
                <a:spcPct val="100000"/>
              </a:lnSpc>
              <a:spcBef>
                <a:spcPts val="0"/>
              </a:spcBef>
              <a:spcAft>
                <a:spcPts val="0"/>
              </a:spcAft>
              <a:buSzPts val="4500"/>
              <a:buNone/>
              <a:defRPr sz="1100"/>
            </a:lvl5pPr>
            <a:lvl6pPr lvl="5" algn="l">
              <a:lnSpc>
                <a:spcPct val="100000"/>
              </a:lnSpc>
              <a:spcBef>
                <a:spcPts val="0"/>
              </a:spcBef>
              <a:spcAft>
                <a:spcPts val="0"/>
              </a:spcAft>
              <a:buSzPts val="4500"/>
              <a:buNone/>
              <a:defRPr sz="1100"/>
            </a:lvl6pPr>
            <a:lvl7pPr lvl="6" algn="l">
              <a:lnSpc>
                <a:spcPct val="100000"/>
              </a:lnSpc>
              <a:spcBef>
                <a:spcPts val="0"/>
              </a:spcBef>
              <a:spcAft>
                <a:spcPts val="0"/>
              </a:spcAft>
              <a:buSzPts val="4500"/>
              <a:buNone/>
              <a:defRPr sz="1100"/>
            </a:lvl7pPr>
            <a:lvl8pPr lvl="7" algn="l">
              <a:lnSpc>
                <a:spcPct val="100000"/>
              </a:lnSpc>
              <a:spcBef>
                <a:spcPts val="0"/>
              </a:spcBef>
              <a:spcAft>
                <a:spcPts val="0"/>
              </a:spcAft>
              <a:buSzPts val="4500"/>
              <a:buNone/>
              <a:defRPr sz="1100"/>
            </a:lvl8pPr>
            <a:lvl9pPr lvl="8" algn="l">
              <a:lnSpc>
                <a:spcPct val="100000"/>
              </a:lnSpc>
              <a:spcBef>
                <a:spcPts val="0"/>
              </a:spcBef>
              <a:spcAft>
                <a:spcPts val="0"/>
              </a:spcAft>
              <a:buSzPts val="4500"/>
              <a:buNone/>
              <a:defRPr sz="1100"/>
            </a:lvl9pPr>
          </a:lstStyle>
          <a:p/>
        </p:txBody>
      </p:sp>
      <p:sp>
        <p:nvSpPr>
          <p:cNvPr id="58" name="Google Shape;58;g2d52a38cadd_0_58"/>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gn="l">
              <a:lnSpc>
                <a:spcPct val="115000"/>
              </a:lnSpc>
              <a:spcBef>
                <a:spcPts val="0"/>
              </a:spcBef>
              <a:spcAft>
                <a:spcPts val="0"/>
              </a:spcAft>
              <a:buSzPts val="2900"/>
              <a:buChar char="●"/>
              <a:defRPr sz="1100"/>
            </a:lvl1pPr>
            <a:lvl2pPr indent="-368300" lvl="1" marL="914400" algn="l">
              <a:lnSpc>
                <a:spcPct val="115000"/>
              </a:lnSpc>
              <a:spcBef>
                <a:spcPts val="0"/>
              </a:spcBef>
              <a:spcAft>
                <a:spcPts val="0"/>
              </a:spcAft>
              <a:buSzPts val="2200"/>
              <a:buChar char="○"/>
              <a:defRPr sz="1100"/>
            </a:lvl2pPr>
            <a:lvl3pPr indent="-368300" lvl="2" marL="1371600" algn="l">
              <a:lnSpc>
                <a:spcPct val="115000"/>
              </a:lnSpc>
              <a:spcBef>
                <a:spcPts val="0"/>
              </a:spcBef>
              <a:spcAft>
                <a:spcPts val="0"/>
              </a:spcAft>
              <a:buSzPts val="2200"/>
              <a:buChar char="■"/>
              <a:defRPr sz="1100"/>
            </a:lvl3pPr>
            <a:lvl4pPr indent="-368300" lvl="3" marL="1828800" algn="l">
              <a:lnSpc>
                <a:spcPct val="115000"/>
              </a:lnSpc>
              <a:spcBef>
                <a:spcPts val="0"/>
              </a:spcBef>
              <a:spcAft>
                <a:spcPts val="0"/>
              </a:spcAft>
              <a:buSzPts val="2200"/>
              <a:buChar char="●"/>
              <a:defRPr sz="1100"/>
            </a:lvl4pPr>
            <a:lvl5pPr indent="-368300" lvl="4" marL="2286000" algn="l">
              <a:lnSpc>
                <a:spcPct val="115000"/>
              </a:lnSpc>
              <a:spcBef>
                <a:spcPts val="0"/>
              </a:spcBef>
              <a:spcAft>
                <a:spcPts val="0"/>
              </a:spcAft>
              <a:buSzPts val="2200"/>
              <a:buChar char="○"/>
              <a:defRPr sz="1100"/>
            </a:lvl5pPr>
            <a:lvl6pPr indent="-368300" lvl="5" marL="2743200" algn="l">
              <a:lnSpc>
                <a:spcPct val="115000"/>
              </a:lnSpc>
              <a:spcBef>
                <a:spcPts val="0"/>
              </a:spcBef>
              <a:spcAft>
                <a:spcPts val="0"/>
              </a:spcAft>
              <a:buSzPts val="2200"/>
              <a:buChar char="■"/>
              <a:defRPr sz="1100"/>
            </a:lvl6pPr>
            <a:lvl7pPr indent="-368300" lvl="6" marL="3200400" algn="l">
              <a:lnSpc>
                <a:spcPct val="115000"/>
              </a:lnSpc>
              <a:spcBef>
                <a:spcPts val="0"/>
              </a:spcBef>
              <a:spcAft>
                <a:spcPts val="0"/>
              </a:spcAft>
              <a:buSzPts val="2200"/>
              <a:buChar char="●"/>
              <a:defRPr sz="1100"/>
            </a:lvl7pPr>
            <a:lvl8pPr indent="-368300" lvl="7" marL="3657600" algn="l">
              <a:lnSpc>
                <a:spcPct val="115000"/>
              </a:lnSpc>
              <a:spcBef>
                <a:spcPts val="0"/>
              </a:spcBef>
              <a:spcAft>
                <a:spcPts val="0"/>
              </a:spcAft>
              <a:buSzPts val="2200"/>
              <a:buChar char="○"/>
              <a:defRPr sz="1100"/>
            </a:lvl8pPr>
            <a:lvl9pPr indent="-368300" lvl="8" marL="4114800" algn="l">
              <a:lnSpc>
                <a:spcPct val="115000"/>
              </a:lnSpc>
              <a:spcBef>
                <a:spcPts val="0"/>
              </a:spcBef>
              <a:spcAft>
                <a:spcPts val="0"/>
              </a:spcAft>
              <a:buSzPts val="2200"/>
              <a:buChar char="■"/>
              <a:defRPr sz="1100"/>
            </a:lvl9pPr>
          </a:lstStyle>
          <a:p/>
        </p:txBody>
      </p:sp>
      <p:sp>
        <p:nvSpPr>
          <p:cNvPr id="59" name="Google Shape;59;g2d52a38cadd_0_5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4.png"/><Relationship Id="rId8"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13.png"/><Relationship Id="rId6" Type="http://schemas.openxmlformats.org/officeDocument/2006/relationships/image" Target="../media/image26.png"/><Relationship Id="rId7" Type="http://schemas.openxmlformats.org/officeDocument/2006/relationships/image" Target="../media/image22.png"/><Relationship Id="rId8"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21.png"/><Relationship Id="rId5"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g2d52a38cadd_0_0"/>
          <p:cNvPicPr preferRelativeResize="0"/>
          <p:nvPr/>
        </p:nvPicPr>
        <p:blipFill rotWithShape="1">
          <a:blip r:embed="rId3">
            <a:alphaModFix amt="62000"/>
          </a:blip>
          <a:srcRect b="0" l="0" r="0" t="0"/>
          <a:stretch/>
        </p:blipFill>
        <p:spPr>
          <a:xfrm>
            <a:off x="13522" y="0"/>
            <a:ext cx="14603357" cy="8229600"/>
          </a:xfrm>
          <a:prstGeom prst="rect">
            <a:avLst/>
          </a:prstGeom>
          <a:noFill/>
          <a:ln>
            <a:noFill/>
          </a:ln>
        </p:spPr>
      </p:pic>
      <p:graphicFrame>
        <p:nvGraphicFramePr>
          <p:cNvPr id="65" name="Google Shape;65;g2d52a38cadd_0_0"/>
          <p:cNvGraphicFramePr/>
          <p:nvPr/>
        </p:nvGraphicFramePr>
        <p:xfrm>
          <a:off x="8525120" y="1552040"/>
          <a:ext cx="3000000" cy="3000000"/>
        </p:xfrm>
        <a:graphic>
          <a:graphicData uri="http://schemas.openxmlformats.org/drawingml/2006/table">
            <a:tbl>
              <a:tblPr>
                <a:noFill/>
                <a:tableStyleId>{5FA55BD1-951D-4DE7-8482-1BF4F90BD824}</a:tableStyleId>
              </a:tblPr>
              <a:tblGrid>
                <a:gridCol w="2429125"/>
                <a:gridCol w="3475800"/>
              </a:tblGrid>
              <a:tr h="515925">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Día, Fecha:</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Día, xx/xx/2025 </a:t>
                      </a:r>
                      <a:endParaRPr sz="2200" u="none" cap="none" strike="noStrike"/>
                    </a:p>
                  </a:txBody>
                  <a:tcPr marT="146275" marB="146275" marR="146275" marL="146275"/>
                </a:tc>
              </a:tr>
              <a:tr h="5809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Hora de inicio:</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xx:xx</a:t>
                      </a:r>
                      <a:endParaRPr sz="2200" u="none" cap="none" strike="noStrike"/>
                    </a:p>
                  </a:txBody>
                  <a:tcPr marT="146275" marB="146275" marR="146275" marL="146275"/>
                </a:tc>
              </a:tr>
            </a:tbl>
          </a:graphicData>
        </a:graphic>
      </p:graphicFrame>
      <p:sp>
        <p:nvSpPr>
          <p:cNvPr id="66" name="Google Shape;66;g2d52a38cadd_0_0"/>
          <p:cNvSpPr txBox="1"/>
          <p:nvPr/>
        </p:nvSpPr>
        <p:spPr>
          <a:xfrm>
            <a:off x="2304280" y="3613280"/>
            <a:ext cx="108672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4000"/>
              <a:buFont typeface="Arial"/>
              <a:buNone/>
            </a:pPr>
            <a:r>
              <a:rPr lang="en-US" sz="4000"/>
              <a:t>Análisis y Diseño de Sistemas 2 </a:t>
            </a:r>
            <a:r>
              <a:rPr b="0" i="0" lang="en-US" sz="4000" u="none" cap="none" strike="noStrike">
                <a:solidFill>
                  <a:srgbClr val="000000"/>
                </a:solidFill>
                <a:latin typeface="Arial"/>
                <a:ea typeface="Arial"/>
                <a:cs typeface="Arial"/>
                <a:sym typeface="Arial"/>
              </a:rPr>
              <a:t>[</a:t>
            </a:r>
            <a:r>
              <a:rPr lang="en-US" sz="4000"/>
              <a:t>SECCIÓN</a:t>
            </a:r>
            <a:r>
              <a:rPr b="0" i="0" lang="en-US" sz="4000" u="none" cap="none" strike="noStrike">
                <a:solidFill>
                  <a:srgbClr val="000000"/>
                </a:solidFill>
                <a:latin typeface="Arial"/>
                <a:ea typeface="Arial"/>
                <a:cs typeface="Arial"/>
                <a:sym typeface="Arial"/>
              </a:rPr>
              <a:t>]</a:t>
            </a:r>
            <a:endParaRPr b="0" i="0" sz="4000" u="none" cap="none" strike="noStrike">
              <a:solidFill>
                <a:srgbClr val="000000"/>
              </a:solidFill>
              <a:latin typeface="Arial"/>
              <a:ea typeface="Arial"/>
              <a:cs typeface="Arial"/>
              <a:sym typeface="Arial"/>
            </a:endParaRPr>
          </a:p>
        </p:txBody>
      </p:sp>
      <p:sp>
        <p:nvSpPr>
          <p:cNvPr id="67" name="Google Shape;67;g2d52a38cadd_0_0"/>
          <p:cNvSpPr txBox="1"/>
          <p:nvPr/>
        </p:nvSpPr>
        <p:spPr>
          <a:xfrm>
            <a:off x="2845920" y="4641200"/>
            <a:ext cx="8938500" cy="788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3200"/>
              <a:buFont typeface="Arial"/>
              <a:buNone/>
            </a:pPr>
            <a:r>
              <a:rPr lang="en-US" sz="3200"/>
              <a:t>Estudiante</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descr="preencoded.png" id="73" name="Google Shape;73;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74" name="Google Shape;74;p1"/>
          <p:cNvPicPr preferRelativeResize="0"/>
          <p:nvPr/>
        </p:nvPicPr>
        <p:blipFill rotWithShape="1">
          <a:blip r:embed="rId4">
            <a:alphaModFix/>
          </a:blip>
          <a:srcRect b="0" l="0" r="0" t="0"/>
          <a:stretch/>
        </p:blipFill>
        <p:spPr>
          <a:xfrm>
            <a:off x="9427488" y="2298740"/>
            <a:ext cx="4919305" cy="3632121"/>
          </a:xfrm>
          <a:prstGeom prst="rect">
            <a:avLst/>
          </a:prstGeom>
          <a:noFill/>
          <a:ln>
            <a:noFill/>
          </a:ln>
        </p:spPr>
      </p:pic>
      <p:sp>
        <p:nvSpPr>
          <p:cNvPr id="75" name="Google Shape;75;p1"/>
          <p:cNvSpPr/>
          <p:nvPr/>
        </p:nvSpPr>
        <p:spPr>
          <a:xfrm>
            <a:off x="793790" y="2328624"/>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Arquitectura de software: visión general</a:t>
            </a:r>
            <a:endParaRPr b="0" i="0" sz="4450" u="none" cap="none" strike="noStrike"/>
          </a:p>
        </p:txBody>
      </p:sp>
      <p:sp>
        <p:nvSpPr>
          <p:cNvPr id="76" name="Google Shape;76;p1"/>
          <p:cNvSpPr/>
          <p:nvPr/>
        </p:nvSpPr>
        <p:spPr>
          <a:xfrm>
            <a:off x="793790" y="4086344"/>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 arquitectura de software es el diseño fundamental de un sistema informático que define su estructura, componentes, interacciones y principios de diseño. Esta proporciona una perspectiva holística del sistema y facilita la toma de decisiones clave durante el desarrollo y mantenimiento.</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preencoded.png" id="82" name="Google Shape;82;p2"/>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83" name="Google Shape;83;p2"/>
          <p:cNvPicPr preferRelativeResize="0"/>
          <p:nvPr/>
        </p:nvPicPr>
        <p:blipFill rotWithShape="1">
          <a:blip r:embed="rId4">
            <a:alphaModFix/>
          </a:blip>
          <a:srcRect b="0" l="0" r="0" t="0"/>
          <a:stretch/>
        </p:blipFill>
        <p:spPr>
          <a:xfrm>
            <a:off x="256342" y="2315885"/>
            <a:ext cx="4973717" cy="3597712"/>
          </a:xfrm>
          <a:prstGeom prst="rect">
            <a:avLst/>
          </a:prstGeom>
          <a:noFill/>
          <a:ln>
            <a:noFill/>
          </a:ln>
        </p:spPr>
      </p:pic>
      <p:sp>
        <p:nvSpPr>
          <p:cNvPr id="84" name="Google Shape;84;p2"/>
          <p:cNvSpPr/>
          <p:nvPr/>
        </p:nvSpPr>
        <p:spPr>
          <a:xfrm>
            <a:off x="6203871" y="728782"/>
            <a:ext cx="7709059" cy="12811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4000"/>
              <a:buFont typeface="Alice"/>
              <a:buNone/>
            </a:pPr>
            <a:r>
              <a:rPr b="0" i="0" lang="en-US" sz="4000" u="none" cap="none" strike="noStrike">
                <a:solidFill>
                  <a:srgbClr val="233E32"/>
                </a:solidFill>
                <a:latin typeface="Alice"/>
                <a:ea typeface="Alice"/>
                <a:cs typeface="Alice"/>
                <a:sym typeface="Alice"/>
              </a:rPr>
              <a:t>Monolítica vs microservicios: diferencias clave</a:t>
            </a:r>
            <a:endParaRPr b="0" i="0" sz="4000" u="none" cap="none" strike="noStrike"/>
          </a:p>
        </p:txBody>
      </p:sp>
      <p:sp>
        <p:nvSpPr>
          <p:cNvPr id="85" name="Google Shape;85;p2"/>
          <p:cNvSpPr/>
          <p:nvPr/>
        </p:nvSpPr>
        <p:spPr>
          <a:xfrm>
            <a:off x="6203871" y="2317313"/>
            <a:ext cx="3752136" cy="3141464"/>
          </a:xfrm>
          <a:prstGeom prst="roundRect">
            <a:avLst>
              <a:gd fmla="val 979"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6408777" y="2522220"/>
            <a:ext cx="2746296" cy="32027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000"/>
              <a:buFont typeface="Alice"/>
              <a:buNone/>
            </a:pPr>
            <a:r>
              <a:rPr b="0" i="0" lang="en-US" sz="2000" u="none" cap="none" strike="noStrike">
                <a:solidFill>
                  <a:srgbClr val="2C2821"/>
                </a:solidFill>
                <a:latin typeface="Alice"/>
                <a:ea typeface="Alice"/>
                <a:cs typeface="Alice"/>
                <a:sym typeface="Alice"/>
              </a:rPr>
              <a:t>Arquitectura Monolítica</a:t>
            </a:r>
            <a:endParaRPr b="0" i="0" sz="2000" u="none" cap="none" strike="noStrike"/>
          </a:p>
        </p:txBody>
      </p:sp>
      <p:sp>
        <p:nvSpPr>
          <p:cNvPr id="87" name="Google Shape;87;p2"/>
          <p:cNvSpPr/>
          <p:nvPr/>
        </p:nvSpPr>
        <p:spPr>
          <a:xfrm>
            <a:off x="6408777" y="2965490"/>
            <a:ext cx="3342322" cy="1968103"/>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Una aplicación monolítica es una sola unidad de software que engloba todas las funcionalidades. Todos los componentes están estrechamente acoplados e integrados.</a:t>
            </a:r>
            <a:endParaRPr b="0" i="0" sz="1600" u="none" cap="none" strike="noStrike"/>
          </a:p>
        </p:txBody>
      </p:sp>
      <p:sp>
        <p:nvSpPr>
          <p:cNvPr id="88" name="Google Shape;88;p2"/>
          <p:cNvSpPr/>
          <p:nvPr/>
        </p:nvSpPr>
        <p:spPr>
          <a:xfrm>
            <a:off x="10160913" y="2317313"/>
            <a:ext cx="3752136" cy="3141464"/>
          </a:xfrm>
          <a:prstGeom prst="roundRect">
            <a:avLst>
              <a:gd fmla="val 979"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10365819" y="2522220"/>
            <a:ext cx="3342322" cy="6405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000"/>
              <a:buFont typeface="Alice"/>
              <a:buNone/>
            </a:pPr>
            <a:r>
              <a:rPr b="0" i="0" lang="en-US" sz="2000" u="none" cap="none" strike="noStrike">
                <a:solidFill>
                  <a:srgbClr val="2C2821"/>
                </a:solidFill>
                <a:latin typeface="Alice"/>
                <a:ea typeface="Alice"/>
                <a:cs typeface="Alice"/>
                <a:sym typeface="Alice"/>
              </a:rPr>
              <a:t>Arquitectura de Microservicios</a:t>
            </a:r>
            <a:endParaRPr b="0" i="0" sz="2000" u="none" cap="none" strike="noStrike"/>
          </a:p>
        </p:txBody>
      </p:sp>
      <p:sp>
        <p:nvSpPr>
          <p:cNvPr id="90" name="Google Shape;90;p2"/>
          <p:cNvSpPr/>
          <p:nvPr/>
        </p:nvSpPr>
        <p:spPr>
          <a:xfrm>
            <a:off x="10365819" y="3285768"/>
            <a:ext cx="3342322" cy="1968103"/>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Los microservicios son servicios independientes, pequeños y modulares que se comunican a través de API bien definidas. Cada servicio tiene una lógica y base de datos propia.</a:t>
            </a:r>
            <a:endParaRPr b="0" i="0" sz="1600" u="none" cap="none" strike="noStrike"/>
          </a:p>
        </p:txBody>
      </p:sp>
      <p:sp>
        <p:nvSpPr>
          <p:cNvPr id="91" name="Google Shape;91;p2"/>
          <p:cNvSpPr/>
          <p:nvPr/>
        </p:nvSpPr>
        <p:spPr>
          <a:xfrm>
            <a:off x="6203871" y="5663684"/>
            <a:ext cx="7709059" cy="1837134"/>
          </a:xfrm>
          <a:prstGeom prst="roundRect">
            <a:avLst>
              <a:gd fmla="val 1674"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6408777" y="5868591"/>
            <a:ext cx="2562463" cy="32027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000"/>
              <a:buFont typeface="Alice"/>
              <a:buNone/>
            </a:pPr>
            <a:r>
              <a:rPr b="0" i="0" lang="en-US" sz="2000" u="none" cap="none" strike="noStrike">
                <a:solidFill>
                  <a:srgbClr val="2C2821"/>
                </a:solidFill>
                <a:latin typeface="Alice"/>
                <a:ea typeface="Alice"/>
                <a:cs typeface="Alice"/>
                <a:sym typeface="Alice"/>
              </a:rPr>
              <a:t>Escalabilidad</a:t>
            </a:r>
            <a:endParaRPr b="0" i="0" sz="2000" u="none" cap="none" strike="noStrike"/>
          </a:p>
        </p:txBody>
      </p:sp>
      <p:sp>
        <p:nvSpPr>
          <p:cNvPr id="93" name="Google Shape;93;p2"/>
          <p:cNvSpPr/>
          <p:nvPr/>
        </p:nvSpPr>
        <p:spPr>
          <a:xfrm>
            <a:off x="6408777" y="6311860"/>
            <a:ext cx="7299246" cy="984052"/>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La arquitectura monolítica escala verticalmente, mientras que los microservicios permiten escalar horizontalmente, replicando y distribuyendo los servicios según la demanda.</a:t>
            </a:r>
            <a:endParaRPr b="0" i="0" sz="16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p:nvPr/>
        </p:nvSpPr>
        <p:spPr>
          <a:xfrm>
            <a:off x="793790" y="1147405"/>
            <a:ext cx="960465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Ventajas de la arquitectura monolítica</a:t>
            </a:r>
            <a:endParaRPr b="0" i="0" sz="4450" u="none" cap="none" strike="noStrike"/>
          </a:p>
        </p:txBody>
      </p:sp>
      <p:pic>
        <p:nvPicPr>
          <p:cNvPr descr="preencoded.png" id="100" name="Google Shape;100;p3"/>
          <p:cNvPicPr preferRelativeResize="0"/>
          <p:nvPr/>
        </p:nvPicPr>
        <p:blipFill rotWithShape="1">
          <a:blip r:embed="rId3">
            <a:alphaModFix/>
          </a:blip>
          <a:srcRect b="0" l="0" r="0" t="0"/>
          <a:stretch/>
        </p:blipFill>
        <p:spPr>
          <a:xfrm>
            <a:off x="793790" y="2309813"/>
            <a:ext cx="4120753" cy="2546747"/>
          </a:xfrm>
          <a:prstGeom prst="rect">
            <a:avLst/>
          </a:prstGeom>
          <a:noFill/>
          <a:ln>
            <a:noFill/>
          </a:ln>
        </p:spPr>
      </p:pic>
      <p:sp>
        <p:nvSpPr>
          <p:cNvPr id="101" name="Google Shape;101;p3"/>
          <p:cNvSpPr/>
          <p:nvPr/>
        </p:nvSpPr>
        <p:spPr>
          <a:xfrm>
            <a:off x="793790" y="514004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Simplicidad</a:t>
            </a:r>
            <a:endParaRPr b="0" i="0" sz="2200" u="none" cap="none" strike="noStrike"/>
          </a:p>
        </p:txBody>
      </p:sp>
      <p:sp>
        <p:nvSpPr>
          <p:cNvPr id="102" name="Google Shape;102;p3"/>
          <p:cNvSpPr/>
          <p:nvPr/>
        </p:nvSpPr>
        <p:spPr>
          <a:xfrm>
            <a:off x="793790" y="5630466"/>
            <a:ext cx="412075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Una arquitectura monolítica tiene una estructura más simple y fácil de entender, lo que facilita el desarrollo y mantenimiento del sistema.</a:t>
            </a:r>
            <a:endParaRPr b="0" i="0" sz="1750" u="none" cap="none" strike="noStrike"/>
          </a:p>
        </p:txBody>
      </p:sp>
      <p:pic>
        <p:nvPicPr>
          <p:cNvPr descr="preencoded.png" id="103" name="Google Shape;103;p3"/>
          <p:cNvPicPr preferRelativeResize="0"/>
          <p:nvPr/>
        </p:nvPicPr>
        <p:blipFill rotWithShape="1">
          <a:blip r:embed="rId4">
            <a:alphaModFix/>
          </a:blip>
          <a:srcRect b="0" l="0" r="0" t="0"/>
          <a:stretch/>
        </p:blipFill>
        <p:spPr>
          <a:xfrm>
            <a:off x="5254704" y="2309813"/>
            <a:ext cx="4120872" cy="2546866"/>
          </a:xfrm>
          <a:prstGeom prst="rect">
            <a:avLst/>
          </a:prstGeom>
          <a:noFill/>
          <a:ln>
            <a:noFill/>
          </a:ln>
        </p:spPr>
      </p:pic>
      <p:sp>
        <p:nvSpPr>
          <p:cNvPr id="104" name="Google Shape;104;p3"/>
          <p:cNvSpPr/>
          <p:nvPr/>
        </p:nvSpPr>
        <p:spPr>
          <a:xfrm>
            <a:off x="5254704" y="5140166"/>
            <a:ext cx="3140631"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Implementación Sencilla</a:t>
            </a:r>
            <a:endParaRPr b="0" i="0" sz="2200" u="none" cap="none" strike="noStrike"/>
          </a:p>
        </p:txBody>
      </p:sp>
      <p:sp>
        <p:nvSpPr>
          <p:cNvPr id="105" name="Google Shape;105;p3"/>
          <p:cNvSpPr/>
          <p:nvPr/>
        </p:nvSpPr>
        <p:spPr>
          <a:xfrm>
            <a:off x="5254704" y="5630585"/>
            <a:ext cx="4120872"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 implementación de una aplicación monolítica es más directa y requiere menos esfuerzo que la implementación de una arquitectura de microservicios.</a:t>
            </a:r>
            <a:endParaRPr b="0" i="0" sz="1750" u="none" cap="none" strike="noStrike"/>
          </a:p>
        </p:txBody>
      </p:sp>
      <p:pic>
        <p:nvPicPr>
          <p:cNvPr descr="preencoded.png" id="106" name="Google Shape;106;p3"/>
          <p:cNvPicPr preferRelativeResize="0"/>
          <p:nvPr/>
        </p:nvPicPr>
        <p:blipFill rotWithShape="1">
          <a:blip r:embed="rId5">
            <a:alphaModFix/>
          </a:blip>
          <a:srcRect b="0" l="0" r="0" t="0"/>
          <a:stretch/>
        </p:blipFill>
        <p:spPr>
          <a:xfrm>
            <a:off x="9715738" y="2309813"/>
            <a:ext cx="4120753" cy="2546747"/>
          </a:xfrm>
          <a:prstGeom prst="rect">
            <a:avLst/>
          </a:prstGeom>
          <a:noFill/>
          <a:ln>
            <a:noFill/>
          </a:ln>
        </p:spPr>
      </p:pic>
      <p:sp>
        <p:nvSpPr>
          <p:cNvPr id="107" name="Google Shape;107;p3"/>
          <p:cNvSpPr/>
          <p:nvPr/>
        </p:nvSpPr>
        <p:spPr>
          <a:xfrm>
            <a:off x="9715738" y="5140047"/>
            <a:ext cx="3012281"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Comunicación Eficiente</a:t>
            </a:r>
            <a:endParaRPr b="0" i="0" sz="2200" u="none" cap="none" strike="noStrike"/>
          </a:p>
        </p:txBody>
      </p:sp>
      <p:sp>
        <p:nvSpPr>
          <p:cNvPr id="108" name="Google Shape;108;p3"/>
          <p:cNvSpPr/>
          <p:nvPr/>
        </p:nvSpPr>
        <p:spPr>
          <a:xfrm>
            <a:off x="9715738" y="5630466"/>
            <a:ext cx="412075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 comunicación entre los diferentes componentes de una aplicación monolítica es más sencilla y rápida, ya que se encuentra en el mismo entorno.</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preencoded.png" id="114" name="Google Shape;114;p4"/>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115" name="Google Shape;115;p4"/>
          <p:cNvPicPr preferRelativeResize="0"/>
          <p:nvPr/>
        </p:nvPicPr>
        <p:blipFill rotWithShape="1">
          <a:blip r:embed="rId4">
            <a:alphaModFix/>
          </a:blip>
          <a:srcRect b="0" l="0" r="0" t="0"/>
          <a:stretch/>
        </p:blipFill>
        <p:spPr>
          <a:xfrm>
            <a:off x="253365" y="2714268"/>
            <a:ext cx="4979670" cy="2801064"/>
          </a:xfrm>
          <a:prstGeom prst="rect">
            <a:avLst/>
          </a:prstGeom>
          <a:noFill/>
          <a:ln>
            <a:noFill/>
          </a:ln>
        </p:spPr>
      </p:pic>
      <p:sp>
        <p:nvSpPr>
          <p:cNvPr id="116" name="Google Shape;116;p4"/>
          <p:cNvSpPr/>
          <p:nvPr/>
        </p:nvSpPr>
        <p:spPr>
          <a:xfrm>
            <a:off x="6195774" y="620316"/>
            <a:ext cx="7725251" cy="1266825"/>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233E32"/>
              </a:buClr>
              <a:buSzPts val="3950"/>
              <a:buFont typeface="Alice"/>
              <a:buNone/>
            </a:pPr>
            <a:r>
              <a:rPr b="0" i="0" lang="en-US" sz="3950" u="none" cap="none" strike="noStrike">
                <a:solidFill>
                  <a:srgbClr val="233E32"/>
                </a:solidFill>
                <a:latin typeface="Alice"/>
                <a:ea typeface="Alice"/>
                <a:cs typeface="Alice"/>
                <a:sym typeface="Alice"/>
              </a:rPr>
              <a:t>Desventajas de la arquitectura monolítica</a:t>
            </a:r>
            <a:endParaRPr b="0" i="0" sz="3950" u="none" cap="none" strike="noStrike"/>
          </a:p>
        </p:txBody>
      </p:sp>
      <p:sp>
        <p:nvSpPr>
          <p:cNvPr id="117" name="Google Shape;117;p4"/>
          <p:cNvSpPr/>
          <p:nvPr/>
        </p:nvSpPr>
        <p:spPr>
          <a:xfrm>
            <a:off x="6195774" y="2419112"/>
            <a:ext cx="354687" cy="354687"/>
          </a:xfrm>
          <a:prstGeom prst="roundRect">
            <a:avLst>
              <a:gd fmla="val 8572"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6753106" y="2419112"/>
            <a:ext cx="2533769" cy="316706"/>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Falta de escalabilidad</a:t>
            </a:r>
            <a:endParaRPr b="0" i="0" sz="1950" u="none" cap="none" strike="noStrike"/>
          </a:p>
        </p:txBody>
      </p:sp>
      <p:sp>
        <p:nvSpPr>
          <p:cNvPr id="119" name="Google Shape;119;p4"/>
          <p:cNvSpPr/>
          <p:nvPr/>
        </p:nvSpPr>
        <p:spPr>
          <a:xfrm>
            <a:off x="6753106" y="2857381"/>
            <a:ext cx="3203972" cy="1945243"/>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C2821"/>
              </a:buClr>
              <a:buSzPts val="1550"/>
              <a:buFont typeface="Lora"/>
              <a:buNone/>
            </a:pPr>
            <a:r>
              <a:rPr b="0" i="0" lang="en-US" sz="1550" u="none" cap="none" strike="noStrike">
                <a:solidFill>
                  <a:srgbClr val="2C2821"/>
                </a:solidFill>
                <a:latin typeface="Lora"/>
                <a:ea typeface="Lora"/>
                <a:cs typeface="Lora"/>
                <a:sym typeface="Lora"/>
              </a:rPr>
              <a:t>Los sistemas monolíticos pueden ser difíciles de escalar horizontalmente debido a su naturaleza integrada. Escalar un componente específico puede requerir escalar todo el sistema.</a:t>
            </a:r>
            <a:endParaRPr b="0" i="0" sz="1550" u="none" cap="none" strike="noStrike"/>
          </a:p>
        </p:txBody>
      </p:sp>
      <p:sp>
        <p:nvSpPr>
          <p:cNvPr id="120" name="Google Shape;120;p4"/>
          <p:cNvSpPr/>
          <p:nvPr/>
        </p:nvSpPr>
        <p:spPr>
          <a:xfrm>
            <a:off x="10159722" y="2419112"/>
            <a:ext cx="354687" cy="354687"/>
          </a:xfrm>
          <a:prstGeom prst="roundRect">
            <a:avLst>
              <a:gd fmla="val 8572"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10717054" y="2419112"/>
            <a:ext cx="3203972" cy="63341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Complejidad en el mantenimiento</a:t>
            </a:r>
            <a:endParaRPr b="0" i="0" sz="1950" u="none" cap="none" strike="noStrike"/>
          </a:p>
        </p:txBody>
      </p:sp>
      <p:sp>
        <p:nvSpPr>
          <p:cNvPr id="122" name="Google Shape;122;p4"/>
          <p:cNvSpPr/>
          <p:nvPr/>
        </p:nvSpPr>
        <p:spPr>
          <a:xfrm>
            <a:off x="10717054" y="3174087"/>
            <a:ext cx="3203972" cy="1945243"/>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C2821"/>
              </a:buClr>
              <a:buSzPts val="1550"/>
              <a:buFont typeface="Lora"/>
              <a:buNone/>
            </a:pPr>
            <a:r>
              <a:rPr b="0" i="0" lang="en-US" sz="1550" u="none" cap="none" strike="noStrike">
                <a:solidFill>
                  <a:srgbClr val="2C2821"/>
                </a:solidFill>
                <a:latin typeface="Lora"/>
                <a:ea typeface="Lora"/>
                <a:cs typeface="Lora"/>
                <a:sym typeface="Lora"/>
              </a:rPr>
              <a:t>A medida que el sistema crece, la complejidad del código y las dependencias internas también aumentan, dificultando el mantenimiento y las actualizaciones.</a:t>
            </a:r>
            <a:endParaRPr b="0" i="0" sz="1550" u="none" cap="none" strike="noStrike"/>
          </a:p>
        </p:txBody>
      </p:sp>
      <p:sp>
        <p:nvSpPr>
          <p:cNvPr id="123" name="Google Shape;123;p4"/>
          <p:cNvSpPr/>
          <p:nvPr/>
        </p:nvSpPr>
        <p:spPr>
          <a:xfrm>
            <a:off x="6195774" y="5549979"/>
            <a:ext cx="354687" cy="354687"/>
          </a:xfrm>
          <a:prstGeom prst="roundRect">
            <a:avLst>
              <a:gd fmla="val 8572"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6753106" y="5549979"/>
            <a:ext cx="3081695" cy="316706"/>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Lentitud en los despliegues</a:t>
            </a:r>
            <a:endParaRPr b="0" i="0" sz="1950" u="none" cap="none" strike="noStrike"/>
          </a:p>
        </p:txBody>
      </p:sp>
      <p:sp>
        <p:nvSpPr>
          <p:cNvPr id="125" name="Google Shape;125;p4"/>
          <p:cNvSpPr/>
          <p:nvPr/>
        </p:nvSpPr>
        <p:spPr>
          <a:xfrm>
            <a:off x="6753106" y="5988248"/>
            <a:ext cx="3203972" cy="1621036"/>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C2821"/>
              </a:buClr>
              <a:buSzPts val="1550"/>
              <a:buFont typeface="Lora"/>
              <a:buNone/>
            </a:pPr>
            <a:r>
              <a:rPr b="0" i="0" lang="en-US" sz="1550" u="none" cap="none" strike="noStrike">
                <a:solidFill>
                  <a:srgbClr val="2C2821"/>
                </a:solidFill>
                <a:latin typeface="Lora"/>
                <a:ea typeface="Lora"/>
                <a:cs typeface="Lora"/>
                <a:sym typeface="Lora"/>
              </a:rPr>
              <a:t>Los despliegues en sistemas monolíticos pueden ser lentos y conllevar riesgos, ya que cualquier cambio afecta a todo el sistema.</a:t>
            </a:r>
            <a:endParaRPr b="0" i="0" sz="1550" u="none" cap="none" strike="noStrike"/>
          </a:p>
        </p:txBody>
      </p:sp>
      <p:sp>
        <p:nvSpPr>
          <p:cNvPr id="126" name="Google Shape;126;p4"/>
          <p:cNvSpPr/>
          <p:nvPr/>
        </p:nvSpPr>
        <p:spPr>
          <a:xfrm>
            <a:off x="10159722" y="5549979"/>
            <a:ext cx="354687" cy="354687"/>
          </a:xfrm>
          <a:prstGeom prst="roundRect">
            <a:avLst>
              <a:gd fmla="val 8572"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10717054" y="5549979"/>
            <a:ext cx="2533769" cy="316706"/>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Acoplamiento fuerte</a:t>
            </a:r>
            <a:endParaRPr b="0" i="0" sz="1950" u="none" cap="none" strike="noStrike"/>
          </a:p>
        </p:txBody>
      </p:sp>
      <p:sp>
        <p:nvSpPr>
          <p:cNvPr id="128" name="Google Shape;128;p4"/>
          <p:cNvSpPr/>
          <p:nvPr/>
        </p:nvSpPr>
        <p:spPr>
          <a:xfrm>
            <a:off x="10717054" y="5988248"/>
            <a:ext cx="3203972" cy="1296829"/>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C2821"/>
              </a:buClr>
              <a:buSzPts val="1550"/>
              <a:buFont typeface="Lora"/>
              <a:buNone/>
            </a:pPr>
            <a:r>
              <a:rPr b="0" i="0" lang="en-US" sz="1550" u="none" cap="none" strike="noStrike">
                <a:solidFill>
                  <a:srgbClr val="2C2821"/>
                </a:solidFill>
                <a:latin typeface="Lora"/>
                <a:ea typeface="Lora"/>
                <a:cs typeface="Lora"/>
                <a:sym typeface="Lora"/>
              </a:rPr>
              <a:t>Los componentes de un sistema monolítico están fuertemente acoplados, lo que dificulta la reutilización y la modularidad.</a:t>
            </a:r>
            <a:endParaRPr b="0" i="0" sz="15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preencoded.png" id="134" name="Google Shape;134;p5"/>
          <p:cNvPicPr preferRelativeResize="0"/>
          <p:nvPr/>
        </p:nvPicPr>
        <p:blipFill rotWithShape="1">
          <a:blip r:embed="rId3">
            <a:alphaModFix/>
          </a:blip>
          <a:srcRect b="0" l="0" r="0" t="0"/>
          <a:stretch/>
        </p:blipFill>
        <p:spPr>
          <a:xfrm>
            <a:off x="0" y="0"/>
            <a:ext cx="14630400" cy="2714625"/>
          </a:xfrm>
          <a:prstGeom prst="rect">
            <a:avLst/>
          </a:prstGeom>
          <a:noFill/>
          <a:ln>
            <a:noFill/>
          </a:ln>
        </p:spPr>
      </p:pic>
      <p:pic>
        <p:nvPicPr>
          <p:cNvPr descr="preencoded.png" id="135" name="Google Shape;135;p5"/>
          <p:cNvPicPr preferRelativeResize="0"/>
          <p:nvPr/>
        </p:nvPicPr>
        <p:blipFill rotWithShape="1">
          <a:blip r:embed="rId4">
            <a:alphaModFix/>
          </a:blip>
          <a:srcRect b="0" l="0" r="0" t="0"/>
          <a:stretch/>
        </p:blipFill>
        <p:spPr>
          <a:xfrm>
            <a:off x="6221135" y="271463"/>
            <a:ext cx="2188012" cy="2171700"/>
          </a:xfrm>
          <a:prstGeom prst="rect">
            <a:avLst/>
          </a:prstGeom>
          <a:noFill/>
          <a:ln>
            <a:noFill/>
          </a:ln>
        </p:spPr>
      </p:pic>
      <p:sp>
        <p:nvSpPr>
          <p:cNvPr id="136" name="Google Shape;136;p5"/>
          <p:cNvSpPr/>
          <p:nvPr/>
        </p:nvSpPr>
        <p:spPr>
          <a:xfrm>
            <a:off x="760095" y="3312795"/>
            <a:ext cx="7265432" cy="678656"/>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233E32"/>
              </a:buClr>
              <a:buSzPts val="4250"/>
              <a:buFont typeface="Alice"/>
              <a:buNone/>
            </a:pPr>
            <a:r>
              <a:rPr b="0" i="0" lang="en-US" sz="4250" u="none" cap="none" strike="noStrike">
                <a:solidFill>
                  <a:srgbClr val="233E32"/>
                </a:solidFill>
                <a:latin typeface="Alice"/>
                <a:ea typeface="Alice"/>
                <a:cs typeface="Alice"/>
                <a:sym typeface="Alice"/>
              </a:rPr>
              <a:t>Ventajas de los microservicios</a:t>
            </a:r>
            <a:endParaRPr b="0" i="0" sz="4250" u="none" cap="none" strike="noStrike"/>
          </a:p>
        </p:txBody>
      </p:sp>
      <p:pic>
        <p:nvPicPr>
          <p:cNvPr descr="preencoded.png" id="137" name="Google Shape;137;p5"/>
          <p:cNvPicPr preferRelativeResize="0"/>
          <p:nvPr/>
        </p:nvPicPr>
        <p:blipFill rotWithShape="1">
          <a:blip r:embed="rId5">
            <a:alphaModFix/>
          </a:blip>
          <a:srcRect b="0" l="0" r="0" t="0"/>
          <a:stretch/>
        </p:blipFill>
        <p:spPr>
          <a:xfrm>
            <a:off x="760095" y="4317206"/>
            <a:ext cx="542925" cy="542925"/>
          </a:xfrm>
          <a:prstGeom prst="rect">
            <a:avLst/>
          </a:prstGeom>
          <a:noFill/>
          <a:ln>
            <a:noFill/>
          </a:ln>
        </p:spPr>
      </p:pic>
      <p:sp>
        <p:nvSpPr>
          <p:cNvPr id="138" name="Google Shape;138;p5"/>
          <p:cNvSpPr/>
          <p:nvPr/>
        </p:nvSpPr>
        <p:spPr>
          <a:xfrm>
            <a:off x="760095" y="5077301"/>
            <a:ext cx="2714625" cy="339328"/>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Flexibilidad</a:t>
            </a:r>
            <a:endParaRPr b="0" i="0" sz="2100" u="none" cap="none" strike="noStrike"/>
          </a:p>
        </p:txBody>
      </p:sp>
      <p:sp>
        <p:nvSpPr>
          <p:cNvPr id="139" name="Google Shape;139;p5"/>
          <p:cNvSpPr/>
          <p:nvPr/>
        </p:nvSpPr>
        <p:spPr>
          <a:xfrm>
            <a:off x="760095" y="5546884"/>
            <a:ext cx="3033236" cy="1737122"/>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Los microservicios permiten una mayor flexibilidad al desarrollar, implementar y escalar servicios de forma independiente.</a:t>
            </a:r>
            <a:endParaRPr b="0" i="0" sz="1700" u="none" cap="none" strike="noStrike"/>
          </a:p>
        </p:txBody>
      </p:sp>
      <p:pic>
        <p:nvPicPr>
          <p:cNvPr descr="preencoded.png" id="140" name="Google Shape;140;p5"/>
          <p:cNvPicPr preferRelativeResize="0"/>
          <p:nvPr/>
        </p:nvPicPr>
        <p:blipFill rotWithShape="1">
          <a:blip r:embed="rId6">
            <a:alphaModFix/>
          </a:blip>
          <a:srcRect b="0" l="0" r="0" t="0"/>
          <a:stretch/>
        </p:blipFill>
        <p:spPr>
          <a:xfrm>
            <a:off x="4119086" y="4317206"/>
            <a:ext cx="542925" cy="542925"/>
          </a:xfrm>
          <a:prstGeom prst="rect">
            <a:avLst/>
          </a:prstGeom>
          <a:noFill/>
          <a:ln>
            <a:noFill/>
          </a:ln>
        </p:spPr>
      </p:pic>
      <p:sp>
        <p:nvSpPr>
          <p:cNvPr id="141" name="Google Shape;141;p5"/>
          <p:cNvSpPr/>
          <p:nvPr/>
        </p:nvSpPr>
        <p:spPr>
          <a:xfrm>
            <a:off x="4119086" y="5077301"/>
            <a:ext cx="2714625" cy="339328"/>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Agilidad</a:t>
            </a:r>
            <a:endParaRPr b="0" i="0" sz="2100" u="none" cap="none" strike="noStrike"/>
          </a:p>
        </p:txBody>
      </p:sp>
      <p:sp>
        <p:nvSpPr>
          <p:cNvPr id="142" name="Google Shape;142;p5"/>
          <p:cNvSpPr/>
          <p:nvPr/>
        </p:nvSpPr>
        <p:spPr>
          <a:xfrm>
            <a:off x="4119086" y="5546884"/>
            <a:ext cx="3033236" cy="1737122"/>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Los equipos pueden trabajar de manera más ágil y autónoma, lo que acelera el desarrollo e implementación de nuevas funcionalidades.</a:t>
            </a:r>
            <a:endParaRPr b="0" i="0" sz="1700" u="none" cap="none" strike="noStrike"/>
          </a:p>
        </p:txBody>
      </p:sp>
      <p:pic>
        <p:nvPicPr>
          <p:cNvPr descr="preencoded.png" id="143" name="Google Shape;143;p5"/>
          <p:cNvPicPr preferRelativeResize="0"/>
          <p:nvPr/>
        </p:nvPicPr>
        <p:blipFill rotWithShape="1">
          <a:blip r:embed="rId7">
            <a:alphaModFix/>
          </a:blip>
          <a:srcRect b="0" l="0" r="0" t="0"/>
          <a:stretch/>
        </p:blipFill>
        <p:spPr>
          <a:xfrm>
            <a:off x="7478078" y="4317206"/>
            <a:ext cx="542925" cy="542925"/>
          </a:xfrm>
          <a:prstGeom prst="rect">
            <a:avLst/>
          </a:prstGeom>
          <a:noFill/>
          <a:ln>
            <a:noFill/>
          </a:ln>
        </p:spPr>
      </p:pic>
      <p:sp>
        <p:nvSpPr>
          <p:cNvPr id="144" name="Google Shape;144;p5"/>
          <p:cNvSpPr/>
          <p:nvPr/>
        </p:nvSpPr>
        <p:spPr>
          <a:xfrm>
            <a:off x="7478078" y="5077301"/>
            <a:ext cx="2714625" cy="339328"/>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Resiliencia</a:t>
            </a:r>
            <a:endParaRPr b="0" i="0" sz="2100" u="none" cap="none" strike="noStrike"/>
          </a:p>
        </p:txBody>
      </p:sp>
      <p:sp>
        <p:nvSpPr>
          <p:cNvPr id="145" name="Google Shape;145;p5"/>
          <p:cNvSpPr/>
          <p:nvPr/>
        </p:nvSpPr>
        <p:spPr>
          <a:xfrm>
            <a:off x="7478078" y="5546884"/>
            <a:ext cx="3033236" cy="1737122"/>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Si un microservicio falla, el resto de la aplicación puede seguir funcionando, lo que aumenta la disponibilidad general.</a:t>
            </a:r>
            <a:endParaRPr b="0" i="0" sz="1700" u="none" cap="none" strike="noStrike"/>
          </a:p>
        </p:txBody>
      </p:sp>
      <p:pic>
        <p:nvPicPr>
          <p:cNvPr descr="preencoded.png" id="146" name="Google Shape;146;p5"/>
          <p:cNvPicPr preferRelativeResize="0"/>
          <p:nvPr/>
        </p:nvPicPr>
        <p:blipFill rotWithShape="1">
          <a:blip r:embed="rId8">
            <a:alphaModFix/>
          </a:blip>
          <a:srcRect b="0" l="0" r="0" t="0"/>
          <a:stretch/>
        </p:blipFill>
        <p:spPr>
          <a:xfrm>
            <a:off x="10837069" y="4317206"/>
            <a:ext cx="542925" cy="542925"/>
          </a:xfrm>
          <a:prstGeom prst="rect">
            <a:avLst/>
          </a:prstGeom>
          <a:noFill/>
          <a:ln>
            <a:noFill/>
          </a:ln>
        </p:spPr>
      </p:pic>
      <p:sp>
        <p:nvSpPr>
          <p:cNvPr id="147" name="Google Shape;147;p5"/>
          <p:cNvSpPr/>
          <p:nvPr/>
        </p:nvSpPr>
        <p:spPr>
          <a:xfrm>
            <a:off x="10837069" y="5077301"/>
            <a:ext cx="2714625" cy="339328"/>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Escalabilidad</a:t>
            </a:r>
            <a:endParaRPr b="0" i="0" sz="2100" u="none" cap="none" strike="noStrike"/>
          </a:p>
        </p:txBody>
      </p:sp>
      <p:sp>
        <p:nvSpPr>
          <p:cNvPr id="148" name="Google Shape;148;p5"/>
          <p:cNvSpPr/>
          <p:nvPr/>
        </p:nvSpPr>
        <p:spPr>
          <a:xfrm>
            <a:off x="10837069" y="5546884"/>
            <a:ext cx="3033236" cy="208454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Los microservicios permiten escalar de forma más granular y eficiente, ajustando los recursos únicamente a los servicios que lo necesitan.</a:t>
            </a:r>
            <a:endParaRPr b="0" i="0" sz="17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p:nvPr/>
        </p:nvSpPr>
        <p:spPr>
          <a:xfrm>
            <a:off x="793790" y="1274088"/>
            <a:ext cx="851999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Desventajas de los microservicios</a:t>
            </a:r>
            <a:endParaRPr b="0" i="0" sz="4450" u="none" cap="none" strike="noStrike"/>
          </a:p>
        </p:txBody>
      </p:sp>
      <p:sp>
        <p:nvSpPr>
          <p:cNvPr id="155" name="Google Shape;155;p6"/>
          <p:cNvSpPr/>
          <p:nvPr/>
        </p:nvSpPr>
        <p:spPr>
          <a:xfrm>
            <a:off x="793790" y="2549843"/>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Complejidad de implementación</a:t>
            </a:r>
            <a:endParaRPr b="0" i="0" sz="2200" u="none" cap="none" strike="noStrike"/>
          </a:p>
        </p:txBody>
      </p:sp>
      <p:sp>
        <p:nvSpPr>
          <p:cNvPr id="156" name="Google Shape;156;p6"/>
          <p:cNvSpPr/>
          <p:nvPr/>
        </p:nvSpPr>
        <p:spPr>
          <a:xfrm>
            <a:off x="793790" y="3485317"/>
            <a:ext cx="2845594"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 división de una aplicación en múltiples microservicios agrega una capa de complejidad en su implementación y despliegue, requiriendo una coordinación cuidadosa entre los diferentes componentes.</a:t>
            </a:r>
            <a:endParaRPr b="0" i="0" sz="1750" u="none" cap="none" strike="noStrike"/>
          </a:p>
        </p:txBody>
      </p:sp>
      <p:sp>
        <p:nvSpPr>
          <p:cNvPr id="157" name="Google Shape;157;p6"/>
          <p:cNvSpPr/>
          <p:nvPr/>
        </p:nvSpPr>
        <p:spPr>
          <a:xfrm>
            <a:off x="4200406" y="2549843"/>
            <a:ext cx="283940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Aumento en los costos</a:t>
            </a:r>
            <a:endParaRPr b="0" i="0" sz="2200" u="none" cap="none" strike="noStrike"/>
          </a:p>
        </p:txBody>
      </p:sp>
      <p:sp>
        <p:nvSpPr>
          <p:cNvPr id="158" name="Google Shape;158;p6"/>
          <p:cNvSpPr/>
          <p:nvPr/>
        </p:nvSpPr>
        <p:spPr>
          <a:xfrm>
            <a:off x="4200406" y="3130987"/>
            <a:ext cx="2845594"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 infraestructura necesaria para soportar múltiples microservicios, como servidores, bases de datos y redes, puede incrementar significativamente los costos de operación y mantenimiento.</a:t>
            </a:r>
            <a:endParaRPr b="0" i="0" sz="1750" u="none" cap="none" strike="noStrike"/>
          </a:p>
        </p:txBody>
      </p:sp>
      <p:sp>
        <p:nvSpPr>
          <p:cNvPr id="159" name="Google Shape;159;p6"/>
          <p:cNvSpPr/>
          <p:nvPr/>
        </p:nvSpPr>
        <p:spPr>
          <a:xfrm>
            <a:off x="7607022" y="2549843"/>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Desafíos de monitoreo</a:t>
            </a:r>
            <a:endParaRPr b="0" i="0" sz="2200" u="none" cap="none" strike="noStrike"/>
          </a:p>
        </p:txBody>
      </p:sp>
      <p:sp>
        <p:nvSpPr>
          <p:cNvPr id="160" name="Google Shape;160;p6"/>
          <p:cNvSpPr/>
          <p:nvPr/>
        </p:nvSpPr>
        <p:spPr>
          <a:xfrm>
            <a:off x="7607022" y="3485317"/>
            <a:ext cx="2845594"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Mantener el seguimiento del rendimiento y la salud de cada microservicio de manera individual puede ser un reto, requiriendo herramientas y procedimientos más complejos.</a:t>
            </a:r>
            <a:endParaRPr b="0" i="0" sz="1750" u="none" cap="none" strike="noStrike"/>
          </a:p>
        </p:txBody>
      </p:sp>
      <p:sp>
        <p:nvSpPr>
          <p:cNvPr id="161" name="Google Shape;161;p6"/>
          <p:cNvSpPr/>
          <p:nvPr/>
        </p:nvSpPr>
        <p:spPr>
          <a:xfrm>
            <a:off x="11013638" y="2549843"/>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Dificultad de depuración</a:t>
            </a:r>
            <a:endParaRPr b="0" i="0" sz="2200" u="none" cap="none" strike="noStrike"/>
          </a:p>
        </p:txBody>
      </p:sp>
      <p:sp>
        <p:nvSpPr>
          <p:cNvPr id="162" name="Google Shape;162;p6"/>
          <p:cNvSpPr/>
          <p:nvPr/>
        </p:nvSpPr>
        <p:spPr>
          <a:xfrm>
            <a:off x="11013638" y="3485317"/>
            <a:ext cx="2845594"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Cuando se presenta un problema, localizar la causa raíz puede ser más complejo en una arquitectura de microservicios, ya que implica analizar múltiples componentes interconectados.</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preencoded.png" id="168" name="Google Shape;168;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69" name="Google Shape;169;p7"/>
          <p:cNvPicPr preferRelativeResize="0"/>
          <p:nvPr/>
        </p:nvPicPr>
        <p:blipFill rotWithShape="1">
          <a:blip r:embed="rId4">
            <a:alphaModFix/>
          </a:blip>
          <a:srcRect b="0" l="0" r="0" t="0"/>
          <a:stretch/>
        </p:blipFill>
        <p:spPr>
          <a:xfrm>
            <a:off x="9427488" y="2731175"/>
            <a:ext cx="4919305" cy="2767132"/>
          </a:xfrm>
          <a:prstGeom prst="rect">
            <a:avLst/>
          </a:prstGeom>
          <a:noFill/>
          <a:ln>
            <a:noFill/>
          </a:ln>
        </p:spPr>
      </p:pic>
      <p:sp>
        <p:nvSpPr>
          <p:cNvPr id="170" name="Google Shape;170;p7"/>
          <p:cNvSpPr/>
          <p:nvPr/>
        </p:nvSpPr>
        <p:spPr>
          <a:xfrm>
            <a:off x="793790" y="2147173"/>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Arquitectura orientada a eventos: definición</a:t>
            </a:r>
            <a:endParaRPr b="0" i="0" sz="4450" u="none" cap="none" strike="noStrike"/>
          </a:p>
        </p:txBody>
      </p:sp>
      <p:sp>
        <p:nvSpPr>
          <p:cNvPr id="171" name="Google Shape;171;p7"/>
          <p:cNvSpPr/>
          <p:nvPr/>
        </p:nvSpPr>
        <p:spPr>
          <a:xfrm>
            <a:off x="793790" y="3904893"/>
            <a:ext cx="7556421"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 arquitectura orientada a eventos (Event-Driven Architecture, EDA) es un paradigma de diseño de software en el que los elementos clave del sistema reaccionan a eventos, o cambios de estado significativos, a medida que ocurren. Esta aproximación se centra en capturar y responder a eventos en tiempo real para facilitar una toma de decisiones ágil y adaptativa.</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8"/>
          <p:cNvSpPr/>
          <p:nvPr/>
        </p:nvSpPr>
        <p:spPr>
          <a:xfrm>
            <a:off x="768906" y="778431"/>
            <a:ext cx="13092589" cy="1373029"/>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33E32"/>
              </a:buClr>
              <a:buSzPts val="4300"/>
              <a:buFont typeface="Alice"/>
              <a:buNone/>
            </a:pPr>
            <a:r>
              <a:rPr b="0" i="0" lang="en-US" sz="4300" u="none" cap="none" strike="noStrike">
                <a:solidFill>
                  <a:srgbClr val="233E32"/>
                </a:solidFill>
                <a:latin typeface="Alice"/>
                <a:ea typeface="Alice"/>
                <a:cs typeface="Alice"/>
                <a:sym typeface="Alice"/>
              </a:rPr>
              <a:t>Usos principales de la arquitectura orientada a eventos</a:t>
            </a:r>
            <a:endParaRPr b="0" i="0" sz="4300" u="none" cap="none" strike="noStrike"/>
          </a:p>
        </p:txBody>
      </p:sp>
      <p:sp>
        <p:nvSpPr>
          <p:cNvPr id="178" name="Google Shape;178;p8"/>
          <p:cNvSpPr/>
          <p:nvPr/>
        </p:nvSpPr>
        <p:spPr>
          <a:xfrm>
            <a:off x="768906" y="2590800"/>
            <a:ext cx="6436519" cy="2320290"/>
          </a:xfrm>
          <a:prstGeom prst="roundRect">
            <a:avLst>
              <a:gd fmla="val 14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988576" y="2810470"/>
            <a:ext cx="4922282" cy="343257"/>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Procesamiento de Datos en Tiempo Real</a:t>
            </a:r>
            <a:endParaRPr b="0" i="0" sz="2150" u="none" cap="none" strike="noStrike"/>
          </a:p>
        </p:txBody>
      </p:sp>
      <p:sp>
        <p:nvSpPr>
          <p:cNvPr id="180" name="Google Shape;180;p8"/>
          <p:cNvSpPr/>
          <p:nvPr/>
        </p:nvSpPr>
        <p:spPr>
          <a:xfrm>
            <a:off x="988576" y="3285530"/>
            <a:ext cx="5997178" cy="1405890"/>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La arquitectura orientada a eventos permite el procesamiento inmediato de datos a medida que se generan, lo que es crucial para aplicaciones que requieren tomar decisiones rápidas en entornos dinámicos.</a:t>
            </a:r>
            <a:endParaRPr b="0" i="0" sz="1700" u="none" cap="none" strike="noStrike"/>
          </a:p>
        </p:txBody>
      </p:sp>
      <p:sp>
        <p:nvSpPr>
          <p:cNvPr id="181" name="Google Shape;181;p8"/>
          <p:cNvSpPr/>
          <p:nvPr/>
        </p:nvSpPr>
        <p:spPr>
          <a:xfrm>
            <a:off x="7425095" y="2590800"/>
            <a:ext cx="6436519" cy="2320290"/>
          </a:xfrm>
          <a:prstGeom prst="roundRect">
            <a:avLst>
              <a:gd fmla="val 14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7644765" y="2810470"/>
            <a:ext cx="2938343" cy="343257"/>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Integración de Sistemas</a:t>
            </a:r>
            <a:endParaRPr b="0" i="0" sz="2150" u="none" cap="none" strike="noStrike"/>
          </a:p>
        </p:txBody>
      </p:sp>
      <p:sp>
        <p:nvSpPr>
          <p:cNvPr id="183" name="Google Shape;183;p8"/>
          <p:cNvSpPr/>
          <p:nvPr/>
        </p:nvSpPr>
        <p:spPr>
          <a:xfrm>
            <a:off x="7644765" y="3285530"/>
            <a:ext cx="5997178" cy="105441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Facilita la conexión de diferentes sistemas y servicios, permitiendo el flujo de información a través de una red de eventos, lo que mejora la agilidad y escalabilidad.</a:t>
            </a:r>
            <a:endParaRPr b="0" i="0" sz="1700" u="none" cap="none" strike="noStrike"/>
          </a:p>
        </p:txBody>
      </p:sp>
      <p:sp>
        <p:nvSpPr>
          <p:cNvPr id="184" name="Google Shape;184;p8"/>
          <p:cNvSpPr/>
          <p:nvPr/>
        </p:nvSpPr>
        <p:spPr>
          <a:xfrm>
            <a:off x="768906" y="5130760"/>
            <a:ext cx="6436519" cy="2320290"/>
          </a:xfrm>
          <a:prstGeom prst="roundRect">
            <a:avLst>
              <a:gd fmla="val 14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988576" y="5350431"/>
            <a:ext cx="3134678" cy="343257"/>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Escalabilidad y Resilencia</a:t>
            </a:r>
            <a:endParaRPr b="0" i="0" sz="2150" u="none" cap="none" strike="noStrike"/>
          </a:p>
        </p:txBody>
      </p:sp>
      <p:sp>
        <p:nvSpPr>
          <p:cNvPr id="186" name="Google Shape;186;p8"/>
          <p:cNvSpPr/>
          <p:nvPr/>
        </p:nvSpPr>
        <p:spPr>
          <a:xfrm>
            <a:off x="988576" y="5825490"/>
            <a:ext cx="5997178" cy="1405890"/>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Al desacoplar los componentes, esta arquitectura ofrece mayor escalabilidad horizontal y tolerancia a fallos, lo que la hace más resiliente ante picos de carga o fallos puntuales.</a:t>
            </a:r>
            <a:endParaRPr b="0" i="0" sz="1700" u="none" cap="none" strike="noStrike"/>
          </a:p>
        </p:txBody>
      </p:sp>
      <p:sp>
        <p:nvSpPr>
          <p:cNvPr id="187" name="Google Shape;187;p8"/>
          <p:cNvSpPr/>
          <p:nvPr/>
        </p:nvSpPr>
        <p:spPr>
          <a:xfrm>
            <a:off x="7425095" y="5130760"/>
            <a:ext cx="6436519" cy="2320290"/>
          </a:xfrm>
          <a:prstGeom prst="roundRect">
            <a:avLst>
              <a:gd fmla="val 142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7644765" y="5350431"/>
            <a:ext cx="4447580" cy="343257"/>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C2821"/>
              </a:buClr>
              <a:buSzPts val="2150"/>
              <a:buFont typeface="Alice"/>
              <a:buNone/>
            </a:pPr>
            <a:r>
              <a:rPr b="0" i="0" lang="en-US" sz="2150" u="none" cap="none" strike="noStrike">
                <a:solidFill>
                  <a:srgbClr val="2C2821"/>
                </a:solidFill>
                <a:latin typeface="Alice"/>
                <a:ea typeface="Alice"/>
                <a:cs typeface="Alice"/>
                <a:sym typeface="Alice"/>
              </a:rPr>
              <a:t>Mejora de la Experiencia del Usuario</a:t>
            </a:r>
            <a:endParaRPr b="0" i="0" sz="2150" u="none" cap="none" strike="noStrike"/>
          </a:p>
        </p:txBody>
      </p:sp>
      <p:sp>
        <p:nvSpPr>
          <p:cNvPr id="189" name="Google Shape;189;p8"/>
          <p:cNvSpPr/>
          <p:nvPr/>
        </p:nvSpPr>
        <p:spPr>
          <a:xfrm>
            <a:off x="7644765" y="5825490"/>
            <a:ext cx="5997178" cy="105441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Al procesar eventos en tiempo real, la arquitectura orientada a eventos permite ofrecer a los usuarios una experiencia más interactiva y receptiva a sus acciones.</a:t>
            </a:r>
            <a:endParaRPr b="0" i="0" sz="17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preencoded.png" id="195" name="Google Shape;195;p9"/>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96" name="Google Shape;196;p9"/>
          <p:cNvPicPr preferRelativeResize="0"/>
          <p:nvPr/>
        </p:nvPicPr>
        <p:blipFill rotWithShape="1">
          <a:blip r:embed="rId4">
            <a:alphaModFix/>
          </a:blip>
          <a:srcRect b="0" l="0" r="0" t="0"/>
          <a:stretch/>
        </p:blipFill>
        <p:spPr>
          <a:xfrm>
            <a:off x="9427607" y="2058948"/>
            <a:ext cx="4919186" cy="4111704"/>
          </a:xfrm>
          <a:prstGeom prst="rect">
            <a:avLst/>
          </a:prstGeom>
          <a:noFill/>
          <a:ln>
            <a:noFill/>
          </a:ln>
        </p:spPr>
      </p:pic>
      <p:sp>
        <p:nvSpPr>
          <p:cNvPr id="197" name="Google Shape;197;p9"/>
          <p:cNvSpPr/>
          <p:nvPr/>
        </p:nvSpPr>
        <p:spPr>
          <a:xfrm>
            <a:off x="793790" y="2510076"/>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Patrones de arquitectura empresarial: conceptos clave</a:t>
            </a:r>
            <a:endParaRPr b="0" i="0" sz="4450" u="none" cap="none" strike="noStrike"/>
          </a:p>
        </p:txBody>
      </p:sp>
      <p:sp>
        <p:nvSpPr>
          <p:cNvPr id="198" name="Google Shape;198;p9"/>
          <p:cNvSpPr/>
          <p:nvPr/>
        </p:nvSpPr>
        <p:spPr>
          <a:xfrm>
            <a:off x="793790" y="426779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Los patrones de arquitectura empresarial son soluciones probadas y reutilizables para problemas comunes de diseño de sistemas a gran escala. Estos patrones ayudan a crear arquitecturas de software sólidas, escalables y mantenibles.</a:t>
            </a:r>
            <a:endParaRPr b="0" i="0" sz="17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p:nvPr/>
        </p:nvSpPr>
        <p:spPr>
          <a:xfrm>
            <a:off x="793790" y="997268"/>
            <a:ext cx="1266289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Ejemplos de patrones de arquitectura empresarial</a:t>
            </a:r>
            <a:endParaRPr b="0" i="0" sz="4450" u="none" cap="none" strike="noStrike"/>
          </a:p>
        </p:txBody>
      </p:sp>
      <p:sp>
        <p:nvSpPr>
          <p:cNvPr id="205" name="Google Shape;205;p10"/>
          <p:cNvSpPr/>
          <p:nvPr/>
        </p:nvSpPr>
        <p:spPr>
          <a:xfrm>
            <a:off x="793790" y="2250281"/>
            <a:ext cx="624470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Los patrones de arquitectura empresarial son soluciones recurrentes a problemas comunes en el diseño de sistemas a gran escala. Algunos ejemplos incluyen:</a:t>
            </a:r>
            <a:endParaRPr b="0" i="0" sz="1750" u="none" cap="none" strike="noStrike"/>
          </a:p>
        </p:txBody>
      </p:sp>
      <p:sp>
        <p:nvSpPr>
          <p:cNvPr id="206" name="Google Shape;206;p10"/>
          <p:cNvSpPr/>
          <p:nvPr/>
        </p:nvSpPr>
        <p:spPr>
          <a:xfrm>
            <a:off x="793790" y="3543062"/>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2821"/>
              </a:buClr>
              <a:buSzPts val="1750"/>
              <a:buFont typeface="Lora"/>
              <a:buChar char="•"/>
            </a:pPr>
            <a:r>
              <a:rPr b="0" i="0" lang="en-US" sz="1750" u="none" cap="none" strike="noStrike">
                <a:solidFill>
                  <a:srgbClr val="2C2821"/>
                </a:solidFill>
                <a:latin typeface="Lora"/>
                <a:ea typeface="Lora"/>
                <a:cs typeface="Lora"/>
                <a:sym typeface="Lora"/>
              </a:rPr>
              <a:t>Patrón Capa (Layered Pattern): división lógica en capas como presentación, negocio y datos.</a:t>
            </a:r>
            <a:endParaRPr b="0" i="0" sz="1750" u="none" cap="none" strike="noStrike"/>
          </a:p>
        </p:txBody>
      </p:sp>
      <p:sp>
        <p:nvSpPr>
          <p:cNvPr id="207" name="Google Shape;207;p10"/>
          <p:cNvSpPr/>
          <p:nvPr/>
        </p:nvSpPr>
        <p:spPr>
          <a:xfrm>
            <a:off x="793790" y="4348162"/>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2821"/>
              </a:buClr>
              <a:buSzPts val="1750"/>
              <a:buFont typeface="Lora"/>
              <a:buChar char="•"/>
            </a:pPr>
            <a:r>
              <a:rPr b="0" i="0" lang="en-US" sz="1750" u="none" cap="none" strike="noStrike">
                <a:solidFill>
                  <a:srgbClr val="2C2821"/>
                </a:solidFill>
                <a:latin typeface="Lora"/>
                <a:ea typeface="Lora"/>
                <a:cs typeface="Lora"/>
                <a:sym typeface="Lora"/>
              </a:rPr>
              <a:t>Patrón Microservicios: arquitectura basada en servicios independientes y descentralizados.</a:t>
            </a:r>
            <a:endParaRPr b="0" i="0" sz="1750" u="none" cap="none" strike="noStrike"/>
          </a:p>
        </p:txBody>
      </p:sp>
      <p:sp>
        <p:nvSpPr>
          <p:cNvPr id="208" name="Google Shape;208;p10"/>
          <p:cNvSpPr/>
          <p:nvPr/>
        </p:nvSpPr>
        <p:spPr>
          <a:xfrm>
            <a:off x="793790" y="5153263"/>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2821"/>
              </a:buClr>
              <a:buSzPts val="1750"/>
              <a:buFont typeface="Lora"/>
              <a:buChar char="•"/>
            </a:pPr>
            <a:r>
              <a:rPr b="0" i="0" lang="en-US" sz="1750" u="none" cap="none" strike="noStrike">
                <a:solidFill>
                  <a:srgbClr val="2C2821"/>
                </a:solidFill>
                <a:latin typeface="Lora"/>
                <a:ea typeface="Lora"/>
                <a:cs typeface="Lora"/>
                <a:sym typeface="Lora"/>
              </a:rPr>
              <a:t>Patrón Puerta de Enlace (Gateway Pattern): punto de entrada único para acceder a diferentes servicios.</a:t>
            </a:r>
            <a:endParaRPr b="0" i="0" sz="1750" u="none" cap="none" strike="noStrike"/>
          </a:p>
        </p:txBody>
      </p:sp>
      <p:pic>
        <p:nvPicPr>
          <p:cNvPr descr="preencoded.png" id="209" name="Google Shape;209;p10"/>
          <p:cNvPicPr preferRelativeResize="0"/>
          <p:nvPr/>
        </p:nvPicPr>
        <p:blipFill rotWithShape="1">
          <a:blip r:embed="rId3">
            <a:alphaModFix/>
          </a:blip>
          <a:srcRect b="0" l="0" r="0" t="0"/>
          <a:stretch/>
        </p:blipFill>
        <p:spPr>
          <a:xfrm>
            <a:off x="7599521" y="2301359"/>
            <a:ext cx="6244709" cy="46757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descr="preencoded.png" id="215" name="Google Shape;215;p11"/>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216" name="Google Shape;216;p11"/>
          <p:cNvPicPr preferRelativeResize="0"/>
          <p:nvPr/>
        </p:nvPicPr>
        <p:blipFill rotWithShape="1">
          <a:blip r:embed="rId4">
            <a:alphaModFix/>
          </a:blip>
          <a:srcRect b="0" l="0" r="0" t="0"/>
          <a:stretch/>
        </p:blipFill>
        <p:spPr>
          <a:xfrm>
            <a:off x="244912" y="675442"/>
            <a:ext cx="4996458" cy="6878598"/>
          </a:xfrm>
          <a:prstGeom prst="rect">
            <a:avLst/>
          </a:prstGeom>
          <a:noFill/>
          <a:ln>
            <a:noFill/>
          </a:ln>
        </p:spPr>
      </p:pic>
      <p:sp>
        <p:nvSpPr>
          <p:cNvPr id="217" name="Google Shape;217;p11"/>
          <p:cNvSpPr/>
          <p:nvPr/>
        </p:nvSpPr>
        <p:spPr>
          <a:xfrm>
            <a:off x="6172438" y="697587"/>
            <a:ext cx="7771924" cy="1225153"/>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233E32"/>
              </a:buClr>
              <a:buSzPts val="3850"/>
              <a:buFont typeface="Alice"/>
              <a:buNone/>
            </a:pPr>
            <a:r>
              <a:rPr b="0" i="0" lang="en-US" sz="3850" u="none" cap="none" strike="noStrike">
                <a:solidFill>
                  <a:srgbClr val="233E32"/>
                </a:solidFill>
                <a:latin typeface="Alice"/>
                <a:ea typeface="Alice"/>
                <a:cs typeface="Alice"/>
                <a:sym typeface="Alice"/>
              </a:rPr>
              <a:t>Aplicaciones de patrones de arquitectura empresarial</a:t>
            </a:r>
            <a:endParaRPr b="0" i="0" sz="3850" u="none" cap="none" strike="noStrike"/>
          </a:p>
        </p:txBody>
      </p:sp>
      <p:pic>
        <p:nvPicPr>
          <p:cNvPr descr="preencoded.png" id="218" name="Google Shape;218;p11"/>
          <p:cNvPicPr preferRelativeResize="0"/>
          <p:nvPr/>
        </p:nvPicPr>
        <p:blipFill rotWithShape="1">
          <a:blip r:embed="rId5">
            <a:alphaModFix/>
          </a:blip>
          <a:srcRect b="0" l="0" r="0" t="0"/>
          <a:stretch/>
        </p:blipFill>
        <p:spPr>
          <a:xfrm>
            <a:off x="6172438" y="2216706"/>
            <a:ext cx="489942" cy="489942"/>
          </a:xfrm>
          <a:prstGeom prst="rect">
            <a:avLst/>
          </a:prstGeom>
          <a:noFill/>
          <a:ln>
            <a:noFill/>
          </a:ln>
        </p:spPr>
      </p:pic>
      <p:sp>
        <p:nvSpPr>
          <p:cNvPr id="219" name="Google Shape;219;p11"/>
          <p:cNvSpPr/>
          <p:nvPr/>
        </p:nvSpPr>
        <p:spPr>
          <a:xfrm>
            <a:off x="6172438" y="2902625"/>
            <a:ext cx="2831544" cy="306229"/>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2C2821"/>
              </a:buClr>
              <a:buSzPts val="1900"/>
              <a:buFont typeface="Alice"/>
              <a:buNone/>
            </a:pPr>
            <a:r>
              <a:rPr b="0" i="0" lang="en-US" sz="1900" u="none" cap="none" strike="noStrike">
                <a:solidFill>
                  <a:srgbClr val="2C2821"/>
                </a:solidFill>
                <a:latin typeface="Alice"/>
                <a:ea typeface="Alice"/>
                <a:cs typeface="Alice"/>
                <a:sym typeface="Alice"/>
              </a:rPr>
              <a:t>Optimización de procesos</a:t>
            </a:r>
            <a:endParaRPr b="0" i="0" sz="1900" u="none" cap="none" strike="noStrike"/>
          </a:p>
        </p:txBody>
      </p:sp>
      <p:sp>
        <p:nvSpPr>
          <p:cNvPr id="220" name="Google Shape;220;p11"/>
          <p:cNvSpPr/>
          <p:nvPr/>
        </p:nvSpPr>
        <p:spPr>
          <a:xfrm>
            <a:off x="6172438" y="3326368"/>
            <a:ext cx="3738920" cy="1253966"/>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Los patrones de arquitectura empresarial se aplican para mejorar la eficiencia y agilidad de los procesos de negocio.</a:t>
            </a:r>
            <a:endParaRPr b="0" i="0" sz="1500" u="none" cap="none" strike="noStrike"/>
          </a:p>
        </p:txBody>
      </p:sp>
      <p:pic>
        <p:nvPicPr>
          <p:cNvPr descr="preencoded.png" id="221" name="Google Shape;221;p11"/>
          <p:cNvPicPr preferRelativeResize="0"/>
          <p:nvPr/>
        </p:nvPicPr>
        <p:blipFill rotWithShape="1">
          <a:blip r:embed="rId6">
            <a:alphaModFix/>
          </a:blip>
          <a:srcRect b="0" l="0" r="0" t="0"/>
          <a:stretch/>
        </p:blipFill>
        <p:spPr>
          <a:xfrm>
            <a:off x="10205323" y="2216706"/>
            <a:ext cx="489942" cy="489942"/>
          </a:xfrm>
          <a:prstGeom prst="rect">
            <a:avLst/>
          </a:prstGeom>
          <a:noFill/>
          <a:ln>
            <a:noFill/>
          </a:ln>
        </p:spPr>
      </p:pic>
      <p:sp>
        <p:nvSpPr>
          <p:cNvPr id="222" name="Google Shape;222;p11"/>
          <p:cNvSpPr/>
          <p:nvPr/>
        </p:nvSpPr>
        <p:spPr>
          <a:xfrm>
            <a:off x="10205323" y="2902625"/>
            <a:ext cx="2599253" cy="306229"/>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2C2821"/>
              </a:buClr>
              <a:buSzPts val="1900"/>
              <a:buFont typeface="Alice"/>
              <a:buNone/>
            </a:pPr>
            <a:r>
              <a:rPr b="0" i="0" lang="en-US" sz="1900" u="none" cap="none" strike="noStrike">
                <a:solidFill>
                  <a:srgbClr val="2C2821"/>
                </a:solidFill>
                <a:latin typeface="Alice"/>
                <a:ea typeface="Alice"/>
                <a:cs typeface="Alice"/>
                <a:sym typeface="Alice"/>
              </a:rPr>
              <a:t>Integración de sistemas</a:t>
            </a:r>
            <a:endParaRPr b="0" i="0" sz="1900" u="none" cap="none" strike="noStrike"/>
          </a:p>
        </p:txBody>
      </p:sp>
      <p:sp>
        <p:nvSpPr>
          <p:cNvPr id="223" name="Google Shape;223;p11"/>
          <p:cNvSpPr/>
          <p:nvPr/>
        </p:nvSpPr>
        <p:spPr>
          <a:xfrm>
            <a:off x="10205323" y="3326368"/>
            <a:ext cx="3739039" cy="1253966"/>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Permiten lograr una mejor comunicación e interoperabilidad entre diferentes sistemas y aplicaciones dentro de la organización.</a:t>
            </a:r>
            <a:endParaRPr b="0" i="0" sz="1500" u="none" cap="none" strike="noStrike"/>
          </a:p>
        </p:txBody>
      </p:sp>
      <p:pic>
        <p:nvPicPr>
          <p:cNvPr descr="preencoded.png" id="224" name="Google Shape;224;p11"/>
          <p:cNvPicPr preferRelativeResize="0"/>
          <p:nvPr/>
        </p:nvPicPr>
        <p:blipFill rotWithShape="1">
          <a:blip r:embed="rId7">
            <a:alphaModFix/>
          </a:blip>
          <a:srcRect b="0" l="0" r="0" t="0"/>
          <a:stretch/>
        </p:blipFill>
        <p:spPr>
          <a:xfrm>
            <a:off x="6172438" y="5168384"/>
            <a:ext cx="489942" cy="489942"/>
          </a:xfrm>
          <a:prstGeom prst="rect">
            <a:avLst/>
          </a:prstGeom>
          <a:noFill/>
          <a:ln>
            <a:noFill/>
          </a:ln>
        </p:spPr>
      </p:pic>
      <p:sp>
        <p:nvSpPr>
          <p:cNvPr id="225" name="Google Shape;225;p11"/>
          <p:cNvSpPr/>
          <p:nvPr/>
        </p:nvSpPr>
        <p:spPr>
          <a:xfrm>
            <a:off x="6172438" y="5854303"/>
            <a:ext cx="2450187" cy="306229"/>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2C2821"/>
              </a:buClr>
              <a:buSzPts val="1900"/>
              <a:buFont typeface="Alice"/>
              <a:buNone/>
            </a:pPr>
            <a:r>
              <a:rPr b="0" i="0" lang="en-US" sz="1900" u="none" cap="none" strike="noStrike">
                <a:solidFill>
                  <a:srgbClr val="2C2821"/>
                </a:solidFill>
                <a:latin typeface="Alice"/>
                <a:ea typeface="Alice"/>
                <a:cs typeface="Alice"/>
                <a:sym typeface="Alice"/>
              </a:rPr>
              <a:t>Escalabilidad</a:t>
            </a:r>
            <a:endParaRPr b="0" i="0" sz="1900" u="none" cap="none" strike="noStrike"/>
          </a:p>
        </p:txBody>
      </p:sp>
      <p:sp>
        <p:nvSpPr>
          <p:cNvPr id="226" name="Google Shape;226;p11"/>
          <p:cNvSpPr/>
          <p:nvPr/>
        </p:nvSpPr>
        <p:spPr>
          <a:xfrm>
            <a:off x="6172438" y="6278047"/>
            <a:ext cx="3738920" cy="1253966"/>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Los patrones ayudan a diseñar arquitecturas que puedan crecer y adaptarse a las cambiantes necesidades del negocio.</a:t>
            </a:r>
            <a:endParaRPr b="0" i="0" sz="1500" u="none" cap="none" strike="noStrike"/>
          </a:p>
        </p:txBody>
      </p:sp>
      <p:pic>
        <p:nvPicPr>
          <p:cNvPr descr="preencoded.png" id="227" name="Google Shape;227;p11"/>
          <p:cNvPicPr preferRelativeResize="0"/>
          <p:nvPr/>
        </p:nvPicPr>
        <p:blipFill rotWithShape="1">
          <a:blip r:embed="rId8">
            <a:alphaModFix/>
          </a:blip>
          <a:srcRect b="0" l="0" r="0" t="0"/>
          <a:stretch/>
        </p:blipFill>
        <p:spPr>
          <a:xfrm>
            <a:off x="10205323" y="5168384"/>
            <a:ext cx="489942" cy="489942"/>
          </a:xfrm>
          <a:prstGeom prst="rect">
            <a:avLst/>
          </a:prstGeom>
          <a:noFill/>
          <a:ln>
            <a:noFill/>
          </a:ln>
        </p:spPr>
      </p:pic>
      <p:sp>
        <p:nvSpPr>
          <p:cNvPr id="228" name="Google Shape;228;p11"/>
          <p:cNvSpPr/>
          <p:nvPr/>
        </p:nvSpPr>
        <p:spPr>
          <a:xfrm>
            <a:off x="10205323" y="5854303"/>
            <a:ext cx="2791301" cy="306229"/>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2C2821"/>
              </a:buClr>
              <a:buSzPts val="1900"/>
              <a:buFont typeface="Alice"/>
              <a:buNone/>
            </a:pPr>
            <a:r>
              <a:rPr b="0" i="0" lang="en-US" sz="1900" u="none" cap="none" strike="noStrike">
                <a:solidFill>
                  <a:srgbClr val="2C2821"/>
                </a:solidFill>
                <a:latin typeface="Alice"/>
                <a:ea typeface="Alice"/>
                <a:cs typeface="Alice"/>
                <a:sym typeface="Alice"/>
              </a:rPr>
              <a:t>Cumplimiento normativo</a:t>
            </a:r>
            <a:endParaRPr b="0" i="0" sz="1900" u="none" cap="none" strike="noStrike"/>
          </a:p>
        </p:txBody>
      </p:sp>
      <p:sp>
        <p:nvSpPr>
          <p:cNvPr id="229" name="Google Shape;229;p11"/>
          <p:cNvSpPr/>
          <p:nvPr/>
        </p:nvSpPr>
        <p:spPr>
          <a:xfrm>
            <a:off x="10205323" y="6278047"/>
            <a:ext cx="3739039" cy="1253966"/>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Facilitan el cumplimiento de regulaciones y estándares de la industria a través de estructuras y principios bien definidos.</a:t>
            </a:r>
            <a:endParaRPr b="0" i="0" sz="150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preencoded.png" id="235" name="Google Shape;235;p1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36" name="Google Shape;236;p12"/>
          <p:cNvPicPr preferRelativeResize="0"/>
          <p:nvPr/>
        </p:nvPicPr>
        <p:blipFill rotWithShape="1">
          <a:blip r:embed="rId4">
            <a:alphaModFix/>
          </a:blip>
          <a:srcRect b="0" l="0" r="0" t="0"/>
          <a:stretch/>
        </p:blipFill>
        <p:spPr>
          <a:xfrm>
            <a:off x="9427488" y="2497574"/>
            <a:ext cx="4919305" cy="3234452"/>
          </a:xfrm>
          <a:prstGeom prst="rect">
            <a:avLst/>
          </a:prstGeom>
          <a:noFill/>
          <a:ln>
            <a:noFill/>
          </a:ln>
        </p:spPr>
      </p:pic>
      <p:sp>
        <p:nvSpPr>
          <p:cNvPr id="237" name="Google Shape;237;p12"/>
          <p:cNvSpPr/>
          <p:nvPr/>
        </p:nvSpPr>
        <p:spPr>
          <a:xfrm>
            <a:off x="793790" y="2328624"/>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Arquitectura orientada a servicios (SOA): definición</a:t>
            </a:r>
            <a:endParaRPr b="0" i="0" sz="4450" u="none" cap="none" strike="noStrike"/>
          </a:p>
        </p:txBody>
      </p:sp>
      <p:sp>
        <p:nvSpPr>
          <p:cNvPr id="238" name="Google Shape;238;p12"/>
          <p:cNvSpPr/>
          <p:nvPr/>
        </p:nvSpPr>
        <p:spPr>
          <a:xfrm>
            <a:off x="793790" y="4086344"/>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 arquitectura orientada a servicios, conocida como SOA por sus siglas en inglés, se basa en el diseño de sistemas de software donde los diferentes componentes se comunican entre sí a través de servicios bien definidos. Esto permite una mayor flexibilidad, reutilización e integración entre sistemas.</a:t>
            </a:r>
            <a:endParaRPr b="0" i="0" sz="17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3"/>
          <p:cNvSpPr/>
          <p:nvPr/>
        </p:nvSpPr>
        <p:spPr>
          <a:xfrm>
            <a:off x="793790" y="965954"/>
            <a:ext cx="596979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Beneficios clave de SOA</a:t>
            </a:r>
            <a:endParaRPr b="0" i="0" sz="4450" u="none" cap="none" strike="noStrike"/>
          </a:p>
        </p:txBody>
      </p:sp>
      <p:pic>
        <p:nvPicPr>
          <p:cNvPr descr="preencoded.png" id="245" name="Google Shape;245;p13"/>
          <p:cNvPicPr preferRelativeResize="0"/>
          <p:nvPr/>
        </p:nvPicPr>
        <p:blipFill rotWithShape="1">
          <a:blip r:embed="rId3">
            <a:alphaModFix/>
          </a:blip>
          <a:srcRect b="0" l="0" r="0" t="0"/>
          <a:stretch/>
        </p:blipFill>
        <p:spPr>
          <a:xfrm>
            <a:off x="793790" y="2128361"/>
            <a:ext cx="4120753" cy="2546747"/>
          </a:xfrm>
          <a:prstGeom prst="rect">
            <a:avLst/>
          </a:prstGeom>
          <a:noFill/>
          <a:ln>
            <a:noFill/>
          </a:ln>
        </p:spPr>
      </p:pic>
      <p:sp>
        <p:nvSpPr>
          <p:cNvPr id="246" name="Google Shape;246;p13"/>
          <p:cNvSpPr/>
          <p:nvPr/>
        </p:nvSpPr>
        <p:spPr>
          <a:xfrm>
            <a:off x="793790" y="4958596"/>
            <a:ext cx="337077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Modularidad y Flexibilidad</a:t>
            </a:r>
            <a:endParaRPr b="0" i="0" sz="2200" u="none" cap="none" strike="noStrike"/>
          </a:p>
        </p:txBody>
      </p:sp>
      <p:sp>
        <p:nvSpPr>
          <p:cNvPr id="247" name="Google Shape;247;p13"/>
          <p:cNvSpPr/>
          <p:nvPr/>
        </p:nvSpPr>
        <p:spPr>
          <a:xfrm>
            <a:off x="793790" y="5449014"/>
            <a:ext cx="4120753"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SOA permite desacoplar servicios independientes que pueden evolucionar y actualizarse de manera flexible sin afectar al sistema como un todo.</a:t>
            </a:r>
            <a:endParaRPr b="0" i="0" sz="1750" u="none" cap="none" strike="noStrike"/>
          </a:p>
        </p:txBody>
      </p:sp>
      <p:pic>
        <p:nvPicPr>
          <p:cNvPr descr="preencoded.png" id="248" name="Google Shape;248;p13"/>
          <p:cNvPicPr preferRelativeResize="0"/>
          <p:nvPr/>
        </p:nvPicPr>
        <p:blipFill rotWithShape="1">
          <a:blip r:embed="rId4">
            <a:alphaModFix/>
          </a:blip>
          <a:srcRect b="0" l="0" r="0" t="0"/>
          <a:stretch/>
        </p:blipFill>
        <p:spPr>
          <a:xfrm>
            <a:off x="5254704" y="2128361"/>
            <a:ext cx="4120872" cy="2546866"/>
          </a:xfrm>
          <a:prstGeom prst="rect">
            <a:avLst/>
          </a:prstGeom>
          <a:noFill/>
          <a:ln>
            <a:noFill/>
          </a:ln>
        </p:spPr>
      </p:pic>
      <p:sp>
        <p:nvSpPr>
          <p:cNvPr id="249" name="Google Shape;249;p13"/>
          <p:cNvSpPr/>
          <p:nvPr/>
        </p:nvSpPr>
        <p:spPr>
          <a:xfrm>
            <a:off x="5254704" y="495871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Interoperabilidad</a:t>
            </a:r>
            <a:endParaRPr b="0" i="0" sz="2200" u="none" cap="none" strike="noStrike"/>
          </a:p>
        </p:txBody>
      </p:sp>
      <p:sp>
        <p:nvSpPr>
          <p:cNvPr id="250" name="Google Shape;250;p13"/>
          <p:cNvSpPr/>
          <p:nvPr/>
        </p:nvSpPr>
        <p:spPr>
          <a:xfrm>
            <a:off x="5254704" y="5449133"/>
            <a:ext cx="412087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Los servicios expuestos a través de SOA pueden ser consumidos por diferentes aplicaciones y sistemas, lo que facilita la integración entre componentes.</a:t>
            </a:r>
            <a:endParaRPr b="0" i="0" sz="1750" u="none" cap="none" strike="noStrike"/>
          </a:p>
        </p:txBody>
      </p:sp>
      <p:pic>
        <p:nvPicPr>
          <p:cNvPr descr="preencoded.png" id="251" name="Google Shape;251;p13"/>
          <p:cNvPicPr preferRelativeResize="0"/>
          <p:nvPr/>
        </p:nvPicPr>
        <p:blipFill rotWithShape="1">
          <a:blip r:embed="rId5">
            <a:alphaModFix/>
          </a:blip>
          <a:srcRect b="0" l="0" r="0" t="0"/>
          <a:stretch/>
        </p:blipFill>
        <p:spPr>
          <a:xfrm>
            <a:off x="9715738" y="2128361"/>
            <a:ext cx="4120753" cy="2546747"/>
          </a:xfrm>
          <a:prstGeom prst="rect">
            <a:avLst/>
          </a:prstGeom>
          <a:noFill/>
          <a:ln>
            <a:noFill/>
          </a:ln>
        </p:spPr>
      </p:pic>
      <p:sp>
        <p:nvSpPr>
          <p:cNvPr id="252" name="Google Shape;252;p13"/>
          <p:cNvSpPr/>
          <p:nvPr/>
        </p:nvSpPr>
        <p:spPr>
          <a:xfrm>
            <a:off x="9715738" y="4958596"/>
            <a:ext cx="319706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Eficiencia y Reutilización</a:t>
            </a:r>
            <a:endParaRPr b="0" i="0" sz="2200" u="none" cap="none" strike="noStrike"/>
          </a:p>
        </p:txBody>
      </p:sp>
      <p:sp>
        <p:nvSpPr>
          <p:cNvPr id="253" name="Google Shape;253;p13"/>
          <p:cNvSpPr/>
          <p:nvPr/>
        </p:nvSpPr>
        <p:spPr>
          <a:xfrm>
            <a:off x="9715738" y="5449014"/>
            <a:ext cx="412075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SOA promueve la reutilización de servicios, lo que aumenta la eficiencia y reduce los costos de desarrollo y mantenimiento.</a:t>
            </a:r>
            <a:endParaRPr b="0" i="0" sz="175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descr="preencoded.png" id="259" name="Google Shape;259;p1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60" name="Google Shape;260;p14"/>
          <p:cNvPicPr preferRelativeResize="0"/>
          <p:nvPr/>
        </p:nvPicPr>
        <p:blipFill rotWithShape="1">
          <a:blip r:embed="rId4">
            <a:alphaModFix/>
          </a:blip>
          <a:srcRect b="0" l="0" r="0" t="0"/>
          <a:stretch/>
        </p:blipFill>
        <p:spPr>
          <a:xfrm>
            <a:off x="9427488" y="2884884"/>
            <a:ext cx="4919424" cy="2459712"/>
          </a:xfrm>
          <a:prstGeom prst="rect">
            <a:avLst/>
          </a:prstGeom>
          <a:noFill/>
          <a:ln>
            <a:noFill/>
          </a:ln>
        </p:spPr>
      </p:pic>
      <p:sp>
        <p:nvSpPr>
          <p:cNvPr id="261" name="Google Shape;261;p14"/>
          <p:cNvSpPr/>
          <p:nvPr/>
        </p:nvSpPr>
        <p:spPr>
          <a:xfrm>
            <a:off x="793790" y="2510076"/>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Arquitectura dirigida por eventos (EDA): contexto</a:t>
            </a:r>
            <a:endParaRPr b="0" i="0" sz="4450" u="none" cap="none" strike="noStrike"/>
          </a:p>
        </p:txBody>
      </p:sp>
      <p:sp>
        <p:nvSpPr>
          <p:cNvPr id="262" name="Google Shape;262;p14"/>
          <p:cNvSpPr/>
          <p:nvPr/>
        </p:nvSpPr>
        <p:spPr>
          <a:xfrm>
            <a:off x="793790" y="426779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 arquitectura dirigida por eventos (EDA) se enmarca en el contexto de la evolución de los sistemas de software modernos. Esta arquitectura se centra en el flujo de eventos entre diferentes componentes, permitiendo una comunicación asíncrona y desacoplada.</a:t>
            </a:r>
            <a:endParaRPr b="0" i="0" sz="175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descr="preencoded.png" id="268" name="Google Shape;268;p15"/>
          <p:cNvPicPr preferRelativeResize="0"/>
          <p:nvPr/>
        </p:nvPicPr>
        <p:blipFill rotWithShape="1">
          <a:blip r:embed="rId3">
            <a:alphaModFix/>
          </a:blip>
          <a:srcRect b="0" l="0" r="0" t="0"/>
          <a:stretch/>
        </p:blipFill>
        <p:spPr>
          <a:xfrm>
            <a:off x="0" y="0"/>
            <a:ext cx="14630400" cy="2539960"/>
          </a:xfrm>
          <a:prstGeom prst="rect">
            <a:avLst/>
          </a:prstGeom>
          <a:noFill/>
          <a:ln>
            <a:noFill/>
          </a:ln>
        </p:spPr>
      </p:pic>
      <p:pic>
        <p:nvPicPr>
          <p:cNvPr descr="preencoded.png" id="269" name="Google Shape;269;p15"/>
          <p:cNvPicPr preferRelativeResize="0"/>
          <p:nvPr/>
        </p:nvPicPr>
        <p:blipFill rotWithShape="1">
          <a:blip r:embed="rId4">
            <a:alphaModFix/>
          </a:blip>
          <a:srcRect b="0" l="0" r="0" t="0"/>
          <a:stretch/>
        </p:blipFill>
        <p:spPr>
          <a:xfrm>
            <a:off x="6084927" y="253960"/>
            <a:ext cx="2460546" cy="2032040"/>
          </a:xfrm>
          <a:prstGeom prst="rect">
            <a:avLst/>
          </a:prstGeom>
          <a:noFill/>
          <a:ln>
            <a:noFill/>
          </a:ln>
        </p:spPr>
      </p:pic>
      <p:sp>
        <p:nvSpPr>
          <p:cNvPr id="270" name="Google Shape;270;p15"/>
          <p:cNvSpPr/>
          <p:nvPr/>
        </p:nvSpPr>
        <p:spPr>
          <a:xfrm>
            <a:off x="711148" y="3169925"/>
            <a:ext cx="11332200" cy="634800"/>
          </a:xfrm>
          <a:prstGeom prst="rect">
            <a:avLst/>
          </a:prstGeom>
          <a:noFill/>
          <a:ln>
            <a:noFill/>
          </a:ln>
        </p:spPr>
        <p:txBody>
          <a:bodyPr anchorCtr="0" anchor="t" bIns="0" lIns="0" spcFirstLastPara="1" rIns="0" wrap="square" tIns="0">
            <a:noAutofit/>
          </a:bodyPr>
          <a:lstStyle/>
          <a:p>
            <a:pPr indent="0" lvl="0" marL="0" marR="0" rtl="0" algn="l">
              <a:lnSpc>
                <a:spcPct val="123749"/>
              </a:lnSpc>
              <a:spcBef>
                <a:spcPts val="0"/>
              </a:spcBef>
              <a:spcAft>
                <a:spcPts val="0"/>
              </a:spcAft>
              <a:buClr>
                <a:srgbClr val="233E32"/>
              </a:buClr>
              <a:buSzPts val="4000"/>
              <a:buFont typeface="Alice"/>
              <a:buNone/>
            </a:pPr>
            <a:r>
              <a:rPr b="0" i="0" lang="en-US" sz="4000" u="none" cap="none" strike="noStrike">
                <a:solidFill>
                  <a:srgbClr val="233E32"/>
                </a:solidFill>
                <a:latin typeface="Alice"/>
                <a:ea typeface="Alice"/>
                <a:cs typeface="Alice"/>
                <a:sym typeface="Alice"/>
              </a:rPr>
              <a:t>Casos de uso de EDA en sistemas modernos</a:t>
            </a:r>
            <a:endParaRPr b="0" i="0" sz="4000" u="none" cap="none" strike="noStrike"/>
          </a:p>
        </p:txBody>
      </p:sp>
      <p:sp>
        <p:nvSpPr>
          <p:cNvPr id="271" name="Google Shape;271;p15"/>
          <p:cNvSpPr/>
          <p:nvPr/>
        </p:nvSpPr>
        <p:spPr>
          <a:xfrm>
            <a:off x="711160" y="4338280"/>
            <a:ext cx="457200" cy="457200"/>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874514" y="4414480"/>
            <a:ext cx="130493" cy="304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400"/>
              <a:buFont typeface="Alice"/>
              <a:buNone/>
            </a:pPr>
            <a:r>
              <a:rPr b="0" i="0" lang="en-US" sz="2400" u="none" cap="none" strike="noStrike">
                <a:solidFill>
                  <a:srgbClr val="2C2821"/>
                </a:solidFill>
                <a:latin typeface="Alice"/>
                <a:ea typeface="Alice"/>
                <a:cs typeface="Alice"/>
                <a:sym typeface="Alice"/>
              </a:rPr>
              <a:t>1</a:t>
            </a:r>
            <a:endParaRPr b="0" i="0" sz="2400" u="none" cap="none" strike="noStrike"/>
          </a:p>
        </p:txBody>
      </p:sp>
      <p:sp>
        <p:nvSpPr>
          <p:cNvPr id="273" name="Google Shape;273;p15"/>
          <p:cNvSpPr/>
          <p:nvPr/>
        </p:nvSpPr>
        <p:spPr>
          <a:xfrm>
            <a:off x="1371481" y="4338280"/>
            <a:ext cx="4804767" cy="317421"/>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Monitoreo de Aplicaciones en Tiempo Real</a:t>
            </a:r>
            <a:endParaRPr b="0" i="0" sz="1950" u="none" cap="none" strike="noStrike"/>
          </a:p>
        </p:txBody>
      </p:sp>
      <p:sp>
        <p:nvSpPr>
          <p:cNvPr id="274" name="Google Shape;274;p15"/>
          <p:cNvSpPr/>
          <p:nvPr/>
        </p:nvSpPr>
        <p:spPr>
          <a:xfrm>
            <a:off x="1371481" y="4777621"/>
            <a:ext cx="5842159" cy="97547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EDA permite analizar eventos generados por aplicaciones en tiempo real, identificando problemas o patrones de uso de manera oportuna.</a:t>
            </a:r>
            <a:endParaRPr b="0" i="0" sz="1600" u="none" cap="none" strike="noStrike"/>
          </a:p>
        </p:txBody>
      </p:sp>
      <p:sp>
        <p:nvSpPr>
          <p:cNvPr id="275" name="Google Shape;275;p15"/>
          <p:cNvSpPr/>
          <p:nvPr/>
        </p:nvSpPr>
        <p:spPr>
          <a:xfrm>
            <a:off x="7416760" y="4338280"/>
            <a:ext cx="457200" cy="457200"/>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7570470" y="4414480"/>
            <a:ext cx="149662" cy="304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400"/>
              <a:buFont typeface="Alice"/>
              <a:buNone/>
            </a:pPr>
            <a:r>
              <a:rPr b="0" i="0" lang="en-US" sz="2400" u="none" cap="none" strike="noStrike">
                <a:solidFill>
                  <a:srgbClr val="2C2821"/>
                </a:solidFill>
                <a:latin typeface="Alice"/>
                <a:ea typeface="Alice"/>
                <a:cs typeface="Alice"/>
                <a:sym typeface="Alice"/>
              </a:rPr>
              <a:t>2</a:t>
            </a:r>
            <a:endParaRPr b="0" i="0" sz="2400" u="none" cap="none" strike="noStrike"/>
          </a:p>
        </p:txBody>
      </p:sp>
      <p:sp>
        <p:nvSpPr>
          <p:cNvPr id="277" name="Google Shape;277;p15"/>
          <p:cNvSpPr/>
          <p:nvPr/>
        </p:nvSpPr>
        <p:spPr>
          <a:xfrm>
            <a:off x="8077081" y="4338280"/>
            <a:ext cx="3214688" cy="317421"/>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Sistemas de Recomendación</a:t>
            </a:r>
            <a:endParaRPr b="0" i="0" sz="1950" u="none" cap="none" strike="noStrike"/>
          </a:p>
        </p:txBody>
      </p:sp>
      <p:sp>
        <p:nvSpPr>
          <p:cNvPr id="278" name="Google Shape;278;p15"/>
          <p:cNvSpPr/>
          <p:nvPr/>
        </p:nvSpPr>
        <p:spPr>
          <a:xfrm>
            <a:off x="8077081" y="4777621"/>
            <a:ext cx="5842159" cy="97547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Los eventos generados por las interacciones de los usuarios alimentan modelos de aprendizaje automático para hacer recomendaciones personalizadas en plataformas digitales.</a:t>
            </a:r>
            <a:endParaRPr b="0" i="0" sz="1600" u="none" cap="none" strike="noStrike"/>
          </a:p>
        </p:txBody>
      </p:sp>
      <p:sp>
        <p:nvSpPr>
          <p:cNvPr id="279" name="Google Shape;279;p15"/>
          <p:cNvSpPr/>
          <p:nvPr/>
        </p:nvSpPr>
        <p:spPr>
          <a:xfrm>
            <a:off x="711160" y="6184821"/>
            <a:ext cx="457200" cy="457200"/>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865465" y="6261021"/>
            <a:ext cx="148471" cy="304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400"/>
              <a:buFont typeface="Alice"/>
              <a:buNone/>
            </a:pPr>
            <a:r>
              <a:rPr b="0" i="0" lang="en-US" sz="2400" u="none" cap="none" strike="noStrike">
                <a:solidFill>
                  <a:srgbClr val="2C2821"/>
                </a:solidFill>
                <a:latin typeface="Alice"/>
                <a:ea typeface="Alice"/>
                <a:cs typeface="Alice"/>
                <a:sym typeface="Alice"/>
              </a:rPr>
              <a:t>3</a:t>
            </a:r>
            <a:endParaRPr b="0" i="0" sz="2400" u="none" cap="none" strike="noStrike"/>
          </a:p>
        </p:txBody>
      </p:sp>
      <p:sp>
        <p:nvSpPr>
          <p:cNvPr id="281" name="Google Shape;281;p15"/>
          <p:cNvSpPr/>
          <p:nvPr/>
        </p:nvSpPr>
        <p:spPr>
          <a:xfrm>
            <a:off x="1371481" y="6184821"/>
            <a:ext cx="2539960" cy="317421"/>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Detección de Fraude</a:t>
            </a:r>
            <a:endParaRPr b="0" i="0" sz="1950" u="none" cap="none" strike="noStrike"/>
          </a:p>
        </p:txBody>
      </p:sp>
      <p:sp>
        <p:nvSpPr>
          <p:cNvPr id="282" name="Google Shape;282;p15"/>
          <p:cNvSpPr/>
          <p:nvPr/>
        </p:nvSpPr>
        <p:spPr>
          <a:xfrm>
            <a:off x="1371481" y="6624161"/>
            <a:ext cx="5842159" cy="97547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EDA procesa transacciones y otros eventos en tiempo real, permitiendo una detección temprana de actividades fraudulentas.</a:t>
            </a:r>
            <a:endParaRPr b="0" i="0" sz="1600" u="none" cap="none" strike="noStrike"/>
          </a:p>
        </p:txBody>
      </p:sp>
      <p:sp>
        <p:nvSpPr>
          <p:cNvPr id="283" name="Google Shape;283;p15"/>
          <p:cNvSpPr/>
          <p:nvPr/>
        </p:nvSpPr>
        <p:spPr>
          <a:xfrm>
            <a:off x="7416760" y="6184821"/>
            <a:ext cx="457200" cy="457200"/>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7569756" y="6261021"/>
            <a:ext cx="151209" cy="304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400"/>
              <a:buFont typeface="Alice"/>
              <a:buNone/>
            </a:pPr>
            <a:r>
              <a:rPr b="0" i="0" lang="en-US" sz="2400" u="none" cap="none" strike="noStrike">
                <a:solidFill>
                  <a:srgbClr val="2C2821"/>
                </a:solidFill>
                <a:latin typeface="Alice"/>
                <a:ea typeface="Alice"/>
                <a:cs typeface="Alice"/>
                <a:sym typeface="Alice"/>
              </a:rPr>
              <a:t>4</a:t>
            </a:r>
            <a:endParaRPr b="0" i="0" sz="2400" u="none" cap="none" strike="noStrike"/>
          </a:p>
        </p:txBody>
      </p:sp>
      <p:sp>
        <p:nvSpPr>
          <p:cNvPr id="285" name="Google Shape;285;p15"/>
          <p:cNvSpPr/>
          <p:nvPr/>
        </p:nvSpPr>
        <p:spPr>
          <a:xfrm>
            <a:off x="8077081" y="6184821"/>
            <a:ext cx="2902506" cy="317421"/>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2C2821"/>
              </a:buClr>
              <a:buSzPts val="1950"/>
              <a:buFont typeface="Alice"/>
              <a:buNone/>
            </a:pPr>
            <a:r>
              <a:rPr b="0" i="0" lang="en-US" sz="1950" u="none" cap="none" strike="noStrike">
                <a:solidFill>
                  <a:srgbClr val="2C2821"/>
                </a:solidFill>
                <a:latin typeface="Alice"/>
                <a:ea typeface="Alice"/>
                <a:cs typeface="Alice"/>
                <a:sym typeface="Alice"/>
              </a:rPr>
              <a:t>Internet de las Cosas (IoT)</a:t>
            </a:r>
            <a:endParaRPr b="0" i="0" sz="1950" u="none" cap="none" strike="noStrike"/>
          </a:p>
        </p:txBody>
      </p:sp>
      <p:sp>
        <p:nvSpPr>
          <p:cNvPr id="286" name="Google Shape;286;p15"/>
          <p:cNvSpPr/>
          <p:nvPr/>
        </p:nvSpPr>
        <p:spPr>
          <a:xfrm>
            <a:off x="8077081" y="6624161"/>
            <a:ext cx="5842159" cy="97547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Los sensores IoT generan una gran cantidad de datos de eventos que se analizan mediante EDA para optimizar procesos y tomar decisiones en tiempo real.</a:t>
            </a:r>
            <a:endParaRPr b="0" i="0" sz="16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2024-11-04T02:20:41Z</dcterms:created>
  <dc:creator>PptxGenJS</dc:creator>
</cp:coreProperties>
</file>